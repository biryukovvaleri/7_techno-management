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перестает быть темой совещания и становится управляемым маршрутом: вход, владелец, мандат, данные, фиксация, разбор, обратная связь.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технологии от фундамента к диагностике, оценке, решениям, синхронизации, устойчивости, AI, панели, дорожной карте и библиотеке артефактов.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покупается и проводится технология: первичные касания и квалификация не продукт, платная Диагностика открывает право на продолжение.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именно проверяет первый платный вход: роли, мандаты, решения, данные, ритмы, риски и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выбранный контур решения проверяется на практике и превращается во внедренный управленческий артефакт.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неправильной категории: чем CLM не является и где его реальное отличие.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Применение технологии через управленческий сюжет: боль, до CLM, Диагностика, Сессия, Спринт, Сопровождение, после CLM и вопрос клиенту.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31399" y="342900"/>
            <a:ext cx="966361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FLOW / ПОТОК РЕШЕНИЯ · СЛОЖНОСТЬ СРЕДНЯЯ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17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OS / система решений: решение не исчезает после совещания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667827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задает маршрут решения: кто владеет вопросом, на каком мандате действует, какие данные нужны, где фиксируется срок и как проходит разбор.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752975" y="3443064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0" name="Shape 8"/>
          <p:cNvSpPr/>
          <p:nvPr/>
        </p:nvSpPr>
        <p:spPr>
          <a:xfrm>
            <a:off x="9039225" y="3443064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1" name="Shape 9"/>
          <p:cNvSpPr/>
          <p:nvPr/>
        </p:nvSpPr>
        <p:spPr>
          <a:xfrm>
            <a:off x="13325475" y="3443064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2328565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6288" y="2495252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6288" y="2866727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Вход решения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776288" y="3260527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требует решения и почему это важно сейчас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24425" y="2328565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213" y="2495252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9213" y="2866727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5129213" y="3260527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отвечает за движение решения до результата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77350" y="2328565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138" y="2495252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82138" y="2866727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482138" y="3260527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права и ограничения есть у владельца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630275" y="2328565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35063" y="2495252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835063" y="2866727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3835063" y="3260527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факты нужны и кто отвечает за их качество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52975" y="5824463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9039225" y="5824463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4709964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288" y="4876651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6288" y="5248126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Фиксация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776288" y="5641925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закреплены решение, срок, критерий и ответственный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924425" y="4709964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9213" y="4876651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29213" y="5248126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Разбор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5129213" y="5641925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произошло, что отклонилось, что корректируем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277350" y="4709964"/>
            <a:ext cx="4086225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82138" y="4876651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482138" y="5248126"/>
            <a:ext cx="404431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Обратная связь</a:t>
            </a:r>
            <a:endParaRPr lang="en-US" sz="2175" dirty="0"/>
          </a:p>
        </p:txBody>
      </p:sp>
      <p:sp>
        <p:nvSpPr>
          <p:cNvPr id="41" name="Text 39"/>
          <p:cNvSpPr/>
          <p:nvPr/>
        </p:nvSpPr>
        <p:spPr>
          <a:xfrm>
            <a:off x="9482138" y="5641925"/>
            <a:ext cx="378695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вывод возвращается в роли, мандаты и ритмы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706475" y="5243438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3" name="Shape 41"/>
          <p:cNvSpPr/>
          <p:nvPr/>
        </p:nvSpPr>
        <p:spPr>
          <a:xfrm>
            <a:off x="13954125" y="5329163"/>
            <a:ext cx="37623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06475" y="5548238"/>
            <a:ext cx="413032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spc="7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МАРШРУТ РЕШЕНИЯ: ВХОД → РАЗБОР → ОБРАТНАЯ СВЯЗЬ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71500" y="7053263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200" y="7212806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863105" y="7177088"/>
            <a:ext cx="849242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имеет владельца, срок, данные, след и разбор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571500" y="778192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818159" y="7853362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0" name="Text 48"/>
          <p:cNvSpPr/>
          <p:nvPr/>
        </p:nvSpPr>
        <p:spPr>
          <a:xfrm>
            <a:off x="2122959" y="7762875"/>
            <a:ext cx="384573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архитектура решения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085284" y="7853362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2" name="Text 50"/>
          <p:cNvSpPr/>
          <p:nvPr/>
        </p:nvSpPr>
        <p:spPr>
          <a:xfrm>
            <a:off x="6390084" y="7762875"/>
            <a:ext cx="321708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движения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818159" y="820578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Text 52"/>
          <p:cNvSpPr/>
          <p:nvPr/>
        </p:nvSpPr>
        <p:spPr>
          <a:xfrm>
            <a:off x="2122959" y="8115300"/>
            <a:ext cx="36216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данные и владелец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818159" y="8705850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6" name="Text 54"/>
          <p:cNvSpPr/>
          <p:nvPr/>
        </p:nvSpPr>
        <p:spPr>
          <a:xfrm>
            <a:off x="2122959" y="8467725"/>
            <a:ext cx="779701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потерянный владелец, пустой мандат или отсутствие данных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323537" y="7762875"/>
            <a:ext cx="7392963" cy="14382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33087" y="787717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533087" y="8229600"/>
            <a:ext cx="71830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протокол совещания; не список поручений; не усиление контроля; не декоративная схема процесса; не новая бюрократия.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71500" y="92964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71500" y="9410700"/>
            <a:ext cx="1076821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OS / система решений превращает обсуждение в управляемое решение с владельцем, данными, сроком и разбором.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1407080" y="9401175"/>
            <a:ext cx="69403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Визуализация_04_Decision_OS_Система_Решений_V1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91947" y="342900"/>
            <a:ext cx="9817008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МЕТОДОЛОГИЧЕСКИЙ СЛОЙ · ROADMAP · СЛОЖНОСТЬ СЛОЖНАЯ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 блоков CLM: от фундамента к управляемому результату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707070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идет не от документов ради документов, а от понимания CLM к диагностике, решениям, внедрению, панели, дорожной карте и рабочим артефактам.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09515"/>
            <a:ext cx="47625" cy="87339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771525" y="2386608"/>
            <a:ext cx="239934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Фундамент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71525" y="2810470"/>
            <a:ext cx="23993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01-02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62300" y="2309515"/>
            <a:ext cx="7210425" cy="873398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8038" y="2445321"/>
            <a:ext cx="7522845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01. Фундамент CLM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348038" y="2768203"/>
            <a:ext cx="7522845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такое Управление Директорами / CLM и зачем оно нужно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06075" y="2309515"/>
            <a:ext cx="7210425" cy="873398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1813" y="2445321"/>
            <a:ext cx="7522845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02. Архитектура C-level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691813" y="2768203"/>
            <a:ext cx="7522845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Роли, мандаты, 23 / 15 / 7 и контуры управления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500" y="3259113"/>
            <a:ext cx="47625" cy="1090613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771525" y="3297213"/>
            <a:ext cx="239934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71525" y="3721075"/>
            <a:ext cx="22574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ПЕРВЫЙ ПЛАТНЫЙ ВХОД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62300" y="3259113"/>
            <a:ext cx="7210425" cy="1090613"/>
          </a:xfrm>
          <a:prstGeom prst="rect">
            <a:avLst/>
          </a:prstGeom>
          <a:solidFill>
            <a:srgbClr val="F3EBDD"/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8038" y="3503563"/>
            <a:ext cx="7522845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03. Диагностика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348038" y="3826446"/>
            <a:ext cx="7522845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разорваны роли, мандаты, данные и решения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506075" y="3259113"/>
            <a:ext cx="7210425" cy="1090613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1813" y="3503563"/>
            <a:ext cx="7522845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04. Оценка руководителя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691813" y="3826446"/>
            <a:ext cx="7522845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Соответствие роли, мандату, решениям и риску назначения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1500" y="4425925"/>
            <a:ext cx="47625" cy="1622971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8" name="Text 26"/>
          <p:cNvSpPr/>
          <p:nvPr/>
        </p:nvSpPr>
        <p:spPr>
          <a:xfrm>
            <a:off x="771525" y="4877842"/>
            <a:ext cx="239934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Управление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771525" y="5301704"/>
            <a:ext cx="23993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05-09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162300" y="4425925"/>
            <a:ext cx="2819400" cy="1622971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9938" y="4535463"/>
            <a:ext cx="27765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18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05. Decision OS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3309938" y="4845025"/>
            <a:ext cx="260032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решения получают владельца, данные, срок и разбор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96000" y="4425925"/>
            <a:ext cx="2819400" cy="1622971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3638" y="4535463"/>
            <a:ext cx="27765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18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06. Синхронизация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6243638" y="4845025"/>
            <a:ext cx="260032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первый круг работает как система, а не набор функций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029700" y="4425925"/>
            <a:ext cx="2819400" cy="1622971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77338" y="4535463"/>
            <a:ext cx="27765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18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07. Устойчивость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9177338" y="4845025"/>
            <a:ext cx="260032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система держится на героизме и где нужен контур защиты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963400" y="4425925"/>
            <a:ext cx="2819400" cy="1622971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111038" y="4535463"/>
            <a:ext cx="26003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18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08. Переход лидерства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2111038" y="5116488"/>
            <a:ext cx="260032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передавать роль, не разрушая управляемость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4897100" y="4425925"/>
            <a:ext cx="2819400" cy="1622971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044738" y="4535463"/>
            <a:ext cx="27765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18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09. AI / ИИ-контур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15044738" y="4845025"/>
            <a:ext cx="260032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подключать AI / ИИ только при мандате и владельце эффекта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71500" y="6125096"/>
            <a:ext cx="47625" cy="1099617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771525" y="6315298"/>
            <a:ext cx="239934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Закрепление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771525" y="6739161"/>
            <a:ext cx="23993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10-12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62300" y="6125096"/>
            <a:ext cx="4762500" cy="1099617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48038" y="6234633"/>
            <a:ext cx="4830128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10. Панель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3348038" y="6557516"/>
            <a:ext cx="4522756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сигналы показывают управляемость C-level-ядра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058150" y="6125096"/>
            <a:ext cx="4762500" cy="1099617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3888" y="6234633"/>
            <a:ext cx="4830128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11. Roadmap / дорожная карта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8243888" y="6557516"/>
            <a:ext cx="4522756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выводы превращаются в программу изменений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954000" y="6125096"/>
            <a:ext cx="4762500" cy="1099617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139738" y="6234633"/>
            <a:ext cx="4830128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4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12. Библиотека артефактов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3139738" y="6557516"/>
            <a:ext cx="4522756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документы остаются рабочими правилами управления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71500" y="7339012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8200" y="7498556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863105" y="7462838"/>
            <a:ext cx="63725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 понимания к управляемому результату</a:t>
            </a:r>
            <a:endParaRPr lang="en-US" sz="2250" dirty="0"/>
          </a:p>
        </p:txBody>
      </p:sp>
      <p:sp>
        <p:nvSpPr>
          <p:cNvPr id="60" name="Text 58"/>
          <p:cNvSpPr/>
          <p:nvPr/>
        </p:nvSpPr>
        <p:spPr>
          <a:xfrm>
            <a:off x="571500" y="806767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818159" y="8139112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62" name="Text 60"/>
          <p:cNvSpPr/>
          <p:nvPr/>
        </p:nvSpPr>
        <p:spPr>
          <a:xfrm>
            <a:off x="2122959" y="8048625"/>
            <a:ext cx="429434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фундамент и архитектура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818159" y="8491538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4" name="Text 62"/>
          <p:cNvSpPr/>
          <p:nvPr/>
        </p:nvSpPr>
        <p:spPr>
          <a:xfrm>
            <a:off x="2122959" y="8401050"/>
            <a:ext cx="3830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движение по технологии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818159" y="8843963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6" name="Text 64"/>
          <p:cNvSpPr/>
          <p:nvPr/>
        </p:nvSpPr>
        <p:spPr>
          <a:xfrm>
            <a:off x="2122959" y="8753475"/>
            <a:ext cx="46675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данные, панель и артефакты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818159" y="9196388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8" name="Text 66"/>
          <p:cNvSpPr/>
          <p:nvPr/>
        </p:nvSpPr>
        <p:spPr>
          <a:xfrm>
            <a:off x="2122959" y="9105900"/>
            <a:ext cx="41000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Stop / риск / разрыв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0323537" y="8048625"/>
            <a:ext cx="7392963" cy="14382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533087" y="816292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0533087" y="8515350"/>
            <a:ext cx="71830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учебный курс на 12 модулей; не обязательное чтение всего комплекта до старта; не бюрократический архив; не линейная инструкция без входа с нужного этапа.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571500" y="958215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71500" y="9696450"/>
            <a:ext cx="12289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 блоков показывают логику технологии, но не заставляют клиента читать все подряд до начала работы.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2230100" y="9686925"/>
            <a:ext cx="60350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Визуализация_05_Двенадцать_Блоков_CLM_V1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86392" y="342900"/>
            <a:ext cx="8283119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СЛОЙ · PRODUCT LADDER · СЛОЖНОСТЬ ПРОСТАЯ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7659350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Клиентский путь CLM: Диагностика открывает право на продолжение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2079427"/>
            <a:ext cx="1707070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Управление Директорами не продает большой проект вслепую: сначала платная Диагностика, затем Сессия, Спринт и при необходимости Сопровождение.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863453"/>
            <a:ext cx="17145000" cy="590550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>
                <a:alpha val="6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14388" y="3011091"/>
            <a:ext cx="1825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ПРОДУКТА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02644" y="2992041"/>
            <a:ext cx="4998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Первичное касание / квалификация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7475562" y="3011091"/>
            <a:ext cx="92396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Сайт, презентация, первый разговор и квалификация не являются продуктом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2975" y="4862066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9225" y="4535537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325475" y="4208934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3823320"/>
            <a:ext cx="4100513" cy="211551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81050" y="3994770"/>
            <a:ext cx="4049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1050" y="4385295"/>
            <a:ext cx="404955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81050" y="4857676"/>
            <a:ext cx="3791855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Платный вход: проверить C-level-разрывы и право продолжать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19663" y="3636764"/>
            <a:ext cx="4100513" cy="23020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9213" y="3808214"/>
            <a:ext cx="4049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9213" y="4198739"/>
            <a:ext cx="4049554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9213" y="4629224"/>
            <a:ext cx="3791855" cy="888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Собрать решение, выбрать контур спринта и согласовать ответственность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67825" y="3450134"/>
            <a:ext cx="4100513" cy="248870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9477375" y="3621584"/>
            <a:ext cx="4049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77375" y="4012109"/>
            <a:ext cx="404955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477375" y="4484489"/>
            <a:ext cx="3791855" cy="888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Реализовать выбранный контур в 30-60-90 и получить рабочий артефакт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615988" y="3263503"/>
            <a:ext cx="4100513" cy="26753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13825538" y="3434953"/>
            <a:ext cx="4049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825538" y="3825478"/>
            <a:ext cx="4049554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3825538" y="4255963"/>
            <a:ext cx="3791855" cy="888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Удержать результат, не дать откату и принять решение о следующем цикле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71500" y="6091238"/>
            <a:ext cx="17145000" cy="561975"/>
          </a:xfrm>
          <a:prstGeom prst="rect">
            <a:avLst/>
          </a:prstGeom>
          <a:solidFill>
            <a:srgbClr val="F3EBDD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150" y="6224588"/>
            <a:ext cx="11643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116857" y="63055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2345457" y="6224588"/>
            <a:ext cx="161858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/ запускать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097387" y="6305550"/>
            <a:ext cx="1333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7" name="Text 35"/>
          <p:cNvSpPr/>
          <p:nvPr/>
        </p:nvSpPr>
        <p:spPr>
          <a:xfrm>
            <a:off x="4325987" y="6224588"/>
            <a:ext cx="185201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при условиях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311354" y="6305550"/>
            <a:ext cx="133350" cy="1333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9" name="Text 37"/>
          <p:cNvSpPr/>
          <p:nvPr/>
        </p:nvSpPr>
        <p:spPr>
          <a:xfrm>
            <a:off x="6539954" y="6224588"/>
            <a:ext cx="177403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 / отложить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447336" y="6305550"/>
            <a:ext cx="1333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Text 39"/>
          <p:cNvSpPr/>
          <p:nvPr/>
        </p:nvSpPr>
        <p:spPr>
          <a:xfrm>
            <a:off x="8675936" y="6224588"/>
            <a:ext cx="19665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/ остановить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775826" y="6305550"/>
            <a:ext cx="133350" cy="1333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3" name="Text 41"/>
          <p:cNvSpPr/>
          <p:nvPr/>
        </p:nvSpPr>
        <p:spPr>
          <a:xfrm>
            <a:off x="11004426" y="6224588"/>
            <a:ext cx="22088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Fit / не подходит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71500" y="6767513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8200" y="6927056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863105" y="6891338"/>
            <a:ext cx="1471376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покупает следующий шаг только после подтвержденной управленческой необходимости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571500" y="749617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818159" y="7567612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9" name="Text 47"/>
          <p:cNvSpPr/>
          <p:nvPr/>
        </p:nvSpPr>
        <p:spPr>
          <a:xfrm>
            <a:off x="2122959" y="7477125"/>
            <a:ext cx="372900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коммерческий маршрут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818159" y="792003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2122959" y="7829550"/>
            <a:ext cx="454130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подтвержденный результат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818159" y="8272463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3" name="Text 51"/>
          <p:cNvSpPr/>
          <p:nvPr/>
        </p:nvSpPr>
        <p:spPr>
          <a:xfrm>
            <a:off x="2122959" y="8181975"/>
            <a:ext cx="3184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Stop / No Fit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442942" y="8272463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5" name="Text 53"/>
          <p:cNvSpPr/>
          <p:nvPr/>
        </p:nvSpPr>
        <p:spPr>
          <a:xfrm>
            <a:off x="5747742" y="8181975"/>
            <a:ext cx="349209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платные продукты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323537" y="7477125"/>
            <a:ext cx="7392963" cy="172402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33087" y="759142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533087" y="7943850"/>
            <a:ext cx="718307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воронка ради продажи длинного проекта; не бесплатная диагностика; не четыре обязательных этапа для каждого клиента; не абонентское консультирование без предмета контроля.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71500" y="92964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71500" y="9410700"/>
            <a:ext cx="1020318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дисциплинирует вход, Сессия выбирает решение, Спринт внедряет, Сопровождение удерживает результат.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858500" y="9401175"/>
            <a:ext cx="7543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Визуализация_06_Клиентский_Путь_Четыре_Продукта_V1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7488" y="342900"/>
            <a:ext cx="858991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DIAGNOSTIC PREMIUM · DIAGNOSTIC CARD · СЛОЖНОСТЬ СРЕДНЯЯ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C-level-ядра: сначала проверка, потом проект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707070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 показывает, где разорваны роли, мандаты, решения и данные, и дает честный вердикт: запускать продолжение, отложить или остановить.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28565"/>
            <a:ext cx="4038600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6288" y="2848794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4002" y="2801169"/>
            <a:ext cx="73357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Роли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776288" y="3234556"/>
            <a:ext cx="3737896" cy="888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управленческие функции видимы и кто фактически их несет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62500" y="2328565"/>
            <a:ext cx="4038600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7288" y="299055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5002" y="2942927"/>
            <a:ext cx="134635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Мандаты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4967288" y="3376315"/>
            <a:ext cx="3737896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имеет право и обязанность принимать решения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53500" y="2328565"/>
            <a:ext cx="4038600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8288" y="2848794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66002" y="2801169"/>
            <a:ext cx="132122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Решения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158288" y="3234556"/>
            <a:ext cx="3737896" cy="888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решения застревают, возвращаются наверх или теряют владельца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144500" y="2328565"/>
            <a:ext cx="4572000" cy="4610398"/>
          </a:xfrm>
          <a:prstGeom prst="rect">
            <a:avLst/>
          </a:prstGeom>
          <a:solidFill>
            <a:srgbClr val="F3EBDD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392150" y="2519065"/>
            <a:ext cx="11643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392150" y="2947690"/>
            <a:ext cx="47625" cy="31908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3573125" y="2947690"/>
            <a:ext cx="43033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/ запускать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392150" y="3362027"/>
            <a:ext cx="47625" cy="319088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Text 24"/>
          <p:cNvSpPr/>
          <p:nvPr/>
        </p:nvSpPr>
        <p:spPr>
          <a:xfrm>
            <a:off x="13573125" y="3362027"/>
            <a:ext cx="43033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при условиях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392150" y="3776365"/>
            <a:ext cx="47625" cy="3190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13573125" y="3776365"/>
            <a:ext cx="43033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 / отложить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3392150" y="4190702"/>
            <a:ext cx="47625" cy="31908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13573125" y="4190702"/>
            <a:ext cx="43033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/ остановить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3392150" y="4605040"/>
            <a:ext cx="47625" cy="3190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2" name="Text 30"/>
          <p:cNvSpPr/>
          <p:nvPr/>
        </p:nvSpPr>
        <p:spPr>
          <a:xfrm>
            <a:off x="13573125" y="4605040"/>
            <a:ext cx="43033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Fit / не подходит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392150" y="6591300"/>
            <a:ext cx="1621482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Text 32"/>
          <p:cNvSpPr/>
          <p:nvPr/>
        </p:nvSpPr>
        <p:spPr>
          <a:xfrm>
            <a:off x="15127932" y="6453188"/>
            <a:ext cx="2575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МАРШРУТ ПРОВЕРКИ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71500" y="4709964"/>
            <a:ext cx="4038600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288" y="5371951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4002" y="5324326"/>
            <a:ext cx="1152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776288" y="5757714"/>
            <a:ext cx="3737896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факты нужны и где нет единой версии управления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762500" y="4709964"/>
            <a:ext cx="4038600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7288" y="5371951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75002" y="5324326"/>
            <a:ext cx="9693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Ритмы</a:t>
            </a:r>
            <a:endParaRPr lang="en-US" sz="2175" dirty="0"/>
          </a:p>
        </p:txBody>
      </p:sp>
      <p:sp>
        <p:nvSpPr>
          <p:cNvPr id="42" name="Text 40"/>
          <p:cNvSpPr/>
          <p:nvPr/>
        </p:nvSpPr>
        <p:spPr>
          <a:xfrm>
            <a:off x="4967288" y="5757714"/>
            <a:ext cx="3737896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синхронизация помогает, а где создает шум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953500" y="4709964"/>
            <a:ext cx="4038600" cy="2228999"/>
          </a:xfrm>
          <a:prstGeom prst="rect">
            <a:avLst/>
          </a:prstGeom>
          <a:solidFill>
            <a:srgbClr val="F3EBDD"/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58288" y="5371951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566002" y="5324326"/>
            <a:ext cx="88909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Риски</a:t>
            </a:r>
            <a:endParaRPr lang="en-US" sz="2175" dirty="0"/>
          </a:p>
        </p:txBody>
      </p:sp>
      <p:sp>
        <p:nvSpPr>
          <p:cNvPr id="46" name="Text 44"/>
          <p:cNvSpPr/>
          <p:nvPr/>
        </p:nvSpPr>
        <p:spPr>
          <a:xfrm>
            <a:off x="9158288" y="5757714"/>
            <a:ext cx="3737896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разрывы мешают управляемости и результату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71500" y="7053263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8200" y="7212806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863105" y="7177088"/>
            <a:ext cx="765438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Карта C-level-разрывов и решение о продолжении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571500" y="778192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818159" y="7853362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2122959" y="7762875"/>
            <a:ext cx="36955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разрыв или Stop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818159" y="820578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Text 52"/>
          <p:cNvSpPr/>
          <p:nvPr/>
        </p:nvSpPr>
        <p:spPr>
          <a:xfrm>
            <a:off x="2122959" y="8115300"/>
            <a:ext cx="40668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подтвержденная опора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299969" y="8205788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6" name="Text 54"/>
          <p:cNvSpPr/>
          <p:nvPr/>
        </p:nvSpPr>
        <p:spPr>
          <a:xfrm>
            <a:off x="6604769" y="8115300"/>
            <a:ext cx="3165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проверки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818159" y="8558213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8" name="Text 56"/>
          <p:cNvSpPr/>
          <p:nvPr/>
        </p:nvSpPr>
        <p:spPr>
          <a:xfrm>
            <a:off x="2122959" y="8467725"/>
            <a:ext cx="427426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архитектура диагностики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323537" y="7762875"/>
            <a:ext cx="7392963" cy="14382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33087" y="787717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533087" y="8229600"/>
            <a:ext cx="71830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HR-оценка директоров; не психодиагностика; не поиск виноватых; не бесплатный аудит; не обещание, что у каждого клиента найдется критическая проблема.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71500" y="92964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71500" y="9410700"/>
            <a:ext cx="111920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Платная Диагностика нужна не для красивого отчета, а для права принимать решение о следующем шаге.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1818590" y="9401175"/>
            <a:ext cx="6487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Визуализация_07_Диагностика_C_level_Ядра_V1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86392" y="342900"/>
            <a:ext cx="8283119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SPRINT FLOW · СЛОЖНОСТЬ СРЕДНЯЯ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7659350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CLM 30-60-90: решение становится внедренным артефактом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2079427"/>
            <a:ext cx="1707070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Спринт проверяет выбранный контур в работе: владелец эффекта, владелец решения, данные, метрики до / после, еженедельный разбор и итоговый вердикт.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863453"/>
            <a:ext cx="4608463" cy="1252686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6288" y="3011091"/>
            <a:ext cx="46187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Паспорт спринта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76288" y="3401616"/>
            <a:ext cx="4324855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Какой контур проверяем и какой результат должен измениться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51413" y="2863453"/>
            <a:ext cx="4007346" cy="1252686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6200" y="3011091"/>
            <a:ext cx="39575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5556200" y="3401616"/>
            <a:ext cx="3705704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отвечает за деловой результат и критерий успеха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30209" y="2863453"/>
            <a:ext cx="4007421" cy="1252686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996" y="3011091"/>
            <a:ext cx="39576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решения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734996" y="3401616"/>
            <a:ext cx="3705781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двигает управленческое решение внутри первого круга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09079" y="2863453"/>
            <a:ext cx="4007346" cy="1252686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13867" y="3011091"/>
            <a:ext cx="39575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данных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913867" y="3401616"/>
            <a:ext cx="3705704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подтверждает факты, метрики и качество данных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81130" y="5746626"/>
            <a:ext cx="1714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95534" y="5746626"/>
            <a:ext cx="1714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" y="4268539"/>
            <a:ext cx="5384750" cy="2956173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7210425"/>
            <a:ext cx="53847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4268539"/>
            <a:ext cx="538475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4268539"/>
            <a:ext cx="14288" cy="29561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1963" y="4268539"/>
            <a:ext cx="14288" cy="29561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814388" y="4478089"/>
            <a:ext cx="5388873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600"/>
              </a:lnSpc>
              <a:buNone/>
            </a:pPr>
            <a:r>
              <a:rPr lang="en-US" sz="6150" b="1" spc="-123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</a:t>
            </a:r>
            <a:endParaRPr lang="en-US" sz="6150" dirty="0"/>
          </a:p>
        </p:txBody>
      </p:sp>
      <p:sp>
        <p:nvSpPr>
          <p:cNvPr id="29" name="Text 27"/>
          <p:cNvSpPr/>
          <p:nvPr/>
        </p:nvSpPr>
        <p:spPr>
          <a:xfrm>
            <a:off x="814388" y="5276255"/>
            <a:ext cx="50459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85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Запуск, фиксация базового состояния, первые решения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6451550" y="4268539"/>
            <a:ext cx="5384825" cy="2956173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51550" y="7210425"/>
            <a:ext cx="53848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Shape 30"/>
          <p:cNvSpPr/>
          <p:nvPr/>
        </p:nvSpPr>
        <p:spPr>
          <a:xfrm>
            <a:off x="6451550" y="4268539"/>
            <a:ext cx="5384825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51550" y="4268539"/>
            <a:ext cx="14288" cy="29561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822088" y="4268539"/>
            <a:ext cx="14288" cy="29561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6694438" y="4478089"/>
            <a:ext cx="5388955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600"/>
              </a:lnSpc>
              <a:buNone/>
            </a:pPr>
            <a:r>
              <a:rPr lang="en-US" sz="6150" b="1" spc="-123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6150" dirty="0"/>
          </a:p>
        </p:txBody>
      </p:sp>
      <p:sp>
        <p:nvSpPr>
          <p:cNvPr id="36" name="Text 34"/>
          <p:cNvSpPr/>
          <p:nvPr/>
        </p:nvSpPr>
        <p:spPr>
          <a:xfrm>
            <a:off x="6694438" y="5276255"/>
            <a:ext cx="504602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85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отклонений, корректировка маршрута, снятие блокеров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2331675" y="4268539"/>
            <a:ext cx="5384750" cy="2956173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38" name="Shape 36"/>
          <p:cNvSpPr/>
          <p:nvPr/>
        </p:nvSpPr>
        <p:spPr>
          <a:xfrm>
            <a:off x="12331675" y="7210425"/>
            <a:ext cx="53847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31675" y="4268539"/>
            <a:ext cx="538475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12331675" y="4268539"/>
            <a:ext cx="14288" cy="29561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1" name="Shape 39"/>
          <p:cNvSpPr/>
          <p:nvPr/>
        </p:nvSpPr>
        <p:spPr>
          <a:xfrm>
            <a:off x="17702138" y="4268539"/>
            <a:ext cx="14288" cy="295617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12574563" y="4478089"/>
            <a:ext cx="5388873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600"/>
              </a:lnSpc>
              <a:buNone/>
            </a:pPr>
            <a:r>
              <a:rPr lang="en-US" sz="6150" b="1" spc="-123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90</a:t>
            </a:r>
            <a:endParaRPr lang="en-US" sz="6150" dirty="0"/>
          </a:p>
        </p:txBody>
      </p:sp>
      <p:sp>
        <p:nvSpPr>
          <p:cNvPr id="43" name="Text 41"/>
          <p:cNvSpPr/>
          <p:nvPr/>
        </p:nvSpPr>
        <p:spPr>
          <a:xfrm>
            <a:off x="12574563" y="5276255"/>
            <a:ext cx="53888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ИТОГОВЫЙ ВЕРДИКТ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574563" y="5666780"/>
            <a:ext cx="50459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85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Итоговый вердикт: закрепить, расширить, остановить или перезапустить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571500" y="7339012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200" y="7498556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863105" y="7462838"/>
            <a:ext cx="112620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Внедренный артефакт, метрики до / после и решение о следующем цикле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571500" y="806767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818159" y="8139112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0" name="Text 48"/>
          <p:cNvSpPr/>
          <p:nvPr/>
        </p:nvSpPr>
        <p:spPr>
          <a:xfrm>
            <a:off x="2122959" y="8048625"/>
            <a:ext cx="241250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ход спринта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818159" y="849153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2" name="Text 50"/>
          <p:cNvSpPr/>
          <p:nvPr/>
        </p:nvSpPr>
        <p:spPr>
          <a:xfrm>
            <a:off x="2122959" y="8401050"/>
            <a:ext cx="56338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подтвержденный результат и данные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818159" y="8843963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4" name="Text 52"/>
          <p:cNvSpPr/>
          <p:nvPr/>
        </p:nvSpPr>
        <p:spPr>
          <a:xfrm>
            <a:off x="2122959" y="8753475"/>
            <a:ext cx="48276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отклонение, риск или Stop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818159" y="9196388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6" name="Text 54"/>
          <p:cNvSpPr/>
          <p:nvPr/>
        </p:nvSpPr>
        <p:spPr>
          <a:xfrm>
            <a:off x="2122959" y="9105900"/>
            <a:ext cx="406992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управленческий каркас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323537" y="8048625"/>
            <a:ext cx="7392963" cy="14382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33087" y="816292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533087" y="8515350"/>
            <a:ext cx="71830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проектный план ради плана; не отчетность ради отчетности; не набор встреч; не имитация внедрения; не гарантия результата без данных и владельца эффекта.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71500" y="958215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71500" y="9696450"/>
            <a:ext cx="125388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Результат Спринта — не план и не протокол, а внедренный контур управления или честный Stop / остановка.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504390" y="9686925"/>
            <a:ext cx="57333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Визуализация_08_Спринт_CLM_30_60_90_V1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70851" y="342900"/>
            <a:ext cx="9510214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MATRIX / МАТРИЦА ОТЛИЧИЙ · СЛОЖНОСТЬ ПРОСТАЯ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CLM — не HR, не коучинг, не оргструктура и не BI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707070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Управление Директорами работает не с оценкой людей и не с красивой схемой подчиненности, а с ролями, мандатами, решениями, данными и ответственностью первого круга.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28565"/>
            <a:ext cx="10852026" cy="745406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328565"/>
            <a:ext cx="47625" cy="74540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790575" y="2385715"/>
            <a:ext cx="1169624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HR-оценка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0575" y="2733377"/>
            <a:ext cx="11696246" cy="32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не ранжирует директоров как людей, а проверяет роль, мандат и результат в системе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" y="3188271"/>
            <a:ext cx="10852026" cy="745406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3188271"/>
            <a:ext cx="47625" cy="74540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790575" y="3245421"/>
            <a:ext cx="1169624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коучинг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0575" y="3593083"/>
            <a:ext cx="11696246" cy="32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не заменяет личное развитие руководителя настройкой управленческого контура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1500" y="4047976"/>
            <a:ext cx="10852026" cy="745406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4047976"/>
            <a:ext cx="47625" cy="74540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790575" y="4105126"/>
            <a:ext cx="1169624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оргструктура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90575" y="4452789"/>
            <a:ext cx="11696246" cy="32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не рисует новую пирамиду, а проверяет владельцев решений и мандатов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1500" y="4907682"/>
            <a:ext cx="10852026" cy="745406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4907682"/>
            <a:ext cx="47625" cy="74540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790575" y="4964832"/>
            <a:ext cx="1169624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система совещаний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90575" y="5312494"/>
            <a:ext cx="11696246" cy="32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не добавляет встречи, а связывает решения, данные, сроки и разбор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1500" y="5767388"/>
            <a:ext cx="10852026" cy="745406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5767388"/>
            <a:ext cx="47625" cy="74540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790575" y="5824538"/>
            <a:ext cx="1169624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BI-панель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0575" y="6172200"/>
            <a:ext cx="11696246" cy="32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не показывает метрики ради метрик, а отвечает, кто управляет сигналом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71500" y="6627093"/>
            <a:ext cx="10852026" cy="1028849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6627093"/>
            <a:ext cx="47625" cy="102884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790575" y="6684243"/>
            <a:ext cx="1169624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board portal / портал совета директоров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90575" y="7031906"/>
            <a:ext cx="10951940" cy="604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не хранит документы для Board / совета директоров, а настраивает управляемость первого круга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23526" y="4982691"/>
            <a:ext cx="3429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766426" y="4896966"/>
            <a:ext cx="15240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918826" y="2328565"/>
            <a:ext cx="5797600" cy="53273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6" name="Text 34"/>
          <p:cNvSpPr/>
          <p:nvPr/>
        </p:nvSpPr>
        <p:spPr>
          <a:xfrm>
            <a:off x="12204576" y="4015160"/>
            <a:ext cx="5748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ЧТО ТАКОЕ CLM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204576" y="4481885"/>
            <a:ext cx="5382883" cy="152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747"/>
              </a:lnSpc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Технология настройки C-level-ядра ролей, мандатов, решений, данных, ритмов и ответственности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71500" y="778192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818159" y="7853362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0" name="Text 38"/>
          <p:cNvSpPr/>
          <p:nvPr/>
        </p:nvSpPr>
        <p:spPr>
          <a:xfrm>
            <a:off x="2122959" y="7762875"/>
            <a:ext cx="46214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неправильная категория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838355" y="7853362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7143155" y="7762875"/>
            <a:ext cx="247724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ядро CLM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818159" y="820578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2122959" y="8115300"/>
            <a:ext cx="378526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данные и владельцы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818159" y="8558213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Text 44"/>
          <p:cNvSpPr/>
          <p:nvPr/>
        </p:nvSpPr>
        <p:spPr>
          <a:xfrm>
            <a:off x="2122959" y="8467725"/>
            <a:ext cx="50418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переход к правильному пониманию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323537" y="7762875"/>
            <a:ext cx="7392963" cy="14382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33087" y="787717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533087" y="8229600"/>
            <a:ext cx="71830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агрессивное сравнение с рынком; не критика HR, коучинга, BI или board portal / порталов; не утверждение, что другие инструменты не нужны.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71500" y="92964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71500" y="9410700"/>
            <a:ext cx="111920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CLM защищает управляемость C-level-ядра, не подменяя ее привычными инструментами из соседних категорий.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818590" y="9401175"/>
            <a:ext cx="6487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Визуализация_09_Антипозиционирование_CLM_V1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70851" y="342900"/>
            <a:ext cx="9510214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КЕЙСОВЫЙ СЛОЙ · CASE FLOW / КЕЙСОВЫЙ ПОТОК · СЛОЖНОСТЬ СРЕДНЯЯ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 CLM: от боли CEO к управляемому результату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707070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Кейсовая схема показывает не красивую историю, а путь применения: что болело, что выявила Диагностика, какое решение собрано, что внедрено и что изменилось после.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28565"/>
            <a:ext cx="17145000" cy="581025"/>
          </a:xfrm>
          <a:prstGeom prst="rect">
            <a:avLst/>
          </a:prstGeom>
          <a:solidFill>
            <a:srgbClr val="F3EBDD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150" y="2471440"/>
            <a:ext cx="6980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БОЛЬ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69554" y="2452390"/>
            <a:ext cx="96641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ломает управляемость первого круга и возвращает решения наверх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571500" y="3042940"/>
            <a:ext cx="3810000" cy="4134148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" y="7162800"/>
            <a:ext cx="3810000" cy="1428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3042940"/>
            <a:ext cx="3810000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3042940"/>
            <a:ext cx="14288" cy="41341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7213" y="3042940"/>
            <a:ext cx="14288" cy="41341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338" y="4441329"/>
            <a:ext cx="3698558" cy="4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1"/>
              </a:lnSpc>
              <a:buNone/>
            </a:pPr>
            <a:r>
              <a:rPr lang="en-US" sz="28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 CLM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795338" y="4935662"/>
            <a:ext cx="34631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85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роли, мандаты, данные или решения были разорваны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4629150" y="3042940"/>
            <a:ext cx="4448175" cy="20003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4888" y="359762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03552" y="3569047"/>
            <a:ext cx="17821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4814888" y="3959572"/>
            <a:ext cx="4199001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было выявлено и какой вердикт получен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10675" y="3042940"/>
            <a:ext cx="4448175" cy="20003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6413" y="359762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85077" y="3569047"/>
            <a:ext cx="9477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Сессия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396413" y="3959572"/>
            <a:ext cx="4199001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Какое решение и какой контур спринта собраны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29150" y="5176689"/>
            <a:ext cx="4448175" cy="200039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4888" y="5731371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03552" y="5702796"/>
            <a:ext cx="9834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Спринт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4814888" y="6093321"/>
            <a:ext cx="4199001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внедрено, кто владел эффектом и какие метрики проверены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10675" y="5176689"/>
            <a:ext cx="4448175" cy="2000399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6413" y="5731371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85077" y="5702796"/>
            <a:ext cx="22280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Сопровождение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9396413" y="6093321"/>
            <a:ext cx="4199001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удержано, где снят риск отката, какой следующий цикл выбран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906500" y="3042940"/>
            <a:ext cx="3810000" cy="4134148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36" name="Shape 34"/>
          <p:cNvSpPr/>
          <p:nvPr/>
        </p:nvSpPr>
        <p:spPr>
          <a:xfrm>
            <a:off x="13906500" y="7162800"/>
            <a:ext cx="3810000" cy="1428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>
            <a:off x="13906500" y="3042940"/>
            <a:ext cx="381000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Shape 36"/>
          <p:cNvSpPr/>
          <p:nvPr/>
        </p:nvSpPr>
        <p:spPr>
          <a:xfrm>
            <a:off x="13906500" y="3042940"/>
            <a:ext cx="14288" cy="4134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Shape 37"/>
          <p:cNvSpPr/>
          <p:nvPr/>
        </p:nvSpPr>
        <p:spPr>
          <a:xfrm>
            <a:off x="17702213" y="3042940"/>
            <a:ext cx="14288" cy="4134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14130338" y="4441329"/>
            <a:ext cx="3698558" cy="4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1"/>
              </a:lnSpc>
              <a:buNone/>
            </a:pPr>
            <a:r>
              <a:rPr lang="en-US" sz="2850" b="1" dirty="0">
                <a:solidFill>
                  <a:srgbClr val="0F766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После CLM</a:t>
            </a:r>
            <a:endParaRPr lang="en-US" sz="2850" dirty="0"/>
          </a:p>
        </p:txBody>
      </p:sp>
      <p:sp>
        <p:nvSpPr>
          <p:cNvPr id="41" name="Text 39"/>
          <p:cNvSpPr/>
          <p:nvPr/>
        </p:nvSpPr>
        <p:spPr>
          <a:xfrm>
            <a:off x="14130338" y="4935662"/>
            <a:ext cx="34631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85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Какая управляемость появилась вместо ручного арбитража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71500" y="7291388"/>
            <a:ext cx="17145000" cy="661988"/>
          </a:xfrm>
          <a:prstGeom prst="rect">
            <a:avLst/>
          </a:prstGeom>
          <a:solidFill>
            <a:srgbClr val="F3EBDD"/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8200" y="7474744"/>
            <a:ext cx="2393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ВОПРОС КЛИЕНТУ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262164" y="7415213"/>
            <a:ext cx="110027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Где в вашей C-level-команде решение сегодня теряет владельца?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71500" y="8067675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818159" y="8139112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Text 45"/>
          <p:cNvSpPr/>
          <p:nvPr/>
        </p:nvSpPr>
        <p:spPr>
          <a:xfrm>
            <a:off x="2122959" y="8048625"/>
            <a:ext cx="225340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путь кейса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528765" y="8139112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9" name="Text 47"/>
          <p:cNvSpPr/>
          <p:nvPr/>
        </p:nvSpPr>
        <p:spPr>
          <a:xfrm>
            <a:off x="4833565" y="8048625"/>
            <a:ext cx="345629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боль и разрыв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818159" y="849153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2122959" y="8401050"/>
            <a:ext cx="454130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подтвержденный результат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818159" y="8843963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3" name="Text 51"/>
          <p:cNvSpPr/>
          <p:nvPr/>
        </p:nvSpPr>
        <p:spPr>
          <a:xfrm>
            <a:off x="2122959" y="8753475"/>
            <a:ext cx="465880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управленческая архитектура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323537" y="8048625"/>
            <a:ext cx="7392963" cy="14382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33087" y="8162925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533087" y="8515350"/>
            <a:ext cx="71830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выдуманное доказательство результата; не обещание универсального эффекта; не обобщенный кейс под видом реального внедрения; не рекламная история без диагностики.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71500" y="958215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71500" y="9696450"/>
            <a:ext cx="110843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Хороший кейс CLM ведет клиента к вопросу: какую Диагностику нужно пройти нашей компании?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3190190" y="9686925"/>
            <a:ext cx="49789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Визуализация_10_Кейсовая_Схема_V1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2026-07-30T11:16:20Z</dcterms:created>
  <dcterms:modified xsi:type="dcterms:W3CDTF">2026-07-30T11:16:20Z</dcterms:modified>
</cp:coreProperties>
</file>