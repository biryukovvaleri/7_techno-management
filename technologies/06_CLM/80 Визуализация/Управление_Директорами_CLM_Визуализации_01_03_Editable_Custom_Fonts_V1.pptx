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30 секунд: CLM настраивает первый управленческий круг как систему ролей, мандатов, решений, данных, ритмов и ответственности.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Дорогая боль до CLM: формально директора есть, но ключевые решения возвращаются к CEO, потому что мандаты, данные и ответственность разорваны.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выбора глубины C-level-архитектуры под сложность компании: роли можно сжимать, но мандаты нельзя терять.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71525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342900"/>
            <a:ext cx="457662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УПРАВЛЕНИЕ ДИРЕКТОРАМИ / CLM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79715" y="342900"/>
            <a:ext cx="2451735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 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01100" y="342900"/>
            <a:ext cx="980694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СЛОЙ · ROLE MAP / КАРТА РОЛЕЙ · СЛОЖНОСТЬ СРЕДНЯЯ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914400"/>
            <a:ext cx="1885950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92"/>
              </a:lnSpc>
              <a:buNone/>
            </a:pPr>
            <a:r>
              <a:rPr lang="en-US" sz="4050" b="1" spc="-40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C-level-ядро: первый круг как система управления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571500" y="1544538"/>
            <a:ext cx="15304770" cy="688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889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CLM показывает, как роли, мандаты, решения, данные и ответственность соединяются вокруг результата, а не вокруг должностей.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71500" y="2309515"/>
            <a:ext cx="17145000" cy="60007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0" name="Text 8"/>
          <p:cNvSpPr/>
          <p:nvPr/>
        </p:nvSpPr>
        <p:spPr>
          <a:xfrm>
            <a:off x="819150" y="2461915"/>
            <a:ext cx="23939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ВЕРХНИЙ КОНТУР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43114" y="2442865"/>
            <a:ext cx="97525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CEO / генеральный директор задает курс и держит целостность системы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6667500" y="3643015"/>
            <a:ext cx="4953000" cy="3048298"/>
          </a:xfrm>
          <a:prstGeom prst="rect">
            <a:avLst/>
          </a:prstGeom>
          <a:ln w="19050">
            <a:solidFill>
              <a:srgbClr val="B46A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67800" y="3557290"/>
            <a:ext cx="1333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4" name="Shape 12"/>
          <p:cNvSpPr/>
          <p:nvPr/>
        </p:nvSpPr>
        <p:spPr>
          <a:xfrm>
            <a:off x="9086850" y="6605588"/>
            <a:ext cx="1333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34775" y="5090964"/>
            <a:ext cx="1714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1775" y="5110014"/>
            <a:ext cx="17145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7" name="Shape 15"/>
          <p:cNvSpPr/>
          <p:nvPr/>
        </p:nvSpPr>
        <p:spPr>
          <a:xfrm>
            <a:off x="571500" y="3023890"/>
            <a:ext cx="5715000" cy="1276052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338" y="3233068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3052" y="3175918"/>
            <a:ext cx="75619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Роли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795338" y="3590255"/>
            <a:ext cx="5425345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управленческие функции должны быть видимы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712943" y="3023890"/>
            <a:ext cx="2862114" cy="586680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22" name="Text 20"/>
          <p:cNvSpPr/>
          <p:nvPr/>
        </p:nvSpPr>
        <p:spPr>
          <a:xfrm>
            <a:off x="7784311" y="3023890"/>
            <a:ext cx="2719377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903"/>
              </a:lnSpc>
              <a:buNone/>
            </a:pPr>
            <a:r>
              <a:rPr lang="en-US" sz="1800" spc="72" kern="0" dirty="0">
                <a:solidFill>
                  <a:srgbClr val="B46A3C"/>
                </a:solidFill>
                <a:highlight>
                  <a:srgbClr val="F3EBDD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МАРШРУТ ПО ЧАСОВОЙ СТРЕЛКЕ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001500" y="3023890"/>
            <a:ext cx="5715000" cy="1276052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225338" y="3233068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633052" y="3175918"/>
            <a:ext cx="1392771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Мандаты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2225338" y="3590255"/>
            <a:ext cx="5425345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имеет право и обязанность принимать решения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71500" y="4414242"/>
            <a:ext cx="5715000" cy="1505769"/>
          </a:xfrm>
          <a:prstGeom prst="rect">
            <a:avLst/>
          </a:prstGeom>
          <a:solidFill>
            <a:srgbClr val="F3EBDD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338" y="4738241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03052" y="4681091"/>
            <a:ext cx="2596537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Ответственность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795338" y="5095429"/>
            <a:ext cx="5425345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Кто отвечает за результат, отклонение и корректировку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239000" y="4414242"/>
            <a:ext cx="3810000" cy="150576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7945710" y="4867052"/>
            <a:ext cx="263623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35" kern="0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C-level-ядро</a:t>
            </a:r>
            <a:endParaRPr lang="en-US" sz="3450" dirty="0"/>
          </a:p>
        </p:txBody>
      </p:sp>
      <p:sp>
        <p:nvSpPr>
          <p:cNvPr id="33" name="Shape 31"/>
          <p:cNvSpPr/>
          <p:nvPr/>
        </p:nvSpPr>
        <p:spPr>
          <a:xfrm>
            <a:off x="12001500" y="4414242"/>
            <a:ext cx="5715000" cy="1505769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225338" y="4877693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633052" y="4820543"/>
            <a:ext cx="1366741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Решения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2225338" y="5234880"/>
            <a:ext cx="5794058" cy="316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решения проходят через первый круг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71500" y="6034311"/>
            <a:ext cx="5715000" cy="1276127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338" y="6243489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03052" y="6186339"/>
            <a:ext cx="100019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Ритмы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795338" y="6600676"/>
            <a:ext cx="5425345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первый круг синхронизируется без лишних совещаний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2001500" y="6034311"/>
            <a:ext cx="5715000" cy="1276127"/>
          </a:xfrm>
          <a:prstGeom prst="rect">
            <a:avLst/>
          </a:prstGeom>
          <a:solidFill>
            <a:srgbClr val="F3EBDD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225338" y="6243489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2633052" y="6186339"/>
            <a:ext cx="119003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2250" dirty="0"/>
          </a:p>
        </p:txBody>
      </p:sp>
      <p:sp>
        <p:nvSpPr>
          <p:cNvPr id="44" name="Text 42"/>
          <p:cNvSpPr/>
          <p:nvPr/>
        </p:nvSpPr>
        <p:spPr>
          <a:xfrm>
            <a:off x="12225338" y="6600676"/>
            <a:ext cx="5425345" cy="595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52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данные нужны для решения и кто отвечает за их качество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71500" y="7424737"/>
            <a:ext cx="17145000" cy="614363"/>
          </a:xfrm>
          <a:prstGeom prst="rect">
            <a:avLst/>
          </a:prstGeom>
          <a:solidFill>
            <a:srgbClr val="F3EBDD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8200" y="7584281"/>
            <a:ext cx="8534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ВЫХОД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863105" y="7548563"/>
            <a:ext cx="960950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Управляемый первый круг вместо набора сильных должностей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571500" y="8153400"/>
            <a:ext cx="11323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818159" y="8224837"/>
            <a:ext cx="209550" cy="1143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0" name="Text 48"/>
          <p:cNvSpPr/>
          <p:nvPr/>
        </p:nvSpPr>
        <p:spPr>
          <a:xfrm>
            <a:off x="2122959" y="8134350"/>
            <a:ext cx="280434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архитектура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074221" y="8224837"/>
            <a:ext cx="209550" cy="1143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52" name="Text 50"/>
          <p:cNvSpPr/>
          <p:nvPr/>
        </p:nvSpPr>
        <p:spPr>
          <a:xfrm>
            <a:off x="5379021" y="8134350"/>
            <a:ext cx="30828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маршрут решения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818159" y="8577263"/>
            <a:ext cx="209550" cy="1143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4" name="Text 52"/>
          <p:cNvSpPr/>
          <p:nvPr/>
        </p:nvSpPr>
        <p:spPr>
          <a:xfrm>
            <a:off x="2122959" y="8486775"/>
            <a:ext cx="378526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данные и владельцы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818159" y="8920163"/>
            <a:ext cx="228600" cy="133350"/>
          </a:xfrm>
          <a:prstGeom prst="rect">
            <a:avLst/>
          </a:prstGeom>
          <a:solidFill>
            <a:srgbClr val="F3EBDD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42009" y="8839200"/>
            <a:ext cx="395971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Warm Paper — рабочая поверхность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818159" y="9282113"/>
            <a:ext cx="209550" cy="1143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8" name="Text 56"/>
          <p:cNvSpPr/>
          <p:nvPr/>
        </p:nvSpPr>
        <p:spPr>
          <a:xfrm>
            <a:off x="2122959" y="9191625"/>
            <a:ext cx="369558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разрыв или Stop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0323537" y="8134350"/>
            <a:ext cx="7392963" cy="117633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533087" y="8248650"/>
            <a:ext cx="7671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0533087" y="8601075"/>
            <a:ext cx="7183079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HR-оценка директоров; не новая оргструктура; не коучинг; не список должностей; не схема подчиненности.</a:t>
            </a:r>
            <a:endParaRPr lang="en-US" sz="1875" dirty="0"/>
          </a:p>
        </p:txBody>
      </p:sp>
      <p:sp>
        <p:nvSpPr>
          <p:cNvPr id="62" name="Shape 60"/>
          <p:cNvSpPr/>
          <p:nvPr/>
        </p:nvSpPr>
        <p:spPr>
          <a:xfrm>
            <a:off x="571500" y="958215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571500" y="9696450"/>
            <a:ext cx="103841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Управление Директорами / CLM: сначала система ролей и мандатов, потом человек в роли.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3464480" y="9686925"/>
            <a:ext cx="46772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Визуализация_01_C_level_Ядро_V1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71525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342900"/>
            <a:ext cx="457662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УПРАВЛЕНИЕ ДИРЕКТОРАМИ / CLM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79715" y="342900"/>
            <a:ext cx="2451735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 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89790" y="342900"/>
            <a:ext cx="849938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СЛОЙ · BEFORE / AFTER · СЛОЖНОСТЬ ПРОСТАЯ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914400"/>
            <a:ext cx="1885950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92"/>
              </a:lnSpc>
              <a:buNone/>
            </a:pPr>
            <a:r>
              <a:rPr lang="en-US" sz="4050" b="1" spc="-40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Почему решения снова возвращаются к CEO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571500" y="1544538"/>
            <a:ext cx="15893415" cy="688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889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Когда роли и мандаты не соединены, первый круг выглядит собранным, но компания все равно управляется через ручной арбитраж.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71500" y="2328565"/>
            <a:ext cx="1255440" cy="419100"/>
          </a:xfrm>
          <a:prstGeom prst="rect">
            <a:avLst/>
          </a:prstGeom>
          <a:ln w="14288">
            <a:solidFill>
              <a:srgbClr val="B9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9138" y="2390477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 CLM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98390" y="2378571"/>
            <a:ext cx="60073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функции спорят, решение не имеет владельца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571500" y="3219152"/>
            <a:ext cx="79248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" y="2861965"/>
            <a:ext cx="247269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Продажи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971800" y="2881015"/>
            <a:ext cx="6076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Просит скидку, отсрочку, исключение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1500" y="3643015"/>
            <a:ext cx="79248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" y="3285827"/>
            <a:ext cx="247269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Финансы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971800" y="3304877"/>
            <a:ext cx="6076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Останавливает решение из-за маржи или риска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71500" y="4066877"/>
            <a:ext cx="79248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" y="3709690"/>
            <a:ext cx="247269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Операции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971800" y="3728740"/>
            <a:ext cx="6076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подтверждает мощность, сроки, исполнение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1500" y="4490740"/>
            <a:ext cx="79248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" y="4133552"/>
            <a:ext cx="247269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HR / люди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971800" y="4152602"/>
            <a:ext cx="6076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Видит перегруз и конфликт ответственности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71500" y="4557415"/>
            <a:ext cx="247269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/ ИТ и данные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2971800" y="4576465"/>
            <a:ext cx="6076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дает единой версии фактов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 rot="1440002">
            <a:off x="1999287" y="5054650"/>
            <a:ext cx="19050" cy="2857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7" name="Shape 25"/>
          <p:cNvSpPr/>
          <p:nvPr/>
        </p:nvSpPr>
        <p:spPr>
          <a:xfrm rot="840000">
            <a:off x="3261085" y="5062758"/>
            <a:ext cx="19050" cy="2857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8" name="Shape 26"/>
          <p:cNvSpPr/>
          <p:nvPr/>
        </p:nvSpPr>
        <p:spPr>
          <a:xfrm>
            <a:off x="4533900" y="5067002"/>
            <a:ext cx="19050" cy="2857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9" name="Shape 27"/>
          <p:cNvSpPr/>
          <p:nvPr/>
        </p:nvSpPr>
        <p:spPr>
          <a:xfrm rot="-840000">
            <a:off x="5806715" y="5062758"/>
            <a:ext cx="19050" cy="2857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Shape 28"/>
          <p:cNvSpPr/>
          <p:nvPr/>
        </p:nvSpPr>
        <p:spPr>
          <a:xfrm rot="-1440002">
            <a:off x="7068512" y="5054650"/>
            <a:ext cx="19050" cy="2857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5314652"/>
            <a:ext cx="6715125" cy="1323975"/>
          </a:xfrm>
          <a:prstGeom prst="roundRect">
            <a:avLst>
              <a:gd name="adj" fmla="val 50000"/>
            </a:avLst>
          </a:prstGeom>
          <a:ln w="23813">
            <a:solidFill>
              <a:srgbClr val="B91C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04900" y="5867102"/>
            <a:ext cx="142875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3" name="Shape 31"/>
          <p:cNvSpPr/>
          <p:nvPr/>
        </p:nvSpPr>
        <p:spPr>
          <a:xfrm>
            <a:off x="2581275" y="5543252"/>
            <a:ext cx="4248150" cy="8191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4" name="Text 32"/>
          <p:cNvSpPr/>
          <p:nvPr/>
        </p:nvSpPr>
        <p:spPr>
          <a:xfrm>
            <a:off x="2694146" y="5624215"/>
            <a:ext cx="4022407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4146"/>
              </a:lnSpc>
              <a:buNone/>
            </a:pPr>
            <a:r>
              <a:rPr lang="en-US" sz="22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CEO как ручной маршрутизатор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2739814" y="6705302"/>
            <a:ext cx="3946989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Решение возвращается к CEO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139238" y="2328565"/>
            <a:ext cx="9525" cy="2155180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910786" y="4617095"/>
            <a:ext cx="5425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CLM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39238" y="5045720"/>
            <a:ext cx="9525" cy="2155180"/>
          </a:xfrm>
          <a:prstGeom prst="rect">
            <a:avLst/>
          </a:prstGeom>
          <a:solidFill>
            <a:srgbClr val="0B1F3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982200" y="2328565"/>
            <a:ext cx="1735485" cy="419100"/>
          </a:xfrm>
          <a:prstGeom prst="rect">
            <a:avLst/>
          </a:prstGeom>
          <a:ln w="14288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29838" y="2390477"/>
            <a:ext cx="15164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ПОСЛЕ CLM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889135" y="2378571"/>
            <a:ext cx="51374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решение идет по маршруту, а не наверх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9982200" y="2861965"/>
            <a:ext cx="7966329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740"/>
              </a:lnSpc>
              <a:buNone/>
            </a:pPr>
            <a:r>
              <a:rPr lang="en-US" sz="22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Решение проходит через владельца, мандат, данные, срок и разбор</a:t>
            </a:r>
            <a:endParaRPr lang="en-US" sz="2250" dirty="0"/>
          </a:p>
        </p:txBody>
      </p:sp>
      <p:sp>
        <p:nvSpPr>
          <p:cNvPr id="43" name="Shape 41"/>
          <p:cNvSpPr/>
          <p:nvPr/>
        </p:nvSpPr>
        <p:spPr>
          <a:xfrm>
            <a:off x="10058400" y="3917305"/>
            <a:ext cx="19050" cy="307404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4" name="Shape 42"/>
          <p:cNvSpPr/>
          <p:nvPr/>
        </p:nvSpPr>
        <p:spPr>
          <a:xfrm>
            <a:off x="9991725" y="6934200"/>
            <a:ext cx="152400" cy="1333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5" name="Shape 43"/>
          <p:cNvSpPr/>
          <p:nvPr/>
        </p:nvSpPr>
        <p:spPr>
          <a:xfrm>
            <a:off x="10306050" y="3707755"/>
            <a:ext cx="7410450" cy="542925"/>
          </a:xfrm>
          <a:prstGeom prst="rect">
            <a:avLst/>
          </a:prstGeom>
          <a:solidFill>
            <a:srgbClr val="F3EBDD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0838" y="3831580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956652" y="3807768"/>
            <a:ext cx="138867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10306050" y="4445347"/>
            <a:ext cx="7410450" cy="542925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10838" y="4569172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956652" y="4545360"/>
            <a:ext cx="103532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Мандат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10306050" y="5182865"/>
            <a:ext cx="7410450" cy="542925"/>
          </a:xfrm>
          <a:prstGeom prst="rect">
            <a:avLst/>
          </a:prstGeom>
          <a:solidFill>
            <a:srgbClr val="F3EBDD"/>
          </a:solidFill>
          <a:ln w="14288">
            <a:solidFill>
              <a:srgbClr val="0F76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510838" y="5306690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0956652" y="5282878"/>
            <a:ext cx="10953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10306050" y="5920457"/>
            <a:ext cx="7410450" cy="542925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10838" y="6044282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0956652" y="6020470"/>
            <a:ext cx="7043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Срок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10306050" y="6657975"/>
            <a:ext cx="7410450" cy="542925"/>
          </a:xfrm>
          <a:prstGeom prst="rect">
            <a:avLst/>
          </a:prstGeom>
          <a:solidFill>
            <a:srgbClr val="F3EBDD"/>
          </a:solidFill>
          <a:ln w="14288">
            <a:solidFill>
              <a:srgbClr val="0B1F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510838" y="6781800"/>
            <a:ext cx="3505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0956652" y="6757988"/>
            <a:ext cx="9821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Разбор</a:t>
            </a:r>
            <a:endParaRPr lang="en-US" sz="2100" dirty="0"/>
          </a:p>
        </p:txBody>
      </p:sp>
      <p:sp>
        <p:nvSpPr>
          <p:cNvPr id="60" name="Shape 58"/>
          <p:cNvSpPr/>
          <p:nvPr/>
        </p:nvSpPr>
        <p:spPr>
          <a:xfrm>
            <a:off x="571500" y="7315200"/>
            <a:ext cx="17145000" cy="614363"/>
          </a:xfrm>
          <a:prstGeom prst="rect">
            <a:avLst/>
          </a:prstGeom>
          <a:solidFill>
            <a:srgbClr val="F3EBDD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8200" y="7474744"/>
            <a:ext cx="8534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ВЫХОД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863105" y="7439025"/>
            <a:ext cx="11576819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CEO перестает быть единственным местом сборки управленческой системы</a:t>
            </a:r>
            <a:endParaRPr lang="en-US" sz="2250" dirty="0"/>
          </a:p>
        </p:txBody>
      </p:sp>
      <p:sp>
        <p:nvSpPr>
          <p:cNvPr id="63" name="Text 61"/>
          <p:cNvSpPr/>
          <p:nvPr/>
        </p:nvSpPr>
        <p:spPr>
          <a:xfrm>
            <a:off x="571500" y="8043863"/>
            <a:ext cx="11323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818159" y="8048625"/>
            <a:ext cx="247650" cy="247650"/>
          </a:xfrm>
          <a:prstGeom prst="ellipse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61059" y="8024812"/>
            <a:ext cx="451470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Красная петля — возврат решения к CEO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818159" y="8467725"/>
            <a:ext cx="209550" cy="1143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67" name="Text 65"/>
          <p:cNvSpPr/>
          <p:nvPr/>
        </p:nvSpPr>
        <p:spPr>
          <a:xfrm>
            <a:off x="2122959" y="8377238"/>
            <a:ext cx="30828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маршрут решения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5344641" y="8467725"/>
            <a:ext cx="209550" cy="1143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9" name="Text 67"/>
          <p:cNvSpPr/>
          <p:nvPr/>
        </p:nvSpPr>
        <p:spPr>
          <a:xfrm>
            <a:off x="5649441" y="8377238"/>
            <a:ext cx="362162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данные и владелец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818159" y="8820150"/>
            <a:ext cx="209550" cy="1143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71" name="Text 69"/>
          <p:cNvSpPr/>
          <p:nvPr/>
        </p:nvSpPr>
        <p:spPr>
          <a:xfrm>
            <a:off x="2122959" y="8729663"/>
            <a:ext cx="501344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нормальный контур управления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0323537" y="8024812"/>
            <a:ext cx="7392963" cy="117633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533087" y="8139112"/>
            <a:ext cx="7671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0533087" y="8491538"/>
            <a:ext cx="7183079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критика CEO; не обвинение директоров; не призыв усилить контроль; не новая схема совещаний.</a:t>
            </a:r>
            <a:endParaRPr lang="en-US" sz="1875" dirty="0"/>
          </a:p>
        </p:txBody>
      </p:sp>
      <p:sp>
        <p:nvSpPr>
          <p:cNvPr id="75" name="Shape 73"/>
          <p:cNvSpPr/>
          <p:nvPr/>
        </p:nvSpPr>
        <p:spPr>
          <a:xfrm>
            <a:off x="571500" y="92964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571500" y="9410700"/>
            <a:ext cx="1119207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CLM не обвиняет CEO или директоров. CLM показывает системный разрыв, который нужно диагностировать.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11818590" y="9401175"/>
            <a:ext cx="64877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Визуализация_02_CEO_Ручной_Маршрутизатор_V1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" y="771525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342900"/>
            <a:ext cx="4576621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0B1F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УПРАВЛЕНИЕ ДИРЕКТОРАМИ / CLM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979715" y="342900"/>
            <a:ext cx="2451735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 03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76331" y="342900"/>
            <a:ext cx="11044185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КОНСУЛЬТАНТСКИЙ СЛОЙ · ARCHITECTURE MAP · СЛОЖНОСТЬ СЛОЖНАЯ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914400"/>
            <a:ext cx="1885950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92"/>
              </a:lnSpc>
              <a:buNone/>
            </a:pPr>
            <a:r>
              <a:rPr lang="en-US" sz="4050" b="1" spc="-40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23 / 15 / 7: роли можно сжимать, мандаты нельзя терять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571500" y="1544538"/>
            <a:ext cx="16285845" cy="688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889"/>
              </a:lnSpc>
              <a:buNone/>
            </a:pPr>
            <a:r>
              <a:rPr lang="en-US" sz="21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Модель показывает, сколько управленческих функций нужно видеть явно: полная карта 23, компактная архитектура 15 или минимальный каркас 7.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71500" y="2328565"/>
            <a:ext cx="4978375" cy="3075980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" y="5347395"/>
            <a:ext cx="4978375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" y="2328565"/>
            <a:ext cx="4978375" cy="571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" y="2328565"/>
            <a:ext cx="14288" cy="307598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3" name="Shape 11"/>
          <p:cNvSpPr/>
          <p:nvPr/>
        </p:nvSpPr>
        <p:spPr>
          <a:xfrm>
            <a:off x="5535588" y="2328565"/>
            <a:ext cx="14288" cy="307598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814388" y="2557165"/>
            <a:ext cx="4941860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455"/>
              </a:lnSpc>
              <a:buNone/>
            </a:pPr>
            <a:r>
              <a:rPr lang="en-US" sz="6900" b="1" spc="-138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23</a:t>
            </a:r>
            <a:endParaRPr lang="en-US" sz="6900" dirty="0"/>
          </a:p>
        </p:txBody>
      </p:sp>
      <p:sp>
        <p:nvSpPr>
          <p:cNvPr id="15" name="Text 13"/>
          <p:cNvSpPr/>
          <p:nvPr/>
        </p:nvSpPr>
        <p:spPr>
          <a:xfrm>
            <a:off x="814388" y="3441055"/>
            <a:ext cx="462737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06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 роли / полная карта функций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14388" y="4222105"/>
            <a:ext cx="4627378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Для крупной или сложной компании: все ключевые функции названы, закреплены и измеримы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5549875" y="3652242"/>
            <a:ext cx="9620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11900" y="3576042"/>
            <a:ext cx="142875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19" name="Text 17"/>
          <p:cNvSpPr/>
          <p:nvPr/>
        </p:nvSpPr>
        <p:spPr>
          <a:xfrm>
            <a:off x="5649664" y="3861792"/>
            <a:ext cx="9815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СЖАТИЕ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54775" y="2328565"/>
            <a:ext cx="4978375" cy="3075980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21" name="Shape 19"/>
          <p:cNvSpPr/>
          <p:nvPr/>
        </p:nvSpPr>
        <p:spPr>
          <a:xfrm>
            <a:off x="6654775" y="5347395"/>
            <a:ext cx="4978375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6654775" y="2328565"/>
            <a:ext cx="4978375" cy="571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3" name="Shape 21"/>
          <p:cNvSpPr/>
          <p:nvPr/>
        </p:nvSpPr>
        <p:spPr>
          <a:xfrm>
            <a:off x="6654775" y="2328565"/>
            <a:ext cx="14288" cy="307598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4" name="Shape 22"/>
          <p:cNvSpPr/>
          <p:nvPr/>
        </p:nvSpPr>
        <p:spPr>
          <a:xfrm>
            <a:off x="11618863" y="2328565"/>
            <a:ext cx="14288" cy="307598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5" name="Text 23"/>
          <p:cNvSpPr/>
          <p:nvPr/>
        </p:nvSpPr>
        <p:spPr>
          <a:xfrm>
            <a:off x="6897663" y="2557165"/>
            <a:ext cx="4941860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455"/>
              </a:lnSpc>
              <a:buNone/>
            </a:pPr>
            <a:r>
              <a:rPr lang="en-US" sz="6900" b="1" spc="-138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15</a:t>
            </a:r>
            <a:endParaRPr lang="en-US" sz="6900" dirty="0"/>
          </a:p>
        </p:txBody>
      </p:sp>
      <p:sp>
        <p:nvSpPr>
          <p:cNvPr id="26" name="Text 24"/>
          <p:cNvSpPr/>
          <p:nvPr/>
        </p:nvSpPr>
        <p:spPr>
          <a:xfrm>
            <a:off x="6897663" y="3441055"/>
            <a:ext cx="462737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06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ролей / компактная архитектура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6897663" y="4222105"/>
            <a:ext cx="4627378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Для средней компании: часть функций укрупнена, но мандаты остаются видимыми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1633150" y="3652242"/>
            <a:ext cx="962025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29" name="Shape 27"/>
          <p:cNvSpPr/>
          <p:nvPr/>
        </p:nvSpPr>
        <p:spPr>
          <a:xfrm>
            <a:off x="12595175" y="3576042"/>
            <a:ext cx="142875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0" name="Text 28"/>
          <p:cNvSpPr/>
          <p:nvPr/>
        </p:nvSpPr>
        <p:spPr>
          <a:xfrm>
            <a:off x="11732940" y="3861792"/>
            <a:ext cx="98152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СЖАТИЕ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2738050" y="2328565"/>
            <a:ext cx="4978450" cy="3075980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32" name="Shape 30"/>
          <p:cNvSpPr/>
          <p:nvPr/>
        </p:nvSpPr>
        <p:spPr>
          <a:xfrm>
            <a:off x="12738050" y="5347395"/>
            <a:ext cx="4978450" cy="571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3" name="Shape 31"/>
          <p:cNvSpPr/>
          <p:nvPr/>
        </p:nvSpPr>
        <p:spPr>
          <a:xfrm>
            <a:off x="12738050" y="2328565"/>
            <a:ext cx="4978450" cy="571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4" name="Shape 32"/>
          <p:cNvSpPr/>
          <p:nvPr/>
        </p:nvSpPr>
        <p:spPr>
          <a:xfrm>
            <a:off x="12738050" y="2328565"/>
            <a:ext cx="14288" cy="307598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5" name="Shape 33"/>
          <p:cNvSpPr/>
          <p:nvPr/>
        </p:nvSpPr>
        <p:spPr>
          <a:xfrm>
            <a:off x="17702213" y="2328565"/>
            <a:ext cx="14288" cy="307598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6" name="Text 34"/>
          <p:cNvSpPr/>
          <p:nvPr/>
        </p:nvSpPr>
        <p:spPr>
          <a:xfrm>
            <a:off x="12980938" y="2557165"/>
            <a:ext cx="4941942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5455"/>
              </a:lnSpc>
              <a:buNone/>
            </a:pPr>
            <a:r>
              <a:rPr lang="en-US" sz="6900" b="1" spc="-138" kern="0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</a:t>
            </a:r>
            <a:endParaRPr lang="en-US" sz="6900" dirty="0"/>
          </a:p>
        </p:txBody>
      </p:sp>
      <p:sp>
        <p:nvSpPr>
          <p:cNvPr id="37" name="Text 35"/>
          <p:cNvSpPr/>
          <p:nvPr/>
        </p:nvSpPr>
        <p:spPr>
          <a:xfrm>
            <a:off x="12980938" y="3441055"/>
            <a:ext cx="494194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506"/>
              </a:lnSpc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ролей / минимальный каркас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2980938" y="3879205"/>
            <a:ext cx="4627455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1182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Для компактной компании: минимальный управленческий контур без искусственного раздувания C-level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571500" y="5518845"/>
            <a:ext cx="17145000" cy="671513"/>
          </a:xfrm>
          <a:prstGeom prst="rect">
            <a:avLst/>
          </a:prstGeom>
          <a:solidFill>
            <a:srgbClr val="F3EBDD"/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8200" y="5706963"/>
            <a:ext cx="23939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ПРАВИЛО СЖАТИЯ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262164" y="5671245"/>
            <a:ext cx="14173766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Роль можно совместить. Мандат должен иметь владельца, данные, ритм и риск совмещения.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571500" y="6507510"/>
            <a:ext cx="17099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КОНТУРОВ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2335560" y="6304657"/>
            <a:ext cx="2468240" cy="700980"/>
          </a:xfrm>
          <a:prstGeom prst="rect">
            <a:avLst/>
          </a:prstGeom>
          <a:ln w="9525">
            <a:solidFill>
              <a:srgbClr val="0B1F33">
                <a:alpha val="5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02235" y="6380857"/>
            <a:ext cx="23348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903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Стратегический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4918100" y="6304657"/>
            <a:ext cx="2468240" cy="700980"/>
          </a:xfrm>
          <a:prstGeom prst="rect">
            <a:avLst/>
          </a:prstGeom>
          <a:ln w="9525">
            <a:solidFill>
              <a:srgbClr val="0B1F33">
                <a:alpha val="5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4775" y="6380857"/>
            <a:ext cx="23348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903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Операционный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500640" y="6304657"/>
            <a:ext cx="2468240" cy="700980"/>
          </a:xfrm>
          <a:prstGeom prst="rect">
            <a:avLst/>
          </a:prstGeom>
          <a:ln w="9525">
            <a:solidFill>
              <a:srgbClr val="0B1F33">
                <a:alpha val="5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67315" y="6380857"/>
            <a:ext cx="23348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903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Коммерческий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083180" y="6304657"/>
            <a:ext cx="2468240" cy="700980"/>
          </a:xfrm>
          <a:prstGeom prst="rect">
            <a:avLst/>
          </a:prstGeom>
          <a:ln w="9525">
            <a:solidFill>
              <a:srgbClr val="0B1F33">
                <a:alpha val="5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149855" y="6380857"/>
            <a:ext cx="23348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903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Технологический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2665720" y="6304657"/>
            <a:ext cx="2468240" cy="700980"/>
          </a:xfrm>
          <a:prstGeom prst="rect">
            <a:avLst/>
          </a:prstGeom>
          <a:ln w="9525">
            <a:solidFill>
              <a:srgbClr val="0B1F33">
                <a:alpha val="5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732395" y="6380857"/>
            <a:ext cx="23348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903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Человеческий и культурный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248260" y="6304657"/>
            <a:ext cx="2468240" cy="700980"/>
          </a:xfrm>
          <a:prstGeom prst="rect">
            <a:avLst/>
          </a:prstGeom>
          <a:ln w="9525">
            <a:solidFill>
              <a:srgbClr val="0B1F33">
                <a:alpha val="5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5314935" y="6380857"/>
            <a:ext cx="2334890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903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Инновационно-аналитический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571500" y="7119938"/>
            <a:ext cx="17145000" cy="633413"/>
          </a:xfrm>
          <a:prstGeom prst="rect">
            <a:avLst/>
          </a:prstGeom>
          <a:solidFill>
            <a:srgbClr val="F3EBDD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8200" y="7289006"/>
            <a:ext cx="8534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ВЫХОД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863105" y="7253288"/>
            <a:ext cx="1016374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Компания выбирает глубину архитектуры, не теряя управляемость</a:t>
            </a:r>
            <a:endParaRPr lang="en-US" sz="2250" dirty="0"/>
          </a:p>
        </p:txBody>
      </p:sp>
      <p:sp>
        <p:nvSpPr>
          <p:cNvPr id="58" name="Text 56"/>
          <p:cNvSpPr/>
          <p:nvPr/>
        </p:nvSpPr>
        <p:spPr>
          <a:xfrm>
            <a:off x="571500" y="7867650"/>
            <a:ext cx="11323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818159" y="7939087"/>
            <a:ext cx="209550" cy="1143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60" name="Text 58"/>
          <p:cNvSpPr/>
          <p:nvPr/>
        </p:nvSpPr>
        <p:spPr>
          <a:xfrm>
            <a:off x="2122959" y="7848600"/>
            <a:ext cx="370332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архитектурный слой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818159" y="8291513"/>
            <a:ext cx="209550" cy="11430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62" name="Text 60"/>
          <p:cNvSpPr/>
          <p:nvPr/>
        </p:nvSpPr>
        <p:spPr>
          <a:xfrm>
            <a:off x="2122959" y="8201025"/>
            <a:ext cx="491687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направление сжатия от 23 к 15 и 7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818159" y="8643938"/>
            <a:ext cx="209550" cy="1143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4" name="Text 62"/>
          <p:cNvSpPr/>
          <p:nvPr/>
        </p:nvSpPr>
        <p:spPr>
          <a:xfrm>
            <a:off x="2122959" y="8553450"/>
            <a:ext cx="379913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сохраненный мандат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818159" y="8996363"/>
            <a:ext cx="209550" cy="1143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6" name="Text 64"/>
          <p:cNvSpPr/>
          <p:nvPr/>
        </p:nvSpPr>
        <p:spPr>
          <a:xfrm>
            <a:off x="2122959" y="8905875"/>
            <a:ext cx="657427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потерянный мандат или риск совмещения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0323537" y="7848600"/>
            <a:ext cx="7392963" cy="117633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33087" y="7962900"/>
            <a:ext cx="76712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0533087" y="8315325"/>
            <a:ext cx="7183079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154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требование нанять 23 директоров; не оргструктура; не грейды; не HR-матрица; не список красивых должностей.</a:t>
            </a:r>
            <a:endParaRPr lang="en-US" sz="1875" dirty="0"/>
          </a:p>
        </p:txBody>
      </p:sp>
      <p:sp>
        <p:nvSpPr>
          <p:cNvPr id="70" name="Shape 68"/>
          <p:cNvSpPr/>
          <p:nvPr/>
        </p:nvSpPr>
        <p:spPr>
          <a:xfrm>
            <a:off x="571500" y="9296400"/>
            <a:ext cx="171450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571500" y="9410700"/>
            <a:ext cx="1260482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09"/>
              </a:lnSpc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23 / 15 / 7 — это не штатное расписание. Это способ не потерять критические мандаты при разном масштабе компании.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3190190" y="9401175"/>
            <a:ext cx="49789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Визуализация_03_Модель_23_15_7_V1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2026-07-30T09:38:28Z</dcterms:created>
  <dcterms:modified xsi:type="dcterms:W3CDTF">2026-07-30T09:38:28Z</dcterms:modified>
</cp:coreProperties>
</file>