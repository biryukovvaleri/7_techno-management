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4" d="100"/>
          <a:sy n="114" d="100"/>
        </p:scale>
        <p:origin x="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Главный гид: Управление_Директорами_CLM_Главный_гид_что_это_такое_V1.docx.</a:t>
            </a:r>
          </a:p>
          <a:p>
            <a:r>
              <a:t>P1C: Политика утверждений и антипозиционирование.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Кейсы 1, 2, 5 из каталога 12 кейсов.</a:t>
            </a:r>
          </a:p>
          <a:p>
            <a:r>
              <a:t>Главный гид: разделы о CEO и C-level-команде.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Главный гид: таблица «Что именно делает CLM».</a:t>
            </a:r>
          </a:p>
          <a:p>
            <a:r>
              <a:t>Блок 02: понятия человек, должность, роль, мандат.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Главный гид: таблица сторон CEO, C-level-команда, владелец,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Блок 02: модель 23 / 15 / 7 и таблица назначения моделей.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Методология реализации: связь 12 блоков CLM с форматами.</a:t>
            </a:r>
          </a:p>
          <a:p>
            <a:r>
              <a:t>Продуктовый слой реализации: блоки как рабочие линзы внутри продуктов.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Цены и упаковка продуктов: продуктовая лестница и цены.</a:t>
            </a:r>
          </a:p>
          <a:p>
            <a:r>
              <a:t>Продуктовый слой реализации: статус Диагностики как обязательного платного входа.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Продукт 01 Диагностика: внутренний протокол и рабочая книга.</a:t>
            </a:r>
          </a:p>
          <a:p>
            <a:r>
              <a:t>P1B: Акт проводимости 4 продуктов.</a:t>
            </a:r>
          </a:p>
          <a:p>
            <a:r>
              <a:t>P1C: Политика утверждений и гарантий.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Блок 05 Decision OS / система решений.</a:t>
            </a:r>
          </a:p>
          <a:p>
            <a:r>
              <a:t>Продукт 02 Сессия и Продукт 03 Спринт.</a:t>
            </a:r>
          </a:p>
          <a:p>
            <a:r>
              <a:t>P1B: Навигатор консультанта.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Каталог 12 кейсов.</a:t>
            </a:r>
          </a:p>
          <a:p>
            <a:r>
              <a:t>P1C: Навигатор кейсов для Диагностики.</a:t>
            </a:r>
          </a:p>
          <a:p>
            <a:r>
              <a:t>P1C: кейсы маркируются как обобщенные управленческие примеры.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P1C: Политика утверждений и антипозиционирование.</a:t>
            </a:r>
          </a:p>
          <a:p>
            <a:r>
              <a:t>Главный гид: конкурентный блок и ограничения относительно CLM.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P1C: Матрица доказательности.</a:t>
            </a:r>
          </a:p>
          <a:p>
            <a:r>
              <a:t>Доказательная база влияния топ-команды: McKinsey, Bain, HBR, Korn Ferry, Gartner, BCG и другие источники.</a:t>
            </a:r>
          </a:p>
          <a:p>
            <a:r>
              <a:t>Внешние источники требуют актуализации при публичном использовании.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Цены и упаковка продуктов: разрешенный источник цен.</a:t>
            </a:r>
          </a:p>
          <a:p>
            <a:r>
              <a:t>P1C: Матрица доказательности, лист цен.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Продуктовый слой реализации.</a:t>
            </a:r>
          </a:p>
          <a:p>
            <a:r>
              <a:t>P1B: Навигатор консультанта 4 продукта.</a:t>
            </a:r>
          </a:p>
          <a:p>
            <a:r>
              <a:t>P1C: Политика утверждений и гарантий.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A02588B3-2300-4D99-970D-04135E90E0A6}"/>
              </a:ext>
            </a:extLst>
          </p:cNvPr>
          <p:cNvSpPr>
            <a:spLocks noGrp="1"/>
          </p:cNvSpPr>
          <p:nvPr/>
        </p:nvSpPr>
        <p:spPr>
          <a:xfrm>
            <a:off x="647700" y="952500"/>
            <a:ext cx="7810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163247"/>
                </a:solidFill>
              </a:defRPr>
            </a:pPr>
            <a:r>
              <a:rPr sz="4200" b="1">
                <a:solidFill>
                  <a:srgbClr val="163247"/>
                </a:solidFill>
              </a:rPr>
              <a:t>Управление Директорами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548567A-D0FA-461D-94BE-8C967E9B736F}"/>
              </a:ext>
            </a:extLst>
          </p:cNvPr>
          <p:cNvSpPr>
            <a:spLocks noGrp="1"/>
          </p:cNvSpPr>
          <p:nvPr/>
        </p:nvSpPr>
        <p:spPr>
          <a:xfrm>
            <a:off x="647700" y="180975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на основе CLM / C-Level Management / управление C-level-ядром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34639D1F-F52B-4FB0-B46C-269D42998D95}"/>
              </a:ext>
            </a:extLst>
          </p:cNvPr>
          <p:cNvSpPr>
            <a:spLocks noGrp="1"/>
          </p:cNvSpPr>
          <p:nvPr/>
        </p:nvSpPr>
        <p:spPr>
          <a:xfrm>
            <a:off x="647700" y="2667000"/>
            <a:ext cx="723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Технология настройки первого управленческого круга: роли, мандаты, решения, данные, ритмы и ответственность.</a:t>
            </a:r>
          </a:p>
        </p:txBody>
      </p:sp>
      <p:sp>
        <p:nvSpPr>
          <p:cNvPr id="4" name="box">
            <a:extLst>
              <a:ext uri="{FF2B5EF4-FFF2-40B4-BE49-F238E27FC236}">
                <a16:creationId xmlns:a16="http://schemas.microsoft.com/office/drawing/2014/main" id="{10F433E9-D234-4213-A23D-7553EC2A61AF}"/>
              </a:ext>
            </a:extLst>
          </p:cNvPr>
          <p:cNvSpPr>
            <a:spLocks noGrp="1"/>
          </p:cNvSpPr>
          <p:nvPr/>
        </p:nvSpPr>
        <p:spPr>
          <a:xfrm>
            <a:off x="8001000" y="2362200"/>
            <a:ext cx="3048000" cy="1809750"/>
          </a:xfrm>
          <a:prstGeom prst="roundRect">
            <a:avLst>
              <a:gd name="adj" fmla="val 5263"/>
            </a:avLst>
          </a:prstGeom>
          <a:solidFill>
            <a:srgbClr val="E6F4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pPr algn="ctr">
              <a:defRPr sz="2175" b="1">
                <a:solidFill>
                  <a:srgbClr val="163247"/>
                </a:solidFill>
              </a:defRPr>
            </a:pPr>
            <a:r>
              <a:rPr sz="2175" b="1">
                <a:solidFill>
                  <a:srgbClr val="163247"/>
                </a:solidFill>
              </a:rPr>
              <a:t>Не про должности.</a:t>
            </a:r>
          </a:p>
          <a:p>
            <a:pPr algn="ctr">
              <a:defRPr sz="2175" b="1">
                <a:solidFill>
                  <a:srgbClr val="163247"/>
                </a:solidFill>
              </a:defRPr>
            </a:pPr>
            <a:r>
              <a:rPr sz="2175" b="1">
                <a:solidFill>
                  <a:srgbClr val="163247"/>
                </a:solidFill>
              </a:rPr>
              <a:t>Про управляемость результата.</a:t>
            </a:r>
          </a:p>
        </p:txBody>
      </p:sp>
      <p:sp>
        <p:nvSpPr>
          <p:cNvPr id="5" name="rule">
            <a:extLst>
              <a:ext uri="{FF2B5EF4-FFF2-40B4-BE49-F238E27FC236}">
                <a16:creationId xmlns:a16="http://schemas.microsoft.com/office/drawing/2014/main" id="{A087BEC9-55B3-428A-9ACF-7D96EE684C2E}"/>
              </a:ext>
            </a:extLst>
          </p:cNvPr>
          <p:cNvSpPr>
            <a:spLocks noGrp="1"/>
          </p:cNvSpPr>
          <p:nvPr/>
        </p:nvSpPr>
        <p:spPr>
          <a:xfrm>
            <a:off x="647700" y="5715000"/>
            <a:ext cx="10896600" cy="0"/>
          </a:xfrm>
          <a:prstGeom prst="line">
            <a:avLst/>
          </a:prstGeom>
          <a:noFill/>
          <a:ln w="1333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309C60E-88A4-490B-BBC0-14665F3DF3F3}"/>
              </a:ext>
            </a:extLst>
          </p:cNvPr>
          <p:cNvSpPr>
            <a:spLocks noGrp="1"/>
          </p:cNvSpPr>
          <p:nvPr/>
        </p:nvSpPr>
        <p:spPr>
          <a:xfrm>
            <a:off x="647700" y="59626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Итоговая презентация технологии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720194D-D411-4A7E-B8F0-CDC2E7CA9A49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Управление Директорами / CLM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CB202D0-5C46-4F0B-A23A-55A4BE1375BB}"/>
              </a:ext>
            </a:extLst>
          </p:cNvPr>
          <p:cNvSpPr>
            <a:spLocks noGrp="1"/>
          </p:cNvSpPr>
          <p:nvPr/>
        </p:nvSpPr>
        <p:spPr>
          <a:xfrm>
            <a:off x="110680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39736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">
            <a:extLst>
              <a:ext uri="{FF2B5EF4-FFF2-40B4-BE49-F238E27FC236}">
                <a16:creationId xmlns:a16="http://schemas.microsoft.com/office/drawing/2014/main" id="{7E5D122F-3164-4943-9792-78677FA22EE1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Проблема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EB8CC97A-EDE1-4EC8-BCFE-C0BECBEF6F28}"/>
              </a:ext>
            </a:extLst>
          </p:cNvPr>
          <p:cNvSpPr>
            <a:spLocks noGrp="1"/>
          </p:cNvSpPr>
          <p:nvPr/>
        </p:nvSpPr>
        <p:spPr>
          <a:xfrm>
            <a:off x="647699" y="628650"/>
            <a:ext cx="1019128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63247"/>
                </a:solidFill>
              </a:defRPr>
            </a:pPr>
            <a:r>
              <a:rPr sz="2850" b="1" dirty="0">
                <a:solidFill>
                  <a:srgbClr val="163247"/>
                </a:solidFill>
              </a:rPr>
              <a:t>Компания </a:t>
            </a:r>
            <a:r>
              <a:rPr sz="2850" b="1" dirty="0" err="1">
                <a:solidFill>
                  <a:srgbClr val="163247"/>
                </a:solidFill>
              </a:rPr>
              <a:t>выросла</a:t>
            </a:r>
            <a:r>
              <a:rPr sz="2850" b="1" dirty="0">
                <a:solidFill>
                  <a:srgbClr val="163247"/>
                </a:solidFill>
              </a:rPr>
              <a:t>, </a:t>
            </a:r>
            <a:r>
              <a:rPr sz="2850" b="1" dirty="0" err="1">
                <a:solidFill>
                  <a:srgbClr val="163247"/>
                </a:solidFill>
              </a:rPr>
              <a:t>но</a:t>
            </a:r>
            <a:r>
              <a:rPr sz="2850" b="1" dirty="0">
                <a:solidFill>
                  <a:srgbClr val="163247"/>
                </a:solidFill>
              </a:rPr>
              <a:t> </a:t>
            </a:r>
            <a:r>
              <a:rPr sz="2850" b="1" dirty="0" err="1">
                <a:solidFill>
                  <a:srgbClr val="163247"/>
                </a:solidFill>
              </a:rPr>
              <a:t>управляемость</a:t>
            </a:r>
            <a:r>
              <a:rPr sz="2850" b="1" dirty="0">
                <a:solidFill>
                  <a:srgbClr val="163247"/>
                </a:solidFill>
              </a:rPr>
              <a:t> </a:t>
            </a:r>
            <a:r>
              <a:rPr sz="2850" b="1" dirty="0" err="1">
                <a:solidFill>
                  <a:srgbClr val="163247"/>
                </a:solidFill>
              </a:rPr>
              <a:t>осталась</a:t>
            </a:r>
            <a:r>
              <a:rPr sz="2850" b="1" dirty="0">
                <a:solidFill>
                  <a:srgbClr val="163247"/>
                </a:solidFill>
              </a:rPr>
              <a:t> </a:t>
            </a:r>
            <a:r>
              <a:rPr sz="2850" b="1" dirty="0" err="1">
                <a:solidFill>
                  <a:srgbClr val="163247"/>
                </a:solidFill>
              </a:rPr>
              <a:t>в</a:t>
            </a:r>
            <a:r>
              <a:rPr sz="2850" b="1" dirty="0">
                <a:solidFill>
                  <a:srgbClr val="163247"/>
                </a:solidFill>
              </a:rPr>
              <a:t> </a:t>
            </a:r>
            <a:r>
              <a:rPr sz="2850" b="1" dirty="0" err="1">
                <a:solidFill>
                  <a:srgbClr val="163247"/>
                </a:solidFill>
              </a:rPr>
              <a:t>руках</a:t>
            </a:r>
            <a:r>
              <a:rPr sz="2850" b="1" dirty="0">
                <a:solidFill>
                  <a:srgbClr val="163247"/>
                </a:solidFill>
              </a:rPr>
              <a:t> CEO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7470A023-A783-4C37-9E9C-6D2BD8B56BFD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B6673"/>
                </a:solidFill>
              </a:defRPr>
            </a:pPr>
            <a:r>
              <a:rPr sz="1425" b="0">
                <a:solidFill>
                  <a:srgbClr val="5B6673"/>
                </a:solidFill>
              </a:rPr>
              <a:t>Когда C-level выглядит собранным только на бумаге, решения продолжают возвращаться наверх.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0021EE12-E78D-4B56-80EB-E2AF905261E9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10896600" cy="0"/>
          </a:xfrm>
          <a:prstGeom prst="line">
            <a:avLst/>
          </a:prstGeom>
          <a:noFill/>
          <a:ln w="1333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09788CDE-100C-4043-9265-6C58FE9E93E7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2857500" cy="704850"/>
          </a:xfrm>
          <a:prstGeom prst="roundRect">
            <a:avLst>
              <a:gd name="adj" fmla="val 13514"/>
            </a:avLst>
          </a:prstGeom>
          <a:solidFill>
            <a:srgbClr val="EAF3F8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63247"/>
                </a:solidFill>
              </a:defRPr>
            </a:pPr>
            <a:r>
              <a:rPr sz="1950" b="1">
                <a:solidFill>
                  <a:srgbClr val="163247"/>
                </a:solidFill>
              </a:rPr>
              <a:t>Директора есть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3E9B32CE-93AA-40F7-B624-39A09AEE79C7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но мандаты и границы решений не закреплены</a:t>
            </a:r>
          </a:p>
        </p:txBody>
      </p:sp>
      <p:sp>
        <p:nvSpPr>
          <p:cNvPr id="7" name="box">
            <a:extLst>
              <a:ext uri="{FF2B5EF4-FFF2-40B4-BE49-F238E27FC236}">
                <a16:creationId xmlns:a16="http://schemas.microsoft.com/office/drawing/2014/main" id="{E0D15410-EA65-4FC4-9EE6-C8908CDCE63D}"/>
              </a:ext>
            </a:extLst>
          </p:cNvPr>
          <p:cNvSpPr>
            <a:spLocks noGrp="1"/>
          </p:cNvSpPr>
          <p:nvPr/>
        </p:nvSpPr>
        <p:spPr>
          <a:xfrm>
            <a:off x="4286250" y="2362200"/>
            <a:ext cx="2857500" cy="704850"/>
          </a:xfrm>
          <a:prstGeom prst="roundRect">
            <a:avLst>
              <a:gd name="adj" fmla="val 13514"/>
            </a:avLst>
          </a:prstGeom>
          <a:solidFill>
            <a:srgbClr val="EAF3F8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63247"/>
                </a:solidFill>
              </a:defRPr>
            </a:pPr>
            <a:r>
              <a:rPr sz="1950" b="1">
                <a:solidFill>
                  <a:srgbClr val="163247"/>
                </a:solidFill>
              </a:rPr>
              <a:t>Отчетов много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AC645B0-CFF7-4CD3-B7C8-F0C734154625}"/>
              </a:ext>
            </a:extLst>
          </p:cNvPr>
          <p:cNvSpPr>
            <a:spLocks noGrp="1"/>
          </p:cNvSpPr>
          <p:nvPr/>
        </p:nvSpPr>
        <p:spPr>
          <a:xfrm>
            <a:off x="4381500" y="325755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но не видно, кто владеет реакцией</a:t>
            </a:r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C0DCE0AC-B266-4F75-AB3A-606467A73B19}"/>
              </a:ext>
            </a:extLst>
          </p:cNvPr>
          <p:cNvSpPr>
            <a:spLocks noGrp="1"/>
          </p:cNvSpPr>
          <p:nvPr/>
        </p:nvSpPr>
        <p:spPr>
          <a:xfrm>
            <a:off x="7715250" y="2362200"/>
            <a:ext cx="2857500" cy="704850"/>
          </a:xfrm>
          <a:prstGeom prst="roundRect">
            <a:avLst>
              <a:gd name="adj" fmla="val 13514"/>
            </a:avLst>
          </a:prstGeom>
          <a:solidFill>
            <a:srgbClr val="EAF3F8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63247"/>
                </a:solidFill>
              </a:defRPr>
            </a:pPr>
            <a:r>
              <a:rPr sz="1950" b="1">
                <a:solidFill>
                  <a:srgbClr val="163247"/>
                </a:solidFill>
              </a:rPr>
              <a:t>Совещаний хватает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2F612D8B-71CD-4DC9-8EFA-51FB1A5E7425}"/>
              </a:ext>
            </a:extLst>
          </p:cNvPr>
          <p:cNvSpPr>
            <a:spLocks noGrp="1"/>
          </p:cNvSpPr>
          <p:nvPr/>
        </p:nvSpPr>
        <p:spPr>
          <a:xfrm>
            <a:off x="7810500" y="325755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но решения исчезают после встречи</a:t>
            </a:r>
          </a:p>
        </p:txBody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FA4BE4F9-A1D4-46F1-96D1-0325568CE5B6}"/>
              </a:ext>
            </a:extLst>
          </p:cNvPr>
          <p:cNvSpPr>
            <a:spLocks noGrp="1"/>
          </p:cNvSpPr>
          <p:nvPr/>
        </p:nvSpPr>
        <p:spPr>
          <a:xfrm>
            <a:off x="1676400" y="4724400"/>
            <a:ext cx="8839200" cy="838200"/>
          </a:xfrm>
          <a:prstGeom prst="roundRect">
            <a:avLst>
              <a:gd name="adj" fmla="val 11364"/>
            </a:avLst>
          </a:prstGeom>
          <a:solidFill>
            <a:srgbClr val="FFF4CC"/>
          </a:solidFill>
          <a:ln w="9525">
            <a:solidFill>
              <a:srgbClr val="E2B93B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63247"/>
                </a:solidFill>
              </a:defRPr>
            </a:pPr>
            <a:r>
              <a:rPr sz="1800" b="1">
                <a:solidFill>
                  <a:srgbClr val="163247"/>
                </a:solidFill>
              </a:rPr>
              <a:t>Симптом: CEO / генеральный директор остается главным маршрутизатором управленческой системы.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9435E26C-5B2F-4342-9669-3847F58A2C82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Управление Директорами / CLM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2267CE45-7070-498F-A2DC-84D6177157ED}"/>
              </a:ext>
            </a:extLst>
          </p:cNvPr>
          <p:cNvSpPr>
            <a:spLocks noGrp="1"/>
          </p:cNvSpPr>
          <p:nvPr/>
        </p:nvSpPr>
        <p:spPr>
          <a:xfrm>
            <a:off x="110680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15731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">
            <a:extLst>
              <a:ext uri="{FF2B5EF4-FFF2-40B4-BE49-F238E27FC236}">
                <a16:creationId xmlns:a16="http://schemas.microsoft.com/office/drawing/2014/main" id="{12E85A7E-67C6-47BA-8A01-5520317A134E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Решение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EE0BFE95-1AAF-4B04-AB2F-EB477AB0D2A3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63247"/>
                </a:solidFill>
              </a:defRPr>
            </a:pPr>
            <a:r>
              <a:rPr sz="2850" b="1">
                <a:solidFill>
                  <a:srgbClr val="163247"/>
                </a:solidFill>
              </a:rPr>
              <a:t>CLM делает видимым C-level-ядро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29EA55C-B7A9-4B55-A29B-027D8B5C6D4B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B6673"/>
                </a:solidFill>
              </a:defRPr>
            </a:pPr>
            <a:r>
              <a:rPr sz="1425" b="0">
                <a:solidFill>
                  <a:srgbClr val="5B6673"/>
                </a:solidFill>
              </a:rPr>
              <a:t>Технология проверяет не отдельного директора, а систему владения управленческим результатом.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7234AC57-9145-44FA-95A4-BBA2FF1DA52B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10896600" cy="0"/>
          </a:xfrm>
          <a:prstGeom prst="line">
            <a:avLst/>
          </a:prstGeom>
          <a:noFill/>
          <a:ln w="1333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DB5AF1D2-EF4C-48E4-9788-9BFA83E48BB1}"/>
              </a:ext>
            </a:extLst>
          </p:cNvPr>
          <p:cNvSpPr>
            <a:spLocks noGrp="1"/>
          </p:cNvSpPr>
          <p:nvPr/>
        </p:nvSpPr>
        <p:spPr>
          <a:xfrm>
            <a:off x="4762500" y="2952750"/>
            <a:ext cx="2667000" cy="914400"/>
          </a:xfrm>
          <a:prstGeom prst="roundRect">
            <a:avLst>
              <a:gd name="adj" fmla="val 10417"/>
            </a:avLst>
          </a:prstGeom>
          <a:solidFill>
            <a:srgbClr val="163247"/>
          </a:solidFill>
          <a:ln w="9525">
            <a:solidFill>
              <a:srgbClr val="163247"/>
            </a:solidFill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C-level-ядро</a:t>
            </a:r>
          </a:p>
        </p:txBody>
      </p:sp>
      <p:sp>
        <p:nvSpPr>
          <p:cNvPr id="6" name="box">
            <a:extLst>
              <a:ext uri="{FF2B5EF4-FFF2-40B4-BE49-F238E27FC236}">
                <a16:creationId xmlns:a16="http://schemas.microsoft.com/office/drawing/2014/main" id="{95278999-EF05-4C3B-B944-F101B802FFA0}"/>
              </a:ext>
            </a:extLst>
          </p:cNvPr>
          <p:cNvSpPr>
            <a:spLocks noGrp="1"/>
          </p:cNvSpPr>
          <p:nvPr/>
        </p:nvSpPr>
        <p:spPr>
          <a:xfrm>
            <a:off x="1047750" y="2190750"/>
            <a:ext cx="2000250" cy="609600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63247"/>
                </a:solidFill>
              </a:defRPr>
            </a:pPr>
            <a:r>
              <a:rPr sz="1800" b="1">
                <a:solidFill>
                  <a:srgbClr val="163247"/>
                </a:solidFill>
              </a:rPr>
              <a:t>Роли</a:t>
            </a:r>
          </a:p>
        </p:txBody>
      </p:sp>
      <p:sp>
        <p:nvSpPr>
          <p:cNvPr id="7" name="box">
            <a:extLst>
              <a:ext uri="{FF2B5EF4-FFF2-40B4-BE49-F238E27FC236}">
                <a16:creationId xmlns:a16="http://schemas.microsoft.com/office/drawing/2014/main" id="{4C2DBD91-55FA-487A-A1D8-7B3B4BFD7621}"/>
              </a:ext>
            </a:extLst>
          </p:cNvPr>
          <p:cNvSpPr>
            <a:spLocks noGrp="1"/>
          </p:cNvSpPr>
          <p:nvPr/>
        </p:nvSpPr>
        <p:spPr>
          <a:xfrm>
            <a:off x="3524250" y="2190750"/>
            <a:ext cx="2000250" cy="609600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63247"/>
                </a:solidFill>
              </a:defRPr>
            </a:pPr>
            <a:r>
              <a:rPr sz="1800" b="1">
                <a:solidFill>
                  <a:srgbClr val="163247"/>
                </a:solidFill>
              </a:rPr>
              <a:t>Мандаты</a:t>
            </a:r>
          </a:p>
        </p:txBody>
      </p:sp>
      <p:sp>
        <p:nvSpPr>
          <p:cNvPr id="8" name="box">
            <a:extLst>
              <a:ext uri="{FF2B5EF4-FFF2-40B4-BE49-F238E27FC236}">
                <a16:creationId xmlns:a16="http://schemas.microsoft.com/office/drawing/2014/main" id="{A04E8ABD-8514-4FA5-AABA-84B2173C25AE}"/>
              </a:ext>
            </a:extLst>
          </p:cNvPr>
          <p:cNvSpPr>
            <a:spLocks noGrp="1"/>
          </p:cNvSpPr>
          <p:nvPr/>
        </p:nvSpPr>
        <p:spPr>
          <a:xfrm>
            <a:off x="7620000" y="2190750"/>
            <a:ext cx="2000250" cy="609600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63247"/>
                </a:solidFill>
              </a:defRPr>
            </a:pPr>
            <a:r>
              <a:rPr sz="1800" b="1">
                <a:solidFill>
                  <a:srgbClr val="163247"/>
                </a:solidFill>
              </a:rPr>
              <a:t>Решения</a:t>
            </a:r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FDBD294F-8193-4AE2-AA81-9FE0D63E9A57}"/>
              </a:ext>
            </a:extLst>
          </p:cNvPr>
          <p:cNvSpPr>
            <a:spLocks noGrp="1"/>
          </p:cNvSpPr>
          <p:nvPr/>
        </p:nvSpPr>
        <p:spPr>
          <a:xfrm>
            <a:off x="1143000" y="4495800"/>
            <a:ext cx="2000250" cy="609600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63247"/>
                </a:solidFill>
              </a:defRPr>
            </a:pPr>
            <a:r>
              <a:rPr sz="1800" b="1">
                <a:solidFill>
                  <a:srgbClr val="163247"/>
                </a:solidFill>
              </a:rPr>
              <a:t>Данные</a:t>
            </a:r>
          </a:p>
        </p:txBody>
      </p:sp>
      <p:sp>
        <p:nvSpPr>
          <p:cNvPr id="10" name="box">
            <a:extLst>
              <a:ext uri="{FF2B5EF4-FFF2-40B4-BE49-F238E27FC236}">
                <a16:creationId xmlns:a16="http://schemas.microsoft.com/office/drawing/2014/main" id="{1508677D-2FE9-42A4-8CE5-7635E7AB61D8}"/>
              </a:ext>
            </a:extLst>
          </p:cNvPr>
          <p:cNvSpPr>
            <a:spLocks noGrp="1"/>
          </p:cNvSpPr>
          <p:nvPr/>
        </p:nvSpPr>
        <p:spPr>
          <a:xfrm>
            <a:off x="4000500" y="4762500"/>
            <a:ext cx="2000250" cy="609600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63247"/>
                </a:solidFill>
              </a:defRPr>
            </a:pPr>
            <a:r>
              <a:rPr sz="1800" b="1">
                <a:solidFill>
                  <a:srgbClr val="163247"/>
                </a:solidFill>
              </a:rPr>
              <a:t>Ритмы</a:t>
            </a:r>
          </a:p>
        </p:txBody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D8AE0BC8-D7B2-4739-8E71-0E77004C2443}"/>
              </a:ext>
            </a:extLst>
          </p:cNvPr>
          <p:cNvSpPr>
            <a:spLocks noGrp="1"/>
          </p:cNvSpPr>
          <p:nvPr/>
        </p:nvSpPr>
        <p:spPr>
          <a:xfrm>
            <a:off x="7239000" y="4495800"/>
            <a:ext cx="2000250" cy="609600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63247"/>
                </a:solidFill>
              </a:defRPr>
            </a:pPr>
            <a:r>
              <a:rPr sz="1800" b="1">
                <a:solidFill>
                  <a:srgbClr val="163247"/>
                </a:solidFill>
              </a:rPr>
              <a:t>Ответственность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7944F8C5-004C-487C-88EB-B53139C6BB88}"/>
              </a:ext>
            </a:extLst>
          </p:cNvPr>
          <p:cNvSpPr>
            <a:spLocks noGrp="1"/>
          </p:cNvSpPr>
          <p:nvPr/>
        </p:nvSpPr>
        <p:spPr>
          <a:xfrm>
            <a:off x="2019300" y="5753100"/>
            <a:ext cx="815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63247"/>
                </a:solidFill>
              </a:defRPr>
            </a:pPr>
            <a:r>
              <a:rPr sz="1800" b="1">
                <a:solidFill>
                  <a:srgbClr val="163247"/>
                </a:solidFill>
              </a:rPr>
              <a:t>Вопрос CLM: кто реально владеет решением, данными и последствиями результата?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53B0A824-A264-433C-A256-726D40FB4315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Управление Директорами / CLM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6E99B118-FAAB-4689-91B1-5D4EDB2A71C4}"/>
              </a:ext>
            </a:extLst>
          </p:cNvPr>
          <p:cNvSpPr>
            <a:spLocks noGrp="1"/>
          </p:cNvSpPr>
          <p:nvPr/>
        </p:nvSpPr>
        <p:spPr>
          <a:xfrm>
            <a:off x="110680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9895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">
            <a:extLst>
              <a:ext uri="{FF2B5EF4-FFF2-40B4-BE49-F238E27FC236}">
                <a16:creationId xmlns:a16="http://schemas.microsoft.com/office/drawing/2014/main" id="{77E4F373-3997-4097-B17B-293C53E2D779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Для кого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73DF7E7-9B6D-476A-956C-4A4B9F5958D8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63247"/>
                </a:solidFill>
              </a:defRPr>
            </a:pPr>
            <a:r>
              <a:rPr sz="2850" b="1">
                <a:solidFill>
                  <a:srgbClr val="163247"/>
                </a:solidFill>
              </a:rPr>
              <a:t>Одна технология, четыре разных управленческих интереса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8E58693-CCBF-47C2-8841-29BC87FC7691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B6673"/>
                </a:solidFill>
              </a:defRPr>
            </a:pPr>
            <a:r>
              <a:rPr sz="1425" b="0">
                <a:solidFill>
                  <a:srgbClr val="5B6673"/>
                </a:solidFill>
              </a:rPr>
              <a:t>CLM объясняется по-разному CEO, C-level-команде, владельцу и Board / совету директоров.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1265A30D-A64A-4635-A790-45793F16750B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10896600" cy="0"/>
          </a:xfrm>
          <a:prstGeom prst="line">
            <a:avLst/>
          </a:prstGeom>
          <a:noFill/>
          <a:ln w="1333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12" name="Таблица 11"/>
          <p:cNvGraphicFramePr/>
          <p:nvPr/>
        </p:nvGraphicFramePr>
        <p:xfrm>
          <a:off x="838200" y="2209800"/>
          <a:ext cx="10515600" cy="3333750"/>
        </p:xfrm>
        <a:graphic>
          <a:graphicData uri="http://schemas.openxmlformats.org/drawingml/2006/table">
            <a:tbl>
              <a:tblPr firstRow="1" bandRow="1"/>
              <a:tblGrid>
                <a:gridCol w="2579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8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1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Сторона</a:t>
                      </a:r>
                    </a:p>
                  </a:txBody>
                  <a:tcPr>
                    <a:solidFill>
                      <a:srgbClr val="16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Что хочет понять</a:t>
                      </a:r>
                    </a:p>
                  </a:txBody>
                  <a:tcPr>
                    <a:solidFill>
                      <a:srgbClr val="16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Что получает</a:t>
                      </a:r>
                    </a:p>
                  </a:txBody>
                  <a:tcPr>
                    <a:solidFill>
                      <a:srgbClr val="1632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CEO / генеральный директор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Почему решения возвращаются наверх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Карту перегруза, мандатов и первых разрывов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C-level-команда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Где конфликтуют функции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Понятные роли, интерфейсы и правила решений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Владелец компании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Может ли команда управлять без ручного давления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Риск зависимости от людей и сценарий усиления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Board / совет директоров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Видна ли управляемость, а не только отчеты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Вопросы к CEO и панель сигналов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">
            <a:extLst>
              <a:ext uri="{FF2B5EF4-FFF2-40B4-BE49-F238E27FC236}">
                <a16:creationId xmlns:a16="http://schemas.microsoft.com/office/drawing/2014/main" id="{58009B52-8482-4135-A634-05A053B924DD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Управление Директорами / CLM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B9402FB-101C-48BF-8F41-51C33B8E2D82}"/>
              </a:ext>
            </a:extLst>
          </p:cNvPr>
          <p:cNvSpPr>
            <a:spLocks noGrp="1"/>
          </p:cNvSpPr>
          <p:nvPr/>
        </p:nvSpPr>
        <p:spPr>
          <a:xfrm>
            <a:off x="110680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70833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">
            <a:extLst>
              <a:ext uri="{FF2B5EF4-FFF2-40B4-BE49-F238E27FC236}">
                <a16:creationId xmlns:a16="http://schemas.microsoft.com/office/drawing/2014/main" id="{DE8AF9C9-93C2-4661-874C-E5AE4FBB1D89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Архитектура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1FB7D0D-0DE0-4E93-894B-F6E7C7F6358F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63247"/>
                </a:solidFill>
              </a:defRPr>
            </a:pPr>
            <a:r>
              <a:rPr sz="2850" b="1">
                <a:solidFill>
                  <a:srgbClr val="163247"/>
                </a:solidFill>
              </a:rPr>
              <a:t>23 / 15 / 7 — это не размер презентации, а масштаб C-level-ядра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10BC585-87B5-4488-9116-9BD6C3888484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B6673"/>
                </a:solidFill>
              </a:defRPr>
            </a:pPr>
            <a:r>
              <a:rPr sz="1425" b="0">
                <a:solidFill>
                  <a:srgbClr val="5B6673"/>
                </a:solidFill>
              </a:rPr>
              <a:t>Одна роль может жить в разных людях, а один человек может держать несколько ролей. Но мандат не должен исчезать.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EA0E801C-C050-4498-B37F-0B09413AB369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10896600" cy="0"/>
          </a:xfrm>
          <a:prstGeom prst="line">
            <a:avLst/>
          </a:prstGeom>
          <a:noFill/>
          <a:ln w="1333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46AE4A81-A4C1-4A9F-8221-ACB60E9A4DAF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2857500" cy="819150"/>
          </a:xfrm>
          <a:prstGeom prst="roundRect">
            <a:avLst>
              <a:gd name="adj" fmla="val 11628"/>
            </a:avLst>
          </a:prstGeom>
          <a:solidFill>
            <a:srgbClr val="163247"/>
          </a:solidFill>
          <a:ln w="9525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23 роли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7EC71DFA-C581-4D37-A02B-EDEF55C78FBA}"/>
              </a:ext>
            </a:extLst>
          </p:cNvPr>
          <p:cNvSpPr>
            <a:spLocks noGrp="1"/>
          </p:cNvSpPr>
          <p:nvPr/>
        </p:nvSpPr>
        <p:spPr>
          <a:xfrm>
            <a:off x="1085850" y="3371850"/>
            <a:ext cx="2514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63247"/>
                </a:solidFill>
              </a:defRPr>
            </a:pPr>
            <a:r>
              <a:rPr sz="1650" b="1">
                <a:solidFill>
                  <a:srgbClr val="163247"/>
                </a:solidFill>
              </a:rPr>
              <a:t>Крупная или сложная компания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178ECA1-B9C5-4B31-8A35-3B052971B35A}"/>
              </a:ext>
            </a:extLst>
          </p:cNvPr>
          <p:cNvSpPr>
            <a:spLocks noGrp="1"/>
          </p:cNvSpPr>
          <p:nvPr/>
        </p:nvSpPr>
        <p:spPr>
          <a:xfrm>
            <a:off x="1085850" y="4038600"/>
            <a:ext cx="25146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Полная карта функций, мандатов и рисков</a:t>
            </a:r>
          </a:p>
        </p:txBody>
      </p:sp>
      <p:sp>
        <p:nvSpPr>
          <p:cNvPr id="8" name="box">
            <a:extLst>
              <a:ext uri="{FF2B5EF4-FFF2-40B4-BE49-F238E27FC236}">
                <a16:creationId xmlns:a16="http://schemas.microsoft.com/office/drawing/2014/main" id="{AE30CC0E-1C10-421E-85DF-0CA3E9E43212}"/>
              </a:ext>
            </a:extLst>
          </p:cNvPr>
          <p:cNvSpPr>
            <a:spLocks noGrp="1"/>
          </p:cNvSpPr>
          <p:nvPr/>
        </p:nvSpPr>
        <p:spPr>
          <a:xfrm>
            <a:off x="4533900" y="2343150"/>
            <a:ext cx="2857500" cy="819150"/>
          </a:xfrm>
          <a:prstGeom prst="roundRect">
            <a:avLst>
              <a:gd name="adj" fmla="val 11628"/>
            </a:avLst>
          </a:prstGeom>
          <a:solidFill>
            <a:srgbClr val="1F4E79"/>
          </a:solidFill>
          <a:ln w="9525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15 ролей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1B94C6FE-9B18-48A2-A65F-101EB6AEC502}"/>
              </a:ext>
            </a:extLst>
          </p:cNvPr>
          <p:cNvSpPr>
            <a:spLocks noGrp="1"/>
          </p:cNvSpPr>
          <p:nvPr/>
        </p:nvSpPr>
        <p:spPr>
          <a:xfrm>
            <a:off x="4705350" y="3371850"/>
            <a:ext cx="2514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63247"/>
                </a:solidFill>
              </a:defRPr>
            </a:pPr>
            <a:r>
              <a:rPr sz="1650" b="1">
                <a:solidFill>
                  <a:srgbClr val="163247"/>
                </a:solidFill>
              </a:rPr>
              <a:t>Средняя компания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9D9D6499-50D2-4642-8977-E2331CBD6422}"/>
              </a:ext>
            </a:extLst>
          </p:cNvPr>
          <p:cNvSpPr>
            <a:spLocks noGrp="1"/>
          </p:cNvSpPr>
          <p:nvPr/>
        </p:nvSpPr>
        <p:spPr>
          <a:xfrm>
            <a:off x="4705350" y="4038600"/>
            <a:ext cx="25146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Компактная архитектура без потери ключевых мандатов</a:t>
            </a:r>
          </a:p>
        </p:txBody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19B16721-4F15-4A6F-B556-31AAEC584AB2}"/>
              </a:ext>
            </a:extLst>
          </p:cNvPr>
          <p:cNvSpPr>
            <a:spLocks noGrp="1"/>
          </p:cNvSpPr>
          <p:nvPr/>
        </p:nvSpPr>
        <p:spPr>
          <a:xfrm>
            <a:off x="8153400" y="2343150"/>
            <a:ext cx="2857500" cy="819150"/>
          </a:xfrm>
          <a:prstGeom prst="roundRect">
            <a:avLst>
              <a:gd name="adj" fmla="val 11628"/>
            </a:avLst>
          </a:prstGeom>
          <a:solidFill>
            <a:srgbClr val="0F766E"/>
          </a:solidFill>
          <a:ln w="9525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7 ролей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43330A08-B774-43C8-BD7B-494DA59CAB26}"/>
              </a:ext>
            </a:extLst>
          </p:cNvPr>
          <p:cNvSpPr>
            <a:spLocks noGrp="1"/>
          </p:cNvSpPr>
          <p:nvPr/>
        </p:nvSpPr>
        <p:spPr>
          <a:xfrm>
            <a:off x="8324850" y="3371850"/>
            <a:ext cx="2514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63247"/>
                </a:solidFill>
              </a:defRPr>
            </a:pPr>
            <a:r>
              <a:rPr sz="1650" b="1">
                <a:solidFill>
                  <a:srgbClr val="163247"/>
                </a:solidFill>
              </a:rPr>
              <a:t>Малая или компактная компания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F7FD71CC-B801-4DCE-877A-EC73FC55DEA5}"/>
              </a:ext>
            </a:extLst>
          </p:cNvPr>
          <p:cNvSpPr>
            <a:spLocks noGrp="1"/>
          </p:cNvSpPr>
          <p:nvPr/>
        </p:nvSpPr>
        <p:spPr>
          <a:xfrm>
            <a:off x="8324850" y="4038600"/>
            <a:ext cx="25146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Минимальный каркас без искусственного раздувания C-level</a:t>
            </a:r>
          </a:p>
        </p:txBody>
      </p:sp>
      <p:sp>
        <p:nvSpPr>
          <p:cNvPr id="14" name="box">
            <a:extLst>
              <a:ext uri="{FF2B5EF4-FFF2-40B4-BE49-F238E27FC236}">
                <a16:creationId xmlns:a16="http://schemas.microsoft.com/office/drawing/2014/main" id="{67686C26-1AE7-4BC5-BA07-8C632EC0B630}"/>
              </a:ext>
            </a:extLst>
          </p:cNvPr>
          <p:cNvSpPr>
            <a:spLocks noGrp="1"/>
          </p:cNvSpPr>
          <p:nvPr/>
        </p:nvSpPr>
        <p:spPr>
          <a:xfrm>
            <a:off x="2381250" y="5581650"/>
            <a:ext cx="7429500" cy="533400"/>
          </a:xfrm>
          <a:prstGeom prst="roundRect">
            <a:avLst>
              <a:gd name="adj" fmla="val 17857"/>
            </a:avLst>
          </a:prstGeom>
          <a:solidFill>
            <a:srgbClr val="FFF4CC"/>
          </a:solidFill>
          <a:ln w="9525">
            <a:solidFill>
              <a:srgbClr val="E2B93B"/>
            </a:solidFill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63247"/>
                </a:solidFill>
              </a:defRPr>
            </a:pPr>
            <a:r>
              <a:rPr sz="1725" b="1">
                <a:solidFill>
                  <a:srgbClr val="163247"/>
                </a:solidFill>
              </a:rPr>
              <a:t>Главный риск: сократить роли можно, потерять критический мандат нельзя.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7ECD4561-C2E8-4DE9-9D98-E80EE1DA12EF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Управление Директорами / CLM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B27A12D-25B1-426C-A73D-C65EBEAA0D87}"/>
              </a:ext>
            </a:extLst>
          </p:cNvPr>
          <p:cNvSpPr>
            <a:spLocks noGrp="1"/>
          </p:cNvSpPr>
          <p:nvPr/>
        </p:nvSpPr>
        <p:spPr>
          <a:xfrm>
            <a:off x="110680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61347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">
            <a:extLst>
              <a:ext uri="{FF2B5EF4-FFF2-40B4-BE49-F238E27FC236}">
                <a16:creationId xmlns:a16="http://schemas.microsoft.com/office/drawing/2014/main" id="{B91F5BA8-FBFA-45E5-8068-B0BFCAA0CF83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12 блоков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B13B0B1-9409-48D8-9F86-6F1AC9B8C8CE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63247"/>
                </a:solidFill>
              </a:defRPr>
            </a:pPr>
            <a:r>
              <a:rPr sz="2850" b="1">
                <a:solidFill>
                  <a:srgbClr val="163247"/>
                </a:solidFill>
              </a:rPr>
              <a:t>CLM идет от архитектуры к внедренному управленческому артефакту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362F31A-9205-4A15-8623-5EFBED7432FB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B6673"/>
                </a:solidFill>
              </a:defRPr>
            </a:pPr>
            <a:r>
              <a:rPr sz="1425" b="0">
                <a:solidFill>
                  <a:srgbClr val="5B6673"/>
                </a:solidFill>
              </a:rPr>
              <a:t>Блоки не продаются отдельно: они работают как линзы внутри Диагностики, Сессии, Спринта и Сопровождения.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F2D28AF0-CDEA-4725-956B-CB0785DA6210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10896600" cy="0"/>
          </a:xfrm>
          <a:prstGeom prst="line">
            <a:avLst/>
          </a:prstGeom>
          <a:noFill/>
          <a:ln w="1333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0F99E75D-64A5-4C6B-94FE-261F7329DE7E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790700" cy="781050"/>
          </a:xfrm>
          <a:prstGeom prst="roundRect">
            <a:avLst>
              <a:gd name="adj" fmla="val 12195"/>
            </a:avLst>
          </a:prstGeom>
          <a:solidFill>
            <a:srgbClr val="163247"/>
          </a:solidFill>
          <a:ln w="9525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1-2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14C5F69-8A91-45BE-9E62-363A81DBB58A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1790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63247"/>
                </a:solidFill>
              </a:defRPr>
            </a:pPr>
            <a:r>
              <a:rPr sz="1575" b="1">
                <a:solidFill>
                  <a:srgbClr val="163247"/>
                </a:solidFill>
              </a:rPr>
              <a:t>Фундамент</a:t>
            </a:r>
          </a:p>
          <a:p>
            <a:pPr algn="ctr">
              <a:defRPr sz="1575" b="1">
                <a:solidFill>
                  <a:srgbClr val="163247"/>
                </a:solidFill>
              </a:defRPr>
            </a:pPr>
            <a:r>
              <a:rPr sz="1575" b="1">
                <a:solidFill>
                  <a:srgbClr val="163247"/>
                </a:solidFill>
              </a:rPr>
              <a:t>и архитектура</a:t>
            </a:r>
          </a:p>
        </p:txBody>
      </p:sp>
      <p:sp>
        <p:nvSpPr>
          <p:cNvPr id="7" name="box">
            <a:extLst>
              <a:ext uri="{FF2B5EF4-FFF2-40B4-BE49-F238E27FC236}">
                <a16:creationId xmlns:a16="http://schemas.microsoft.com/office/drawing/2014/main" id="{FA1AAD53-7EB3-4C17-A4D4-48AF51A9A402}"/>
              </a:ext>
            </a:extLst>
          </p:cNvPr>
          <p:cNvSpPr>
            <a:spLocks noGrp="1"/>
          </p:cNvSpPr>
          <p:nvPr/>
        </p:nvSpPr>
        <p:spPr>
          <a:xfrm>
            <a:off x="2533650" y="2667000"/>
            <a:ext cx="342900" cy="400050"/>
          </a:xfrm>
          <a:prstGeom prst="roundRect">
            <a:avLst>
              <a:gd name="adj" fmla="val 27778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0F766E"/>
                </a:solidFill>
              </a:defRPr>
            </a:pPr>
            <a:r>
              <a:rPr sz="240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8" name="box">
            <a:extLst>
              <a:ext uri="{FF2B5EF4-FFF2-40B4-BE49-F238E27FC236}">
                <a16:creationId xmlns:a16="http://schemas.microsoft.com/office/drawing/2014/main" id="{F8A7E33E-50CD-4B98-AB31-C65BC844C7B1}"/>
              </a:ext>
            </a:extLst>
          </p:cNvPr>
          <p:cNvSpPr>
            <a:spLocks noGrp="1"/>
          </p:cNvSpPr>
          <p:nvPr/>
        </p:nvSpPr>
        <p:spPr>
          <a:xfrm>
            <a:off x="2933700" y="2476500"/>
            <a:ext cx="1790700" cy="781050"/>
          </a:xfrm>
          <a:prstGeom prst="roundRect">
            <a:avLst>
              <a:gd name="adj" fmla="val 12195"/>
            </a:avLst>
          </a:prstGeom>
          <a:solidFill>
            <a:srgbClr val="0F766E"/>
          </a:solidFill>
          <a:ln w="9525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3-4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45DB4F4-505C-4C32-BB33-63D741E87AC4}"/>
              </a:ext>
            </a:extLst>
          </p:cNvPr>
          <p:cNvSpPr>
            <a:spLocks noGrp="1"/>
          </p:cNvSpPr>
          <p:nvPr/>
        </p:nvSpPr>
        <p:spPr>
          <a:xfrm>
            <a:off x="2933700" y="3486150"/>
            <a:ext cx="1790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63247"/>
                </a:solidFill>
              </a:defRPr>
            </a:pPr>
            <a:r>
              <a:rPr sz="1575" b="1">
                <a:solidFill>
                  <a:srgbClr val="163247"/>
                </a:solidFill>
              </a:rPr>
              <a:t>Диагностика</a:t>
            </a:r>
          </a:p>
          <a:p>
            <a:pPr algn="ctr">
              <a:defRPr sz="1575" b="1">
                <a:solidFill>
                  <a:srgbClr val="163247"/>
                </a:solidFill>
              </a:defRPr>
            </a:pPr>
            <a:r>
              <a:rPr sz="1575" b="1">
                <a:solidFill>
                  <a:srgbClr val="163247"/>
                </a:solidFill>
              </a:rPr>
              <a:t>и оценка</a:t>
            </a:r>
          </a:p>
        </p:txBody>
      </p:sp>
      <p:sp>
        <p:nvSpPr>
          <p:cNvPr id="10" name="box">
            <a:extLst>
              <a:ext uri="{FF2B5EF4-FFF2-40B4-BE49-F238E27FC236}">
                <a16:creationId xmlns:a16="http://schemas.microsoft.com/office/drawing/2014/main" id="{9F798220-7858-407E-9961-39FC95E88590}"/>
              </a:ext>
            </a:extLst>
          </p:cNvPr>
          <p:cNvSpPr>
            <a:spLocks noGrp="1"/>
          </p:cNvSpPr>
          <p:nvPr/>
        </p:nvSpPr>
        <p:spPr>
          <a:xfrm>
            <a:off x="4781550" y="2667000"/>
            <a:ext cx="342900" cy="400050"/>
          </a:xfrm>
          <a:prstGeom prst="roundRect">
            <a:avLst>
              <a:gd name="adj" fmla="val 27778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0F766E"/>
                </a:solidFill>
              </a:defRPr>
            </a:pPr>
            <a:r>
              <a:rPr sz="240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003D1680-5B0C-42AC-92DD-B8982655946C}"/>
              </a:ext>
            </a:extLst>
          </p:cNvPr>
          <p:cNvSpPr>
            <a:spLocks noGrp="1"/>
          </p:cNvSpPr>
          <p:nvPr/>
        </p:nvSpPr>
        <p:spPr>
          <a:xfrm>
            <a:off x="5181600" y="2476500"/>
            <a:ext cx="1790700" cy="781050"/>
          </a:xfrm>
          <a:prstGeom prst="roundRect">
            <a:avLst>
              <a:gd name="adj" fmla="val 12195"/>
            </a:avLst>
          </a:prstGeom>
          <a:solidFill>
            <a:srgbClr val="1F4E79"/>
          </a:solidFill>
          <a:ln w="9525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5-6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7C604A94-D99D-4D70-B77C-7E69C4AB8A4D}"/>
              </a:ext>
            </a:extLst>
          </p:cNvPr>
          <p:cNvSpPr>
            <a:spLocks noGrp="1"/>
          </p:cNvSpPr>
          <p:nvPr/>
        </p:nvSpPr>
        <p:spPr>
          <a:xfrm>
            <a:off x="5181600" y="3486150"/>
            <a:ext cx="1790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63247"/>
                </a:solidFill>
              </a:defRPr>
            </a:pPr>
            <a:r>
              <a:rPr sz="1575" b="1">
                <a:solidFill>
                  <a:srgbClr val="163247"/>
                </a:solidFill>
              </a:rPr>
              <a:t>Решения</a:t>
            </a:r>
          </a:p>
          <a:p>
            <a:pPr algn="ctr">
              <a:defRPr sz="1575" b="1">
                <a:solidFill>
                  <a:srgbClr val="163247"/>
                </a:solidFill>
              </a:defRPr>
            </a:pPr>
            <a:r>
              <a:rPr sz="1575" b="1">
                <a:solidFill>
                  <a:srgbClr val="163247"/>
                </a:solidFill>
              </a:rPr>
              <a:t>и синхронизация</a:t>
            </a:r>
          </a:p>
        </p:txBody>
      </p:sp>
      <p:sp>
        <p:nvSpPr>
          <p:cNvPr id="13" name="box">
            <a:extLst>
              <a:ext uri="{FF2B5EF4-FFF2-40B4-BE49-F238E27FC236}">
                <a16:creationId xmlns:a16="http://schemas.microsoft.com/office/drawing/2014/main" id="{7EBA48B7-9DA1-448F-9E7E-C4D09D44A284}"/>
              </a:ext>
            </a:extLst>
          </p:cNvPr>
          <p:cNvSpPr>
            <a:spLocks noGrp="1"/>
          </p:cNvSpPr>
          <p:nvPr/>
        </p:nvSpPr>
        <p:spPr>
          <a:xfrm>
            <a:off x="7029450" y="2667000"/>
            <a:ext cx="342900" cy="400050"/>
          </a:xfrm>
          <a:prstGeom prst="roundRect">
            <a:avLst>
              <a:gd name="adj" fmla="val 27778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0F766E"/>
                </a:solidFill>
              </a:defRPr>
            </a:pPr>
            <a:r>
              <a:rPr sz="240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4" name="box">
            <a:extLst>
              <a:ext uri="{FF2B5EF4-FFF2-40B4-BE49-F238E27FC236}">
                <a16:creationId xmlns:a16="http://schemas.microsoft.com/office/drawing/2014/main" id="{351BCF7B-9E72-49FB-9A08-A3CE0469F68B}"/>
              </a:ext>
            </a:extLst>
          </p:cNvPr>
          <p:cNvSpPr>
            <a:spLocks noGrp="1"/>
          </p:cNvSpPr>
          <p:nvPr/>
        </p:nvSpPr>
        <p:spPr>
          <a:xfrm>
            <a:off x="7429500" y="2476500"/>
            <a:ext cx="1790700" cy="781050"/>
          </a:xfrm>
          <a:prstGeom prst="roundRect">
            <a:avLst>
              <a:gd name="adj" fmla="val 12195"/>
            </a:avLst>
          </a:prstGeom>
          <a:solidFill>
            <a:srgbClr val="436174"/>
          </a:solidFill>
          <a:ln w="9525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7-9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4B3CD4C2-B76E-4189-A1AC-1110E19D9607}"/>
              </a:ext>
            </a:extLst>
          </p:cNvPr>
          <p:cNvSpPr>
            <a:spLocks noGrp="1"/>
          </p:cNvSpPr>
          <p:nvPr/>
        </p:nvSpPr>
        <p:spPr>
          <a:xfrm>
            <a:off x="7429500" y="3486150"/>
            <a:ext cx="1790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63247"/>
                </a:solidFill>
              </a:defRPr>
            </a:pPr>
            <a:r>
              <a:rPr sz="1575" b="1">
                <a:solidFill>
                  <a:srgbClr val="163247"/>
                </a:solidFill>
              </a:rPr>
              <a:t>Устойчивость,</a:t>
            </a:r>
          </a:p>
          <a:p>
            <a:pPr algn="ctr">
              <a:defRPr sz="1575" b="1">
                <a:solidFill>
                  <a:srgbClr val="163247"/>
                </a:solidFill>
              </a:defRPr>
            </a:pPr>
            <a:r>
              <a:rPr sz="1575" b="1">
                <a:solidFill>
                  <a:srgbClr val="163247"/>
                </a:solidFill>
              </a:rPr>
              <a:t>переход, AI / ИИ</a:t>
            </a:r>
          </a:p>
        </p:txBody>
      </p:sp>
      <p:sp>
        <p:nvSpPr>
          <p:cNvPr id="16" name="box">
            <a:extLst>
              <a:ext uri="{FF2B5EF4-FFF2-40B4-BE49-F238E27FC236}">
                <a16:creationId xmlns:a16="http://schemas.microsoft.com/office/drawing/2014/main" id="{CFDEC936-3450-4FEF-9793-F29344580696}"/>
              </a:ext>
            </a:extLst>
          </p:cNvPr>
          <p:cNvSpPr>
            <a:spLocks noGrp="1"/>
          </p:cNvSpPr>
          <p:nvPr/>
        </p:nvSpPr>
        <p:spPr>
          <a:xfrm>
            <a:off x="9277350" y="2667000"/>
            <a:ext cx="342900" cy="400050"/>
          </a:xfrm>
          <a:prstGeom prst="roundRect">
            <a:avLst>
              <a:gd name="adj" fmla="val 27778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0F766E"/>
                </a:solidFill>
              </a:defRPr>
            </a:pPr>
            <a:r>
              <a:rPr sz="240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7" name="box">
            <a:extLst>
              <a:ext uri="{FF2B5EF4-FFF2-40B4-BE49-F238E27FC236}">
                <a16:creationId xmlns:a16="http://schemas.microsoft.com/office/drawing/2014/main" id="{3B41BAC9-7C3B-41B8-8281-CF39BCAFEF4A}"/>
              </a:ext>
            </a:extLst>
          </p:cNvPr>
          <p:cNvSpPr>
            <a:spLocks noGrp="1"/>
          </p:cNvSpPr>
          <p:nvPr/>
        </p:nvSpPr>
        <p:spPr>
          <a:xfrm>
            <a:off x="9677400" y="2476500"/>
            <a:ext cx="1790700" cy="781050"/>
          </a:xfrm>
          <a:prstGeom prst="roundRect">
            <a:avLst>
              <a:gd name="adj" fmla="val 12195"/>
            </a:avLst>
          </a:prstGeom>
          <a:solidFill>
            <a:srgbClr val="6B7280"/>
          </a:solidFill>
          <a:ln w="9525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10-12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FB48B2A1-478F-4939-AE56-93BE30ECDACF}"/>
              </a:ext>
            </a:extLst>
          </p:cNvPr>
          <p:cNvSpPr>
            <a:spLocks noGrp="1"/>
          </p:cNvSpPr>
          <p:nvPr/>
        </p:nvSpPr>
        <p:spPr>
          <a:xfrm>
            <a:off x="9677400" y="3486150"/>
            <a:ext cx="1790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63247"/>
                </a:solidFill>
              </a:defRPr>
            </a:pPr>
            <a:r>
              <a:rPr sz="1575" b="1">
                <a:solidFill>
                  <a:srgbClr val="163247"/>
                </a:solidFill>
              </a:rPr>
              <a:t>Панель,</a:t>
            </a:r>
          </a:p>
          <a:p>
            <a:pPr algn="ctr">
              <a:defRPr sz="1575" b="1">
                <a:solidFill>
                  <a:srgbClr val="163247"/>
                </a:solidFill>
              </a:defRPr>
            </a:pPr>
            <a:r>
              <a:rPr sz="1575" b="1">
                <a:solidFill>
                  <a:srgbClr val="163247"/>
                </a:solidFill>
              </a:rPr>
              <a:t>Roadmap, артефакты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2F3B7068-5C43-4769-83B9-1CDBCC06C29D}"/>
              </a:ext>
            </a:extLst>
          </p:cNvPr>
          <p:cNvSpPr>
            <a:spLocks noGrp="1"/>
          </p:cNvSpPr>
          <p:nvPr/>
        </p:nvSpPr>
        <p:spPr>
          <a:xfrm>
            <a:off x="1524000" y="5391150"/>
            <a:ext cx="914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63247"/>
                </a:solidFill>
              </a:defRPr>
            </a:pPr>
            <a:r>
              <a:rPr sz="1800" b="1">
                <a:solidFill>
                  <a:srgbClr val="163247"/>
                </a:solidFill>
              </a:rPr>
              <a:t>Смысл цепи: сначала понять управляемость, затем назначить решения, потом внедрить и удержать.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738E5277-73A3-4F36-94B9-8BF4D0639F03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Управление Директорами / CLM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5CA81AAD-7D28-4628-AA6B-A803FC5DB148}"/>
              </a:ext>
            </a:extLst>
          </p:cNvPr>
          <p:cNvSpPr>
            <a:spLocks noGrp="1"/>
          </p:cNvSpPr>
          <p:nvPr/>
        </p:nvSpPr>
        <p:spPr>
          <a:xfrm>
            <a:off x="110680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529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">
            <a:extLst>
              <a:ext uri="{FF2B5EF4-FFF2-40B4-BE49-F238E27FC236}">
                <a16:creationId xmlns:a16="http://schemas.microsoft.com/office/drawing/2014/main" id="{A0CAB8DF-A02E-472C-96B5-EEE0F2332695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Продуктовая цепь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7AC9430-9F39-4923-8BAF-F022F65F774D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63247"/>
                </a:solidFill>
              </a:defRPr>
            </a:pPr>
            <a:r>
              <a:rPr sz="2850" b="1">
                <a:solidFill>
                  <a:srgbClr val="163247"/>
                </a:solidFill>
              </a:rPr>
              <a:t>Клиент не покупает 12 блоков — он проходит 4 продукта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D271BE0-FD71-4B7A-AF4E-C7F15121B814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B6673"/>
                </a:solidFill>
              </a:defRPr>
            </a:pPr>
            <a:r>
              <a:rPr sz="1425" b="0">
                <a:solidFill>
                  <a:srgbClr val="5B6673"/>
                </a:solidFill>
              </a:rPr>
              <a:t>Презентация и стратегический разговор бесплатны. Единственный обязательный платный вход — Диагностика.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153B4560-60B9-4E22-A120-FF692A300444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10896600" cy="0"/>
          </a:xfrm>
          <a:prstGeom prst="line">
            <a:avLst/>
          </a:prstGeom>
          <a:noFill/>
          <a:ln w="1333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E2B61AC4-6B2C-4322-9608-976386270A26}"/>
              </a:ext>
            </a:extLst>
          </p:cNvPr>
          <p:cNvSpPr>
            <a:spLocks noGrp="1"/>
          </p:cNvSpPr>
          <p:nvPr/>
        </p:nvSpPr>
        <p:spPr>
          <a:xfrm>
            <a:off x="590550" y="2305050"/>
            <a:ext cx="1581150" cy="819150"/>
          </a:xfrm>
          <a:prstGeom prst="roundRect">
            <a:avLst>
              <a:gd name="adj" fmla="val 11628"/>
            </a:avLst>
          </a:prstGeom>
          <a:solidFill>
            <a:srgbClr val="F6F8FA"/>
          </a:solidFill>
          <a:ln w="9525">
            <a:solidFill>
              <a:srgbClr val="D7DEE5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63247"/>
                </a:solidFill>
              </a:defRPr>
            </a:pPr>
            <a:r>
              <a:rPr sz="1500" b="1">
                <a:solidFill>
                  <a:srgbClr val="163247"/>
                </a:solidFill>
              </a:rPr>
              <a:t>Презентация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11EE3FA-F147-4835-A85F-0EDCF9CFD9A6}"/>
              </a:ext>
            </a:extLst>
          </p:cNvPr>
          <p:cNvSpPr>
            <a:spLocks noGrp="1"/>
          </p:cNvSpPr>
          <p:nvPr/>
        </p:nvSpPr>
        <p:spPr>
          <a:xfrm>
            <a:off x="647700" y="3314700"/>
            <a:ext cx="1466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первое понимание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A2DC58F-DFA1-4C0A-85D9-FF03745D4EE8}"/>
              </a:ext>
            </a:extLst>
          </p:cNvPr>
          <p:cNvSpPr>
            <a:spLocks noGrp="1"/>
          </p:cNvSpPr>
          <p:nvPr/>
        </p:nvSpPr>
        <p:spPr>
          <a:xfrm>
            <a:off x="647700" y="3848100"/>
            <a:ext cx="1466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B6673"/>
                </a:solidFill>
              </a:defRPr>
            </a:pPr>
            <a:r>
              <a:rPr sz="1200" b="1">
                <a:solidFill>
                  <a:srgbClr val="5B6673"/>
                </a:solidFill>
              </a:rPr>
              <a:t>Бесплатно</a:t>
            </a:r>
          </a:p>
        </p:txBody>
      </p:sp>
      <p:sp>
        <p:nvSpPr>
          <p:cNvPr id="8" name="box">
            <a:extLst>
              <a:ext uri="{FF2B5EF4-FFF2-40B4-BE49-F238E27FC236}">
                <a16:creationId xmlns:a16="http://schemas.microsoft.com/office/drawing/2014/main" id="{C7FC55D5-2CED-4B5C-AE07-9C19FD10255A}"/>
              </a:ext>
            </a:extLst>
          </p:cNvPr>
          <p:cNvSpPr>
            <a:spLocks noGrp="1"/>
          </p:cNvSpPr>
          <p:nvPr/>
        </p:nvSpPr>
        <p:spPr>
          <a:xfrm>
            <a:off x="2476500" y="2305050"/>
            <a:ext cx="1581150" cy="819150"/>
          </a:xfrm>
          <a:prstGeom prst="roundRect">
            <a:avLst>
              <a:gd name="adj" fmla="val 11628"/>
            </a:avLst>
          </a:prstGeom>
          <a:solidFill>
            <a:srgbClr val="F6F8FA"/>
          </a:solidFill>
          <a:ln w="9525">
            <a:solidFill>
              <a:srgbClr val="D7DEE5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63247"/>
                </a:solidFill>
              </a:defRPr>
            </a:pPr>
            <a:r>
              <a:rPr sz="1500" b="1">
                <a:solidFill>
                  <a:srgbClr val="163247"/>
                </a:solidFill>
              </a:rPr>
              <a:t>Стратегический</a:t>
            </a:r>
          </a:p>
          <a:p>
            <a:pPr algn="ctr">
              <a:defRPr sz="1500" b="1">
                <a:solidFill>
                  <a:srgbClr val="163247"/>
                </a:solidFill>
              </a:defRPr>
            </a:pPr>
            <a:r>
              <a:rPr sz="1500" b="1">
                <a:solidFill>
                  <a:srgbClr val="163247"/>
                </a:solidFill>
              </a:rPr>
              <a:t>разговор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13B8D3B-0BF8-48D9-BEBB-073234CCBF22}"/>
              </a:ext>
            </a:extLst>
          </p:cNvPr>
          <p:cNvSpPr>
            <a:spLocks noGrp="1"/>
          </p:cNvSpPr>
          <p:nvPr/>
        </p:nvSpPr>
        <p:spPr>
          <a:xfrm>
            <a:off x="2533650" y="3314700"/>
            <a:ext cx="1466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fit / соответствие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33E1A8C4-A5F6-405F-B40D-D2FF48E59784}"/>
              </a:ext>
            </a:extLst>
          </p:cNvPr>
          <p:cNvSpPr>
            <a:spLocks noGrp="1"/>
          </p:cNvSpPr>
          <p:nvPr/>
        </p:nvSpPr>
        <p:spPr>
          <a:xfrm>
            <a:off x="2533650" y="3848100"/>
            <a:ext cx="1466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B6673"/>
                </a:solidFill>
              </a:defRPr>
            </a:pPr>
            <a:r>
              <a:rPr sz="1200" b="1">
                <a:solidFill>
                  <a:srgbClr val="5B6673"/>
                </a:solidFill>
              </a:rPr>
              <a:t>Бесплатно</a:t>
            </a:r>
          </a:p>
        </p:txBody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0470C55C-7BC5-4814-ADF4-8B0522511775}"/>
              </a:ext>
            </a:extLst>
          </p:cNvPr>
          <p:cNvSpPr>
            <a:spLocks noGrp="1"/>
          </p:cNvSpPr>
          <p:nvPr/>
        </p:nvSpPr>
        <p:spPr>
          <a:xfrm>
            <a:off x="4362450" y="2305050"/>
            <a:ext cx="1581150" cy="819150"/>
          </a:xfrm>
          <a:prstGeom prst="roundRect">
            <a:avLst>
              <a:gd name="adj" fmla="val 11628"/>
            </a:avLst>
          </a:prstGeom>
          <a:solidFill>
            <a:srgbClr val="FFF4CC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63247"/>
                </a:solidFill>
              </a:defRPr>
            </a:pPr>
            <a:r>
              <a:rPr sz="1500" b="1">
                <a:solidFill>
                  <a:srgbClr val="163247"/>
                </a:solidFill>
              </a:rPr>
              <a:t>Диагностика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2EFDDB91-D83C-4A66-9B50-30731D538282}"/>
              </a:ext>
            </a:extLst>
          </p:cNvPr>
          <p:cNvSpPr>
            <a:spLocks noGrp="1"/>
          </p:cNvSpPr>
          <p:nvPr/>
        </p:nvSpPr>
        <p:spPr>
          <a:xfrm>
            <a:off x="4419600" y="3314700"/>
            <a:ext cx="1466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вердикт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D6DDC2C-FE67-428B-B459-D066CCCFA2E6}"/>
              </a:ext>
            </a:extLst>
          </p:cNvPr>
          <p:cNvSpPr>
            <a:spLocks noGrp="1"/>
          </p:cNvSpPr>
          <p:nvPr/>
        </p:nvSpPr>
        <p:spPr>
          <a:xfrm>
            <a:off x="4419600" y="3848100"/>
            <a:ext cx="1466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300-500 тыс. ₽</a:t>
            </a:r>
          </a:p>
        </p:txBody>
      </p:sp>
      <p:sp>
        <p:nvSpPr>
          <p:cNvPr id="14" name="box">
            <a:extLst>
              <a:ext uri="{FF2B5EF4-FFF2-40B4-BE49-F238E27FC236}">
                <a16:creationId xmlns:a16="http://schemas.microsoft.com/office/drawing/2014/main" id="{129C492C-CDBE-4F03-992A-4F0BA6F6E802}"/>
              </a:ext>
            </a:extLst>
          </p:cNvPr>
          <p:cNvSpPr>
            <a:spLocks noGrp="1"/>
          </p:cNvSpPr>
          <p:nvPr/>
        </p:nvSpPr>
        <p:spPr>
          <a:xfrm>
            <a:off x="6248400" y="2305050"/>
            <a:ext cx="1581150" cy="819150"/>
          </a:xfrm>
          <a:prstGeom prst="roundRect">
            <a:avLst>
              <a:gd name="adj" fmla="val 11628"/>
            </a:avLst>
          </a:prstGeom>
          <a:solidFill>
            <a:srgbClr val="E6F4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63247"/>
                </a:solidFill>
              </a:defRPr>
            </a:pPr>
            <a:r>
              <a:rPr sz="1500" b="1">
                <a:solidFill>
                  <a:srgbClr val="163247"/>
                </a:solidFill>
              </a:rPr>
              <a:t>Сессия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D4BE0075-B4AA-4570-ABA9-9A958FF1F2D7}"/>
              </a:ext>
            </a:extLst>
          </p:cNvPr>
          <p:cNvSpPr>
            <a:spLocks noGrp="1"/>
          </p:cNvSpPr>
          <p:nvPr/>
        </p:nvSpPr>
        <p:spPr>
          <a:xfrm>
            <a:off x="6305550" y="3314700"/>
            <a:ext cx="1466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паспорт Спринта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E6D20E21-ADE0-4A09-B00C-D2933C1CFF90}"/>
              </a:ext>
            </a:extLst>
          </p:cNvPr>
          <p:cNvSpPr>
            <a:spLocks noGrp="1"/>
          </p:cNvSpPr>
          <p:nvPr/>
        </p:nvSpPr>
        <p:spPr>
          <a:xfrm>
            <a:off x="6305550" y="3848100"/>
            <a:ext cx="1466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700 тыс.-1,5 млн ₽</a:t>
            </a:r>
          </a:p>
        </p:txBody>
      </p:sp>
      <p:sp>
        <p:nvSpPr>
          <p:cNvPr id="17" name="box">
            <a:extLst>
              <a:ext uri="{FF2B5EF4-FFF2-40B4-BE49-F238E27FC236}">
                <a16:creationId xmlns:a16="http://schemas.microsoft.com/office/drawing/2014/main" id="{6EC24CB1-B0BA-4B28-B3CC-B44A54587538}"/>
              </a:ext>
            </a:extLst>
          </p:cNvPr>
          <p:cNvSpPr>
            <a:spLocks noGrp="1"/>
          </p:cNvSpPr>
          <p:nvPr/>
        </p:nvSpPr>
        <p:spPr>
          <a:xfrm>
            <a:off x="8134350" y="2305050"/>
            <a:ext cx="1581150" cy="819150"/>
          </a:xfrm>
          <a:prstGeom prst="roundRect">
            <a:avLst>
              <a:gd name="adj" fmla="val 11628"/>
            </a:avLst>
          </a:prstGeom>
          <a:solidFill>
            <a:srgbClr val="E6F4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63247"/>
                </a:solidFill>
              </a:defRPr>
            </a:pPr>
            <a:r>
              <a:rPr sz="1500" b="1">
                <a:solidFill>
                  <a:srgbClr val="163247"/>
                </a:solidFill>
              </a:rPr>
              <a:t>Спринт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22993FAA-E6AB-4D98-864F-6577B2A58350}"/>
              </a:ext>
            </a:extLst>
          </p:cNvPr>
          <p:cNvSpPr>
            <a:spLocks noGrp="1"/>
          </p:cNvSpPr>
          <p:nvPr/>
        </p:nvSpPr>
        <p:spPr>
          <a:xfrm>
            <a:off x="8191500" y="3314700"/>
            <a:ext cx="1466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реализованный проект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600990E2-65D5-4F6E-9659-CB444F5C4F5C}"/>
              </a:ext>
            </a:extLst>
          </p:cNvPr>
          <p:cNvSpPr>
            <a:spLocks noGrp="1"/>
          </p:cNvSpPr>
          <p:nvPr/>
        </p:nvSpPr>
        <p:spPr>
          <a:xfrm>
            <a:off x="8191500" y="3848100"/>
            <a:ext cx="1466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900 тыс.-1,5 млн ₽</a:t>
            </a:r>
          </a:p>
        </p:txBody>
      </p:sp>
      <p:sp>
        <p:nvSpPr>
          <p:cNvPr id="20" name="box">
            <a:extLst>
              <a:ext uri="{FF2B5EF4-FFF2-40B4-BE49-F238E27FC236}">
                <a16:creationId xmlns:a16="http://schemas.microsoft.com/office/drawing/2014/main" id="{E4F6FEC6-D4CD-4636-8675-984F7173B2ED}"/>
              </a:ext>
            </a:extLst>
          </p:cNvPr>
          <p:cNvSpPr>
            <a:spLocks noGrp="1"/>
          </p:cNvSpPr>
          <p:nvPr/>
        </p:nvSpPr>
        <p:spPr>
          <a:xfrm>
            <a:off x="10020300" y="2305050"/>
            <a:ext cx="1581150" cy="819150"/>
          </a:xfrm>
          <a:prstGeom prst="roundRect">
            <a:avLst>
              <a:gd name="adj" fmla="val 11628"/>
            </a:avLst>
          </a:prstGeom>
          <a:solidFill>
            <a:srgbClr val="E6F4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63247"/>
                </a:solidFill>
              </a:defRPr>
            </a:pPr>
            <a:r>
              <a:rPr sz="1500" b="1">
                <a:solidFill>
                  <a:srgbClr val="163247"/>
                </a:solidFill>
              </a:rPr>
              <a:t>Сопровождение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59D09466-0D67-4EAC-966C-BB6AA61D7E90}"/>
              </a:ext>
            </a:extLst>
          </p:cNvPr>
          <p:cNvSpPr>
            <a:spLocks noGrp="1"/>
          </p:cNvSpPr>
          <p:nvPr/>
        </p:nvSpPr>
        <p:spPr>
          <a:xfrm>
            <a:off x="10077450" y="3314700"/>
            <a:ext cx="1466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удержание результата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11FADE93-325D-459C-8E5C-79E0E079231D}"/>
              </a:ext>
            </a:extLst>
          </p:cNvPr>
          <p:cNvSpPr>
            <a:spLocks noGrp="1"/>
          </p:cNvSpPr>
          <p:nvPr/>
        </p:nvSpPr>
        <p:spPr>
          <a:xfrm>
            <a:off x="10077450" y="3848100"/>
            <a:ext cx="1466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1,2-2,0 млн ₽/мес</a:t>
            </a:r>
          </a:p>
        </p:txBody>
      </p:sp>
      <p:sp>
        <p:nvSpPr>
          <p:cNvPr id="23" name="box">
            <a:extLst>
              <a:ext uri="{FF2B5EF4-FFF2-40B4-BE49-F238E27FC236}">
                <a16:creationId xmlns:a16="http://schemas.microsoft.com/office/drawing/2014/main" id="{56583044-FA17-4DF8-B61E-D44544DCEBE6}"/>
              </a:ext>
            </a:extLst>
          </p:cNvPr>
          <p:cNvSpPr>
            <a:spLocks noGrp="1"/>
          </p:cNvSpPr>
          <p:nvPr/>
        </p:nvSpPr>
        <p:spPr>
          <a:xfrm>
            <a:off x="1809750" y="5295900"/>
            <a:ext cx="8572500" cy="571500"/>
          </a:xfrm>
          <a:prstGeom prst="roundRect">
            <a:avLst>
              <a:gd name="adj" fmla="val 16667"/>
            </a:avLst>
          </a:prstGeom>
          <a:solidFill>
            <a:srgbClr val="FFF4CC"/>
          </a:solidFill>
          <a:ln w="9525">
            <a:solidFill>
              <a:srgbClr val="E2B93B"/>
            </a:solidFill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63247"/>
                </a:solidFill>
              </a:defRPr>
            </a:pPr>
            <a:r>
              <a:rPr sz="1650" b="1">
                <a:solidFill>
                  <a:srgbClr val="163247"/>
                </a:solidFill>
              </a:rPr>
              <a:t>Диагностика платная, потому что она дисциплинирует вход и дает право на честный Stop / остановку.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FEDE730E-6D05-4CFA-AB38-4CC0B763E026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Управление Директорами / CLM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089F0CBE-2313-4B9E-8737-F3969D386255}"/>
              </a:ext>
            </a:extLst>
          </p:cNvPr>
          <p:cNvSpPr>
            <a:spLocks noGrp="1"/>
          </p:cNvSpPr>
          <p:nvPr/>
        </p:nvSpPr>
        <p:spPr>
          <a:xfrm>
            <a:off x="110680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23406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">
            <a:extLst>
              <a:ext uri="{FF2B5EF4-FFF2-40B4-BE49-F238E27FC236}">
                <a16:creationId xmlns:a16="http://schemas.microsoft.com/office/drawing/2014/main" id="{0A94BFEF-C5B9-47C2-A8D9-D8D301A96065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Диагностика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49A8FFC-CC72-4DFF-A830-6804A84FD259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63247"/>
                </a:solidFill>
              </a:defRPr>
            </a:pPr>
            <a:r>
              <a:rPr sz="2850" b="1">
                <a:solidFill>
                  <a:srgbClr val="163247"/>
                </a:solidFill>
              </a:rPr>
              <a:t>Первый продукт не продает надежду — он дает право продолжать или остановиться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9640E07-E169-42DB-A322-5ACC35C84592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B6673"/>
                </a:solidFill>
              </a:defRPr>
            </a:pPr>
            <a:r>
              <a:rPr sz="1425" b="0">
                <a:solidFill>
                  <a:srgbClr val="5B6673"/>
                </a:solidFill>
              </a:rPr>
              <a:t>Хорошая Диагностика не обязана приводить к Сессии. Иногда правильный результат — отказ от проекта.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4C32D8CC-433C-40C4-B5D2-55FAC721ADC7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10896600" cy="0"/>
          </a:xfrm>
          <a:prstGeom prst="line">
            <a:avLst/>
          </a:prstGeom>
          <a:noFill/>
          <a:ln w="1333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6F0B3D68-FF21-4B4F-9F9D-F09FFB5557F9}"/>
              </a:ext>
            </a:extLst>
          </p:cNvPr>
          <p:cNvSpPr>
            <a:spLocks noGrp="1"/>
          </p:cNvSpPr>
          <p:nvPr/>
        </p:nvSpPr>
        <p:spPr>
          <a:xfrm>
            <a:off x="1143000" y="2343150"/>
            <a:ext cx="76200" cy="76200"/>
          </a:xfrm>
          <a:prstGeom prst="ellipse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3CF68A6-EAB4-4005-8A26-6FE2B8A74EB8}"/>
              </a:ext>
            </a:extLst>
          </p:cNvPr>
          <p:cNvSpPr>
            <a:spLocks noGrp="1"/>
          </p:cNvSpPr>
          <p:nvPr/>
        </p:nvSpPr>
        <p:spPr>
          <a:xfrm>
            <a:off x="1352550" y="2266950"/>
            <a:ext cx="885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Фиксирует владельца запроса, цену ошибки и доступ к первому кругу.</a:t>
            </a:r>
          </a:p>
        </p:txBody>
      </p:sp>
      <p:sp>
        <p:nvSpPr>
          <p:cNvPr id="7" name="box">
            <a:extLst>
              <a:ext uri="{FF2B5EF4-FFF2-40B4-BE49-F238E27FC236}">
                <a16:creationId xmlns:a16="http://schemas.microsoft.com/office/drawing/2014/main" id="{66B663D4-9C60-42D3-9A8D-2AB095DAA740}"/>
              </a:ext>
            </a:extLst>
          </p:cNvPr>
          <p:cNvSpPr>
            <a:spLocks noGrp="1"/>
          </p:cNvSpPr>
          <p:nvPr/>
        </p:nvSpPr>
        <p:spPr>
          <a:xfrm>
            <a:off x="1143000" y="3086100"/>
            <a:ext cx="76200" cy="76200"/>
          </a:xfrm>
          <a:prstGeom prst="ellipse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1662B1D2-9BDE-45CF-923C-0BB728BE60CB}"/>
              </a:ext>
            </a:extLst>
          </p:cNvPr>
          <p:cNvSpPr>
            <a:spLocks noGrp="1"/>
          </p:cNvSpPr>
          <p:nvPr/>
        </p:nvSpPr>
        <p:spPr>
          <a:xfrm>
            <a:off x="1352550" y="3009900"/>
            <a:ext cx="885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Проверяет роли, мандаты, решения, данные и разрывы CLM.</a:t>
            </a:r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7FC180B2-5BFC-42EC-A315-75405C0E3EDD}"/>
              </a:ext>
            </a:extLst>
          </p:cNvPr>
          <p:cNvSpPr>
            <a:spLocks noGrp="1"/>
          </p:cNvSpPr>
          <p:nvPr/>
        </p:nvSpPr>
        <p:spPr>
          <a:xfrm>
            <a:off x="1143000" y="3829050"/>
            <a:ext cx="76200" cy="76200"/>
          </a:xfrm>
          <a:prstGeom prst="ellipse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6EA868AF-234C-4C73-B7B5-F7959CF6BE42}"/>
              </a:ext>
            </a:extLst>
          </p:cNvPr>
          <p:cNvSpPr>
            <a:spLocks noGrp="1"/>
          </p:cNvSpPr>
          <p:nvPr/>
        </p:nvSpPr>
        <p:spPr>
          <a:xfrm>
            <a:off x="1352550" y="3752850"/>
            <a:ext cx="885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Дает вердикт: продолжать, продолжать при условиях, отложить или отказать.</a:t>
            </a:r>
          </a:p>
        </p:txBody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5470F470-0386-405A-9E4D-EA68BDE15A66}"/>
              </a:ext>
            </a:extLst>
          </p:cNvPr>
          <p:cNvSpPr>
            <a:spLocks noGrp="1"/>
          </p:cNvSpPr>
          <p:nvPr/>
        </p:nvSpPr>
        <p:spPr>
          <a:xfrm>
            <a:off x="1504950" y="5010150"/>
            <a:ext cx="9182100" cy="666750"/>
          </a:xfrm>
          <a:prstGeom prst="roundRect">
            <a:avLst>
              <a:gd name="adj" fmla="val 14286"/>
            </a:avLst>
          </a:prstGeom>
          <a:solidFill>
            <a:srgbClr val="FDE2E1"/>
          </a:solidFill>
          <a:ln w="9525">
            <a:solidFill>
              <a:srgbClr val="E58A87"/>
            </a:solidFill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63247"/>
                </a:solidFill>
              </a:defRPr>
            </a:pPr>
            <a:r>
              <a:rPr sz="1650" b="1">
                <a:solidFill>
                  <a:srgbClr val="163247"/>
                </a:solidFill>
              </a:rPr>
              <a:t>Нельзя: бесплатный аудит, HR-оценка, политически безопасный отчет без права на честный вывод.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4479E34B-3E7A-41C1-8CBF-F34B84A95AA7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Управление Директорами / CLM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36F9526E-447C-4010-B2B4-152DE6881845}"/>
              </a:ext>
            </a:extLst>
          </p:cNvPr>
          <p:cNvSpPr>
            <a:spLocks noGrp="1"/>
          </p:cNvSpPr>
          <p:nvPr/>
        </p:nvSpPr>
        <p:spPr>
          <a:xfrm>
            <a:off x="110680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15586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">
            <a:extLst>
              <a:ext uri="{FF2B5EF4-FFF2-40B4-BE49-F238E27FC236}">
                <a16:creationId xmlns:a16="http://schemas.microsoft.com/office/drawing/2014/main" id="{F562841D-42CE-4708-AE5D-00CF63113851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Decision OS / система решений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3B134AC-7EFB-44E7-A594-92E1FF17E405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63247"/>
                </a:solidFill>
              </a:defRPr>
            </a:pPr>
            <a:r>
              <a:rPr sz="2850" b="1">
                <a:solidFill>
                  <a:srgbClr val="163247"/>
                </a:solidFill>
              </a:rPr>
              <a:t>После Диагностики CLM собирает не список идей, а рабочую систему решений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55C3ADB-D6F5-4F76-AB4D-F793312A4AD1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B6673"/>
                </a:solidFill>
              </a:defRPr>
            </a:pPr>
            <a:r>
              <a:rPr sz="1425" b="0">
                <a:solidFill>
                  <a:srgbClr val="5B6673"/>
                </a:solidFill>
              </a:rPr>
              <a:t>Сессия выбирает активный набор, Спринт доводит его до артефакта, Сопровождение удерживает результат.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36AF698C-2026-4D40-BDCB-3AF4295E4C39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10896600" cy="0"/>
          </a:xfrm>
          <a:prstGeom prst="line">
            <a:avLst/>
          </a:prstGeom>
          <a:noFill/>
          <a:ln w="1333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3B1A0FC3-1C6C-4285-BA8E-C842D1EA3336}"/>
              </a:ext>
            </a:extLst>
          </p:cNvPr>
          <p:cNvSpPr>
            <a:spLocks noGrp="1"/>
          </p:cNvSpPr>
          <p:nvPr/>
        </p:nvSpPr>
        <p:spPr>
          <a:xfrm>
            <a:off x="933450" y="2628900"/>
            <a:ext cx="1619250" cy="666750"/>
          </a:xfrm>
          <a:prstGeom prst="roundRect">
            <a:avLst>
              <a:gd name="adj" fmla="val 14286"/>
            </a:avLst>
          </a:prstGeom>
          <a:solidFill>
            <a:srgbClr val="FFF4CC"/>
          </a:solidFill>
          <a:ln w="9525">
            <a:solidFill>
              <a:srgbClr val="E2B93B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63247"/>
                </a:solidFill>
              </a:defRPr>
            </a:pPr>
            <a:r>
              <a:rPr sz="1800" b="1">
                <a:solidFill>
                  <a:srgbClr val="163247"/>
                </a:solidFill>
              </a:rPr>
              <a:t>Разрыв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3A38BD55-B6E2-4150-8488-91CDBDA00C60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что болит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C1D46DD-9C43-49E8-A6E4-C91F951B8849}"/>
              </a:ext>
            </a:extLst>
          </p:cNvPr>
          <p:cNvSpPr>
            <a:spLocks noGrp="1"/>
          </p:cNvSpPr>
          <p:nvPr/>
        </p:nvSpPr>
        <p:spPr>
          <a:xfrm>
            <a:off x="262890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8" name="box">
            <a:extLst>
              <a:ext uri="{FF2B5EF4-FFF2-40B4-BE49-F238E27FC236}">
                <a16:creationId xmlns:a16="http://schemas.microsoft.com/office/drawing/2014/main" id="{9C5CBB11-6248-4CA9-BB90-12AC8BDD6215}"/>
              </a:ext>
            </a:extLst>
          </p:cNvPr>
          <p:cNvSpPr>
            <a:spLocks noGrp="1"/>
          </p:cNvSpPr>
          <p:nvPr/>
        </p:nvSpPr>
        <p:spPr>
          <a:xfrm>
            <a:off x="3048000" y="2628900"/>
            <a:ext cx="1619250" cy="666750"/>
          </a:xfrm>
          <a:prstGeom prst="roundRect">
            <a:avLst>
              <a:gd name="adj" fmla="val 14286"/>
            </a:avLst>
          </a:prstGeom>
          <a:solidFill>
            <a:srgbClr val="E6F4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63247"/>
                </a:solidFill>
              </a:defRPr>
            </a:pPr>
            <a:r>
              <a:rPr sz="1800" b="1">
                <a:solidFill>
                  <a:srgbClr val="163247"/>
                </a:solidFill>
              </a:rPr>
              <a:t>Решение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5BBAE35-F8F1-414E-961F-41000560C2B6}"/>
              </a:ext>
            </a:extLst>
          </p:cNvPr>
          <p:cNvSpPr>
            <a:spLocks noGrp="1"/>
          </p:cNvSpPr>
          <p:nvPr/>
        </p:nvSpPr>
        <p:spPr>
          <a:xfrm>
            <a:off x="3048000" y="34671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что делаем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B2795F50-1D49-48E4-8C8B-AF3E5C61668E}"/>
              </a:ext>
            </a:extLst>
          </p:cNvPr>
          <p:cNvSpPr>
            <a:spLocks noGrp="1"/>
          </p:cNvSpPr>
          <p:nvPr/>
        </p:nvSpPr>
        <p:spPr>
          <a:xfrm>
            <a:off x="47434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FD69F531-9FAC-44AA-ADFE-CBD34DECCED5}"/>
              </a:ext>
            </a:extLst>
          </p:cNvPr>
          <p:cNvSpPr>
            <a:spLocks noGrp="1"/>
          </p:cNvSpPr>
          <p:nvPr/>
        </p:nvSpPr>
        <p:spPr>
          <a:xfrm>
            <a:off x="5162550" y="2628900"/>
            <a:ext cx="1619250" cy="666750"/>
          </a:xfrm>
          <a:prstGeom prst="roundRect">
            <a:avLst>
              <a:gd name="adj" fmla="val 14286"/>
            </a:avLst>
          </a:prstGeom>
          <a:solidFill>
            <a:srgbClr val="E6F4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63247"/>
                </a:solidFill>
              </a:defRPr>
            </a:pPr>
            <a:r>
              <a:rPr sz="1800" b="1">
                <a:solidFill>
                  <a:srgbClr val="163247"/>
                </a:solidFill>
              </a:rPr>
              <a:t>Владелец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CFA293EF-5DE9-499C-81BC-9D282E2552EC}"/>
              </a:ext>
            </a:extLst>
          </p:cNvPr>
          <p:cNvSpPr>
            <a:spLocks noGrp="1"/>
          </p:cNvSpPr>
          <p:nvPr/>
        </p:nvSpPr>
        <p:spPr>
          <a:xfrm>
            <a:off x="5162550" y="34671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кто отвечает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F21DB52F-7A87-4507-A90A-AEF5A651B275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4" name="box">
            <a:extLst>
              <a:ext uri="{FF2B5EF4-FFF2-40B4-BE49-F238E27FC236}">
                <a16:creationId xmlns:a16="http://schemas.microsoft.com/office/drawing/2014/main" id="{FCA9CD52-5488-4837-B765-A21ACBD76724}"/>
              </a:ext>
            </a:extLst>
          </p:cNvPr>
          <p:cNvSpPr>
            <a:spLocks noGrp="1"/>
          </p:cNvSpPr>
          <p:nvPr/>
        </p:nvSpPr>
        <p:spPr>
          <a:xfrm>
            <a:off x="7277100" y="2628900"/>
            <a:ext cx="1619250" cy="666750"/>
          </a:xfrm>
          <a:prstGeom prst="roundRect">
            <a:avLst>
              <a:gd name="adj" fmla="val 14286"/>
            </a:avLst>
          </a:prstGeom>
          <a:solidFill>
            <a:srgbClr val="E6F4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63247"/>
                </a:solidFill>
              </a:defRPr>
            </a:pPr>
            <a:r>
              <a:rPr sz="1800" b="1">
                <a:solidFill>
                  <a:srgbClr val="163247"/>
                </a:solidFill>
              </a:rPr>
              <a:t>Данные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09D45AC4-5A85-4E4E-93E2-464DA4B2A2A6}"/>
              </a:ext>
            </a:extLst>
          </p:cNvPr>
          <p:cNvSpPr>
            <a:spLocks noGrp="1"/>
          </p:cNvSpPr>
          <p:nvPr/>
        </p:nvSpPr>
        <p:spPr>
          <a:xfrm>
            <a:off x="7277100" y="34671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чем проверяем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8650E9DA-8252-4DD4-AAA3-3DB8B4E725B8}"/>
              </a:ext>
            </a:extLst>
          </p:cNvPr>
          <p:cNvSpPr>
            <a:spLocks noGrp="1"/>
          </p:cNvSpPr>
          <p:nvPr/>
        </p:nvSpPr>
        <p:spPr>
          <a:xfrm>
            <a:off x="89725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7" name="box">
            <a:extLst>
              <a:ext uri="{FF2B5EF4-FFF2-40B4-BE49-F238E27FC236}">
                <a16:creationId xmlns:a16="http://schemas.microsoft.com/office/drawing/2014/main" id="{D4313808-BF3A-418A-99C4-8CCA69034806}"/>
              </a:ext>
            </a:extLst>
          </p:cNvPr>
          <p:cNvSpPr>
            <a:spLocks noGrp="1"/>
          </p:cNvSpPr>
          <p:nvPr/>
        </p:nvSpPr>
        <p:spPr>
          <a:xfrm>
            <a:off x="9391650" y="2628900"/>
            <a:ext cx="1619250" cy="666750"/>
          </a:xfrm>
          <a:prstGeom prst="roundRect">
            <a:avLst>
              <a:gd name="adj" fmla="val 14286"/>
            </a:avLst>
          </a:prstGeom>
          <a:solidFill>
            <a:srgbClr val="E6F4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63247"/>
                </a:solidFill>
              </a:defRPr>
            </a:pPr>
            <a:r>
              <a:rPr sz="1800" b="1">
                <a:solidFill>
                  <a:srgbClr val="163247"/>
                </a:solidFill>
              </a:rPr>
              <a:t>Артефакт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DCF76BCE-C831-4415-88A9-3B3A47B0426A}"/>
              </a:ext>
            </a:extLst>
          </p:cNvPr>
          <p:cNvSpPr>
            <a:spLocks noGrp="1"/>
          </p:cNvSpPr>
          <p:nvPr/>
        </p:nvSpPr>
        <p:spPr>
          <a:xfrm>
            <a:off x="9391650" y="34671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что меняется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3C362D51-A557-4F5B-B09F-E781C8BF378A}"/>
              </a:ext>
            </a:extLst>
          </p:cNvPr>
          <p:cNvSpPr>
            <a:spLocks noGrp="1"/>
          </p:cNvSpPr>
          <p:nvPr/>
        </p:nvSpPr>
        <p:spPr>
          <a:xfrm>
            <a:off x="1638300" y="4895850"/>
            <a:ext cx="8915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63247"/>
                </a:solidFill>
              </a:defRPr>
            </a:pPr>
            <a:r>
              <a:rPr sz="1875" b="1">
                <a:solidFill>
                  <a:srgbClr val="163247"/>
                </a:solidFill>
              </a:rPr>
              <a:t>Выход: паспорт Спринта, владелец эффекта, владелец решения, владелец данных и критерий Stop / остановка.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6C3FBC8F-1B3A-40FA-85A7-A7182A274886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Управление Директорами / CLM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A76C2938-C162-4538-855F-F4B5FB1FE567}"/>
              </a:ext>
            </a:extLst>
          </p:cNvPr>
          <p:cNvSpPr>
            <a:spLocks noGrp="1"/>
          </p:cNvSpPr>
          <p:nvPr/>
        </p:nvSpPr>
        <p:spPr>
          <a:xfrm>
            <a:off x="110680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35377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">
            <a:extLst>
              <a:ext uri="{FF2B5EF4-FFF2-40B4-BE49-F238E27FC236}">
                <a16:creationId xmlns:a16="http://schemas.microsoft.com/office/drawing/2014/main" id="{901553C4-D25B-48F5-BCC5-E5C5799DE681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Кейсы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497D7E1-447C-41F1-B406-73BCBD78BD0E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63247"/>
                </a:solidFill>
              </a:defRPr>
            </a:pPr>
            <a:r>
              <a:rPr sz="2850" b="1">
                <a:solidFill>
                  <a:srgbClr val="163247"/>
                </a:solidFill>
              </a:rPr>
              <a:t>Кейсы показывают типовые управленческие разрывы, а не обещают универсальный эффект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6FED1FCA-C755-489F-8DC2-86DEDFCEA27B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B6673"/>
                </a:solidFill>
              </a:defRPr>
            </a:pPr>
            <a:r>
              <a:rPr sz="1425" b="0">
                <a:solidFill>
                  <a:srgbClr val="5B6673"/>
                </a:solidFill>
              </a:rPr>
              <a:t>В продаже используются 1-2 кейса под боль клиента, затем разговор переводится в Диагностику.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A2D1ECE7-4A87-4C15-A1AC-D0A618115D76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10896600" cy="0"/>
          </a:xfrm>
          <a:prstGeom prst="line">
            <a:avLst/>
          </a:prstGeom>
          <a:noFill/>
          <a:ln w="1333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12" name="Таблица 11"/>
          <p:cNvGraphicFramePr/>
          <p:nvPr/>
        </p:nvGraphicFramePr>
        <p:xfrm>
          <a:off x="838200" y="2190750"/>
          <a:ext cx="10515600" cy="3352800"/>
        </p:xfrm>
        <a:graphic>
          <a:graphicData uri="http://schemas.openxmlformats.org/drawingml/2006/table">
            <a:tbl>
              <a:tblPr firstRow="1" bandRow="1"/>
              <a:tblGrid>
                <a:gridCol w="3004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0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1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Боль клиента</a:t>
                      </a:r>
                    </a:p>
                  </a:txBody>
                  <a:tcPr>
                    <a:solidFill>
                      <a:srgbClr val="16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Кейс</a:t>
                      </a:r>
                    </a:p>
                  </a:txBody>
                  <a:tcPr>
                    <a:solidFill>
                      <a:srgbClr val="16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Вопрос Диагностики</a:t>
                      </a:r>
                    </a:p>
                  </a:txBody>
                  <a:tcPr>
                    <a:solidFill>
                      <a:srgbClr val="1632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CEO перегружен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7 директоров не сняли ручное управление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Какие решения возвращаются к CEO?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Board видит отчеты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74 страницы без управляемости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Кто владеет реакцией на сигнал?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Маржа исчезает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Продажи растут, результат падает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Где конфликт KPI / показателей?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AI / ИИ-пилот буксует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Нет владельца ответственности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Кто владеет решением, данными и риском?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">
            <a:extLst>
              <a:ext uri="{FF2B5EF4-FFF2-40B4-BE49-F238E27FC236}">
                <a16:creationId xmlns:a16="http://schemas.microsoft.com/office/drawing/2014/main" id="{22358503-7A0E-405F-AAEE-2A056CDD797B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Управление Директорами / CLM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6379520-E43E-4A4E-95B5-1FB2CF84BD0D}"/>
              </a:ext>
            </a:extLst>
          </p:cNvPr>
          <p:cNvSpPr>
            <a:spLocks noGrp="1"/>
          </p:cNvSpPr>
          <p:nvPr/>
        </p:nvSpPr>
        <p:spPr>
          <a:xfrm>
            <a:off x="110680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1595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">
            <a:extLst>
              <a:ext uri="{FF2B5EF4-FFF2-40B4-BE49-F238E27FC236}">
                <a16:creationId xmlns:a16="http://schemas.microsoft.com/office/drawing/2014/main" id="{6A1A9BA6-F9A8-4FA9-AA8A-20CD1B9A3C52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Антипозиционирование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072B58A-F348-4940-9676-253CBCCF7507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63247"/>
                </a:solidFill>
              </a:defRPr>
            </a:pPr>
            <a:r>
              <a:rPr sz="2850" b="1">
                <a:solidFill>
                  <a:srgbClr val="163247"/>
                </a:solidFill>
              </a:rPr>
              <a:t>CLM легко спутать с привычными инструментами. Это надо пресечь сразу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7CE8F34-A42E-4C5C-8514-662D20C20DEF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B6673"/>
                </a:solidFill>
              </a:defRPr>
            </a:pPr>
            <a:r>
              <a:rPr sz="1425" b="0">
                <a:solidFill>
                  <a:srgbClr val="5B6673"/>
                </a:solidFill>
              </a:rPr>
              <a:t>Технология не конкурирует лоб в лоб с каждым рынком: она закрывает другой предмет — управляемость C-level-ядра.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F30F60E8-0959-4884-9EB2-A94D6854DE0A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10896600" cy="0"/>
          </a:xfrm>
          <a:prstGeom prst="line">
            <a:avLst/>
          </a:prstGeom>
          <a:noFill/>
          <a:ln w="1333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12" name="Таблица 11"/>
          <p:cNvGraphicFramePr/>
          <p:nvPr/>
        </p:nvGraphicFramePr>
        <p:xfrm>
          <a:off x="1485900" y="2190750"/>
          <a:ext cx="9220200" cy="3524250"/>
        </p:xfrm>
        <a:graphic>
          <a:graphicData uri="http://schemas.openxmlformats.org/drawingml/2006/table">
            <a:tbl>
              <a:tblPr firstRow="1" bandRow="1"/>
              <a:tblGrid>
                <a:gridCol w="2983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7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Не является</a:t>
                      </a:r>
                    </a:p>
                  </a:txBody>
                  <a:tcPr>
                    <a:solidFill>
                      <a:srgbClr val="16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Почему</a:t>
                      </a:r>
                    </a:p>
                  </a:txBody>
                  <a:tcPr>
                    <a:solidFill>
                      <a:srgbClr val="1632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HR-оценкой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CLM проверяет роль и мандат, а не ставит личностный ярлык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Коучингом руководителей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CLM настраивает систему решений между директорами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Новой оргструктурой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Можно не менять коробки, но изменить управляемость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Фасилитацией совещаний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Сессия обязана дать активный набор решений и паспорт Спринта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BI-панелью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Метрика должна вести к владельцу решения и действию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">
            <a:extLst>
              <a:ext uri="{FF2B5EF4-FFF2-40B4-BE49-F238E27FC236}">
                <a16:creationId xmlns:a16="http://schemas.microsoft.com/office/drawing/2014/main" id="{734112B5-A94C-49CA-B2B7-BC8313D553C9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Управление Директорами / CLM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034A2D8-E9E6-4700-AF88-A0675226A797}"/>
              </a:ext>
            </a:extLst>
          </p:cNvPr>
          <p:cNvSpPr>
            <a:spLocks noGrp="1"/>
          </p:cNvSpPr>
          <p:nvPr/>
        </p:nvSpPr>
        <p:spPr>
          <a:xfrm>
            <a:off x="110680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55524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701560C9-F9EF-4788-AB46-A77BE71E22E3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Доказательность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058F86F-F353-48B6-B02C-AD7DA7969BD8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63247"/>
                </a:solidFill>
              </a:defRPr>
            </a:pPr>
            <a:r>
              <a:rPr sz="2400" b="1" dirty="0" err="1">
                <a:solidFill>
                  <a:srgbClr val="163247"/>
                </a:solidFill>
              </a:rPr>
              <a:t>Сильная</a:t>
            </a:r>
            <a:r>
              <a:rPr sz="2400" b="1" dirty="0">
                <a:solidFill>
                  <a:srgbClr val="163247"/>
                </a:solidFill>
              </a:rPr>
              <a:t> </a:t>
            </a:r>
            <a:r>
              <a:rPr sz="2400" b="1" dirty="0" err="1">
                <a:solidFill>
                  <a:srgbClr val="163247"/>
                </a:solidFill>
              </a:rPr>
              <a:t>технология</a:t>
            </a:r>
            <a:r>
              <a:rPr sz="2400" b="1" dirty="0">
                <a:solidFill>
                  <a:srgbClr val="163247"/>
                </a:solidFill>
              </a:rPr>
              <a:t> </a:t>
            </a:r>
            <a:r>
              <a:rPr sz="2400" b="1" dirty="0" err="1">
                <a:solidFill>
                  <a:srgbClr val="163247"/>
                </a:solidFill>
              </a:rPr>
              <a:t>не</a:t>
            </a:r>
            <a:r>
              <a:rPr sz="2400" b="1" dirty="0">
                <a:solidFill>
                  <a:srgbClr val="163247"/>
                </a:solidFill>
              </a:rPr>
              <a:t> </a:t>
            </a:r>
            <a:r>
              <a:rPr sz="2400" b="1" dirty="0" err="1">
                <a:solidFill>
                  <a:srgbClr val="163247"/>
                </a:solidFill>
              </a:rPr>
              <a:t>должна</a:t>
            </a:r>
            <a:r>
              <a:rPr sz="2400" b="1" dirty="0">
                <a:solidFill>
                  <a:srgbClr val="163247"/>
                </a:solidFill>
              </a:rPr>
              <a:t> </a:t>
            </a:r>
            <a:r>
              <a:rPr sz="2400" b="1" dirty="0" err="1">
                <a:solidFill>
                  <a:srgbClr val="163247"/>
                </a:solidFill>
              </a:rPr>
              <a:t>обещать</a:t>
            </a:r>
            <a:r>
              <a:rPr sz="2400" b="1" dirty="0">
                <a:solidFill>
                  <a:srgbClr val="163247"/>
                </a:solidFill>
              </a:rPr>
              <a:t> </a:t>
            </a:r>
            <a:r>
              <a:rPr sz="2400" b="1" dirty="0" err="1">
                <a:solidFill>
                  <a:srgbClr val="163247"/>
                </a:solidFill>
              </a:rPr>
              <a:t>больше</a:t>
            </a:r>
            <a:r>
              <a:rPr sz="2400" b="1" dirty="0">
                <a:solidFill>
                  <a:srgbClr val="163247"/>
                </a:solidFill>
              </a:rPr>
              <a:t>, </a:t>
            </a:r>
            <a:r>
              <a:rPr sz="2400" b="1" dirty="0" err="1">
                <a:solidFill>
                  <a:srgbClr val="163247"/>
                </a:solidFill>
              </a:rPr>
              <a:t>чем</a:t>
            </a:r>
            <a:r>
              <a:rPr sz="2400" b="1" dirty="0">
                <a:solidFill>
                  <a:srgbClr val="163247"/>
                </a:solidFill>
              </a:rPr>
              <a:t> </a:t>
            </a:r>
            <a:r>
              <a:rPr sz="2400" b="1" dirty="0" err="1">
                <a:solidFill>
                  <a:srgbClr val="163247"/>
                </a:solidFill>
              </a:rPr>
              <a:t>может</a:t>
            </a:r>
            <a:r>
              <a:rPr sz="2400" b="1" dirty="0">
                <a:solidFill>
                  <a:srgbClr val="163247"/>
                </a:solidFill>
              </a:rPr>
              <a:t> </a:t>
            </a:r>
            <a:r>
              <a:rPr sz="2400" b="1" dirty="0" err="1">
                <a:solidFill>
                  <a:srgbClr val="163247"/>
                </a:solidFill>
              </a:rPr>
              <a:t>доказать</a:t>
            </a:r>
            <a:endParaRPr sz="2400" b="1" dirty="0">
              <a:solidFill>
                <a:srgbClr val="163247"/>
              </a:solidFill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E7D03CC-919F-45F6-8510-526B92665E3A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B6673"/>
                </a:solidFill>
              </a:defRPr>
            </a:pPr>
            <a:r>
              <a:rPr sz="1425" b="0">
                <a:solidFill>
                  <a:srgbClr val="5B6673"/>
                </a:solidFill>
              </a:rPr>
              <a:t>Claims / утверждения разделены по статусам: методика, факт комплекта, гипотеза после Диагностики, запрещенное обещание.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CE822888-D429-483D-974E-643A2346709E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10896600" cy="0"/>
          </a:xfrm>
          <a:prstGeom prst="line">
            <a:avLst/>
          </a:prstGeom>
          <a:noFill/>
          <a:ln w="1333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13" name="Таблица 12"/>
          <p:cNvGraphicFramePr/>
          <p:nvPr/>
        </p:nvGraphicFramePr>
        <p:xfrm>
          <a:off x="876300" y="2266950"/>
          <a:ext cx="10439400" cy="3048000"/>
        </p:xfrm>
        <a:graphic>
          <a:graphicData uri="http://schemas.openxmlformats.org/drawingml/2006/table">
            <a:tbl>
              <a:tblPr firstRow="1" bandRow="1"/>
              <a:tblGrid>
                <a:gridCol w="347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Можно</a:t>
                      </a:r>
                    </a:p>
                  </a:txBody>
                  <a:tcPr>
                    <a:solidFill>
                      <a:srgbClr val="16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Только после данных</a:t>
                      </a:r>
                    </a:p>
                  </a:txBody>
                  <a:tcPr>
                    <a:solidFill>
                      <a:srgbClr val="16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Нельзя</a:t>
                      </a:r>
                    </a:p>
                  </a:txBody>
                  <a:tcPr>
                    <a:solidFill>
                      <a:srgbClr val="1632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CLM показывает роли, мандаты, решения и данные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Оценка вероятного финансового эффекта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Гарантировать рост прибыли на X%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Диагностика дает честный вердикт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Расчет цены конкретного C-level-разрыва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Обещать 3 разрыва заранее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Кейсы — обобщенные примеры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Подтвержденный эффект после Спринта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Называть кейсы реальными без подтверждения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">
            <a:extLst>
              <a:ext uri="{FF2B5EF4-FFF2-40B4-BE49-F238E27FC236}">
                <a16:creationId xmlns:a16="http://schemas.microsoft.com/office/drawing/2014/main" id="{3F4CDF28-8F15-4CFF-8B00-39290725F9D5}"/>
              </a:ext>
            </a:extLst>
          </p:cNvPr>
          <p:cNvSpPr>
            <a:spLocks noGrp="1"/>
          </p:cNvSpPr>
          <p:nvPr/>
        </p:nvSpPr>
        <p:spPr>
          <a:xfrm>
            <a:off x="1104900" y="5676900"/>
            <a:ext cx="998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63247"/>
                </a:solidFill>
              </a:defRPr>
            </a:pPr>
            <a:r>
              <a:rPr sz="1500" b="1">
                <a:solidFill>
                  <a:srgbClr val="163247"/>
                </a:solidFill>
              </a:rPr>
              <a:t>Внешняя доказательная база используется осторожно: она подтверждает значимость топ-команды и решений, но не обещает эффект конкретного клиента без диагностики.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F6C9907-2E38-4C5A-9EAB-9423940D0045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Управление Директорами / CLM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90D978D-33C9-4A70-8AC5-A25E7BE7EDC3}"/>
              </a:ext>
            </a:extLst>
          </p:cNvPr>
          <p:cNvSpPr>
            <a:spLocks noGrp="1"/>
          </p:cNvSpPr>
          <p:nvPr/>
        </p:nvSpPr>
        <p:spPr>
          <a:xfrm>
            <a:off x="110680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01281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">
            <a:extLst>
              <a:ext uri="{FF2B5EF4-FFF2-40B4-BE49-F238E27FC236}">
                <a16:creationId xmlns:a16="http://schemas.microsoft.com/office/drawing/2014/main" id="{A562B0EB-587C-48B0-9B2A-015E21487307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Стоимость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7CEE333-B854-4E1D-837B-820BF33D7AD3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63247"/>
                </a:solidFill>
              </a:defRPr>
            </a:pPr>
            <a:r>
              <a:rPr sz="2850" b="1">
                <a:solidFill>
                  <a:srgbClr val="163247"/>
                </a:solidFill>
              </a:rPr>
              <a:t>Цена показывается после ценности, а не вместо нее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629436E-147E-4A69-BB95-AB02F7512B61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B6673"/>
                </a:solidFill>
              </a:defRPr>
            </a:pPr>
            <a:r>
              <a:rPr sz="1425" b="0">
                <a:solidFill>
                  <a:srgbClr val="5B6673"/>
                </a:solidFill>
              </a:rPr>
              <a:t>Презентация и стратегический разговор бесплатны. Дальше начинается платная Диагностика.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F94D6736-8FD4-4221-A428-4B94B8758804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10896600" cy="0"/>
          </a:xfrm>
          <a:prstGeom prst="line">
            <a:avLst/>
          </a:prstGeom>
          <a:noFill/>
          <a:ln w="1333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12" name="Таблица 11"/>
          <p:cNvGraphicFramePr/>
          <p:nvPr/>
        </p:nvGraphicFramePr>
        <p:xfrm>
          <a:off x="1143000" y="2286000"/>
          <a:ext cx="9906000" cy="3162300"/>
        </p:xfrm>
        <a:graphic>
          <a:graphicData uri="http://schemas.openxmlformats.org/drawingml/2006/table">
            <a:tbl>
              <a:tblPr firstRow="1" bandRow="1"/>
              <a:tblGrid>
                <a:gridCol w="2584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8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3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246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Продукт</a:t>
                      </a:r>
                    </a:p>
                  </a:txBody>
                  <a:tcPr>
                    <a:solidFill>
                      <a:srgbClr val="16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Результат</a:t>
                      </a:r>
                    </a:p>
                  </a:txBody>
                  <a:tcPr>
                    <a:solidFill>
                      <a:srgbClr val="16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Цена</a:t>
                      </a:r>
                    </a:p>
                  </a:txBody>
                  <a:tcPr>
                    <a:solidFill>
                      <a:srgbClr val="1632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Диагностика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Вердикт и карта C-level-разрывов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300-500 тыс. 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Сессия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Паспорт Спринта и активный набор решений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700 тыс.-1,5 млн ₽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Спринт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Реализованный управленческий проект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900 тыс.-1,5 млн 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Сопровождение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Удержание результата и следующий цикл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1,2-2,0 млн ₽/мес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">
            <a:extLst>
              <a:ext uri="{FF2B5EF4-FFF2-40B4-BE49-F238E27FC236}">
                <a16:creationId xmlns:a16="http://schemas.microsoft.com/office/drawing/2014/main" id="{9E9DD83F-2B67-4024-947D-084C885C9E46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Управление Директорами / CLM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6A93D56-3A9E-4C67-8BD7-0B80474D2542}"/>
              </a:ext>
            </a:extLst>
          </p:cNvPr>
          <p:cNvSpPr>
            <a:spLocks noGrp="1"/>
          </p:cNvSpPr>
          <p:nvPr/>
        </p:nvSpPr>
        <p:spPr>
          <a:xfrm>
            <a:off x="110680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42600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270B4210-C36F-4A09-A1BB-2FC6E8070271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Следующий шаг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4F4CA6F-AA49-4E59-A160-DED101D23AE2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63247"/>
                </a:solidFill>
              </a:defRPr>
            </a:pPr>
            <a:r>
              <a:rPr sz="2850" b="1">
                <a:solidFill>
                  <a:srgbClr val="163247"/>
                </a:solidFill>
              </a:rPr>
              <a:t>Начинать надо не с внедрения, а с права на честную Диагностику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D7354A7-65C9-4537-BFB9-C8AAF2D9220E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B6673"/>
                </a:solidFill>
              </a:defRPr>
            </a:pPr>
            <a:r>
              <a:rPr sz="1425" b="0">
                <a:solidFill>
                  <a:srgbClr val="5B6673"/>
                </a:solidFill>
              </a:rPr>
              <a:t>Если нет доступа, мандата и готовности к честному выводу, CLM лучше не запускать.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AD084250-7B21-4305-A32E-CE70DCD1F4B9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10896600" cy="0"/>
          </a:xfrm>
          <a:prstGeom prst="line">
            <a:avLst/>
          </a:prstGeom>
          <a:noFill/>
          <a:ln w="1333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13" name="Таблица 12"/>
          <p:cNvGraphicFramePr/>
          <p:nvPr/>
        </p:nvGraphicFramePr>
        <p:xfrm>
          <a:off x="1295400" y="2247900"/>
          <a:ext cx="9601200" cy="3143250"/>
        </p:xfrm>
        <a:graphic>
          <a:graphicData uri="http://schemas.openxmlformats.org/drawingml/2006/table">
            <a:tbl>
              <a:tblPr firstRow="1" bandRow="1"/>
              <a:tblGrid>
                <a:gridCol w="391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Что нужно для старта</a:t>
                      </a:r>
                    </a:p>
                  </a:txBody>
                  <a:tcPr>
                    <a:solidFill>
                      <a:srgbClr val="16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Почему важно</a:t>
                      </a:r>
                    </a:p>
                  </a:txBody>
                  <a:tcPr>
                    <a:solidFill>
                      <a:srgbClr val="1632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Владелец запроса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Без него результат становится ничьим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Доступ к CEO / генеральному директору и первому кругу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CLM проверяет C-level-ядро, а не пересказ проблем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Согласие на честный Stop / остановку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Диагностика может показать, что продолжать нельзя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Оплата Диагностики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Фильтрует случайный спрос и дисциплинирует вход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box">
            <a:extLst>
              <a:ext uri="{FF2B5EF4-FFF2-40B4-BE49-F238E27FC236}">
                <a16:creationId xmlns:a16="http://schemas.microsoft.com/office/drawing/2014/main" id="{C9E94945-BDE2-4674-9146-4406B68B6CEF}"/>
              </a:ext>
            </a:extLst>
          </p:cNvPr>
          <p:cNvSpPr>
            <a:spLocks noGrp="1"/>
          </p:cNvSpPr>
          <p:nvPr/>
        </p:nvSpPr>
        <p:spPr>
          <a:xfrm>
            <a:off x="2133600" y="5791200"/>
            <a:ext cx="7924800" cy="533400"/>
          </a:xfrm>
          <a:prstGeom prst="roundRect">
            <a:avLst>
              <a:gd name="adj" fmla="val 17857"/>
            </a:avLst>
          </a:prstGeom>
          <a:solidFill>
            <a:srgbClr val="E6F4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63247"/>
                </a:solidFill>
              </a:defRPr>
            </a:pPr>
            <a:r>
              <a:rPr sz="1800" b="1">
                <a:solidFill>
                  <a:srgbClr val="163247"/>
                </a:solidFill>
              </a:rPr>
              <a:t>Старт: стратегический разговор → платная Диагностика → вердикт.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0A1672A0-F7D3-4700-B756-FD40DBCF7124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Управление Директорами / CLM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52ECE75-EB16-41AD-8646-D3E11160334F}"/>
              </a:ext>
            </a:extLst>
          </p:cNvPr>
          <p:cNvSpPr>
            <a:spLocks noGrp="1"/>
          </p:cNvSpPr>
          <p:nvPr/>
        </p:nvSpPr>
        <p:spPr>
          <a:xfrm>
            <a:off x="110680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4A3"/>
                </a:solidFill>
              </a:defRPr>
            </a:pPr>
            <a:r>
              <a:rPr sz="900" b="0">
                <a:solidFill>
                  <a:srgbClr val="8A94A3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528392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1453</Words>
  <Application>Microsoft Macintosh PowerPoint</Application>
  <DocSecurity>0</DocSecurity>
  <PresentationFormat>Широкоэкранный</PresentationFormat>
  <Paragraphs>283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6" baseType="lpstr"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Valeri Biryukov</cp:lastModifiedBy>
  <cp:revision>1</cp:revision>
  <dcterms:created xsi:type="dcterms:W3CDTF">2026-07-28T09:41:25Z</dcterms:created>
  <dcterms:modified xsi:type="dcterms:W3CDTF">2026-07-28T09:56:16Z</dcterms:modified>
</cp:coreProperties>
</file>