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088ddd2af9466a" /><Relationship Type="http://schemas.openxmlformats.org/officeDocument/2006/relationships/extended-properties" Target="/docProps/app.xml" Id="Rb4f82cd6ee9e42dd" /><Relationship Type="http://schemas.openxmlformats.org/officeDocument/2006/relationships/officeDocument" Target="/ppt/presentation.xml" Id="R7a8292c1a6594e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1cdb6b4d7e4332"/>
  </p:sldMasterIdLst>
  <p:notesMasterIdLst>
    <p:notesMasterId xmlns:r="http://schemas.openxmlformats.org/officeDocument/2006/relationships" r:id="R65b8f006507a4ea5"/>
  </p:notesMasterIdLst>
  <p:sldIdLst>
    <p:sldId xmlns:r="http://schemas.openxmlformats.org/officeDocument/2006/relationships" id="256" r:id="R36ddd6cd5dcf4e52"/>
    <p:sldId xmlns:r="http://schemas.openxmlformats.org/officeDocument/2006/relationships" id="257" r:id="R4711821ebba54f58"/>
    <p:sldId xmlns:r="http://schemas.openxmlformats.org/officeDocument/2006/relationships" id="258" r:id="R0b5865a7803b4e81"/>
    <p:sldId xmlns:r="http://schemas.openxmlformats.org/officeDocument/2006/relationships" id="259" r:id="R77897cdb731d426a"/>
    <p:sldId xmlns:r="http://schemas.openxmlformats.org/officeDocument/2006/relationships" id="260" r:id="R4415398fde9a4166"/>
    <p:sldId xmlns:r="http://schemas.openxmlformats.org/officeDocument/2006/relationships" id="261" r:id="Rc47d363f81ea41c0"/>
    <p:sldId xmlns:r="http://schemas.openxmlformats.org/officeDocument/2006/relationships" id="262" r:id="R5104be9eb14a4f0a"/>
    <p:sldId xmlns:r="http://schemas.openxmlformats.org/officeDocument/2006/relationships" id="263" r:id="Rf886b54e46284e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687f4c99fd447e" /><Relationship Type="http://schemas.openxmlformats.org/officeDocument/2006/relationships/slideMaster" Target="/ppt/slideMasters/slideMaster1.xml" Id="R031cdb6b4d7e4332" /><Relationship Type="http://schemas.openxmlformats.org/officeDocument/2006/relationships/notesMaster" Target="/ppt/notesMasters/notesMaster1.xml" Id="R65b8f006507a4ea5" /><Relationship Type="http://schemas.openxmlformats.org/officeDocument/2006/relationships/presProps" Target="/ppt/presProps.xml" Id="Rcc09ee8ffc364f5f" /><Relationship Type="http://schemas.openxmlformats.org/officeDocument/2006/relationships/tableStyles" Target="/ppt/tableStyles.xml" Id="Red8afb8ad85844a2" /><Relationship Type="http://schemas.openxmlformats.org/officeDocument/2006/relationships/slide" Target="/ppt/slides/slide1.xml" Id="R36ddd6cd5dcf4e52" /><Relationship Type="http://schemas.openxmlformats.org/officeDocument/2006/relationships/slide" Target="/ppt/slides/slide2.xml" Id="R4711821ebba54f58" /><Relationship Type="http://schemas.openxmlformats.org/officeDocument/2006/relationships/slide" Target="/ppt/slides/slide3.xml" Id="R0b5865a7803b4e81" /><Relationship Type="http://schemas.openxmlformats.org/officeDocument/2006/relationships/slide" Target="/ppt/slides/slide4.xml" Id="R77897cdb731d426a" /><Relationship Type="http://schemas.openxmlformats.org/officeDocument/2006/relationships/slide" Target="/ppt/slides/slide5.xml" Id="R4415398fde9a4166" /><Relationship Type="http://schemas.openxmlformats.org/officeDocument/2006/relationships/slide" Target="/ppt/slides/slide6.xml" Id="Rc47d363f81ea41c0" /><Relationship Type="http://schemas.openxmlformats.org/officeDocument/2006/relationships/slide" Target="/ppt/slides/slide7.xml" Id="R5104be9eb14a4f0a" /><Relationship Type="http://schemas.openxmlformats.org/officeDocument/2006/relationships/slide" Target="/ppt/slides/slide8.xml" Id="Rf886b54e46284e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055263738c40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081f5ce2f94454" /><Relationship Type="http://schemas.openxmlformats.org/officeDocument/2006/relationships/notesMaster" Target="/ppt/notesMasters/notesMaster1.xml" Id="R7cc5f591eb994b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2b7c12893b4401" /><Relationship Type="http://schemas.openxmlformats.org/officeDocument/2006/relationships/notesMaster" Target="/ppt/notesMasters/notesMaster1.xml" Id="Rd5bfce5d959a49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5b68b875194392" /><Relationship Type="http://schemas.openxmlformats.org/officeDocument/2006/relationships/notesMaster" Target="/ppt/notesMasters/notesMaster1.xml" Id="R2db711a1e3db48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0ee4bf977b4fe0" /><Relationship Type="http://schemas.openxmlformats.org/officeDocument/2006/relationships/notesMaster" Target="/ppt/notesMasters/notesMaster1.xml" Id="Rb5066436653446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89386ef1f249d1" /><Relationship Type="http://schemas.openxmlformats.org/officeDocument/2006/relationships/notesMaster" Target="/ppt/notesMasters/notesMaster1.xml" Id="Rd146a3eaa6054d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7782839a9e470c" /><Relationship Type="http://schemas.openxmlformats.org/officeDocument/2006/relationships/notesMaster" Target="/ppt/notesMasters/notesMaster1.xml" Id="R47f68eb30ebb4c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23bf85405444b4" /><Relationship Type="http://schemas.openxmlformats.org/officeDocument/2006/relationships/notesMaster" Target="/ppt/notesMasters/notesMaster1.xml" Id="Rf37572219ad742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3eb0c18ff045ea" /><Relationship Type="http://schemas.openxmlformats.org/officeDocument/2006/relationships/notesMaster" Target="/ppt/notesMasters/notesMaster1.xml" Id="Re10a4445c6624f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Основание: методология Контур Маржи v2.0; правила коммерческих утверждений v2.0.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Основание: клиентская схема ядра v2.0; короткое КП Диагностики v2.0.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Основание: клиентская схема ядра v2.0; матрица доказательности v2.0.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Основание: продукты, сроки и цены v2.0; маршрут консультанта по 4 продуктам v2.0.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Основание: клиентский лист платного входа Диагностики v2.0; продукты, сроки и цены v2.0.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Основание: правила коммерческих утверждений v2.0; матрица доказательности v2.0.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Основание: подборка модельных кейсов для продажи Диагностики v2.0; навигатор кейсов для Диагностики v2.0.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Основание: короткое КП Диагностики v2.0; первый разговор - клиентский сценарий v2.0.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d76211a35149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9af978b93b48a4" /><Relationship Type="http://schemas.openxmlformats.org/officeDocument/2006/relationships/slideLayout" Target="/ppt/slideLayouts/slideLayout1.xml" Id="R721f9ad83d7740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1f9ad83d7740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f78bcf8d146fa" /><Relationship Type="http://schemas.openxmlformats.org/officeDocument/2006/relationships/notesSlide" Target="/ppt/notesSlides/notesSlide1.xml" Id="Ra863c7016d2646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de2bf6080494e" /><Relationship Type="http://schemas.openxmlformats.org/officeDocument/2006/relationships/notesSlide" Target="/ppt/notesSlides/notesSlide2.xml" Id="R4d8548cfb6c142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5ebd87e9b48a6" /><Relationship Type="http://schemas.openxmlformats.org/officeDocument/2006/relationships/notesSlide" Target="/ppt/notesSlides/notesSlide3.xml" Id="Rb1e3dfd46d0047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2abbbbcabd4b7c" /><Relationship Type="http://schemas.openxmlformats.org/officeDocument/2006/relationships/notesSlide" Target="/ppt/notesSlides/notesSlide4.xml" Id="R6632ed49c1f245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2c9c3c7f342c6" /><Relationship Type="http://schemas.openxmlformats.org/officeDocument/2006/relationships/notesSlide" Target="/ppt/notesSlides/notesSlide5.xml" Id="Re1577922088b47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dc9df8a9847b6" /><Relationship Type="http://schemas.openxmlformats.org/officeDocument/2006/relationships/notesSlide" Target="/ppt/notesSlides/notesSlide6.xml" Id="R8a9f18a2dd1746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0fe072b68430e" /><Relationship Type="http://schemas.openxmlformats.org/officeDocument/2006/relationships/notesSlide" Target="/ppt/notesSlides/notesSlide7.xml" Id="Rc22541398ae647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6030aa6ea4eac" /><Relationship Type="http://schemas.openxmlformats.org/officeDocument/2006/relationships/notesSlide" Target="/ppt/notesSlides/notesSlide8.xml" Id="R749a6d525ba746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D3C9D-E332-4636-9B2D-81FC99F4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23950"/>
            <a:ext cx="685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F4E79"/>
                </a:solidFill>
              </a:defRPr>
            </a:pPr>
            <a:r>
              <a:rPr sz="4200" b="1">
                <a:solidFill>
                  <a:srgbClr val="1F4E79"/>
                </a:solidFill>
              </a:rPr>
              <a:t>Контур Маржи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AE98E-39C4-43BC-B740-10205A3E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12730"/>
                </a:solidFill>
              </a:defRPr>
            </a:pPr>
            <a:r>
              <a:rPr sz="2100" b="0">
                <a:solidFill>
                  <a:srgbClr val="212730"/>
                </a:solidFill>
              </a:rPr>
              <a:t>Технология управления ассортиментной прибылью</a:t>
            </a:r>
          </a:p>
          <a:p xmlns:a="http://schemas.openxmlformats.org/drawingml/2006/main">
            <a:pPr algn="l">
              <a:defRPr sz="2100" b="0">
                <a:solidFill>
                  <a:srgbClr val="212730"/>
                </a:solidFill>
              </a:defRPr>
            </a:pPr>
            <a:r>
              <a:rPr sz="2100" b="0">
                <a:solidFill>
                  <a:srgbClr val="212730"/>
                </a:solidFill>
              </a:rPr>
              <a:t>в омниканальных продажах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29F64-1B18-4BE5-9C63-924F92E7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8572500" cy="91440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E9F5EA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2730"/>
                </a:solidFill>
              </a:defRPr>
            </a:pPr>
            <a:r>
              <a:rPr sz="1800" b="1">
                <a:solidFill>
                  <a:srgbClr val="212730"/>
                </a:solidFill>
              </a:rPr>
              <a:t>Продажи могут расти, пока прибыль утекает через товар, канал, промо, запас, комиссию и возврат.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D4E76-3C04-4EAC-BE93-15F4D3B0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Коммерческая презентация v2.0</a:t>
            </a:r>
          </a:p>
        </p:txBody>
      </p:sp>
    </p:spTree>
    <p:extLst>
      <p:ext uri="{BB962C8B-B14F-4D97-AF65-F5344CB8AC3E}">
        <p14:creationId xmlns:p14="http://schemas.microsoft.com/office/powerpoint/2010/main" val="12902150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833DA8-B264-46F5-B3F2-56A85540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E79"/>
                </a:solidFill>
              </a:defRPr>
            </a:pPr>
            <a:r>
              <a:rPr sz="2850" b="1">
                <a:solidFill>
                  <a:srgbClr val="1F4E79"/>
                </a:solidFill>
              </a:rPr>
              <a:t>Проблема не в продажах, а в управляемости прибыли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EFDC1-8005-4074-99B9-1B2337B5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Когда каналов и SKU становится больше, средняя маржа перестает объяснять реальность.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0533ED-4E16-4DC5-AB41-64852DCE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4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4E79"/>
                </a:solidFill>
              </a:defRPr>
            </a:pPr>
            <a:r>
              <a:rPr sz="1200" b="1">
                <a:solidFill>
                  <a:srgbClr val="1F4E79"/>
                </a:solidFill>
              </a:rPr>
              <a:t>Контур Маржи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A2014-981B-44BD-8B9A-577D89C0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765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Рост оборота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0E466E-2E1F-4019-A816-FA8F6CDD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9070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2730"/>
                </a:solidFill>
              </a:defRPr>
            </a:pPr>
            <a:r>
              <a:rPr sz="1500" b="0">
                <a:solidFill>
                  <a:srgbClr val="212730"/>
                </a:solidFill>
              </a:rPr>
              <a:t>выручка растет, но вклад товара после комиссий неясен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5DF6E-3372-4B78-BFE2-F6AC5AEF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24765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Промо-ловушка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3BC02-52D3-429D-81BD-09BC559E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0510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2730"/>
                </a:solidFill>
              </a:defRPr>
            </a:pPr>
            <a:r>
              <a:rPr sz="1500" b="0">
                <a:solidFill>
                  <a:srgbClr val="212730"/>
                </a:solidFill>
              </a:rPr>
              <a:t>скидка дает движение, но может съедать чистый вклад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A395B1-629A-498A-9F05-26613363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24765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Канальный конфликт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2AE32-3D64-4C99-A521-9941E2EE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1950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2730"/>
                </a:solidFill>
              </a:defRPr>
            </a:pPr>
            <a:r>
              <a:rPr sz="1500" b="0">
                <a:solidFill>
                  <a:srgbClr val="212730"/>
                </a:solidFill>
              </a:rPr>
              <a:t>сайт, розница и маркетплейсы начинают конкурировать ценой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8B1FD8-AA09-4CBB-B390-5BF61EE7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24765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Запас и возвраты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EC0D55-124C-42C3-97B8-7A9E2096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3390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2730"/>
                </a:solidFill>
              </a:defRPr>
            </a:pPr>
            <a:r>
              <a:rPr sz="1500" b="0">
                <a:solidFill>
                  <a:srgbClr val="212730"/>
                </a:solidFill>
              </a:rPr>
              <a:t>остатки, списания и возвраты меняют экономику товара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CFB521-E0D2-4E14-B8C0-6ECD9A6F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v2.0 / 2</a:t>
            </a:r>
          </a:p>
        </p:txBody>
      </p:sp>
    </p:spTree>
    <p:extLst>
      <p:ext uri="{BB962C8B-B14F-4D97-AF65-F5344CB8AC3E}">
        <p14:creationId xmlns:p14="http://schemas.microsoft.com/office/powerpoint/2010/main" val="13730677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848033-6CBB-4ED3-8404-28D28C43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E79"/>
                </a:solidFill>
              </a:defRPr>
            </a:pPr>
            <a:r>
              <a:rPr sz="2850" b="1">
                <a:solidFill>
                  <a:srgbClr val="1F4E79"/>
                </a:solidFill>
              </a:rPr>
              <a:t>Ядро технологии: от утечки прибыли к управленческому ритму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6B17F-9720-428D-A839-1D88AF6C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4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4E79"/>
                </a:solidFill>
              </a:defRPr>
            </a:pPr>
            <a:r>
              <a:rPr sz="1200" b="1">
                <a:solidFill>
                  <a:srgbClr val="1F4E79"/>
                </a:solidFill>
              </a:rPr>
              <a:t>Контур Маржи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618D3-A52F-43CF-A9EE-3FED9826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809750" cy="1143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4E79"/>
                </a:solidFill>
              </a:defRPr>
            </a:pPr>
            <a:r>
              <a:rPr sz="1800" b="1">
                <a:solidFill>
                  <a:srgbClr val="1F4E79"/>
                </a:solidFill>
              </a:rPr>
              <a:t>1</a:t>
            </a:r>
          </a:p>
          <a:p xmlns:a="http://schemas.openxmlformats.org/drawingml/2006/main">
            <a:pPr algn="ctr">
              <a:defRPr sz="1800" b="1">
                <a:solidFill>
                  <a:srgbClr val="1F4E79"/>
                </a:solidFill>
              </a:defRPr>
            </a:pPr>
            <a:r>
              <a:rPr sz="1800" b="1">
                <a:solidFill>
                  <a:srgbClr val="1F4E79"/>
                </a:solidFill>
              </a:rPr>
              <a:t>Утечка прибыли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93A73-A424-4802-A5C2-3F5E771A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-&gt;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90EA1B-CC9D-4906-A97C-F968B98B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90750"/>
            <a:ext cx="1809750" cy="1143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9F5EA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4E79"/>
                </a:solidFill>
              </a:defRPr>
            </a:pPr>
            <a:r>
              <a:rPr sz="1800" b="1">
                <a:solidFill>
                  <a:srgbClr val="1F4E79"/>
                </a:solidFill>
              </a:rPr>
              <a:t>2</a:t>
            </a:r>
          </a:p>
          <a:p xmlns:a="http://schemas.openxmlformats.org/drawingml/2006/main">
            <a:pPr algn="ctr">
              <a:defRPr sz="1800" b="1">
                <a:solidFill>
                  <a:srgbClr val="1F4E79"/>
                </a:solidFill>
              </a:defRPr>
            </a:pPr>
            <a:r>
              <a:rPr sz="1800" b="1">
                <a:solidFill>
                  <a:srgbClr val="1F4E79"/>
                </a:solidFill>
              </a:rPr>
              <a:t>Красная зона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C6542-677C-49DD-AA0C-4854482F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717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5978A-E6FD-4ABE-8E9E-4DA88017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90750"/>
            <a:ext cx="1809750" cy="1143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9F5EA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4E79"/>
                </a:solidFill>
              </a:defRPr>
            </a:pPr>
            <a:r>
              <a:rPr sz="1800" b="1">
                <a:solidFill>
                  <a:srgbClr val="1F4E79"/>
                </a:solidFill>
              </a:rPr>
              <a:t>3</a:t>
            </a:r>
          </a:p>
          <a:p xmlns:a="http://schemas.openxmlformats.org/drawingml/2006/main">
            <a:pPr algn="ctr">
              <a:defRPr sz="1800" b="1">
                <a:solidFill>
                  <a:srgbClr val="1F4E79"/>
                </a:solidFill>
              </a:defRPr>
            </a:pPr>
            <a:r>
              <a:rPr sz="1800" b="1">
                <a:solidFill>
                  <a:srgbClr val="1F4E79"/>
                </a:solidFill>
              </a:rPr>
              <a:t>Решение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DFC48-F89E-4B91-94BE-866B9CB9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8012C-A948-458F-9A7B-CFFF4014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90750"/>
            <a:ext cx="1809750" cy="1143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9F5EA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4E79"/>
                </a:solidFill>
              </a:defRPr>
            </a:pPr>
            <a:r>
              <a:rPr sz="1800" b="1">
                <a:solidFill>
                  <a:srgbClr val="1F4E79"/>
                </a:solidFill>
              </a:rPr>
              <a:t>4</a:t>
            </a:r>
          </a:p>
          <a:p xmlns:a="http://schemas.openxmlformats.org/drawingml/2006/main">
            <a:pPr algn="ctr">
              <a:defRPr sz="1800" b="1">
                <a:solidFill>
                  <a:srgbClr val="1F4E79"/>
                </a:solidFill>
              </a:defRPr>
            </a:pPr>
            <a:r>
              <a:rPr sz="1800" b="1">
                <a:solidFill>
                  <a:srgbClr val="1F4E79"/>
                </a:solidFill>
              </a:rPr>
              <a:t>Владелец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B08E7-C660-465E-838A-05E36E4C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54F342-20BA-4D45-B4C9-E12E3A13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90750"/>
            <a:ext cx="1809750" cy="1143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9F5EA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4E79"/>
                </a:solidFill>
              </a:defRPr>
            </a:pPr>
            <a:r>
              <a:rPr sz="1800" b="1">
                <a:solidFill>
                  <a:srgbClr val="1F4E79"/>
                </a:solidFill>
              </a:rPr>
              <a:t>5</a:t>
            </a:r>
          </a:p>
          <a:p xmlns:a="http://schemas.openxmlformats.org/drawingml/2006/main">
            <a:pPr algn="ctr">
              <a:defRPr sz="1800" b="1">
                <a:solidFill>
                  <a:srgbClr val="1F4E79"/>
                </a:solidFill>
              </a:defRPr>
            </a:pPr>
            <a:r>
              <a:rPr sz="1800" b="1">
                <a:solidFill>
                  <a:srgbClr val="1F4E79"/>
                </a:solidFill>
              </a:rPr>
              <a:t>Ритм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10DFA-2B08-4201-A8EE-7C6969E8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9715500" cy="7048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2730"/>
                </a:solidFill>
              </a:defRPr>
            </a:pPr>
            <a:r>
              <a:rPr sz="1800" b="1">
                <a:solidFill>
                  <a:srgbClr val="212730"/>
                </a:solidFill>
              </a:rPr>
              <a:t>Рабочая единица: SKU / товарная позиция x канал x цена x запас x комиссия x промо x возврат x владелец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15B4A6-F73B-4142-9007-44E844F1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v2.0 / 3</a:t>
            </a:r>
          </a:p>
        </p:txBody>
      </p:sp>
    </p:spTree>
    <p:extLst>
      <p:ext uri="{BB962C8B-B14F-4D97-AF65-F5344CB8AC3E}">
        <p14:creationId xmlns:p14="http://schemas.microsoft.com/office/powerpoint/2010/main" val="14228988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021727-1A76-47E3-B680-4EC06043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E79"/>
                </a:solidFill>
              </a:defRPr>
            </a:pPr>
            <a:r>
              <a:rPr sz="2850" b="1">
                <a:solidFill>
                  <a:srgbClr val="1F4E79"/>
                </a:solidFill>
              </a:rPr>
              <a:t>Продуктовая цепочка остается единой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2E721-9611-41E8-96A6-290C018E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Четыре продукта применяются последовательно. Каждый продукт платный.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EF662-F25A-44C1-9FF8-5746C4C9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4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4E79"/>
                </a:solidFill>
              </a:defRPr>
            </a:pPr>
            <a:r>
              <a:rPr sz="1200" b="1">
                <a:solidFill>
                  <a:srgbClr val="1F4E79"/>
                </a:solidFill>
              </a:rPr>
              <a:t>Контур Маржи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6B1F3-9311-40BF-B2C0-A927FE25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238125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9F5EA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Диагностика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A8F3E-ECEF-4B2A-9D09-0B531C6C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19250"/>
            <a:ext cx="219075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2730"/>
                </a:solidFill>
              </a:defRPr>
            </a:pPr>
            <a:r>
              <a:rPr sz="1500" b="1">
                <a:solidFill>
                  <a:srgbClr val="212730"/>
                </a:solidFill>
              </a:rPr>
              <a:t>7-12 рабочих дней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564FC-65BB-4EB6-81AE-96F265FA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145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2730"/>
                </a:solidFill>
              </a:defRPr>
            </a:pPr>
            <a:r>
              <a:rPr sz="1500" b="0">
                <a:solidFill>
                  <a:srgbClr val="212730"/>
                </a:solidFill>
              </a:rPr>
              <a:t>карта данных, карта потерь, 12 метрик, вердикт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B167C-FF08-476D-AC05-68EF366B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238125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9F5EA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Сессия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CF88C-F9A8-47E4-8B35-AB1B7A3B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52700"/>
            <a:ext cx="219075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2730"/>
                </a:solidFill>
              </a:defRPr>
            </a:pPr>
            <a:r>
              <a:rPr sz="1500" b="1">
                <a:solidFill>
                  <a:srgbClr val="212730"/>
                </a:solidFill>
              </a:rPr>
              <a:t>1 день + подготовка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F33EDC-2D2F-4EA7-98D3-6B76B7D6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479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2730"/>
                </a:solidFill>
              </a:defRPr>
            </a:pPr>
            <a:r>
              <a:rPr sz="1500" b="0">
                <a:solidFill>
                  <a:srgbClr val="212730"/>
                </a:solidFill>
              </a:rPr>
              <a:t>решения, владельцы, пороги, паспорт Спринта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22673-6823-4B3F-A53C-E804F3B1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238125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9F5EA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Спринт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2C601-2901-4F1A-8D3F-804630BC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86150"/>
            <a:ext cx="219075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2730"/>
                </a:solidFill>
              </a:defRPr>
            </a:pPr>
            <a:r>
              <a:rPr sz="1500" b="1">
                <a:solidFill>
                  <a:srgbClr val="212730"/>
                </a:solidFill>
              </a:rPr>
              <a:t>8-12 недель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2773F1-CEA0-44FA-AF8D-3A0AC3DE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814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2730"/>
                </a:solidFill>
              </a:defRPr>
            </a:pPr>
            <a:r>
              <a:rPr sz="1500" b="0">
                <a:solidFill>
                  <a:srgbClr val="212730"/>
                </a:solidFill>
              </a:rPr>
              <a:t>90-дневная проверка и недельный ритм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1DFAEA-646D-4835-9FE3-DC2D9141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9600"/>
            <a:ext cx="238125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9F5EA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Сопровождение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B461C9-2941-4B35-80B0-2A364425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19600"/>
            <a:ext cx="219075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2730"/>
                </a:solidFill>
              </a:defRPr>
            </a:pPr>
            <a:r>
              <a:rPr sz="1500" b="1">
                <a:solidFill>
                  <a:srgbClr val="212730"/>
                </a:solidFill>
              </a:rPr>
              <a:t>от 3 месяцев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1AF62C-8DF5-4888-9586-7E738AC5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148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2730"/>
                </a:solidFill>
              </a:defRPr>
            </a:pPr>
            <a:r>
              <a:rPr sz="1500" b="0">
                <a:solidFill>
                  <a:srgbClr val="212730"/>
                </a:solidFill>
              </a:rPr>
              <a:t>удержание контура, ревизии, исключения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F6B2FE-5878-4E0F-B968-B597FCE6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v2.0 / 4</a:t>
            </a:r>
          </a:p>
        </p:txBody>
      </p:sp>
    </p:spTree>
    <p:extLst>
      <p:ext uri="{BB962C8B-B14F-4D97-AF65-F5344CB8AC3E}">
        <p14:creationId xmlns:p14="http://schemas.microsoft.com/office/powerpoint/2010/main" val="8772834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F1DE72-BECF-4695-B834-F744ABC8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E79"/>
                </a:solidFill>
              </a:defRPr>
            </a:pPr>
            <a:r>
              <a:rPr sz="2850" b="1">
                <a:solidFill>
                  <a:srgbClr val="1F4E79"/>
                </a:solidFill>
              </a:rPr>
              <a:t>Диагностика - платный вход, а не бесплатный разбор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8C29F7-0B95-4CFE-B3D2-B01237AA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Клиент покупает управленческий вердикт, а не обещание внедрения.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1193A-E762-4F1B-A5C7-71FCBC13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4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4E79"/>
                </a:solidFill>
              </a:defRPr>
            </a:pPr>
            <a:r>
              <a:rPr sz="1200" b="1">
                <a:solidFill>
                  <a:srgbClr val="1F4E79"/>
                </a:solidFill>
              </a:rPr>
              <a:t>Контур Маржи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5767E-79ED-437C-B6FB-53AF92D9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857500" cy="10477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F4E79"/>
                </a:solidFill>
              </a:defRPr>
            </a:pPr>
            <a:r>
              <a:rPr sz="1950" b="1">
                <a:solidFill>
                  <a:srgbClr val="1F4E79"/>
                </a:solidFill>
              </a:rPr>
              <a:t>Срок</a:t>
            </a:r>
          </a:p>
          <a:p xmlns:a="http://schemas.openxmlformats.org/drawingml/2006/main">
            <a:pPr algn="ctr">
              <a:defRPr sz="1950" b="1">
                <a:solidFill>
                  <a:srgbClr val="1F4E79"/>
                </a:solidFill>
              </a:defRPr>
            </a:pPr>
            <a:r>
              <a:rPr sz="1950" b="1">
                <a:solidFill>
                  <a:srgbClr val="1F4E79"/>
                </a:solidFill>
              </a:rPr>
              <a:t>7-12 рабочих дней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0920D-9376-4A22-BEB0-DF994850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3143250" cy="10477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F4E79"/>
                </a:solidFill>
              </a:defRPr>
            </a:pPr>
            <a:r>
              <a:rPr sz="1950" b="1">
                <a:solidFill>
                  <a:srgbClr val="1F4E79"/>
                </a:solidFill>
              </a:rPr>
              <a:t>Цена</a:t>
            </a:r>
          </a:p>
          <a:p xmlns:a="http://schemas.openxmlformats.org/drawingml/2006/main">
            <a:pPr algn="ctr">
              <a:defRPr sz="1950" b="1">
                <a:solidFill>
                  <a:srgbClr val="1F4E79"/>
                </a:solidFill>
              </a:defRPr>
            </a:pPr>
            <a:r>
              <a:rPr sz="1950" b="1">
                <a:solidFill>
                  <a:srgbClr val="1F4E79"/>
                </a:solidFill>
              </a:rPr>
              <a:t>450 000 - 850 000 руб.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FBFE1E-5487-442F-BA02-A66926F2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571750" cy="10477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Выход</a:t>
            </a:r>
          </a:p>
          <a:p xmlns:a="http://schemas.openxmlformats.org/drawingml/2006/main">
            <a:pPr algn="ctr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вердикт: Сессия / пауза / стоп / сбор данных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CC579-A08D-45D0-A4D3-FA1D0592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4E79"/>
                </a:solidFill>
              </a:defRPr>
            </a:pPr>
            <a:r>
              <a:rPr sz="1950" b="1">
                <a:solidFill>
                  <a:srgbClr val="1F4E79"/>
                </a:solidFill>
              </a:rPr>
              <a:t>Что получает клиент: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257802-537E-4083-8AB6-3DFC3420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2730"/>
                </a:solidFill>
              </a:defRPr>
            </a:pPr>
            <a:r>
              <a:rPr sz="1650" b="0">
                <a:solidFill>
                  <a:srgbClr val="212730"/>
                </a:solidFill>
              </a:rPr>
              <a:t>карта данных</a:t>
            </a:r>
          </a:p>
          <a:p xmlns:a="http://schemas.openxmlformats.org/drawingml/2006/main">
            <a:pPr algn="l">
              <a:defRPr sz="1650" b="0">
                <a:solidFill>
                  <a:srgbClr val="212730"/>
                </a:solidFill>
              </a:defRPr>
            </a:pPr>
            <a:r>
              <a:rPr sz="1650" b="0">
                <a:solidFill>
                  <a:srgbClr val="212730"/>
                </a:solidFill>
              </a:rPr>
              <a:t>карта потерь P0-P3</a:t>
            </a:r>
          </a:p>
          <a:p xmlns:a="http://schemas.openxmlformats.org/drawingml/2006/main">
            <a:pPr algn="l">
              <a:defRPr sz="1650" b="0">
                <a:solidFill>
                  <a:srgbClr val="212730"/>
                </a:solidFill>
              </a:defRPr>
            </a:pPr>
            <a:r>
              <a:rPr sz="1650" b="0">
                <a:solidFill>
                  <a:srgbClr val="212730"/>
                </a:solidFill>
              </a:rPr>
              <a:t>12 метрик</a:t>
            </a:r>
          </a:p>
          <a:p xmlns:a="http://schemas.openxmlformats.org/drawingml/2006/main">
            <a:pPr algn="l">
              <a:defRPr sz="1650" b="0">
                <a:solidFill>
                  <a:srgbClr val="212730"/>
                </a:solidFill>
              </a:defRPr>
            </a:pPr>
            <a:r>
              <a:rPr sz="1650" b="0">
                <a:solidFill>
                  <a:srgbClr val="212730"/>
                </a:solidFill>
              </a:rPr>
              <a:t>красные SKU / товарные позиции x канал</a:t>
            </a:r>
          </a:p>
          <a:p xmlns:a="http://schemas.openxmlformats.org/drawingml/2006/main">
            <a:pPr algn="l">
              <a:defRPr sz="1650" b="0">
                <a:solidFill>
                  <a:srgbClr val="212730"/>
                </a:solidFill>
              </a:defRPr>
            </a:pPr>
            <a:r>
              <a:rPr sz="1650" b="0">
                <a:solidFill>
                  <a:srgbClr val="212730"/>
                </a:solidFill>
              </a:rPr>
              <a:t>контрольный вердикт / gate-вердикт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1F029-3B85-480D-8331-91108CC5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v2.0 / 5</a:t>
            </a:r>
          </a:p>
        </p:txBody>
      </p:sp>
    </p:spTree>
    <p:extLst>
      <p:ext uri="{BB962C8B-B14F-4D97-AF65-F5344CB8AC3E}">
        <p14:creationId xmlns:p14="http://schemas.microsoft.com/office/powerpoint/2010/main" val="1604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9E7832-B070-4698-82FB-5EB4DC46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E79"/>
                </a:solidFill>
              </a:defRPr>
            </a:pPr>
            <a:r>
              <a:rPr sz="2850" b="1">
                <a:solidFill>
                  <a:srgbClr val="1F4E79"/>
                </a:solidFill>
              </a:rPr>
              <a:t>Коммерческая честность встроена в технологию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D97C7-5303-47E1-8851-F47B6D6A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Контур Маржи защищен от необоснованных обещаний и неправильной категории.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69B318-EAE2-406A-8CFC-C7C6DF1B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4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4E79"/>
                </a:solidFill>
              </a:defRPr>
            </a:pPr>
            <a:r>
              <a:rPr sz="1200" b="1">
                <a:solidFill>
                  <a:srgbClr val="1F4E79"/>
                </a:solidFill>
              </a:rPr>
              <a:t>Контур Маржи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D3848-D077-4841-924D-8CE1E156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048000" cy="571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E79"/>
                </a:solidFill>
              </a:defRPr>
            </a:pPr>
            <a:r>
              <a:rPr sz="1800" b="1">
                <a:solidFill>
                  <a:srgbClr val="1F4E79"/>
                </a:solidFill>
              </a:rPr>
              <a:t>Нельзя обещать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30439-543C-4C39-8DE2-40D8309A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12730"/>
                </a:solidFill>
              </a:defRPr>
            </a:pPr>
            <a:r>
              <a:rPr sz="1575" b="0">
                <a:solidFill>
                  <a:srgbClr val="212730"/>
                </a:solidFill>
              </a:rPr>
              <a:t>рост прибыли до данных</a:t>
            </a:r>
          </a:p>
          <a:p xmlns:a="http://schemas.openxmlformats.org/drawingml/2006/main">
            <a:pPr algn="l">
              <a:defRPr sz="1575" b="0">
                <a:solidFill>
                  <a:srgbClr val="212730"/>
                </a:solidFill>
              </a:defRPr>
            </a:pPr>
            <a:r>
              <a:rPr sz="1575" b="0">
                <a:solidFill>
                  <a:srgbClr val="212730"/>
                </a:solidFill>
              </a:rPr>
              <a:t>автоматическую Сессию после Диагностики</a:t>
            </a:r>
          </a:p>
          <a:p xmlns:a="http://schemas.openxmlformats.org/drawingml/2006/main">
            <a:pPr algn="l">
              <a:defRPr sz="1575" b="0">
                <a:solidFill>
                  <a:srgbClr val="212730"/>
                </a:solidFill>
              </a:defRPr>
            </a:pPr>
            <a:r>
              <a:rPr sz="1575" b="0">
                <a:solidFill>
                  <a:srgbClr val="212730"/>
                </a:solidFill>
              </a:rPr>
              <a:t>реальные кейсы, если они модельные</a:t>
            </a:r>
          </a:p>
          <a:p xmlns:a="http://schemas.openxmlformats.org/drawingml/2006/main">
            <a:pPr algn="l">
              <a:defRPr sz="1575" b="0">
                <a:solidFill>
                  <a:srgbClr val="212730"/>
                </a:solidFill>
              </a:defRPr>
            </a:pPr>
            <a:r>
              <a:rPr sz="1575" b="0">
                <a:solidFill>
                  <a:srgbClr val="212730"/>
                </a:solidFill>
              </a:rPr>
              <a:t>юридическую чистоту без фактчека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732B6-9E92-45B3-BA08-D314CCD8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62125"/>
            <a:ext cx="3048000" cy="571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9F5EA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E79"/>
                </a:solidFill>
              </a:defRPr>
            </a:pPr>
            <a:r>
              <a:rPr sz="1800" b="1">
                <a:solidFill>
                  <a:srgbClr val="1F4E79"/>
                </a:solidFill>
              </a:rPr>
              <a:t>Не является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E7F152-025B-483D-A4E1-C00C487F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71750"/>
            <a:ext cx="4572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12730"/>
                </a:solidFill>
              </a:defRPr>
            </a:pPr>
            <a:r>
              <a:rPr sz="1575" b="0">
                <a:solidFill>
                  <a:srgbClr val="212730"/>
                </a:solidFill>
              </a:rPr>
              <a:t>BI / бизнес-аналитикой</a:t>
            </a:r>
          </a:p>
          <a:p xmlns:a="http://schemas.openxmlformats.org/drawingml/2006/main">
            <a:pPr algn="l">
              <a:defRPr sz="1575" b="0">
                <a:solidFill>
                  <a:srgbClr val="212730"/>
                </a:solidFill>
              </a:defRPr>
            </a:pPr>
            <a:r>
              <a:rPr sz="1575" b="0">
                <a:solidFill>
                  <a:srgbClr val="212730"/>
                </a:solidFill>
              </a:rPr>
              <a:t>P&amp;L / отчетом о прибылях и убытках</a:t>
            </a:r>
          </a:p>
          <a:p xmlns:a="http://schemas.openxmlformats.org/drawingml/2006/main">
            <a:pPr algn="l">
              <a:defRPr sz="1575" b="0">
                <a:solidFill>
                  <a:srgbClr val="212730"/>
                </a:solidFill>
              </a:defRPr>
            </a:pPr>
            <a:r>
              <a:rPr sz="1575" b="0">
                <a:solidFill>
                  <a:srgbClr val="212730"/>
                </a:solidFill>
              </a:rPr>
              <a:t>набором электронных таблиц</a:t>
            </a:r>
          </a:p>
          <a:p xmlns:a="http://schemas.openxmlformats.org/drawingml/2006/main">
            <a:pPr algn="l">
              <a:defRPr sz="1575" b="0">
                <a:solidFill>
                  <a:srgbClr val="212730"/>
                </a:solidFill>
              </a:defRPr>
            </a:pPr>
            <a:r>
              <a:rPr sz="1575" b="0">
                <a:solidFill>
                  <a:srgbClr val="212730"/>
                </a:solidFill>
              </a:rPr>
              <a:t>аудитом маркетплейсов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2FB867-33BC-4544-B4FD-2D0BE585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v2.0 / 6</a:t>
            </a:r>
          </a:p>
        </p:txBody>
      </p:sp>
    </p:spTree>
    <p:extLst>
      <p:ext uri="{BB962C8B-B14F-4D97-AF65-F5344CB8AC3E}">
        <p14:creationId xmlns:p14="http://schemas.microsoft.com/office/powerpoint/2010/main" val="11352696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01EB43-935A-43B9-BA5F-8E3AE9D4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E79"/>
                </a:solidFill>
              </a:defRPr>
            </a:pPr>
            <a:r>
              <a:rPr sz="2850" b="1">
                <a:solidFill>
                  <a:srgbClr val="1F4E79"/>
                </a:solidFill>
              </a:rPr>
              <a:t>Модельные кейсы помогают продать Диагностику, но не заменяют ее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243ED-FB19-4F90-A716-CF9521A3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4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4E79"/>
                </a:solidFill>
              </a:defRPr>
            </a:pPr>
            <a:r>
              <a:rPr sz="1200" b="1">
                <a:solidFill>
                  <a:srgbClr val="1F4E79"/>
                </a:solidFill>
              </a:rPr>
              <a:t>Контур Маржи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FC928-3BBA-49C9-A4A4-2E8DC65A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20955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9F5EA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Маркетплейсы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A64381-F77F-4924-8EDA-340849D3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2730"/>
                </a:solidFill>
              </a:defRPr>
            </a:pPr>
            <a:r>
              <a:rPr sz="1650" b="0">
                <a:solidFill>
                  <a:srgbClr val="212730"/>
                </a:solidFill>
              </a:rPr>
              <a:t>01: селлер и исчезающая прибыль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ECAF4-E40F-48DE-87A5-4A1F3F32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20955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9F5EA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Промо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E7C8C-D68B-4A1B-A804-DE86E689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003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2730"/>
                </a:solidFill>
              </a:defRPr>
            </a:pPr>
            <a:r>
              <a:rPr sz="1650" b="0">
                <a:solidFill>
                  <a:srgbClr val="212730"/>
                </a:solidFill>
              </a:rPr>
              <a:t>02: производитель и промо-ловушка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DDCEC-2843-447B-ADC4-9728F31D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20955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9F5EA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Каналы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8CE5B-AA8D-44F2-B8D6-D1E0FD74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813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2730"/>
                </a:solidFill>
              </a:defRPr>
            </a:pPr>
            <a:r>
              <a:rPr sz="1650" b="0">
                <a:solidFill>
                  <a:srgbClr val="212730"/>
                </a:solidFill>
              </a:rPr>
              <a:t>03: сайт и маркетплейсы воюют ценой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5A2998-1EC3-4A39-BB44-35DD38B8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67150"/>
            <a:ext cx="20955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9F5EA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Розница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DF5232-6C57-4603-BF12-C7ADB302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624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2730"/>
                </a:solidFill>
              </a:defRPr>
            </a:pPr>
            <a:r>
              <a:rPr sz="1650" b="0">
                <a:solidFill>
                  <a:srgbClr val="212730"/>
                </a:solidFill>
              </a:rPr>
              <a:t>04: прибыль на полке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411A06-7CAB-427B-B845-6BA75E96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20955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9F5EA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Стоп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D3359A-19E9-4368-8132-ADE6ED49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434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2730"/>
                </a:solidFill>
              </a:defRPr>
            </a:pPr>
            <a:r>
              <a:rPr sz="1650" b="0">
                <a:solidFill>
                  <a:srgbClr val="212730"/>
                </a:solidFill>
              </a:rPr>
              <a:t>09: несводимые данные после Диагностики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7BB434-962D-45A6-A1FD-E7463B67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67375"/>
            <a:ext cx="990600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2730"/>
                </a:solidFill>
              </a:defRPr>
            </a:pPr>
            <a:r>
              <a:rPr sz="1650" b="1">
                <a:solidFill>
                  <a:srgbClr val="212730"/>
                </a:solidFill>
              </a:rPr>
              <a:t>Правило: показывать 1-2 модельных кейса под боль клиента и возвращать разговор к платной Диагностике.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8F87AC-F302-49D9-A3D6-6B3D708B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v2.0 / 7</a:t>
            </a:r>
          </a:p>
        </p:txBody>
      </p:sp>
    </p:spTree>
    <p:extLst>
      <p:ext uri="{BB962C8B-B14F-4D97-AF65-F5344CB8AC3E}">
        <p14:creationId xmlns:p14="http://schemas.microsoft.com/office/powerpoint/2010/main" val="5337701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C0E32C-8FA1-4E3F-9FCC-FEC2A881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E79"/>
                </a:solidFill>
              </a:defRPr>
            </a:pPr>
            <a:r>
              <a:rPr sz="2850" b="1">
                <a:solidFill>
                  <a:srgbClr val="1F4E79"/>
                </a:solidFill>
              </a:rPr>
              <a:t>Следующий шаг - согласовать Диагностику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ABFC3-A488-4309-B4A1-04C90DAF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Если есть данные, владелец и управленческая цена ошибки, Диагностика дает честный вход в проект.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A0A3D-3FF7-48F5-88C0-7B09C88D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4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4E79"/>
                </a:solidFill>
              </a:defRPr>
            </a:pPr>
            <a:r>
              <a:rPr sz="1200" b="1">
                <a:solidFill>
                  <a:srgbClr val="1F4E79"/>
                </a:solidFill>
              </a:rPr>
              <a:t>Контур Маржи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4D763F-C7DB-43D3-A247-4713F41A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4476750" cy="723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E79"/>
                </a:solidFill>
              </a:defRPr>
            </a:pPr>
            <a:r>
              <a:rPr sz="1800" b="1">
                <a:solidFill>
                  <a:srgbClr val="1F4E79"/>
                </a:solidFill>
              </a:rPr>
              <a:t>1. Проверить готовность данных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574E6-6CB2-49CC-A446-C05402B6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476750" cy="723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E79"/>
                </a:solidFill>
              </a:defRPr>
            </a:pPr>
            <a:r>
              <a:rPr sz="1800" b="1">
                <a:solidFill>
                  <a:srgbClr val="1F4E79"/>
                </a:solidFill>
              </a:rPr>
              <a:t>2. Назначить владельца со стороны клиента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86B49-3C22-407E-8FD3-81351060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4476750" cy="723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E79"/>
                </a:solidFill>
              </a:defRPr>
            </a:pPr>
            <a:r>
              <a:rPr sz="1800" b="1">
                <a:solidFill>
                  <a:srgbClr val="1F4E79"/>
                </a:solidFill>
              </a:rPr>
              <a:t>3. Согласовать Диагностику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31C7D-3847-463A-807F-8BF8F2D0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90750"/>
            <a:ext cx="4095750" cy="1809750"/>
          </a:xfrm>
          <a:prstGeom xmlns:a="http://schemas.openxmlformats.org/drawingml/2006/main" prst="roundRect">
            <a:avLst>
              <a:gd name="adj" fmla="val 1053"/>
            </a:avLst>
          </a:prstGeom>
          <a:solidFill xmlns:a="http://schemas.openxmlformats.org/drawingml/2006/main">
            <a:srgbClr val="E9F5EA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2730"/>
                </a:solidFill>
              </a:defRPr>
            </a:pPr>
            <a:r>
              <a:rPr sz="1950" b="1">
                <a:solidFill>
                  <a:srgbClr val="212730"/>
                </a:solidFill>
              </a:rPr>
              <a:t>Результат первого этапа: карта потерь и контрольный вердикт / gate-вердикт, а не обещание результата без данных.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CDD496-4FFA-479C-8295-8E1C2A3C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Контур Маржи v2.0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F6AC9-98D1-42D3-B8AB-5ACE559A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v2.0 / 8</a:t>
            </a:r>
          </a:p>
        </p:txBody>
      </p:sp>
    </p:spTree>
    <p:extLst>
      <p:ext uri="{BB962C8B-B14F-4D97-AF65-F5344CB8AC3E}">
        <p14:creationId xmlns:p14="http://schemas.microsoft.com/office/powerpoint/2010/main" val="8253700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2026-07-28T07:43:17.4560000Z</dcterms:created>
  <dcterms:modified xsi:type="dcterms:W3CDTF">2026-07-28T07:43:17.4560000Z</dcterms:modified>
</coreProperties>
</file>