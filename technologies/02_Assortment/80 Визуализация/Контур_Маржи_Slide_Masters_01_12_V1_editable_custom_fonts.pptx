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Критерий приемки: за 30 секунд понятно, где строка управления, где красная зона, кто владелец и какое действие должно появиться.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Критерий приемки: зритель видит, что средний показатель скрывает конкретные красные строки SKU x канал.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Критерий приемки: схема ясно показывает состав Диагностики и возможные вердикты без обещания автоматического продолжения.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Критерий приемки: зритель понимает шесть типовых мест утечки и видит, что они сходятся в красную зону SKU x канал.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Критерий приемки: на схеме видно, что красная зона не висит сама по себе, а превращается в действие.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Критерий приемки: после просмотра понятно, кто именно должен принять решение и по какому параметру.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Критерий приемки: схема продает Диагностику как первый платный вход и показывает всю цепочку без альтернативных версий продукта.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Критерий приемки: понятно, что Сессия берет вход из Диагностики и выдает управляемый паспорт Спринта.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Критерий приемки: схема показывает ритм 30-60-90 и завершение управленческим выводом.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Критерий приемки: зритель понимает разницу: P&amp;L показывает итог, Контур Маржи показывает место действия.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Критерий приемки: схема явно маркирует модельность и показывает движение через Диагностику, Сессию, Спринт и Сопровождение.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Критерий приемки: после просмотра нельзя спутать технологию с BI, P&amp;L-панелью, Excel-набором или аудитом маркетплейсов.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B1F33">
                  <a:alpha val="5000"/>
                </a:srgbClr>
              </a:gs>
              <a:gs pos="100000">
                <a:srgbClr val="0B1F33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685800" y="842963"/>
            <a:ext cx="16916400" cy="9525"/>
          </a:xfrm>
          <a:prstGeom prst="rect">
            <a:avLst/>
          </a:prstGeom>
          <a:solidFill>
            <a:srgbClr val="0B1F33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19100"/>
            <a:ext cx="4771437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spc="103" kern="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КОНТУР МАРЖИ / ВИЗУАЛИЗАЦИЯ 01</a:t>
            </a:r>
            <a:endParaRPr lang="en-US" sz="1725" dirty="0"/>
          </a:p>
        </p:txBody>
      </p:sp>
      <p:sp>
        <p:nvSpPr>
          <p:cNvPr id="5" name="Text 3"/>
          <p:cNvSpPr/>
          <p:nvPr/>
        </p:nvSpPr>
        <p:spPr>
          <a:xfrm>
            <a:off x="9649867" y="419100"/>
            <a:ext cx="8747567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spc="103" kern="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КЛИЕНТСКИЙ СЛОЙ · ARCHITECTURE FLOW · СЛОЖНОСТЬ ПРОСТАЯ</a:t>
            </a:r>
            <a:endParaRPr lang="en-US" sz="1725" dirty="0"/>
          </a:p>
        </p:txBody>
      </p:sp>
      <p:sp>
        <p:nvSpPr>
          <p:cNvPr id="6" name="Text 4"/>
          <p:cNvSpPr/>
          <p:nvPr/>
        </p:nvSpPr>
        <p:spPr>
          <a:xfrm>
            <a:off x="685800" y="1100138"/>
            <a:ext cx="18608040" cy="643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529"/>
              </a:lnSpc>
              <a:buNone/>
            </a:pPr>
            <a:r>
              <a:rPr lang="en-US" sz="4500" b="1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Контур Маржи: от SKU x канал к решению</a:t>
            </a:r>
            <a:endParaRPr lang="en-US" sz="4500" dirty="0"/>
          </a:p>
        </p:txBody>
      </p:sp>
      <p:sp>
        <p:nvSpPr>
          <p:cNvPr id="7" name="Text 5"/>
          <p:cNvSpPr/>
          <p:nvPr/>
        </p:nvSpPr>
        <p:spPr>
          <a:xfrm>
            <a:off x="685800" y="1839218"/>
            <a:ext cx="163449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dirty="0">
                <a:solidFill>
                  <a:srgbClr val="475569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Товарная строка становится управляемой, когда у красной зоны есть владелец, решение и проверка.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685800" y="3213274"/>
            <a:ext cx="2441525" cy="356235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9" name="Text 7"/>
          <p:cNvSpPr/>
          <p:nvPr/>
        </p:nvSpPr>
        <p:spPr>
          <a:xfrm>
            <a:off x="895350" y="4448696"/>
            <a:ext cx="222466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C9A9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895350" y="4877321"/>
            <a:ext cx="2098625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2175" b="1" dirty="0">
                <a:solidFill>
                  <a:srgbClr val="F3EBD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SKU / товарная позиция x канал</a:t>
            </a:r>
            <a:endParaRPr lang="en-US" sz="2175" dirty="0"/>
          </a:p>
        </p:txBody>
      </p:sp>
      <p:sp>
        <p:nvSpPr>
          <p:cNvPr id="11" name="Shape 9"/>
          <p:cNvSpPr/>
          <p:nvPr/>
        </p:nvSpPr>
        <p:spPr>
          <a:xfrm>
            <a:off x="3127325" y="4984924"/>
            <a:ext cx="314325" cy="190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12" name="Shape 10"/>
          <p:cNvSpPr/>
          <p:nvPr/>
        </p:nvSpPr>
        <p:spPr>
          <a:xfrm>
            <a:off x="3441650" y="4918249"/>
            <a:ext cx="123825" cy="15240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13" name="Shape 11"/>
          <p:cNvSpPr/>
          <p:nvPr/>
        </p:nvSpPr>
        <p:spPr>
          <a:xfrm>
            <a:off x="3565475" y="3179936"/>
            <a:ext cx="2460650" cy="3629025"/>
          </a:xfrm>
          <a:prstGeom prst="rect">
            <a:avLst/>
          </a:prstGeom>
          <a:solidFill>
            <a:srgbClr val="FAEEEB"/>
          </a:solidFill>
          <a:ln/>
        </p:spPr>
      </p:sp>
      <p:sp>
        <p:nvSpPr>
          <p:cNvPr id="14" name="Shape 12"/>
          <p:cNvSpPr/>
          <p:nvPr/>
        </p:nvSpPr>
        <p:spPr>
          <a:xfrm>
            <a:off x="3565475" y="6799436"/>
            <a:ext cx="2460650" cy="9525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5" name="Shape 13"/>
          <p:cNvSpPr/>
          <p:nvPr/>
        </p:nvSpPr>
        <p:spPr>
          <a:xfrm>
            <a:off x="3565475" y="3179936"/>
            <a:ext cx="2460650" cy="5715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6" name="Shape 14"/>
          <p:cNvSpPr/>
          <p:nvPr/>
        </p:nvSpPr>
        <p:spPr>
          <a:xfrm>
            <a:off x="3565475" y="3179936"/>
            <a:ext cx="9525" cy="3629025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7" name="Shape 15"/>
          <p:cNvSpPr/>
          <p:nvPr/>
        </p:nvSpPr>
        <p:spPr>
          <a:xfrm>
            <a:off x="6016600" y="3179936"/>
            <a:ext cx="9525" cy="3629025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8" name="Text 16"/>
          <p:cNvSpPr/>
          <p:nvPr/>
        </p:nvSpPr>
        <p:spPr>
          <a:xfrm>
            <a:off x="3784550" y="4638229"/>
            <a:ext cx="22247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B91C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3784550" y="5066854"/>
            <a:ext cx="222475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2175" b="1" dirty="0">
                <a:solidFill>
                  <a:srgbClr val="B91C1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Красная зона</a:t>
            </a:r>
            <a:endParaRPr lang="en-US" sz="2175" dirty="0"/>
          </a:p>
        </p:txBody>
      </p:sp>
      <p:sp>
        <p:nvSpPr>
          <p:cNvPr id="20" name="Shape 18"/>
          <p:cNvSpPr/>
          <p:nvPr/>
        </p:nvSpPr>
        <p:spPr>
          <a:xfrm>
            <a:off x="6026125" y="4984924"/>
            <a:ext cx="314325" cy="190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21" name="Shape 19"/>
          <p:cNvSpPr/>
          <p:nvPr/>
        </p:nvSpPr>
        <p:spPr>
          <a:xfrm>
            <a:off x="6340450" y="4918249"/>
            <a:ext cx="123825" cy="15240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22" name="Shape 20"/>
          <p:cNvSpPr/>
          <p:nvPr/>
        </p:nvSpPr>
        <p:spPr>
          <a:xfrm>
            <a:off x="6464275" y="3179936"/>
            <a:ext cx="2460575" cy="3629025"/>
          </a:xfrm>
          <a:prstGeom prst="rect">
            <a:avLst/>
          </a:prstGeom>
          <a:solidFill>
            <a:srgbClr val="EFF4F1"/>
          </a:solidFill>
          <a:ln/>
        </p:spPr>
      </p:sp>
      <p:sp>
        <p:nvSpPr>
          <p:cNvPr id="23" name="Shape 21"/>
          <p:cNvSpPr/>
          <p:nvPr/>
        </p:nvSpPr>
        <p:spPr>
          <a:xfrm>
            <a:off x="6464275" y="6799436"/>
            <a:ext cx="2460575" cy="9525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4" name="Shape 22"/>
          <p:cNvSpPr/>
          <p:nvPr/>
        </p:nvSpPr>
        <p:spPr>
          <a:xfrm>
            <a:off x="6464275" y="3179936"/>
            <a:ext cx="2460575" cy="571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5" name="Shape 23"/>
          <p:cNvSpPr/>
          <p:nvPr/>
        </p:nvSpPr>
        <p:spPr>
          <a:xfrm>
            <a:off x="6464275" y="3179936"/>
            <a:ext cx="9525" cy="3629025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6" name="Shape 24"/>
          <p:cNvSpPr/>
          <p:nvPr/>
        </p:nvSpPr>
        <p:spPr>
          <a:xfrm>
            <a:off x="8915326" y="3179936"/>
            <a:ext cx="9525" cy="3629025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7" name="Text 25"/>
          <p:cNvSpPr/>
          <p:nvPr/>
        </p:nvSpPr>
        <p:spPr>
          <a:xfrm>
            <a:off x="6683350" y="4472508"/>
            <a:ext cx="222466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6683350" y="4901133"/>
            <a:ext cx="2098625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2175" b="1" dirty="0">
                <a:solidFill>
                  <a:srgbClr val="0B1F3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Владелец решения</a:t>
            </a:r>
            <a:endParaRPr lang="en-US" sz="2175" dirty="0"/>
          </a:p>
        </p:txBody>
      </p:sp>
      <p:sp>
        <p:nvSpPr>
          <p:cNvPr id="29" name="Shape 27"/>
          <p:cNvSpPr/>
          <p:nvPr/>
        </p:nvSpPr>
        <p:spPr>
          <a:xfrm>
            <a:off x="8924851" y="4984924"/>
            <a:ext cx="314325" cy="190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30" name="Shape 28"/>
          <p:cNvSpPr/>
          <p:nvPr/>
        </p:nvSpPr>
        <p:spPr>
          <a:xfrm>
            <a:off x="9239176" y="4918249"/>
            <a:ext cx="123825" cy="15240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31" name="Shape 29"/>
          <p:cNvSpPr/>
          <p:nvPr/>
        </p:nvSpPr>
        <p:spPr>
          <a:xfrm>
            <a:off x="9363001" y="3179936"/>
            <a:ext cx="2460650" cy="3629025"/>
          </a:xfrm>
          <a:prstGeom prst="rect">
            <a:avLst/>
          </a:prstGeom>
          <a:solidFill>
            <a:srgbClr val="F8F1E7"/>
          </a:solidFill>
          <a:ln/>
        </p:spPr>
      </p:sp>
      <p:sp>
        <p:nvSpPr>
          <p:cNvPr id="32" name="Shape 30"/>
          <p:cNvSpPr/>
          <p:nvPr/>
        </p:nvSpPr>
        <p:spPr>
          <a:xfrm>
            <a:off x="9363001" y="6799436"/>
            <a:ext cx="2460650" cy="9525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33" name="Shape 31"/>
          <p:cNvSpPr/>
          <p:nvPr/>
        </p:nvSpPr>
        <p:spPr>
          <a:xfrm>
            <a:off x="9363001" y="3179936"/>
            <a:ext cx="2460650" cy="571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34" name="Shape 32"/>
          <p:cNvSpPr/>
          <p:nvPr/>
        </p:nvSpPr>
        <p:spPr>
          <a:xfrm>
            <a:off x="9363001" y="3179936"/>
            <a:ext cx="9525" cy="3629025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35" name="Shape 33"/>
          <p:cNvSpPr/>
          <p:nvPr/>
        </p:nvSpPr>
        <p:spPr>
          <a:xfrm>
            <a:off x="11814125" y="3179936"/>
            <a:ext cx="9525" cy="3629025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36" name="Text 34"/>
          <p:cNvSpPr/>
          <p:nvPr/>
        </p:nvSpPr>
        <p:spPr>
          <a:xfrm>
            <a:off x="9582076" y="4638229"/>
            <a:ext cx="22247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B46A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9582076" y="5066854"/>
            <a:ext cx="222475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2175" b="1" dirty="0">
                <a:solidFill>
                  <a:srgbClr val="0B1F3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Решение</a:t>
            </a:r>
            <a:endParaRPr lang="en-US" sz="2175" dirty="0"/>
          </a:p>
        </p:txBody>
      </p:sp>
      <p:sp>
        <p:nvSpPr>
          <p:cNvPr id="38" name="Shape 36"/>
          <p:cNvSpPr/>
          <p:nvPr/>
        </p:nvSpPr>
        <p:spPr>
          <a:xfrm>
            <a:off x="11823650" y="4984924"/>
            <a:ext cx="314325" cy="190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39" name="Shape 37"/>
          <p:cNvSpPr/>
          <p:nvPr/>
        </p:nvSpPr>
        <p:spPr>
          <a:xfrm>
            <a:off x="12137975" y="4918249"/>
            <a:ext cx="123825" cy="15240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40" name="Shape 38"/>
          <p:cNvSpPr/>
          <p:nvPr/>
        </p:nvSpPr>
        <p:spPr>
          <a:xfrm>
            <a:off x="12261800" y="3179936"/>
            <a:ext cx="2460650" cy="3629025"/>
          </a:xfrm>
          <a:prstGeom prst="rect">
            <a:avLst/>
          </a:prstGeom>
          <a:solidFill>
            <a:srgbClr val="EFF4F1"/>
          </a:solidFill>
          <a:ln/>
        </p:spPr>
      </p:sp>
      <p:sp>
        <p:nvSpPr>
          <p:cNvPr id="41" name="Shape 39"/>
          <p:cNvSpPr/>
          <p:nvPr/>
        </p:nvSpPr>
        <p:spPr>
          <a:xfrm>
            <a:off x="12261800" y="6799436"/>
            <a:ext cx="2460650" cy="9525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2" name="Shape 40"/>
          <p:cNvSpPr/>
          <p:nvPr/>
        </p:nvSpPr>
        <p:spPr>
          <a:xfrm>
            <a:off x="12261800" y="3179936"/>
            <a:ext cx="2460650" cy="571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3" name="Shape 41"/>
          <p:cNvSpPr/>
          <p:nvPr/>
        </p:nvSpPr>
        <p:spPr>
          <a:xfrm>
            <a:off x="12261800" y="3179936"/>
            <a:ext cx="9525" cy="3629025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4" name="Shape 42"/>
          <p:cNvSpPr/>
          <p:nvPr/>
        </p:nvSpPr>
        <p:spPr>
          <a:xfrm>
            <a:off x="14712925" y="3179936"/>
            <a:ext cx="9525" cy="3629025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5" name="Text 43"/>
          <p:cNvSpPr/>
          <p:nvPr/>
        </p:nvSpPr>
        <p:spPr>
          <a:xfrm>
            <a:off x="12480875" y="4638229"/>
            <a:ext cx="22247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1650" dirty="0"/>
          </a:p>
        </p:txBody>
      </p:sp>
      <p:sp>
        <p:nvSpPr>
          <p:cNvPr id="46" name="Text 44"/>
          <p:cNvSpPr/>
          <p:nvPr/>
        </p:nvSpPr>
        <p:spPr>
          <a:xfrm>
            <a:off x="12480875" y="5066854"/>
            <a:ext cx="222475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2175" b="1" dirty="0">
                <a:solidFill>
                  <a:srgbClr val="0B1F3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Проверка</a:t>
            </a:r>
            <a:endParaRPr lang="en-US" sz="2175" dirty="0"/>
          </a:p>
        </p:txBody>
      </p:sp>
      <p:sp>
        <p:nvSpPr>
          <p:cNvPr id="47" name="Shape 45"/>
          <p:cNvSpPr/>
          <p:nvPr/>
        </p:nvSpPr>
        <p:spPr>
          <a:xfrm>
            <a:off x="14722450" y="4984924"/>
            <a:ext cx="314325" cy="190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48" name="Shape 46"/>
          <p:cNvSpPr/>
          <p:nvPr/>
        </p:nvSpPr>
        <p:spPr>
          <a:xfrm>
            <a:off x="15036775" y="4918249"/>
            <a:ext cx="123825" cy="15240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49" name="Shape 47"/>
          <p:cNvSpPr/>
          <p:nvPr/>
        </p:nvSpPr>
        <p:spPr>
          <a:xfrm>
            <a:off x="15160600" y="3213274"/>
            <a:ext cx="2441600" cy="356235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50" name="Text 48"/>
          <p:cNvSpPr/>
          <p:nvPr/>
        </p:nvSpPr>
        <p:spPr>
          <a:xfrm>
            <a:off x="15370150" y="4282976"/>
            <a:ext cx="22247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C9A9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1650" dirty="0"/>
          </a:p>
        </p:txBody>
      </p:sp>
      <p:sp>
        <p:nvSpPr>
          <p:cNvPr id="51" name="Text 49"/>
          <p:cNvSpPr/>
          <p:nvPr/>
        </p:nvSpPr>
        <p:spPr>
          <a:xfrm>
            <a:off x="15370150" y="4711601"/>
            <a:ext cx="2098700" cy="10324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2175" b="1" dirty="0">
                <a:solidFill>
                  <a:srgbClr val="F3EBD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Эффект при выполнении условий</a:t>
            </a:r>
            <a:endParaRPr lang="en-US" sz="2175" dirty="0"/>
          </a:p>
        </p:txBody>
      </p:sp>
      <p:sp>
        <p:nvSpPr>
          <p:cNvPr id="52" name="Text 50"/>
          <p:cNvSpPr/>
          <p:nvPr/>
        </p:nvSpPr>
        <p:spPr>
          <a:xfrm>
            <a:off x="685800" y="7806779"/>
            <a:ext cx="102832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126" kern="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ЛЕГЕНДА</a:t>
            </a:r>
            <a:endParaRPr lang="en-US" sz="1575" dirty="0"/>
          </a:p>
        </p:txBody>
      </p:sp>
      <p:sp>
        <p:nvSpPr>
          <p:cNvPr id="53" name="Shape 51"/>
          <p:cNvSpPr/>
          <p:nvPr/>
        </p:nvSpPr>
        <p:spPr>
          <a:xfrm>
            <a:off x="1809378" y="7835354"/>
            <a:ext cx="209550" cy="13335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54" name="Text 52"/>
          <p:cNvSpPr/>
          <p:nvPr/>
        </p:nvSpPr>
        <p:spPr>
          <a:xfrm>
            <a:off x="2114178" y="7754392"/>
            <a:ext cx="3485959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Deep Navy — архитектура контура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1809378" y="8197304"/>
            <a:ext cx="209550" cy="13335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56" name="Text 54"/>
          <p:cNvSpPr/>
          <p:nvPr/>
        </p:nvSpPr>
        <p:spPr>
          <a:xfrm>
            <a:off x="2114178" y="8116342"/>
            <a:ext cx="3132542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Diagnostic Red — красная зона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1809378" y="8559254"/>
            <a:ext cx="209550" cy="1333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8" name="Text 56"/>
          <p:cNvSpPr/>
          <p:nvPr/>
        </p:nvSpPr>
        <p:spPr>
          <a:xfrm>
            <a:off x="2114178" y="8478292"/>
            <a:ext cx="356843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Muted Teal — владелец и проверка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5826323" y="8559254"/>
            <a:ext cx="209550" cy="1333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60" name="Text 58"/>
          <p:cNvSpPr/>
          <p:nvPr/>
        </p:nvSpPr>
        <p:spPr>
          <a:xfrm>
            <a:off x="6131123" y="8478292"/>
            <a:ext cx="285569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Copper — маршрут решения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9353550" y="7759154"/>
            <a:ext cx="8248650" cy="1241971"/>
          </a:xfrm>
          <a:prstGeom prst="rect">
            <a:avLst/>
          </a:prstGeom>
          <a:ln w="9525">
            <a:solidFill>
              <a:srgbClr val="B91C1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553575" y="7921079"/>
            <a:ext cx="86334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126" kern="0" dirty="0">
                <a:solidFill>
                  <a:srgbClr val="B91C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ЭТО НЕ</a:t>
            </a:r>
            <a:endParaRPr lang="en-US" sz="1575" dirty="0"/>
          </a:p>
        </p:txBody>
      </p:sp>
      <p:sp>
        <p:nvSpPr>
          <p:cNvPr id="63" name="Text 61"/>
          <p:cNvSpPr/>
          <p:nvPr/>
        </p:nvSpPr>
        <p:spPr>
          <a:xfrm>
            <a:off x="9553575" y="8244929"/>
            <a:ext cx="8084058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645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Это не BI / бизнес-аналитика, не отчет и не таблица. Это схема управленческого перехода от строки к решению.</a:t>
            </a:r>
            <a:endParaRPr lang="en-US" sz="1800" dirty="0"/>
          </a:p>
        </p:txBody>
      </p:sp>
      <p:sp>
        <p:nvSpPr>
          <p:cNvPr id="64" name="Shape 62"/>
          <p:cNvSpPr/>
          <p:nvPr/>
        </p:nvSpPr>
        <p:spPr>
          <a:xfrm>
            <a:off x="685800" y="9210675"/>
            <a:ext cx="16916400" cy="9525"/>
          </a:xfrm>
          <a:prstGeom prst="rect">
            <a:avLst/>
          </a:prstGeom>
          <a:solidFill>
            <a:srgbClr val="0B1F33">
              <a:alpha val="20000"/>
            </a:srgbClr>
          </a:solidFill>
          <a:ln/>
        </p:spPr>
      </p:sp>
      <p:sp>
        <p:nvSpPr>
          <p:cNvPr id="65" name="Text 63"/>
          <p:cNvSpPr/>
          <p:nvPr/>
        </p:nvSpPr>
        <p:spPr>
          <a:xfrm>
            <a:off x="685800" y="9353550"/>
            <a:ext cx="117729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Контур Маржи показывает не среднюю маржу, а место, владельца и решение по конкретному SKU / товарной позиции x канал.</a:t>
            </a:r>
            <a:endParaRPr lang="en-US" sz="1800" dirty="0"/>
          </a:p>
        </p:txBody>
      </p:sp>
      <p:sp>
        <p:nvSpPr>
          <p:cNvPr id="66" name="Text 64"/>
          <p:cNvSpPr/>
          <p:nvPr/>
        </p:nvSpPr>
        <p:spPr>
          <a:xfrm>
            <a:off x="12738795" y="9672638"/>
            <a:ext cx="5349746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Визуализация_01_Ядро_Контура_Маржи_V1</a:t>
            </a:r>
            <a:endParaRPr lang="en-US" sz="17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B1F33">
                  <a:alpha val="5000"/>
                </a:srgbClr>
              </a:gs>
              <a:gs pos="100000">
                <a:srgbClr val="0B1F33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685800" y="842963"/>
            <a:ext cx="16916400" cy="9525"/>
          </a:xfrm>
          <a:prstGeom prst="rect">
            <a:avLst/>
          </a:prstGeom>
          <a:solidFill>
            <a:srgbClr val="0B1F33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19100"/>
            <a:ext cx="4771437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spc="103" kern="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КОНТУР МАРЖИ / ВИЗУАЛИЗАЦИЯ 02</a:t>
            </a:r>
            <a:endParaRPr lang="en-US" sz="1725" dirty="0"/>
          </a:p>
        </p:txBody>
      </p:sp>
      <p:sp>
        <p:nvSpPr>
          <p:cNvPr id="5" name="Text 3"/>
          <p:cNvSpPr/>
          <p:nvPr/>
        </p:nvSpPr>
        <p:spPr>
          <a:xfrm>
            <a:off x="8493175" y="419100"/>
            <a:ext cx="1001992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spc="103" kern="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КЛИЕНТСКИЙ СЛОЙ · BEFORE / AFTER + HEAT MAP · СЛОЖНОСТЬ ПРОСТАЯ</a:t>
            </a:r>
            <a:endParaRPr lang="en-US" sz="1725" dirty="0"/>
          </a:p>
        </p:txBody>
      </p:sp>
      <p:sp>
        <p:nvSpPr>
          <p:cNvPr id="6" name="Text 4"/>
          <p:cNvSpPr/>
          <p:nvPr/>
        </p:nvSpPr>
        <p:spPr>
          <a:xfrm>
            <a:off x="685800" y="1100138"/>
            <a:ext cx="18608040" cy="643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500" b="1" dirty="0">
                <a:solidFill>
                  <a:srgbClr val="0B1F33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Средняя маржа не показывает, где именно течет прибыль</a:t>
            </a:r>
            <a:endParaRPr lang="en-US" sz="4500" dirty="0"/>
          </a:p>
        </p:txBody>
      </p:sp>
      <p:sp>
        <p:nvSpPr>
          <p:cNvPr id="7" name="Text 5"/>
          <p:cNvSpPr/>
          <p:nvPr/>
        </p:nvSpPr>
        <p:spPr>
          <a:xfrm>
            <a:off x="685800" y="1839218"/>
            <a:ext cx="163449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dirty="0">
                <a:solidFill>
                  <a:srgbClr val="475569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Одна средняя цифра может скрывать несколько красных SKU / товарных позиций x канал.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685800" y="2458343"/>
            <a:ext cx="5010150" cy="4619774"/>
          </a:xfrm>
          <a:prstGeom prst="rect">
            <a:avLst/>
          </a:prstGeom>
          <a:solidFill>
            <a:srgbClr val="EFEADF"/>
          </a:solidFill>
          <a:ln w="9525">
            <a:solidFill>
              <a:srgbClr val="4755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04875" y="2677418"/>
            <a:ext cx="50292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99" kern="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ДО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904875" y="4108177"/>
            <a:ext cx="4572000" cy="933450"/>
          </a:xfrm>
          <a:prstGeom prst="rect">
            <a:avLst/>
          </a:prstGeom>
          <a:solidFill>
            <a:srgbClr val="94A3B8"/>
          </a:solidFill>
          <a:ln w="9525">
            <a:solidFill>
              <a:srgbClr val="4755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04875" y="6196161"/>
            <a:ext cx="4709160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2175" b="1" dirty="0">
                <a:solidFill>
                  <a:srgbClr val="0B1F3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Средняя маржа: выглядит приемлемо</a:t>
            </a:r>
            <a:endParaRPr lang="en-US" sz="2175" dirty="0"/>
          </a:p>
        </p:txBody>
      </p:sp>
      <p:sp>
        <p:nvSpPr>
          <p:cNvPr id="12" name="Shape 10"/>
          <p:cNvSpPr/>
          <p:nvPr/>
        </p:nvSpPr>
        <p:spPr>
          <a:xfrm>
            <a:off x="5695950" y="4758705"/>
            <a:ext cx="581025" cy="190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13" name="Shape 11"/>
          <p:cNvSpPr/>
          <p:nvPr/>
        </p:nvSpPr>
        <p:spPr>
          <a:xfrm>
            <a:off x="6276975" y="4692030"/>
            <a:ext cx="123825" cy="15240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0" y="2458343"/>
            <a:ext cx="11201400" cy="4619774"/>
          </a:xfrm>
          <a:prstGeom prst="rect">
            <a:avLst/>
          </a:prstGeom>
          <a:solidFill>
            <a:srgbClr val="F8F3E9"/>
          </a:solidFill>
          <a:ln w="9525">
            <a:solidFill>
              <a:srgbClr val="0B1F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19875" y="2677418"/>
            <a:ext cx="481392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0B1F3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SKU x канал: видны красные строки</a:t>
            </a:r>
            <a:endParaRPr lang="en-US" sz="2175" dirty="0"/>
          </a:p>
        </p:txBody>
      </p:sp>
      <p:sp>
        <p:nvSpPr>
          <p:cNvPr id="16" name="Text 14"/>
          <p:cNvSpPr/>
          <p:nvPr/>
        </p:nvSpPr>
        <p:spPr>
          <a:xfrm>
            <a:off x="16326594" y="2753618"/>
            <a:ext cx="113273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95" kern="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КАНАЛЫ →</a:t>
            </a:r>
            <a:endParaRPr lang="en-US" sz="1575" dirty="0"/>
          </a:p>
        </p:txBody>
      </p:sp>
      <p:sp>
        <p:nvSpPr>
          <p:cNvPr id="17" name="Text 15"/>
          <p:cNvSpPr/>
          <p:nvPr/>
        </p:nvSpPr>
        <p:spPr>
          <a:xfrm rot="10800000">
            <a:off x="6581775" y="3187005"/>
            <a:ext cx="342900" cy="37101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 vert="eaVert">
            <a:normAutofit/>
          </a:bodyPr>
          <a:lstStyle/>
          <a:p>
            <a:pPr algn="ctr" indent="0" marL="0">
              <a:buNone/>
            </a:pPr>
            <a:r>
              <a:rPr lang="en-US" sz="1575" spc="95" kern="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SKU / ТОВАРНЫЕ ПОЗИЦИИ</a:t>
            </a:r>
            <a:endParaRPr lang="en-US" sz="1575" dirty="0"/>
          </a:p>
        </p:txBody>
      </p:sp>
      <p:sp>
        <p:nvSpPr>
          <p:cNvPr id="18" name="Shape 16"/>
          <p:cNvSpPr/>
          <p:nvPr/>
        </p:nvSpPr>
        <p:spPr>
          <a:xfrm>
            <a:off x="7038975" y="3187005"/>
            <a:ext cx="1234678" cy="681038"/>
          </a:xfrm>
          <a:prstGeom prst="rect">
            <a:avLst/>
          </a:prstGeom>
          <a:solidFill>
            <a:srgbClr val="DED6C6"/>
          </a:solidFill>
          <a:ln/>
        </p:spPr>
      </p:sp>
      <p:sp>
        <p:nvSpPr>
          <p:cNvPr id="19" name="Shape 17"/>
          <p:cNvSpPr/>
          <p:nvPr/>
        </p:nvSpPr>
        <p:spPr>
          <a:xfrm>
            <a:off x="8340328" y="3187005"/>
            <a:ext cx="1234678" cy="681038"/>
          </a:xfrm>
          <a:prstGeom prst="rect">
            <a:avLst/>
          </a:prstGeom>
          <a:solidFill>
            <a:srgbClr val="DED6C6"/>
          </a:solidFill>
          <a:ln/>
        </p:spPr>
      </p:sp>
      <p:sp>
        <p:nvSpPr>
          <p:cNvPr id="20" name="Shape 18"/>
          <p:cNvSpPr/>
          <p:nvPr/>
        </p:nvSpPr>
        <p:spPr>
          <a:xfrm>
            <a:off x="9641681" y="3187005"/>
            <a:ext cx="1234678" cy="68103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21" name="Shape 19"/>
          <p:cNvSpPr/>
          <p:nvPr/>
        </p:nvSpPr>
        <p:spPr>
          <a:xfrm>
            <a:off x="10943034" y="3187005"/>
            <a:ext cx="1234678" cy="681038"/>
          </a:xfrm>
          <a:prstGeom prst="rect">
            <a:avLst/>
          </a:prstGeom>
          <a:solidFill>
            <a:srgbClr val="DED6C6"/>
          </a:solidFill>
          <a:ln/>
        </p:spPr>
      </p:sp>
      <p:sp>
        <p:nvSpPr>
          <p:cNvPr id="22" name="Shape 20"/>
          <p:cNvSpPr/>
          <p:nvPr/>
        </p:nvSpPr>
        <p:spPr>
          <a:xfrm>
            <a:off x="12244388" y="3187005"/>
            <a:ext cx="1234678" cy="68103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545741" y="3187005"/>
            <a:ext cx="1234678" cy="681038"/>
          </a:xfrm>
          <a:prstGeom prst="rect">
            <a:avLst/>
          </a:prstGeom>
          <a:solidFill>
            <a:srgbClr val="DED6C6"/>
          </a:solidFill>
          <a:ln/>
        </p:spPr>
      </p:sp>
      <p:sp>
        <p:nvSpPr>
          <p:cNvPr id="24" name="Shape 22"/>
          <p:cNvSpPr/>
          <p:nvPr/>
        </p:nvSpPr>
        <p:spPr>
          <a:xfrm>
            <a:off x="14847094" y="3187005"/>
            <a:ext cx="1234678" cy="681038"/>
          </a:xfrm>
          <a:prstGeom prst="rect">
            <a:avLst/>
          </a:prstGeom>
          <a:solidFill>
            <a:srgbClr val="DED6C6"/>
          </a:solidFill>
          <a:ln/>
        </p:spPr>
      </p:sp>
      <p:sp>
        <p:nvSpPr>
          <p:cNvPr id="25" name="Shape 23"/>
          <p:cNvSpPr/>
          <p:nvPr/>
        </p:nvSpPr>
        <p:spPr>
          <a:xfrm>
            <a:off x="16148447" y="3187005"/>
            <a:ext cx="1234678" cy="681038"/>
          </a:xfrm>
          <a:prstGeom prst="rect">
            <a:avLst/>
          </a:prstGeom>
          <a:solidFill>
            <a:srgbClr val="DED6C6"/>
          </a:solidFill>
          <a:ln/>
        </p:spPr>
      </p:sp>
      <p:sp>
        <p:nvSpPr>
          <p:cNvPr id="26" name="Shape 24"/>
          <p:cNvSpPr/>
          <p:nvPr/>
        </p:nvSpPr>
        <p:spPr>
          <a:xfrm>
            <a:off x="7038975" y="3934718"/>
            <a:ext cx="1234678" cy="681038"/>
          </a:xfrm>
          <a:prstGeom prst="rect">
            <a:avLst/>
          </a:prstGeom>
          <a:solidFill>
            <a:srgbClr val="DED6C6"/>
          </a:solidFill>
          <a:ln/>
        </p:spPr>
      </p:sp>
      <p:sp>
        <p:nvSpPr>
          <p:cNvPr id="27" name="Shape 25"/>
          <p:cNvSpPr/>
          <p:nvPr/>
        </p:nvSpPr>
        <p:spPr>
          <a:xfrm>
            <a:off x="8340328" y="3934718"/>
            <a:ext cx="1234678" cy="68103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8" name="Shape 26"/>
          <p:cNvSpPr/>
          <p:nvPr/>
        </p:nvSpPr>
        <p:spPr>
          <a:xfrm>
            <a:off x="9641681" y="3934718"/>
            <a:ext cx="1234678" cy="681038"/>
          </a:xfrm>
          <a:prstGeom prst="rect">
            <a:avLst/>
          </a:prstGeom>
          <a:solidFill>
            <a:srgbClr val="DED6C6"/>
          </a:solidFill>
          <a:ln/>
        </p:spPr>
      </p:sp>
      <p:sp>
        <p:nvSpPr>
          <p:cNvPr id="29" name="Shape 27"/>
          <p:cNvSpPr/>
          <p:nvPr/>
        </p:nvSpPr>
        <p:spPr>
          <a:xfrm>
            <a:off x="10943034" y="3934718"/>
            <a:ext cx="1234678" cy="681038"/>
          </a:xfrm>
          <a:prstGeom prst="rect">
            <a:avLst/>
          </a:prstGeom>
          <a:solidFill>
            <a:srgbClr val="DED6C6"/>
          </a:solidFill>
          <a:ln/>
        </p:spPr>
      </p:sp>
      <p:sp>
        <p:nvSpPr>
          <p:cNvPr id="30" name="Shape 28"/>
          <p:cNvSpPr/>
          <p:nvPr/>
        </p:nvSpPr>
        <p:spPr>
          <a:xfrm>
            <a:off x="12244388" y="3934718"/>
            <a:ext cx="1234678" cy="681038"/>
          </a:xfrm>
          <a:prstGeom prst="rect">
            <a:avLst/>
          </a:prstGeom>
          <a:solidFill>
            <a:srgbClr val="DED6C6"/>
          </a:solidFill>
          <a:ln/>
        </p:spPr>
      </p:sp>
      <p:sp>
        <p:nvSpPr>
          <p:cNvPr id="31" name="Shape 29"/>
          <p:cNvSpPr/>
          <p:nvPr/>
        </p:nvSpPr>
        <p:spPr>
          <a:xfrm>
            <a:off x="13545741" y="3934718"/>
            <a:ext cx="1234678" cy="68103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2" name="Shape 30"/>
          <p:cNvSpPr/>
          <p:nvPr/>
        </p:nvSpPr>
        <p:spPr>
          <a:xfrm>
            <a:off x="14847094" y="3934718"/>
            <a:ext cx="1234678" cy="681038"/>
          </a:xfrm>
          <a:prstGeom prst="rect">
            <a:avLst/>
          </a:prstGeom>
          <a:solidFill>
            <a:srgbClr val="DED6C6"/>
          </a:solidFill>
          <a:ln/>
        </p:spPr>
      </p:sp>
      <p:sp>
        <p:nvSpPr>
          <p:cNvPr id="33" name="Shape 31"/>
          <p:cNvSpPr/>
          <p:nvPr/>
        </p:nvSpPr>
        <p:spPr>
          <a:xfrm>
            <a:off x="16148447" y="3934718"/>
            <a:ext cx="1234678" cy="681038"/>
          </a:xfrm>
          <a:prstGeom prst="rect">
            <a:avLst/>
          </a:prstGeom>
          <a:solidFill>
            <a:srgbClr val="DED6C6"/>
          </a:solidFill>
          <a:ln/>
        </p:spPr>
      </p:sp>
      <p:sp>
        <p:nvSpPr>
          <p:cNvPr id="34" name="Shape 32"/>
          <p:cNvSpPr/>
          <p:nvPr/>
        </p:nvSpPr>
        <p:spPr>
          <a:xfrm>
            <a:off x="7038975" y="4682430"/>
            <a:ext cx="1234678" cy="681112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5" name="Shape 33"/>
          <p:cNvSpPr/>
          <p:nvPr/>
        </p:nvSpPr>
        <p:spPr>
          <a:xfrm>
            <a:off x="8340328" y="4682430"/>
            <a:ext cx="1234678" cy="681112"/>
          </a:xfrm>
          <a:prstGeom prst="rect">
            <a:avLst/>
          </a:prstGeom>
          <a:solidFill>
            <a:srgbClr val="DED6C6"/>
          </a:solidFill>
          <a:ln/>
        </p:spPr>
      </p:sp>
      <p:sp>
        <p:nvSpPr>
          <p:cNvPr id="36" name="Shape 34"/>
          <p:cNvSpPr/>
          <p:nvPr/>
        </p:nvSpPr>
        <p:spPr>
          <a:xfrm>
            <a:off x="9641681" y="4682430"/>
            <a:ext cx="1234678" cy="681112"/>
          </a:xfrm>
          <a:prstGeom prst="rect">
            <a:avLst/>
          </a:prstGeom>
          <a:solidFill>
            <a:srgbClr val="DED6C6"/>
          </a:solidFill>
          <a:ln/>
        </p:spPr>
      </p:sp>
      <p:sp>
        <p:nvSpPr>
          <p:cNvPr id="37" name="Shape 35"/>
          <p:cNvSpPr/>
          <p:nvPr/>
        </p:nvSpPr>
        <p:spPr>
          <a:xfrm>
            <a:off x="10943034" y="4682430"/>
            <a:ext cx="1234678" cy="681112"/>
          </a:xfrm>
          <a:prstGeom prst="rect">
            <a:avLst/>
          </a:prstGeom>
          <a:solidFill>
            <a:srgbClr val="DED6C6"/>
          </a:solidFill>
          <a:ln/>
        </p:spPr>
      </p:sp>
      <p:sp>
        <p:nvSpPr>
          <p:cNvPr id="38" name="Shape 36"/>
          <p:cNvSpPr/>
          <p:nvPr/>
        </p:nvSpPr>
        <p:spPr>
          <a:xfrm>
            <a:off x="12244388" y="4682430"/>
            <a:ext cx="1234678" cy="681112"/>
          </a:xfrm>
          <a:prstGeom prst="rect">
            <a:avLst/>
          </a:prstGeom>
          <a:solidFill>
            <a:srgbClr val="DED6C6"/>
          </a:solidFill>
          <a:ln/>
        </p:spPr>
      </p:sp>
      <p:sp>
        <p:nvSpPr>
          <p:cNvPr id="39" name="Shape 37"/>
          <p:cNvSpPr/>
          <p:nvPr/>
        </p:nvSpPr>
        <p:spPr>
          <a:xfrm>
            <a:off x="13545741" y="4682430"/>
            <a:ext cx="1234678" cy="681112"/>
          </a:xfrm>
          <a:prstGeom prst="rect">
            <a:avLst/>
          </a:prstGeom>
          <a:solidFill>
            <a:srgbClr val="DED6C6"/>
          </a:solidFill>
          <a:ln/>
        </p:spPr>
      </p:sp>
      <p:sp>
        <p:nvSpPr>
          <p:cNvPr id="40" name="Shape 38"/>
          <p:cNvSpPr/>
          <p:nvPr/>
        </p:nvSpPr>
        <p:spPr>
          <a:xfrm>
            <a:off x="14847094" y="4682430"/>
            <a:ext cx="1234678" cy="68111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1" name="Shape 39"/>
          <p:cNvSpPr/>
          <p:nvPr/>
        </p:nvSpPr>
        <p:spPr>
          <a:xfrm>
            <a:off x="16148447" y="4682430"/>
            <a:ext cx="1234678" cy="681112"/>
          </a:xfrm>
          <a:prstGeom prst="rect">
            <a:avLst/>
          </a:prstGeom>
          <a:solidFill>
            <a:srgbClr val="DED6C6"/>
          </a:solidFill>
          <a:ln/>
        </p:spPr>
      </p:sp>
      <p:sp>
        <p:nvSpPr>
          <p:cNvPr id="42" name="Shape 40"/>
          <p:cNvSpPr/>
          <p:nvPr/>
        </p:nvSpPr>
        <p:spPr>
          <a:xfrm>
            <a:off x="7038975" y="5430217"/>
            <a:ext cx="1234678" cy="681038"/>
          </a:xfrm>
          <a:prstGeom prst="rect">
            <a:avLst/>
          </a:prstGeom>
          <a:solidFill>
            <a:srgbClr val="DED6C6"/>
          </a:solidFill>
          <a:ln/>
        </p:spPr>
      </p:sp>
      <p:sp>
        <p:nvSpPr>
          <p:cNvPr id="43" name="Shape 41"/>
          <p:cNvSpPr/>
          <p:nvPr/>
        </p:nvSpPr>
        <p:spPr>
          <a:xfrm>
            <a:off x="8340328" y="5430217"/>
            <a:ext cx="1234678" cy="681038"/>
          </a:xfrm>
          <a:prstGeom prst="rect">
            <a:avLst/>
          </a:prstGeom>
          <a:solidFill>
            <a:srgbClr val="DED6C6"/>
          </a:solidFill>
          <a:ln/>
        </p:spPr>
      </p:sp>
      <p:sp>
        <p:nvSpPr>
          <p:cNvPr id="44" name="Shape 42"/>
          <p:cNvSpPr/>
          <p:nvPr/>
        </p:nvSpPr>
        <p:spPr>
          <a:xfrm>
            <a:off x="9641681" y="5430217"/>
            <a:ext cx="1234678" cy="681038"/>
          </a:xfrm>
          <a:prstGeom prst="rect">
            <a:avLst/>
          </a:prstGeom>
          <a:solidFill>
            <a:srgbClr val="DED6C6"/>
          </a:solidFill>
          <a:ln/>
        </p:spPr>
      </p:sp>
      <p:sp>
        <p:nvSpPr>
          <p:cNvPr id="45" name="Shape 43"/>
          <p:cNvSpPr/>
          <p:nvPr/>
        </p:nvSpPr>
        <p:spPr>
          <a:xfrm>
            <a:off x="10943034" y="5430217"/>
            <a:ext cx="1234678" cy="68103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6" name="Shape 44"/>
          <p:cNvSpPr/>
          <p:nvPr/>
        </p:nvSpPr>
        <p:spPr>
          <a:xfrm>
            <a:off x="12244388" y="5430217"/>
            <a:ext cx="1234678" cy="681038"/>
          </a:xfrm>
          <a:prstGeom prst="rect">
            <a:avLst/>
          </a:prstGeom>
          <a:solidFill>
            <a:srgbClr val="DED6C6"/>
          </a:solidFill>
          <a:ln/>
        </p:spPr>
      </p:sp>
      <p:sp>
        <p:nvSpPr>
          <p:cNvPr id="47" name="Shape 45"/>
          <p:cNvSpPr/>
          <p:nvPr/>
        </p:nvSpPr>
        <p:spPr>
          <a:xfrm>
            <a:off x="13545741" y="5430217"/>
            <a:ext cx="1234678" cy="681038"/>
          </a:xfrm>
          <a:prstGeom prst="rect">
            <a:avLst/>
          </a:prstGeom>
          <a:solidFill>
            <a:srgbClr val="DED6C6"/>
          </a:solidFill>
          <a:ln/>
        </p:spPr>
      </p:sp>
      <p:sp>
        <p:nvSpPr>
          <p:cNvPr id="48" name="Shape 46"/>
          <p:cNvSpPr/>
          <p:nvPr/>
        </p:nvSpPr>
        <p:spPr>
          <a:xfrm>
            <a:off x="14847094" y="5430217"/>
            <a:ext cx="1234678" cy="681038"/>
          </a:xfrm>
          <a:prstGeom prst="rect">
            <a:avLst/>
          </a:prstGeom>
          <a:solidFill>
            <a:srgbClr val="DED6C6"/>
          </a:solidFill>
          <a:ln/>
        </p:spPr>
      </p:sp>
      <p:sp>
        <p:nvSpPr>
          <p:cNvPr id="49" name="Shape 47"/>
          <p:cNvSpPr/>
          <p:nvPr/>
        </p:nvSpPr>
        <p:spPr>
          <a:xfrm>
            <a:off x="16148447" y="5430217"/>
            <a:ext cx="1234678" cy="68103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50" name="Shape 48"/>
          <p:cNvSpPr/>
          <p:nvPr/>
        </p:nvSpPr>
        <p:spPr>
          <a:xfrm>
            <a:off x="7038975" y="6177930"/>
            <a:ext cx="1234678" cy="681112"/>
          </a:xfrm>
          <a:prstGeom prst="rect">
            <a:avLst/>
          </a:prstGeom>
          <a:solidFill>
            <a:srgbClr val="DED6C6"/>
          </a:solidFill>
          <a:ln/>
        </p:spPr>
      </p:sp>
      <p:sp>
        <p:nvSpPr>
          <p:cNvPr id="51" name="Shape 49"/>
          <p:cNvSpPr/>
          <p:nvPr/>
        </p:nvSpPr>
        <p:spPr>
          <a:xfrm>
            <a:off x="8340328" y="6177930"/>
            <a:ext cx="1234678" cy="681112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52" name="Shape 50"/>
          <p:cNvSpPr/>
          <p:nvPr/>
        </p:nvSpPr>
        <p:spPr>
          <a:xfrm>
            <a:off x="9641681" y="6177930"/>
            <a:ext cx="1234678" cy="681112"/>
          </a:xfrm>
          <a:prstGeom prst="rect">
            <a:avLst/>
          </a:prstGeom>
          <a:solidFill>
            <a:srgbClr val="DED6C6"/>
          </a:solidFill>
          <a:ln/>
        </p:spPr>
      </p:sp>
      <p:sp>
        <p:nvSpPr>
          <p:cNvPr id="53" name="Shape 51"/>
          <p:cNvSpPr/>
          <p:nvPr/>
        </p:nvSpPr>
        <p:spPr>
          <a:xfrm>
            <a:off x="10943034" y="6177930"/>
            <a:ext cx="1234678" cy="681112"/>
          </a:xfrm>
          <a:prstGeom prst="rect">
            <a:avLst/>
          </a:prstGeom>
          <a:solidFill>
            <a:srgbClr val="DED6C6"/>
          </a:solidFill>
          <a:ln/>
        </p:spPr>
      </p:sp>
      <p:sp>
        <p:nvSpPr>
          <p:cNvPr id="54" name="Shape 52"/>
          <p:cNvSpPr/>
          <p:nvPr/>
        </p:nvSpPr>
        <p:spPr>
          <a:xfrm>
            <a:off x="12244388" y="6177930"/>
            <a:ext cx="1234678" cy="681112"/>
          </a:xfrm>
          <a:prstGeom prst="rect">
            <a:avLst/>
          </a:prstGeom>
          <a:solidFill>
            <a:srgbClr val="DED6C6"/>
          </a:solidFill>
          <a:ln/>
        </p:spPr>
      </p:sp>
      <p:sp>
        <p:nvSpPr>
          <p:cNvPr id="55" name="Shape 53"/>
          <p:cNvSpPr/>
          <p:nvPr/>
        </p:nvSpPr>
        <p:spPr>
          <a:xfrm>
            <a:off x="13545741" y="6177930"/>
            <a:ext cx="1234678" cy="681112"/>
          </a:xfrm>
          <a:prstGeom prst="rect">
            <a:avLst/>
          </a:prstGeom>
          <a:solidFill>
            <a:srgbClr val="DED6C6"/>
          </a:solidFill>
          <a:ln/>
        </p:spPr>
      </p:sp>
      <p:sp>
        <p:nvSpPr>
          <p:cNvPr id="56" name="Shape 54"/>
          <p:cNvSpPr/>
          <p:nvPr/>
        </p:nvSpPr>
        <p:spPr>
          <a:xfrm>
            <a:off x="14847094" y="6177930"/>
            <a:ext cx="1234678" cy="681112"/>
          </a:xfrm>
          <a:prstGeom prst="rect">
            <a:avLst/>
          </a:prstGeom>
          <a:solidFill>
            <a:srgbClr val="DED6C6"/>
          </a:solidFill>
          <a:ln/>
        </p:spPr>
      </p:sp>
      <p:sp>
        <p:nvSpPr>
          <p:cNvPr id="57" name="Shape 55"/>
          <p:cNvSpPr/>
          <p:nvPr/>
        </p:nvSpPr>
        <p:spPr>
          <a:xfrm>
            <a:off x="16148447" y="6177930"/>
            <a:ext cx="1234678" cy="681112"/>
          </a:xfrm>
          <a:prstGeom prst="rect">
            <a:avLst/>
          </a:prstGeom>
          <a:solidFill>
            <a:srgbClr val="DED6C6"/>
          </a:solidFill>
          <a:ln/>
        </p:spPr>
      </p:sp>
      <p:sp>
        <p:nvSpPr>
          <p:cNvPr id="58" name="Shape 56"/>
          <p:cNvSpPr/>
          <p:nvPr/>
        </p:nvSpPr>
        <p:spPr>
          <a:xfrm>
            <a:off x="685800" y="7268617"/>
            <a:ext cx="8362950" cy="604838"/>
          </a:xfrm>
          <a:prstGeom prst="rect">
            <a:avLst/>
          </a:prstGeom>
          <a:solidFill>
            <a:srgbClr val="F8F1E7"/>
          </a:solidFill>
          <a:ln w="9525">
            <a:solidFill>
              <a:srgbClr val="B46A3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85825" y="7437686"/>
            <a:ext cx="102832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126" kern="0" dirty="0">
                <a:solidFill>
                  <a:srgbClr val="B46A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ПРИЧИНЫ</a:t>
            </a:r>
            <a:endParaRPr lang="en-US" sz="1575" dirty="0"/>
          </a:p>
        </p:txBody>
      </p:sp>
      <p:sp>
        <p:nvSpPr>
          <p:cNvPr id="60" name="Text 58"/>
          <p:cNvSpPr/>
          <p:nvPr/>
        </p:nvSpPr>
        <p:spPr>
          <a:xfrm>
            <a:off x="1990353" y="7411492"/>
            <a:ext cx="452186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B1F3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цена, промо, комиссия, возврат, запас</a:t>
            </a:r>
            <a:endParaRPr lang="en-US" sz="1950" dirty="0"/>
          </a:p>
        </p:txBody>
      </p:sp>
      <p:sp>
        <p:nvSpPr>
          <p:cNvPr id="61" name="Shape 59"/>
          <p:cNvSpPr/>
          <p:nvPr/>
        </p:nvSpPr>
        <p:spPr>
          <a:xfrm>
            <a:off x="9239250" y="7268617"/>
            <a:ext cx="8362950" cy="604838"/>
          </a:xfrm>
          <a:prstGeom prst="rect">
            <a:avLst/>
          </a:prstGeom>
          <a:solidFill>
            <a:srgbClr val="EFF4F1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439275" y="7437686"/>
            <a:ext cx="102832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126" kern="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РЕШЕНИЕ</a:t>
            </a:r>
            <a:endParaRPr lang="en-US" sz="1575" dirty="0"/>
          </a:p>
        </p:txBody>
      </p:sp>
      <p:sp>
        <p:nvSpPr>
          <p:cNvPr id="63" name="Text 61"/>
          <p:cNvSpPr/>
          <p:nvPr/>
        </p:nvSpPr>
        <p:spPr>
          <a:xfrm>
            <a:off x="10543803" y="7411492"/>
            <a:ext cx="5287372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B1F3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смотреть не среднее, а управляемую строку</a:t>
            </a:r>
            <a:endParaRPr lang="en-US" sz="1950" dirty="0"/>
          </a:p>
        </p:txBody>
      </p:sp>
      <p:sp>
        <p:nvSpPr>
          <p:cNvPr id="64" name="Text 62"/>
          <p:cNvSpPr/>
          <p:nvPr/>
        </p:nvSpPr>
        <p:spPr>
          <a:xfrm>
            <a:off x="685800" y="8130629"/>
            <a:ext cx="102832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126" kern="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ЛЕГЕНДА</a:t>
            </a:r>
            <a:endParaRPr lang="en-US" sz="1575" dirty="0"/>
          </a:p>
        </p:txBody>
      </p:sp>
      <p:sp>
        <p:nvSpPr>
          <p:cNvPr id="65" name="Shape 63"/>
          <p:cNvSpPr/>
          <p:nvPr/>
        </p:nvSpPr>
        <p:spPr>
          <a:xfrm>
            <a:off x="1809378" y="8159204"/>
            <a:ext cx="209550" cy="13335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66" name="Text 64"/>
          <p:cNvSpPr/>
          <p:nvPr/>
        </p:nvSpPr>
        <p:spPr>
          <a:xfrm>
            <a:off x="2114178" y="8078242"/>
            <a:ext cx="2157859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Серый — усреднение</a:t>
            </a:r>
            <a:endParaRPr lang="en-US" sz="1800" dirty="0"/>
          </a:p>
        </p:txBody>
      </p:sp>
      <p:sp>
        <p:nvSpPr>
          <p:cNvPr id="67" name="Shape 65"/>
          <p:cNvSpPr/>
          <p:nvPr/>
        </p:nvSpPr>
        <p:spPr>
          <a:xfrm>
            <a:off x="4443487" y="8159204"/>
            <a:ext cx="209550" cy="13335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68" name="Text 66"/>
          <p:cNvSpPr/>
          <p:nvPr/>
        </p:nvSpPr>
        <p:spPr>
          <a:xfrm>
            <a:off x="4748287" y="8078242"/>
            <a:ext cx="2228478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Red — красная строка</a:t>
            </a:r>
            <a:endParaRPr lang="en-US" sz="1800" dirty="0"/>
          </a:p>
        </p:txBody>
      </p:sp>
      <p:sp>
        <p:nvSpPr>
          <p:cNvPr id="69" name="Shape 67"/>
          <p:cNvSpPr/>
          <p:nvPr/>
        </p:nvSpPr>
        <p:spPr>
          <a:xfrm>
            <a:off x="1809378" y="8521154"/>
            <a:ext cx="209550" cy="1333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70" name="Text 68"/>
          <p:cNvSpPr/>
          <p:nvPr/>
        </p:nvSpPr>
        <p:spPr>
          <a:xfrm>
            <a:off x="2114178" y="8440192"/>
            <a:ext cx="3934341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Teal — строка, пригодная для решения</a:t>
            </a:r>
            <a:endParaRPr lang="en-US" sz="1800" dirty="0"/>
          </a:p>
        </p:txBody>
      </p:sp>
      <p:sp>
        <p:nvSpPr>
          <p:cNvPr id="71" name="Shape 69"/>
          <p:cNvSpPr/>
          <p:nvPr/>
        </p:nvSpPr>
        <p:spPr>
          <a:xfrm>
            <a:off x="9353550" y="8083004"/>
            <a:ext cx="8248650" cy="1241971"/>
          </a:xfrm>
          <a:prstGeom prst="rect">
            <a:avLst/>
          </a:prstGeom>
          <a:ln w="9525">
            <a:solidFill>
              <a:srgbClr val="B91C1C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9553575" y="8244929"/>
            <a:ext cx="86334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126" kern="0" dirty="0">
                <a:solidFill>
                  <a:srgbClr val="B91C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ЭТО НЕ</a:t>
            </a:r>
            <a:endParaRPr lang="en-US" sz="1575" dirty="0"/>
          </a:p>
        </p:txBody>
      </p:sp>
      <p:sp>
        <p:nvSpPr>
          <p:cNvPr id="73" name="Text 71"/>
          <p:cNvSpPr/>
          <p:nvPr/>
        </p:nvSpPr>
        <p:spPr>
          <a:xfrm>
            <a:off x="9553575" y="8568779"/>
            <a:ext cx="8084058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645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Это не спор о финансовой терминологии. Это демонстрация, почему средняя цифра не заменяет управленческую карту.</a:t>
            </a:r>
            <a:endParaRPr lang="en-US" sz="1800" dirty="0"/>
          </a:p>
        </p:txBody>
      </p:sp>
      <p:sp>
        <p:nvSpPr>
          <p:cNvPr id="74" name="Shape 72"/>
          <p:cNvSpPr/>
          <p:nvPr/>
        </p:nvSpPr>
        <p:spPr>
          <a:xfrm>
            <a:off x="685800" y="9515475"/>
            <a:ext cx="16916400" cy="9525"/>
          </a:xfrm>
          <a:prstGeom prst="rect">
            <a:avLst/>
          </a:prstGeom>
          <a:solidFill>
            <a:srgbClr val="0B1F33">
              <a:alpha val="20000"/>
            </a:srgbClr>
          </a:solidFill>
          <a:ln/>
        </p:spPr>
      </p:sp>
      <p:sp>
        <p:nvSpPr>
          <p:cNvPr id="75" name="Text 73"/>
          <p:cNvSpPr/>
          <p:nvPr/>
        </p:nvSpPr>
        <p:spPr>
          <a:xfrm>
            <a:off x="685800" y="9658350"/>
            <a:ext cx="1085608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0B1F33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Средняя маржа отвечает «как в целом»; Контур Маржи отвечает «где именно и что делать».</a:t>
            </a:r>
            <a:endParaRPr lang="en-US" sz="1800" dirty="0"/>
          </a:p>
        </p:txBody>
      </p:sp>
      <p:sp>
        <p:nvSpPr>
          <p:cNvPr id="76" name="Text 74"/>
          <p:cNvSpPr/>
          <p:nvPr/>
        </p:nvSpPr>
        <p:spPr>
          <a:xfrm>
            <a:off x="11030024" y="9672638"/>
            <a:ext cx="722939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Визуализация_02_Средняя_Маржа_Скрывает_Проблему_V1</a:t>
            </a:r>
            <a:endParaRPr lang="en-US" sz="17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B1F33">
                  <a:alpha val="5000"/>
                </a:srgbClr>
              </a:gs>
              <a:gs pos="100000">
                <a:srgbClr val="0B1F33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685800" y="842963"/>
            <a:ext cx="16916400" cy="9525"/>
          </a:xfrm>
          <a:prstGeom prst="rect">
            <a:avLst/>
          </a:prstGeom>
          <a:solidFill>
            <a:srgbClr val="0B1F33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19100"/>
            <a:ext cx="4771437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spc="103" kern="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КОНТУР МАРЖИ / ВИЗУАЛИЗАЦИЯ 03</a:t>
            </a:r>
            <a:endParaRPr lang="en-US" sz="1725" dirty="0"/>
          </a:p>
        </p:txBody>
      </p:sp>
      <p:sp>
        <p:nvSpPr>
          <p:cNvPr id="5" name="Text 3"/>
          <p:cNvSpPr/>
          <p:nvPr/>
        </p:nvSpPr>
        <p:spPr>
          <a:xfrm>
            <a:off x="7047309" y="419100"/>
            <a:ext cx="1161038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spc="103" kern="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КОММЕРЧЕСКИЙ + КОНСУЛЬТАНТСКИЙ СЛОЙ · DIAGNOSTIC CARD · СЛОЖНОСТЬ СРЕДНЯЯ</a:t>
            </a:r>
            <a:endParaRPr lang="en-US" sz="1725" dirty="0"/>
          </a:p>
        </p:txBody>
      </p:sp>
      <p:sp>
        <p:nvSpPr>
          <p:cNvPr id="6" name="Text 4"/>
          <p:cNvSpPr/>
          <p:nvPr/>
        </p:nvSpPr>
        <p:spPr>
          <a:xfrm>
            <a:off x="685800" y="1100138"/>
            <a:ext cx="18608040" cy="643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500" b="1" dirty="0">
                <a:solidFill>
                  <a:srgbClr val="0B1F33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Диагностика: сначала карта потерь, потом решение</a:t>
            </a:r>
            <a:endParaRPr lang="en-US" sz="4500" dirty="0"/>
          </a:p>
        </p:txBody>
      </p:sp>
      <p:sp>
        <p:nvSpPr>
          <p:cNvPr id="7" name="Text 5"/>
          <p:cNvSpPr/>
          <p:nvPr/>
        </p:nvSpPr>
        <p:spPr>
          <a:xfrm>
            <a:off x="685800" y="1839218"/>
            <a:ext cx="163449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dirty="0">
                <a:solidFill>
                  <a:srgbClr val="475569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До Сессии проверяются данные, красные зоны, метрики проверки маржи и контрольный вердикт / gate.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685800" y="2458343"/>
            <a:ext cx="3943350" cy="3981599"/>
          </a:xfrm>
          <a:prstGeom prst="rect">
            <a:avLst/>
          </a:prstGeom>
          <a:solidFill>
            <a:srgbClr val="F8F3E9"/>
          </a:solidFill>
          <a:ln w="9525">
            <a:solidFill>
              <a:srgbClr val="0B1F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5825" y="4074840"/>
            <a:ext cx="389763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B46A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885825" y="4503465"/>
            <a:ext cx="389763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333"/>
              </a:lnSpc>
              <a:buNone/>
            </a:pPr>
            <a:r>
              <a:rPr lang="en-US" sz="2100" b="1" dirty="0">
                <a:solidFill>
                  <a:srgbClr val="0B1F3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Карта данных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4629150" y="4439617"/>
            <a:ext cx="257175" cy="190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12" name="Shape 10"/>
          <p:cNvSpPr/>
          <p:nvPr/>
        </p:nvSpPr>
        <p:spPr>
          <a:xfrm>
            <a:off x="4886325" y="4372942"/>
            <a:ext cx="123825" cy="15240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13" name="Shape 11"/>
          <p:cNvSpPr/>
          <p:nvPr/>
        </p:nvSpPr>
        <p:spPr>
          <a:xfrm>
            <a:off x="5010150" y="2458343"/>
            <a:ext cx="3943350" cy="3981599"/>
          </a:xfrm>
          <a:prstGeom prst="rect">
            <a:avLst/>
          </a:prstGeom>
          <a:solidFill>
            <a:srgbClr val="F8F3E9"/>
          </a:solidFill>
          <a:ln w="9525">
            <a:solidFill>
              <a:srgbClr val="0B1F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0175" y="4074840"/>
            <a:ext cx="389763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B46A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5210175" y="4503465"/>
            <a:ext cx="389763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333"/>
              </a:lnSpc>
              <a:buNone/>
            </a:pPr>
            <a:r>
              <a:rPr lang="en-US" sz="2100" b="1" dirty="0">
                <a:solidFill>
                  <a:srgbClr val="0B1F3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Карта потерь P0-P3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8953500" y="4439617"/>
            <a:ext cx="257175" cy="190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17" name="Shape 15"/>
          <p:cNvSpPr/>
          <p:nvPr/>
        </p:nvSpPr>
        <p:spPr>
          <a:xfrm>
            <a:off x="9210675" y="4372942"/>
            <a:ext cx="123825" cy="15240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18" name="Shape 16"/>
          <p:cNvSpPr/>
          <p:nvPr/>
        </p:nvSpPr>
        <p:spPr>
          <a:xfrm>
            <a:off x="9334500" y="2458343"/>
            <a:ext cx="3943350" cy="3981599"/>
          </a:xfrm>
          <a:prstGeom prst="rect">
            <a:avLst/>
          </a:prstGeom>
          <a:solidFill>
            <a:srgbClr val="EFF4F1"/>
          </a:solidFill>
          <a:ln/>
        </p:spPr>
      </p:sp>
      <p:sp>
        <p:nvSpPr>
          <p:cNvPr id="19" name="Shape 17"/>
          <p:cNvSpPr/>
          <p:nvPr/>
        </p:nvSpPr>
        <p:spPr>
          <a:xfrm>
            <a:off x="9334500" y="6430417"/>
            <a:ext cx="3943350" cy="9525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Shape 18"/>
          <p:cNvSpPr/>
          <p:nvPr/>
        </p:nvSpPr>
        <p:spPr>
          <a:xfrm>
            <a:off x="9334500" y="2458343"/>
            <a:ext cx="3943350" cy="571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1" name="Shape 19"/>
          <p:cNvSpPr/>
          <p:nvPr/>
        </p:nvSpPr>
        <p:spPr>
          <a:xfrm>
            <a:off x="9334500" y="2458343"/>
            <a:ext cx="9525" cy="3981599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68325" y="2458343"/>
            <a:ext cx="9525" cy="3981599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3" name="Text 21"/>
          <p:cNvSpPr/>
          <p:nvPr/>
        </p:nvSpPr>
        <p:spPr>
          <a:xfrm>
            <a:off x="9534525" y="4098652"/>
            <a:ext cx="389763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9534525" y="4527277"/>
            <a:ext cx="389763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333"/>
              </a:lnSpc>
              <a:buNone/>
            </a:pPr>
            <a:r>
              <a:rPr lang="en-US" sz="2100" b="1" dirty="0">
                <a:solidFill>
                  <a:srgbClr val="0B1F3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Метрики проверки маржи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13277850" y="4439617"/>
            <a:ext cx="257175" cy="190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26" name="Shape 24"/>
          <p:cNvSpPr/>
          <p:nvPr/>
        </p:nvSpPr>
        <p:spPr>
          <a:xfrm>
            <a:off x="13535025" y="4372942"/>
            <a:ext cx="123825" cy="15240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27" name="Shape 25"/>
          <p:cNvSpPr/>
          <p:nvPr/>
        </p:nvSpPr>
        <p:spPr>
          <a:xfrm>
            <a:off x="13658850" y="2458343"/>
            <a:ext cx="3943350" cy="3981599"/>
          </a:xfrm>
          <a:prstGeom prst="rect">
            <a:avLst/>
          </a:prstGeom>
          <a:solidFill>
            <a:srgbClr val="FAEEEB"/>
          </a:solidFill>
          <a:ln/>
        </p:spPr>
      </p:sp>
      <p:sp>
        <p:nvSpPr>
          <p:cNvPr id="28" name="Shape 26"/>
          <p:cNvSpPr/>
          <p:nvPr/>
        </p:nvSpPr>
        <p:spPr>
          <a:xfrm>
            <a:off x="13658850" y="6430417"/>
            <a:ext cx="3943350" cy="9525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29" name="Shape 27"/>
          <p:cNvSpPr/>
          <p:nvPr/>
        </p:nvSpPr>
        <p:spPr>
          <a:xfrm>
            <a:off x="13658850" y="2458343"/>
            <a:ext cx="3943350" cy="5715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0" name="Shape 28"/>
          <p:cNvSpPr/>
          <p:nvPr/>
        </p:nvSpPr>
        <p:spPr>
          <a:xfrm>
            <a:off x="13658850" y="2458343"/>
            <a:ext cx="9525" cy="3981599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1" name="Shape 29"/>
          <p:cNvSpPr/>
          <p:nvPr/>
        </p:nvSpPr>
        <p:spPr>
          <a:xfrm>
            <a:off x="17592675" y="2458343"/>
            <a:ext cx="9525" cy="3981599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2" name="Text 30"/>
          <p:cNvSpPr/>
          <p:nvPr/>
        </p:nvSpPr>
        <p:spPr>
          <a:xfrm>
            <a:off x="13858875" y="3938662"/>
            <a:ext cx="389763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B91C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13858875" y="4367287"/>
            <a:ext cx="3649599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333"/>
              </a:lnSpc>
              <a:buNone/>
            </a:pPr>
            <a:r>
              <a:rPr lang="en-US" sz="2100" b="1" dirty="0">
                <a:solidFill>
                  <a:srgbClr val="B91C1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Красные SKU / товарные позиции x канал</a:t>
            </a:r>
            <a:endParaRPr lang="en-US" sz="2100" dirty="0"/>
          </a:p>
        </p:txBody>
      </p:sp>
      <p:sp>
        <p:nvSpPr>
          <p:cNvPr id="34" name="Shape 32"/>
          <p:cNvSpPr/>
          <p:nvPr/>
        </p:nvSpPr>
        <p:spPr>
          <a:xfrm>
            <a:off x="9058275" y="6611392"/>
            <a:ext cx="171450" cy="1333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35" name="Shape 33"/>
          <p:cNvSpPr/>
          <p:nvPr/>
        </p:nvSpPr>
        <p:spPr>
          <a:xfrm>
            <a:off x="685800" y="6916192"/>
            <a:ext cx="16916400" cy="919162"/>
          </a:xfrm>
          <a:prstGeom prst="rect">
            <a:avLst/>
          </a:prstGeom>
          <a:solidFill>
            <a:srgbClr val="F8F3E9"/>
          </a:solidFill>
          <a:ln w="9525">
            <a:solidFill>
              <a:srgbClr val="0B1F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85825" y="7237661"/>
            <a:ext cx="107364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ВЕРДИКТ</a:t>
            </a:r>
            <a:endParaRPr lang="en-US" sz="1650" dirty="0"/>
          </a:p>
        </p:txBody>
      </p:sp>
      <p:sp>
        <p:nvSpPr>
          <p:cNvPr id="37" name="Shape 35"/>
          <p:cNvSpPr/>
          <p:nvPr/>
        </p:nvSpPr>
        <p:spPr>
          <a:xfrm>
            <a:off x="2073771" y="7097167"/>
            <a:ext cx="2974181" cy="557213"/>
          </a:xfrm>
          <a:prstGeom prst="rect">
            <a:avLst/>
          </a:prstGeom>
          <a:solidFill>
            <a:srgbClr val="EFF4F1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216646" y="7220992"/>
            <a:ext cx="2777657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F766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Go / запускать</a:t>
            </a:r>
            <a:endParaRPr lang="en-US" sz="1875" dirty="0"/>
          </a:p>
        </p:txBody>
      </p:sp>
      <p:sp>
        <p:nvSpPr>
          <p:cNvPr id="39" name="Shape 37"/>
          <p:cNvSpPr/>
          <p:nvPr/>
        </p:nvSpPr>
        <p:spPr>
          <a:xfrm>
            <a:off x="5162252" y="7097167"/>
            <a:ext cx="2974256" cy="557213"/>
          </a:xfrm>
          <a:prstGeom prst="rect">
            <a:avLst/>
          </a:prstGeom>
          <a:solidFill>
            <a:srgbClr val="F8F1E7"/>
          </a:solidFill>
          <a:ln w="9525">
            <a:solidFill>
              <a:srgbClr val="B46A3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05127" y="7220992"/>
            <a:ext cx="2777733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B46A3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Go при условиях</a:t>
            </a:r>
            <a:endParaRPr lang="en-US" sz="1875" dirty="0"/>
          </a:p>
        </p:txBody>
      </p:sp>
      <p:sp>
        <p:nvSpPr>
          <p:cNvPr id="41" name="Shape 39"/>
          <p:cNvSpPr/>
          <p:nvPr/>
        </p:nvSpPr>
        <p:spPr>
          <a:xfrm>
            <a:off x="8250808" y="7097167"/>
            <a:ext cx="2974256" cy="557213"/>
          </a:xfrm>
          <a:prstGeom prst="rect">
            <a:avLst/>
          </a:prstGeom>
          <a:solidFill>
            <a:srgbClr val="EFEADF"/>
          </a:solidFill>
          <a:ln w="9525">
            <a:solidFill>
              <a:srgbClr val="47556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393683" y="7220992"/>
            <a:ext cx="2777733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475569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Hold / отложить</a:t>
            </a:r>
            <a:endParaRPr lang="en-US" sz="1875" dirty="0"/>
          </a:p>
        </p:txBody>
      </p:sp>
      <p:sp>
        <p:nvSpPr>
          <p:cNvPr id="43" name="Shape 41"/>
          <p:cNvSpPr/>
          <p:nvPr/>
        </p:nvSpPr>
        <p:spPr>
          <a:xfrm>
            <a:off x="11339364" y="7097167"/>
            <a:ext cx="2974256" cy="557213"/>
          </a:xfrm>
          <a:prstGeom prst="rect">
            <a:avLst/>
          </a:prstGeom>
          <a:solidFill>
            <a:srgbClr val="FAEEEB"/>
          </a:solidFill>
          <a:ln w="9525">
            <a:solidFill>
              <a:srgbClr val="B91C1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1482239" y="7220992"/>
            <a:ext cx="2777733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B91C1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Stop / остановить</a:t>
            </a:r>
            <a:endParaRPr lang="en-US" sz="1875" dirty="0"/>
          </a:p>
        </p:txBody>
      </p:sp>
      <p:sp>
        <p:nvSpPr>
          <p:cNvPr id="45" name="Shape 43"/>
          <p:cNvSpPr/>
          <p:nvPr/>
        </p:nvSpPr>
        <p:spPr>
          <a:xfrm>
            <a:off x="14427919" y="7097167"/>
            <a:ext cx="2974256" cy="557213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46" name="Text 44"/>
          <p:cNvSpPr/>
          <p:nvPr/>
        </p:nvSpPr>
        <p:spPr>
          <a:xfrm>
            <a:off x="14561269" y="7211467"/>
            <a:ext cx="2796783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3EBD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No Fit / не подходит</a:t>
            </a:r>
            <a:endParaRPr lang="en-US" sz="1875" dirty="0"/>
          </a:p>
        </p:txBody>
      </p:sp>
      <p:sp>
        <p:nvSpPr>
          <p:cNvPr id="47" name="Text 45"/>
          <p:cNvSpPr/>
          <p:nvPr/>
        </p:nvSpPr>
        <p:spPr>
          <a:xfrm>
            <a:off x="685800" y="8111579"/>
            <a:ext cx="102832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126" kern="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ЛЕГЕНДА</a:t>
            </a:r>
            <a:endParaRPr lang="en-US" sz="1575" dirty="0"/>
          </a:p>
        </p:txBody>
      </p:sp>
      <p:sp>
        <p:nvSpPr>
          <p:cNvPr id="48" name="Shape 46"/>
          <p:cNvSpPr/>
          <p:nvPr/>
        </p:nvSpPr>
        <p:spPr>
          <a:xfrm>
            <a:off x="1809378" y="8140154"/>
            <a:ext cx="209550" cy="13335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49" name="Text 47"/>
          <p:cNvSpPr/>
          <p:nvPr/>
        </p:nvSpPr>
        <p:spPr>
          <a:xfrm>
            <a:off x="2114178" y="8059192"/>
            <a:ext cx="2916629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Diagnostic Red — Stop / риск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5193506" y="8140154"/>
            <a:ext cx="209550" cy="1333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51" name="Text 49"/>
          <p:cNvSpPr/>
          <p:nvPr/>
        </p:nvSpPr>
        <p:spPr>
          <a:xfrm>
            <a:off x="5498306" y="8059192"/>
            <a:ext cx="2894018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Copper — условный переход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1809378" y="8502104"/>
            <a:ext cx="209550" cy="1333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3" name="Text 51"/>
          <p:cNvSpPr/>
          <p:nvPr/>
        </p:nvSpPr>
        <p:spPr>
          <a:xfrm>
            <a:off x="2114178" y="8421142"/>
            <a:ext cx="2987987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Teal — готовность к решению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9353550" y="8063954"/>
            <a:ext cx="8248650" cy="1241971"/>
          </a:xfrm>
          <a:prstGeom prst="rect">
            <a:avLst/>
          </a:prstGeom>
          <a:ln w="9525">
            <a:solidFill>
              <a:srgbClr val="B91C1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553575" y="8225879"/>
            <a:ext cx="86334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126" kern="0" dirty="0">
                <a:solidFill>
                  <a:srgbClr val="B91C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ЭТО НЕ</a:t>
            </a:r>
            <a:endParaRPr lang="en-US" sz="1575" dirty="0"/>
          </a:p>
        </p:txBody>
      </p:sp>
      <p:sp>
        <p:nvSpPr>
          <p:cNvPr id="56" name="Text 54"/>
          <p:cNvSpPr/>
          <p:nvPr/>
        </p:nvSpPr>
        <p:spPr>
          <a:xfrm>
            <a:off x="9553575" y="8549729"/>
            <a:ext cx="8084058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645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Это не бесплатная консультация и не обещание внедрения. Диагностика может завершиться Stop / остановить.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685800" y="9515475"/>
            <a:ext cx="16916400" cy="9525"/>
          </a:xfrm>
          <a:prstGeom prst="rect">
            <a:avLst/>
          </a:prstGeom>
          <a:solidFill>
            <a:srgbClr val="0B1F33">
              <a:alpha val="20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685800" y="9658350"/>
            <a:ext cx="894246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0B1F33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Платная Диагностика снижает риск строить проект на несводимых данных.</a:t>
            </a:r>
            <a:endParaRPr lang="en-US" sz="1800" dirty="0"/>
          </a:p>
        </p:txBody>
      </p:sp>
      <p:sp>
        <p:nvSpPr>
          <p:cNvPr id="59" name="Text 57"/>
          <p:cNvSpPr/>
          <p:nvPr/>
        </p:nvSpPr>
        <p:spPr>
          <a:xfrm>
            <a:off x="12870210" y="9672638"/>
            <a:ext cx="5205189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Визуализация_03_Диагностика_Маржи_V1</a:t>
            </a:r>
            <a:endParaRPr lang="en-US" sz="17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B1F33">
                  <a:alpha val="5000"/>
                </a:srgbClr>
              </a:gs>
              <a:gs pos="100000">
                <a:srgbClr val="0B1F33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685800" y="842963"/>
            <a:ext cx="16916400" cy="9525"/>
          </a:xfrm>
          <a:prstGeom prst="rect">
            <a:avLst/>
          </a:prstGeom>
          <a:solidFill>
            <a:srgbClr val="0B1F33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19100"/>
            <a:ext cx="4771437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spc="103" kern="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КОНТУР МАРЖИ / ВИЗУАЛИЗАЦИЯ 04</a:t>
            </a:r>
            <a:endParaRPr lang="en-US" sz="1725" dirty="0"/>
          </a:p>
        </p:txBody>
      </p:sp>
      <p:sp>
        <p:nvSpPr>
          <p:cNvPr id="5" name="Text 3"/>
          <p:cNvSpPr/>
          <p:nvPr/>
        </p:nvSpPr>
        <p:spPr>
          <a:xfrm>
            <a:off x="6902723" y="419100"/>
            <a:ext cx="1176942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spc="103" kern="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КЛИЕНТСКИЙ + КОНСУЛЬТАНТСКИЙ СЛОЙ · MARGIN LEAKAGE MAP · СЛОЖНОСТЬ СРЕДНЯЯ</a:t>
            </a:r>
            <a:endParaRPr lang="en-US" sz="1725" dirty="0"/>
          </a:p>
        </p:txBody>
      </p:sp>
      <p:sp>
        <p:nvSpPr>
          <p:cNvPr id="6" name="Text 4"/>
          <p:cNvSpPr/>
          <p:nvPr/>
        </p:nvSpPr>
        <p:spPr>
          <a:xfrm>
            <a:off x="685800" y="1100138"/>
            <a:ext cx="18608040" cy="643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500" b="1" dirty="0">
                <a:solidFill>
                  <a:srgbClr val="0B1F33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Карта утечки: где ассортимент теряет прибыль</a:t>
            </a:r>
            <a:endParaRPr lang="en-US" sz="4500" dirty="0"/>
          </a:p>
        </p:txBody>
      </p:sp>
      <p:sp>
        <p:nvSpPr>
          <p:cNvPr id="7" name="Text 5"/>
          <p:cNvSpPr/>
          <p:nvPr/>
        </p:nvSpPr>
        <p:spPr>
          <a:xfrm>
            <a:off x="685800" y="1839218"/>
            <a:ext cx="163449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dirty="0">
                <a:solidFill>
                  <a:srgbClr val="475569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Потери возникают не в одной функции, а на стыке цены, промо, комиссии, логистики, возвратов и запаса.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685800" y="2458343"/>
            <a:ext cx="5153025" cy="1678037"/>
          </a:xfrm>
          <a:prstGeom prst="rect">
            <a:avLst/>
          </a:prstGeom>
          <a:solidFill>
            <a:srgbClr val="FAEEEB"/>
          </a:solidFill>
          <a:ln/>
        </p:spPr>
      </p:sp>
      <p:sp>
        <p:nvSpPr>
          <p:cNvPr id="9" name="Shape 7"/>
          <p:cNvSpPr/>
          <p:nvPr/>
        </p:nvSpPr>
        <p:spPr>
          <a:xfrm>
            <a:off x="685800" y="4126855"/>
            <a:ext cx="5153025" cy="9525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2458343"/>
            <a:ext cx="5153025" cy="9525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" y="2458343"/>
            <a:ext cx="57150" cy="1678037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2" name="Shape 10"/>
          <p:cNvSpPr/>
          <p:nvPr/>
        </p:nvSpPr>
        <p:spPr>
          <a:xfrm>
            <a:off x="5829300" y="2458343"/>
            <a:ext cx="9525" cy="1678037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3" name="Text 11"/>
          <p:cNvSpPr/>
          <p:nvPr/>
        </p:nvSpPr>
        <p:spPr>
          <a:xfrm>
            <a:off x="933450" y="2620268"/>
            <a:ext cx="4859941" cy="1392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B1F3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Цена ниже коридора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685800" y="4307830"/>
            <a:ext cx="5153025" cy="1678037"/>
          </a:xfrm>
          <a:prstGeom prst="rect">
            <a:avLst/>
          </a:prstGeom>
          <a:solidFill>
            <a:srgbClr val="FAEEEB"/>
          </a:solidFill>
          <a:ln/>
        </p:spPr>
      </p:sp>
      <p:sp>
        <p:nvSpPr>
          <p:cNvPr id="15" name="Shape 13"/>
          <p:cNvSpPr/>
          <p:nvPr/>
        </p:nvSpPr>
        <p:spPr>
          <a:xfrm>
            <a:off x="685800" y="5976342"/>
            <a:ext cx="5153025" cy="9525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6" name="Shape 14"/>
          <p:cNvSpPr/>
          <p:nvPr/>
        </p:nvSpPr>
        <p:spPr>
          <a:xfrm>
            <a:off x="685800" y="4307830"/>
            <a:ext cx="5153025" cy="9525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7" name="Shape 15"/>
          <p:cNvSpPr/>
          <p:nvPr/>
        </p:nvSpPr>
        <p:spPr>
          <a:xfrm>
            <a:off x="685800" y="4307830"/>
            <a:ext cx="57150" cy="1678037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8" name="Shape 16"/>
          <p:cNvSpPr/>
          <p:nvPr/>
        </p:nvSpPr>
        <p:spPr>
          <a:xfrm>
            <a:off x="5829300" y="4307830"/>
            <a:ext cx="9525" cy="1678037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9" name="Text 17"/>
          <p:cNvSpPr/>
          <p:nvPr/>
        </p:nvSpPr>
        <p:spPr>
          <a:xfrm>
            <a:off x="933450" y="4469755"/>
            <a:ext cx="4859941" cy="1392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B1F3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Промо без чистого вклада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685800" y="6157317"/>
            <a:ext cx="5153025" cy="1678037"/>
          </a:xfrm>
          <a:prstGeom prst="rect">
            <a:avLst/>
          </a:prstGeom>
          <a:solidFill>
            <a:srgbClr val="FAEEEB"/>
          </a:solidFill>
          <a:ln/>
        </p:spPr>
      </p:sp>
      <p:sp>
        <p:nvSpPr>
          <p:cNvPr id="21" name="Shape 19"/>
          <p:cNvSpPr/>
          <p:nvPr/>
        </p:nvSpPr>
        <p:spPr>
          <a:xfrm>
            <a:off x="685800" y="7825829"/>
            <a:ext cx="5153025" cy="9525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22" name="Shape 20"/>
          <p:cNvSpPr/>
          <p:nvPr/>
        </p:nvSpPr>
        <p:spPr>
          <a:xfrm>
            <a:off x="685800" y="6157317"/>
            <a:ext cx="5153025" cy="9525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23" name="Shape 21"/>
          <p:cNvSpPr/>
          <p:nvPr/>
        </p:nvSpPr>
        <p:spPr>
          <a:xfrm>
            <a:off x="685800" y="6157317"/>
            <a:ext cx="57150" cy="1678037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24" name="Shape 22"/>
          <p:cNvSpPr/>
          <p:nvPr/>
        </p:nvSpPr>
        <p:spPr>
          <a:xfrm>
            <a:off x="5829300" y="6157317"/>
            <a:ext cx="9525" cy="1678037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25" name="Text 23"/>
          <p:cNvSpPr/>
          <p:nvPr/>
        </p:nvSpPr>
        <p:spPr>
          <a:xfrm>
            <a:off x="933450" y="6319242"/>
            <a:ext cx="4859941" cy="1392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B1F3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Комиссия канала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6010275" y="3344987"/>
            <a:ext cx="600075" cy="190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27" name="Shape 25"/>
          <p:cNvSpPr/>
          <p:nvPr/>
        </p:nvSpPr>
        <p:spPr>
          <a:xfrm>
            <a:off x="6610350" y="3278312"/>
            <a:ext cx="123825" cy="15240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28" name="Shape 26"/>
          <p:cNvSpPr/>
          <p:nvPr/>
        </p:nvSpPr>
        <p:spPr>
          <a:xfrm>
            <a:off x="6010275" y="5137324"/>
            <a:ext cx="600075" cy="190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29" name="Shape 27"/>
          <p:cNvSpPr/>
          <p:nvPr/>
        </p:nvSpPr>
        <p:spPr>
          <a:xfrm>
            <a:off x="6610350" y="5070649"/>
            <a:ext cx="123825" cy="15240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30" name="Shape 28"/>
          <p:cNvSpPr/>
          <p:nvPr/>
        </p:nvSpPr>
        <p:spPr>
          <a:xfrm>
            <a:off x="6010275" y="6929661"/>
            <a:ext cx="600075" cy="190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31" name="Shape 29"/>
          <p:cNvSpPr/>
          <p:nvPr/>
        </p:nvSpPr>
        <p:spPr>
          <a:xfrm>
            <a:off x="6610350" y="6862986"/>
            <a:ext cx="123825" cy="15240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32" name="Shape 30"/>
          <p:cNvSpPr/>
          <p:nvPr/>
        </p:nvSpPr>
        <p:spPr>
          <a:xfrm>
            <a:off x="6905625" y="2458343"/>
            <a:ext cx="4476750" cy="5377011"/>
          </a:xfrm>
          <a:prstGeom prst="rect">
            <a:avLst/>
          </a:prstGeom>
          <a:solidFill>
            <a:srgbClr val="0B1F33"/>
          </a:solidFill>
          <a:ln w="57150">
            <a:solidFill>
              <a:srgbClr val="B91C1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96112" y="4712047"/>
            <a:ext cx="429577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spc="132" kern="0" dirty="0">
                <a:solidFill>
                  <a:srgbClr val="E6A0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КРАСНАЯ ЗОНА</a:t>
            </a:r>
            <a:endParaRPr lang="en-US" sz="1650" dirty="0"/>
          </a:p>
        </p:txBody>
      </p:sp>
      <p:sp>
        <p:nvSpPr>
          <p:cNvPr id="34" name="Text 32"/>
          <p:cNvSpPr/>
          <p:nvPr/>
        </p:nvSpPr>
        <p:spPr>
          <a:xfrm>
            <a:off x="6996112" y="5121622"/>
            <a:ext cx="4295775" cy="498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7027"/>
              </a:lnSpc>
              <a:buNone/>
            </a:pPr>
            <a:r>
              <a:rPr lang="en-US" sz="3150" b="1" dirty="0">
                <a:solidFill>
                  <a:srgbClr val="F3EBDD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SKU x канал</a:t>
            </a:r>
            <a:endParaRPr lang="en-US" sz="3150" dirty="0"/>
          </a:p>
        </p:txBody>
      </p:sp>
      <p:sp>
        <p:nvSpPr>
          <p:cNvPr id="35" name="Shape 33"/>
          <p:cNvSpPr/>
          <p:nvPr/>
        </p:nvSpPr>
        <p:spPr>
          <a:xfrm>
            <a:off x="11553825" y="3278312"/>
            <a:ext cx="123825" cy="15240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36" name="Shape 34"/>
          <p:cNvSpPr/>
          <p:nvPr/>
        </p:nvSpPr>
        <p:spPr>
          <a:xfrm>
            <a:off x="11677650" y="3344987"/>
            <a:ext cx="600075" cy="190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37" name="Shape 35"/>
          <p:cNvSpPr/>
          <p:nvPr/>
        </p:nvSpPr>
        <p:spPr>
          <a:xfrm>
            <a:off x="11553825" y="5070649"/>
            <a:ext cx="123825" cy="15240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38" name="Shape 36"/>
          <p:cNvSpPr/>
          <p:nvPr/>
        </p:nvSpPr>
        <p:spPr>
          <a:xfrm>
            <a:off x="11677650" y="5137324"/>
            <a:ext cx="600075" cy="190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39" name="Shape 37"/>
          <p:cNvSpPr/>
          <p:nvPr/>
        </p:nvSpPr>
        <p:spPr>
          <a:xfrm>
            <a:off x="11553825" y="6862986"/>
            <a:ext cx="123825" cy="15240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40" name="Shape 38"/>
          <p:cNvSpPr/>
          <p:nvPr/>
        </p:nvSpPr>
        <p:spPr>
          <a:xfrm>
            <a:off x="11677650" y="6929661"/>
            <a:ext cx="600075" cy="190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41" name="Shape 39"/>
          <p:cNvSpPr/>
          <p:nvPr/>
        </p:nvSpPr>
        <p:spPr>
          <a:xfrm>
            <a:off x="12449175" y="2458343"/>
            <a:ext cx="5153025" cy="1678037"/>
          </a:xfrm>
          <a:prstGeom prst="rect">
            <a:avLst/>
          </a:prstGeom>
          <a:solidFill>
            <a:srgbClr val="FAEEEB"/>
          </a:solidFill>
          <a:ln/>
        </p:spPr>
      </p:sp>
      <p:sp>
        <p:nvSpPr>
          <p:cNvPr id="42" name="Shape 40"/>
          <p:cNvSpPr/>
          <p:nvPr/>
        </p:nvSpPr>
        <p:spPr>
          <a:xfrm>
            <a:off x="12449175" y="4126855"/>
            <a:ext cx="5153025" cy="9525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43" name="Shape 41"/>
          <p:cNvSpPr/>
          <p:nvPr/>
        </p:nvSpPr>
        <p:spPr>
          <a:xfrm>
            <a:off x="12449175" y="2458343"/>
            <a:ext cx="5153025" cy="9525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44" name="Shape 42"/>
          <p:cNvSpPr/>
          <p:nvPr/>
        </p:nvSpPr>
        <p:spPr>
          <a:xfrm>
            <a:off x="12449175" y="2458343"/>
            <a:ext cx="9525" cy="1678037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45" name="Shape 43"/>
          <p:cNvSpPr/>
          <p:nvPr/>
        </p:nvSpPr>
        <p:spPr>
          <a:xfrm>
            <a:off x="17545050" y="2458343"/>
            <a:ext cx="57150" cy="1678037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46" name="Text 44"/>
          <p:cNvSpPr/>
          <p:nvPr/>
        </p:nvSpPr>
        <p:spPr>
          <a:xfrm>
            <a:off x="12494609" y="2620268"/>
            <a:ext cx="4859941" cy="1392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0B1F3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Возвраты</a:t>
            </a:r>
            <a:endParaRPr lang="en-US" sz="2100" dirty="0"/>
          </a:p>
        </p:txBody>
      </p:sp>
      <p:sp>
        <p:nvSpPr>
          <p:cNvPr id="47" name="Shape 45"/>
          <p:cNvSpPr/>
          <p:nvPr/>
        </p:nvSpPr>
        <p:spPr>
          <a:xfrm>
            <a:off x="12449175" y="4307830"/>
            <a:ext cx="5153025" cy="1678037"/>
          </a:xfrm>
          <a:prstGeom prst="rect">
            <a:avLst/>
          </a:prstGeom>
          <a:solidFill>
            <a:srgbClr val="FAEEEB"/>
          </a:solidFill>
          <a:ln/>
        </p:spPr>
      </p:sp>
      <p:sp>
        <p:nvSpPr>
          <p:cNvPr id="48" name="Shape 46"/>
          <p:cNvSpPr/>
          <p:nvPr/>
        </p:nvSpPr>
        <p:spPr>
          <a:xfrm>
            <a:off x="12449175" y="5976342"/>
            <a:ext cx="5153025" cy="9525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49" name="Shape 47"/>
          <p:cNvSpPr/>
          <p:nvPr/>
        </p:nvSpPr>
        <p:spPr>
          <a:xfrm>
            <a:off x="12449175" y="4307830"/>
            <a:ext cx="5153025" cy="9525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50" name="Shape 48"/>
          <p:cNvSpPr/>
          <p:nvPr/>
        </p:nvSpPr>
        <p:spPr>
          <a:xfrm>
            <a:off x="12449175" y="4307830"/>
            <a:ext cx="9525" cy="1678037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51" name="Shape 49"/>
          <p:cNvSpPr/>
          <p:nvPr/>
        </p:nvSpPr>
        <p:spPr>
          <a:xfrm>
            <a:off x="17545050" y="4307830"/>
            <a:ext cx="57150" cy="1678037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52" name="Text 50"/>
          <p:cNvSpPr/>
          <p:nvPr/>
        </p:nvSpPr>
        <p:spPr>
          <a:xfrm>
            <a:off x="12494609" y="4469755"/>
            <a:ext cx="4859941" cy="1392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0B1F3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Логистика</a:t>
            </a:r>
            <a:endParaRPr lang="en-US" sz="2100" dirty="0"/>
          </a:p>
        </p:txBody>
      </p:sp>
      <p:sp>
        <p:nvSpPr>
          <p:cNvPr id="53" name="Shape 51"/>
          <p:cNvSpPr/>
          <p:nvPr/>
        </p:nvSpPr>
        <p:spPr>
          <a:xfrm>
            <a:off x="12449175" y="6157317"/>
            <a:ext cx="5153025" cy="1678037"/>
          </a:xfrm>
          <a:prstGeom prst="rect">
            <a:avLst/>
          </a:prstGeom>
          <a:solidFill>
            <a:srgbClr val="FAEEEB"/>
          </a:solidFill>
          <a:ln/>
        </p:spPr>
      </p:sp>
      <p:sp>
        <p:nvSpPr>
          <p:cNvPr id="54" name="Shape 52"/>
          <p:cNvSpPr/>
          <p:nvPr/>
        </p:nvSpPr>
        <p:spPr>
          <a:xfrm>
            <a:off x="12449175" y="7825829"/>
            <a:ext cx="5153025" cy="9525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55" name="Shape 53"/>
          <p:cNvSpPr/>
          <p:nvPr/>
        </p:nvSpPr>
        <p:spPr>
          <a:xfrm>
            <a:off x="12449175" y="6157317"/>
            <a:ext cx="5153025" cy="9525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56" name="Shape 54"/>
          <p:cNvSpPr/>
          <p:nvPr/>
        </p:nvSpPr>
        <p:spPr>
          <a:xfrm>
            <a:off x="12449175" y="6157317"/>
            <a:ext cx="9525" cy="1678037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57" name="Shape 55"/>
          <p:cNvSpPr/>
          <p:nvPr/>
        </p:nvSpPr>
        <p:spPr>
          <a:xfrm>
            <a:off x="17545050" y="6157317"/>
            <a:ext cx="57150" cy="1678037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58" name="Text 56"/>
          <p:cNvSpPr/>
          <p:nvPr/>
        </p:nvSpPr>
        <p:spPr>
          <a:xfrm>
            <a:off x="12494609" y="6319242"/>
            <a:ext cx="4859941" cy="1392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0B1F3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Замороженный запас</a:t>
            </a:r>
            <a:endParaRPr lang="en-US" sz="2100" dirty="0"/>
          </a:p>
        </p:txBody>
      </p:sp>
      <p:sp>
        <p:nvSpPr>
          <p:cNvPr id="59" name="Text 57"/>
          <p:cNvSpPr/>
          <p:nvPr/>
        </p:nvSpPr>
        <p:spPr>
          <a:xfrm>
            <a:off x="685800" y="8111579"/>
            <a:ext cx="102832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126" kern="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ЛЕГЕНДА</a:t>
            </a:r>
            <a:endParaRPr lang="en-US" sz="1575" dirty="0"/>
          </a:p>
        </p:txBody>
      </p:sp>
      <p:sp>
        <p:nvSpPr>
          <p:cNvPr id="60" name="Shape 58"/>
          <p:cNvSpPr/>
          <p:nvPr/>
        </p:nvSpPr>
        <p:spPr>
          <a:xfrm>
            <a:off x="1809378" y="8140154"/>
            <a:ext cx="209550" cy="13335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61" name="Text 59"/>
          <p:cNvSpPr/>
          <p:nvPr/>
        </p:nvSpPr>
        <p:spPr>
          <a:xfrm>
            <a:off x="2114178" y="8059192"/>
            <a:ext cx="200084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Red — место утечки</a:t>
            </a:r>
            <a:endParaRPr lang="en-US" sz="1800" dirty="0"/>
          </a:p>
        </p:txBody>
      </p:sp>
      <p:sp>
        <p:nvSpPr>
          <p:cNvPr id="62" name="Shape 60"/>
          <p:cNvSpPr/>
          <p:nvPr/>
        </p:nvSpPr>
        <p:spPr>
          <a:xfrm>
            <a:off x="4286473" y="8140154"/>
            <a:ext cx="209550" cy="1333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63" name="Text 61"/>
          <p:cNvSpPr/>
          <p:nvPr/>
        </p:nvSpPr>
        <p:spPr>
          <a:xfrm>
            <a:off x="4591273" y="8059192"/>
            <a:ext cx="3088547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Copper — маршрут к решению</a:t>
            </a:r>
            <a:endParaRPr lang="en-US" sz="1800" dirty="0"/>
          </a:p>
        </p:txBody>
      </p:sp>
      <p:sp>
        <p:nvSpPr>
          <p:cNvPr id="64" name="Shape 62"/>
          <p:cNvSpPr/>
          <p:nvPr/>
        </p:nvSpPr>
        <p:spPr>
          <a:xfrm>
            <a:off x="1809378" y="8502104"/>
            <a:ext cx="209550" cy="1333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65" name="Text 63"/>
          <p:cNvSpPr/>
          <p:nvPr/>
        </p:nvSpPr>
        <p:spPr>
          <a:xfrm>
            <a:off x="2114178" y="8421142"/>
            <a:ext cx="4319489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Teal — данные, подтверждающие причину</a:t>
            </a:r>
            <a:endParaRPr lang="en-US" sz="1800" dirty="0"/>
          </a:p>
        </p:txBody>
      </p:sp>
      <p:sp>
        <p:nvSpPr>
          <p:cNvPr id="66" name="Shape 64"/>
          <p:cNvSpPr/>
          <p:nvPr/>
        </p:nvSpPr>
        <p:spPr>
          <a:xfrm>
            <a:off x="9353550" y="8063954"/>
            <a:ext cx="8248650" cy="1241971"/>
          </a:xfrm>
          <a:prstGeom prst="rect">
            <a:avLst/>
          </a:prstGeom>
          <a:ln w="9525">
            <a:solidFill>
              <a:srgbClr val="B91C1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553575" y="8225879"/>
            <a:ext cx="86334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126" kern="0" dirty="0">
                <a:solidFill>
                  <a:srgbClr val="B91C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ЭТО НЕ</a:t>
            </a:r>
            <a:endParaRPr lang="en-US" sz="1575" dirty="0"/>
          </a:p>
        </p:txBody>
      </p:sp>
      <p:sp>
        <p:nvSpPr>
          <p:cNvPr id="68" name="Text 66"/>
          <p:cNvSpPr/>
          <p:nvPr/>
        </p:nvSpPr>
        <p:spPr>
          <a:xfrm>
            <a:off x="9553575" y="8549729"/>
            <a:ext cx="8084058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645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Это не поиск виноватого отдела. Это карта мест, где решение может вернуть управляемость.</a:t>
            </a:r>
            <a:endParaRPr lang="en-US" sz="1800" dirty="0"/>
          </a:p>
        </p:txBody>
      </p:sp>
      <p:sp>
        <p:nvSpPr>
          <p:cNvPr id="69" name="Shape 67"/>
          <p:cNvSpPr/>
          <p:nvPr/>
        </p:nvSpPr>
        <p:spPr>
          <a:xfrm>
            <a:off x="685800" y="9515475"/>
            <a:ext cx="16916400" cy="9525"/>
          </a:xfrm>
          <a:prstGeom prst="rect">
            <a:avLst/>
          </a:prstGeom>
          <a:solidFill>
            <a:srgbClr val="0B1F33">
              <a:alpha val="20000"/>
            </a:srgbClr>
          </a:solidFill>
          <a:ln/>
        </p:spPr>
      </p:sp>
      <p:sp>
        <p:nvSpPr>
          <p:cNvPr id="70" name="Text 68"/>
          <p:cNvSpPr/>
          <p:nvPr/>
        </p:nvSpPr>
        <p:spPr>
          <a:xfrm>
            <a:off x="685800" y="9658350"/>
            <a:ext cx="982028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0B1F33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Потеря прибыли часто живет между функциями, поэтому ей нужен контур решения.</a:t>
            </a:r>
            <a:endParaRPr lang="en-US" sz="1800" dirty="0"/>
          </a:p>
        </p:txBody>
      </p:sp>
      <p:sp>
        <p:nvSpPr>
          <p:cNvPr id="71" name="Text 69"/>
          <p:cNvSpPr/>
          <p:nvPr/>
        </p:nvSpPr>
        <p:spPr>
          <a:xfrm>
            <a:off x="12738795" y="9672638"/>
            <a:ext cx="5349746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Визуализация_04_Карта_Утечки_Маржи_V1</a:t>
            </a:r>
            <a:endParaRPr lang="en-US" sz="17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B1F33">
                  <a:alpha val="5000"/>
                </a:srgbClr>
              </a:gs>
              <a:gs pos="100000">
                <a:srgbClr val="0B1F33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685800" y="842963"/>
            <a:ext cx="16916400" cy="9525"/>
          </a:xfrm>
          <a:prstGeom prst="rect">
            <a:avLst/>
          </a:prstGeom>
          <a:solidFill>
            <a:srgbClr val="0B1F33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19100"/>
            <a:ext cx="4771437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spc="103" kern="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КОНТУР МАРЖИ / ВИЗУАЛИЗАЦИЯ 05</a:t>
            </a:r>
            <a:endParaRPr lang="en-US" sz="1725" dirty="0"/>
          </a:p>
        </p:txBody>
      </p:sp>
      <p:sp>
        <p:nvSpPr>
          <p:cNvPr id="5" name="Text 3"/>
          <p:cNvSpPr/>
          <p:nvPr/>
        </p:nvSpPr>
        <p:spPr>
          <a:xfrm>
            <a:off x="9216107" y="419100"/>
            <a:ext cx="9224702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spc="103" kern="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КОНСУЛЬТАНТСКИЙ СЛОЙ · DIAGNOSTIC CARD · СЛОЖНОСТЬ СРЕДНЯЯ</a:t>
            </a:r>
            <a:endParaRPr lang="en-US" sz="1725" dirty="0"/>
          </a:p>
        </p:txBody>
      </p:sp>
      <p:sp>
        <p:nvSpPr>
          <p:cNvPr id="6" name="Text 4"/>
          <p:cNvSpPr/>
          <p:nvPr/>
        </p:nvSpPr>
        <p:spPr>
          <a:xfrm>
            <a:off x="685800" y="1100138"/>
            <a:ext cx="17423892" cy="1249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500" b="1" dirty="0">
                <a:solidFill>
                  <a:srgbClr val="0B1F33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Красная зона: строка, где прибыль стала управленческой задачей</a:t>
            </a:r>
            <a:endParaRPr lang="en-US" sz="4500" dirty="0"/>
          </a:p>
        </p:txBody>
      </p:sp>
      <p:sp>
        <p:nvSpPr>
          <p:cNvPr id="7" name="Text 5"/>
          <p:cNvSpPr/>
          <p:nvPr/>
        </p:nvSpPr>
        <p:spPr>
          <a:xfrm>
            <a:off x="685800" y="2444948"/>
            <a:ext cx="163449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dirty="0">
                <a:solidFill>
                  <a:srgbClr val="475569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Каждая красная зона должна иметь причину, владельца, срок и метрику проверки.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685800" y="3064073"/>
            <a:ext cx="4114800" cy="2166565"/>
          </a:xfrm>
          <a:prstGeom prst="rect">
            <a:avLst/>
          </a:prstGeom>
          <a:solidFill>
            <a:srgbClr val="EFEADF"/>
          </a:solidFill>
          <a:ln w="9525">
            <a:solidFill>
              <a:srgbClr val="4755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5825" y="3773016"/>
            <a:ext cx="408622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885825" y="4201641"/>
            <a:ext cx="4086225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333"/>
              </a:lnSpc>
              <a:buNone/>
            </a:pPr>
            <a:r>
              <a:rPr lang="en-US" sz="2100" b="1" dirty="0">
                <a:solidFill>
                  <a:srgbClr val="0B1F3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SKU / товарная позиция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4953000" y="3064073"/>
            <a:ext cx="4114800" cy="2166565"/>
          </a:xfrm>
          <a:prstGeom prst="rect">
            <a:avLst/>
          </a:prstGeom>
          <a:solidFill>
            <a:srgbClr val="EFEADF"/>
          </a:solidFill>
          <a:ln w="9525">
            <a:solidFill>
              <a:srgbClr val="4755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53025" y="3773016"/>
            <a:ext cx="408622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5153025" y="4201641"/>
            <a:ext cx="4086225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333"/>
              </a:lnSpc>
              <a:buNone/>
            </a:pPr>
            <a:r>
              <a:rPr lang="en-US" sz="2100" b="1" dirty="0">
                <a:solidFill>
                  <a:srgbClr val="0B1F3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Канал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9220200" y="3064073"/>
            <a:ext cx="4114800" cy="2166565"/>
          </a:xfrm>
          <a:prstGeom prst="rect">
            <a:avLst/>
          </a:prstGeom>
          <a:solidFill>
            <a:srgbClr val="FAEEEB"/>
          </a:solidFill>
          <a:ln/>
        </p:spPr>
      </p:sp>
      <p:sp>
        <p:nvSpPr>
          <p:cNvPr id="15" name="Shape 13"/>
          <p:cNvSpPr/>
          <p:nvPr/>
        </p:nvSpPr>
        <p:spPr>
          <a:xfrm>
            <a:off x="9220200" y="5221114"/>
            <a:ext cx="4114800" cy="9525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6" name="Shape 14"/>
          <p:cNvSpPr/>
          <p:nvPr/>
        </p:nvSpPr>
        <p:spPr>
          <a:xfrm>
            <a:off x="9220200" y="3064073"/>
            <a:ext cx="4114800" cy="5715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7" name="Shape 15"/>
          <p:cNvSpPr/>
          <p:nvPr/>
        </p:nvSpPr>
        <p:spPr>
          <a:xfrm>
            <a:off x="9220200" y="3064073"/>
            <a:ext cx="9525" cy="2166565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8" name="Shape 16"/>
          <p:cNvSpPr/>
          <p:nvPr/>
        </p:nvSpPr>
        <p:spPr>
          <a:xfrm>
            <a:off x="13325475" y="3064073"/>
            <a:ext cx="9525" cy="2166565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9" name="Text 17"/>
          <p:cNvSpPr/>
          <p:nvPr/>
        </p:nvSpPr>
        <p:spPr>
          <a:xfrm>
            <a:off x="9420225" y="3796829"/>
            <a:ext cx="408622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B91C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9420225" y="4225454"/>
            <a:ext cx="4086225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333"/>
              </a:lnSpc>
              <a:buNone/>
            </a:pPr>
            <a:r>
              <a:rPr lang="en-US" sz="2100" b="1" dirty="0">
                <a:solidFill>
                  <a:srgbClr val="B91C1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Симптом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13487400" y="3064073"/>
            <a:ext cx="4114800" cy="2166565"/>
          </a:xfrm>
          <a:prstGeom prst="rect">
            <a:avLst/>
          </a:prstGeom>
          <a:solidFill>
            <a:srgbClr val="FAEEEB"/>
          </a:solidFill>
          <a:ln/>
        </p:spPr>
      </p:sp>
      <p:sp>
        <p:nvSpPr>
          <p:cNvPr id="22" name="Shape 20"/>
          <p:cNvSpPr/>
          <p:nvPr/>
        </p:nvSpPr>
        <p:spPr>
          <a:xfrm>
            <a:off x="13487400" y="5221114"/>
            <a:ext cx="4114800" cy="9525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23" name="Shape 21"/>
          <p:cNvSpPr/>
          <p:nvPr/>
        </p:nvSpPr>
        <p:spPr>
          <a:xfrm>
            <a:off x="13487400" y="3064073"/>
            <a:ext cx="4114800" cy="5715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24" name="Shape 22"/>
          <p:cNvSpPr/>
          <p:nvPr/>
        </p:nvSpPr>
        <p:spPr>
          <a:xfrm>
            <a:off x="13487400" y="3064073"/>
            <a:ext cx="9525" cy="2166565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25" name="Shape 23"/>
          <p:cNvSpPr/>
          <p:nvPr/>
        </p:nvSpPr>
        <p:spPr>
          <a:xfrm>
            <a:off x="17592675" y="3064073"/>
            <a:ext cx="9525" cy="2166565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26" name="Text 24"/>
          <p:cNvSpPr/>
          <p:nvPr/>
        </p:nvSpPr>
        <p:spPr>
          <a:xfrm>
            <a:off x="13687425" y="3796829"/>
            <a:ext cx="408622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B91C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13687425" y="4225454"/>
            <a:ext cx="4086225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333"/>
              </a:lnSpc>
              <a:buNone/>
            </a:pPr>
            <a:r>
              <a:rPr lang="en-US" sz="2100" b="1" dirty="0">
                <a:solidFill>
                  <a:srgbClr val="B91C1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Вероятная причина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9058275" y="5383039"/>
            <a:ext cx="171450" cy="1333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29" name="Shape 27"/>
          <p:cNvSpPr/>
          <p:nvPr/>
        </p:nvSpPr>
        <p:spPr>
          <a:xfrm>
            <a:off x="685800" y="5668789"/>
            <a:ext cx="4114800" cy="2166565"/>
          </a:xfrm>
          <a:prstGeom prst="rect">
            <a:avLst/>
          </a:prstGeom>
          <a:solidFill>
            <a:srgbClr val="FAEEEB"/>
          </a:solidFill>
          <a:ln/>
        </p:spPr>
      </p:sp>
      <p:sp>
        <p:nvSpPr>
          <p:cNvPr id="30" name="Shape 28"/>
          <p:cNvSpPr/>
          <p:nvPr/>
        </p:nvSpPr>
        <p:spPr>
          <a:xfrm>
            <a:off x="685800" y="7825829"/>
            <a:ext cx="4114800" cy="9525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1" name="Shape 29"/>
          <p:cNvSpPr/>
          <p:nvPr/>
        </p:nvSpPr>
        <p:spPr>
          <a:xfrm>
            <a:off x="685800" y="5668789"/>
            <a:ext cx="4114800" cy="5715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" y="5668789"/>
            <a:ext cx="9525" cy="2166565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3" name="Shape 31"/>
          <p:cNvSpPr/>
          <p:nvPr/>
        </p:nvSpPr>
        <p:spPr>
          <a:xfrm>
            <a:off x="4791075" y="5668789"/>
            <a:ext cx="9525" cy="2166565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4" name="Text 32"/>
          <p:cNvSpPr/>
          <p:nvPr/>
        </p:nvSpPr>
        <p:spPr>
          <a:xfrm>
            <a:off x="885825" y="6401544"/>
            <a:ext cx="408622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B91C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885825" y="6830169"/>
            <a:ext cx="4086225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333"/>
              </a:lnSpc>
              <a:buNone/>
            </a:pPr>
            <a:r>
              <a:rPr lang="en-US" sz="2100" b="1" dirty="0">
                <a:solidFill>
                  <a:srgbClr val="B91C1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Цена ошибки</a:t>
            </a:r>
            <a:endParaRPr lang="en-US" sz="2100" dirty="0"/>
          </a:p>
        </p:txBody>
      </p:sp>
      <p:sp>
        <p:nvSpPr>
          <p:cNvPr id="36" name="Shape 34"/>
          <p:cNvSpPr/>
          <p:nvPr/>
        </p:nvSpPr>
        <p:spPr>
          <a:xfrm>
            <a:off x="4953000" y="5668789"/>
            <a:ext cx="4114800" cy="2166565"/>
          </a:xfrm>
          <a:prstGeom prst="rect">
            <a:avLst/>
          </a:prstGeom>
          <a:solidFill>
            <a:srgbClr val="EFF4F1"/>
          </a:solidFill>
          <a:ln/>
        </p:spPr>
      </p:sp>
      <p:sp>
        <p:nvSpPr>
          <p:cNvPr id="37" name="Shape 35"/>
          <p:cNvSpPr/>
          <p:nvPr/>
        </p:nvSpPr>
        <p:spPr>
          <a:xfrm>
            <a:off x="4953000" y="7825829"/>
            <a:ext cx="4114800" cy="9525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8" name="Shape 36"/>
          <p:cNvSpPr/>
          <p:nvPr/>
        </p:nvSpPr>
        <p:spPr>
          <a:xfrm>
            <a:off x="4953000" y="5668789"/>
            <a:ext cx="4114800" cy="571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9" name="Shape 37"/>
          <p:cNvSpPr/>
          <p:nvPr/>
        </p:nvSpPr>
        <p:spPr>
          <a:xfrm>
            <a:off x="4953000" y="5668789"/>
            <a:ext cx="9525" cy="2166565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0" name="Shape 38"/>
          <p:cNvSpPr/>
          <p:nvPr/>
        </p:nvSpPr>
        <p:spPr>
          <a:xfrm>
            <a:off x="9058275" y="5668789"/>
            <a:ext cx="9525" cy="2166565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1" name="Text 39"/>
          <p:cNvSpPr/>
          <p:nvPr/>
        </p:nvSpPr>
        <p:spPr>
          <a:xfrm>
            <a:off x="5153025" y="6401544"/>
            <a:ext cx="408622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1650" dirty="0"/>
          </a:p>
        </p:txBody>
      </p:sp>
      <p:sp>
        <p:nvSpPr>
          <p:cNvPr id="42" name="Text 40"/>
          <p:cNvSpPr/>
          <p:nvPr/>
        </p:nvSpPr>
        <p:spPr>
          <a:xfrm>
            <a:off x="5153025" y="6830169"/>
            <a:ext cx="4086225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333"/>
              </a:lnSpc>
              <a:buNone/>
            </a:pPr>
            <a:r>
              <a:rPr lang="en-US" sz="2100" b="1" dirty="0">
                <a:solidFill>
                  <a:srgbClr val="0B1F3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Владелец</a:t>
            </a:r>
            <a:endParaRPr lang="en-US" sz="2100" dirty="0"/>
          </a:p>
        </p:txBody>
      </p:sp>
      <p:sp>
        <p:nvSpPr>
          <p:cNvPr id="43" name="Shape 41"/>
          <p:cNvSpPr/>
          <p:nvPr/>
        </p:nvSpPr>
        <p:spPr>
          <a:xfrm>
            <a:off x="9220200" y="5668789"/>
            <a:ext cx="4114800" cy="2166565"/>
          </a:xfrm>
          <a:prstGeom prst="rect">
            <a:avLst/>
          </a:prstGeom>
          <a:solidFill>
            <a:srgbClr val="F8F1E7"/>
          </a:solidFill>
          <a:ln/>
        </p:spPr>
      </p:sp>
      <p:sp>
        <p:nvSpPr>
          <p:cNvPr id="44" name="Shape 42"/>
          <p:cNvSpPr/>
          <p:nvPr/>
        </p:nvSpPr>
        <p:spPr>
          <a:xfrm>
            <a:off x="9220200" y="7825829"/>
            <a:ext cx="4114800" cy="9525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45" name="Shape 43"/>
          <p:cNvSpPr/>
          <p:nvPr/>
        </p:nvSpPr>
        <p:spPr>
          <a:xfrm>
            <a:off x="9220200" y="5668789"/>
            <a:ext cx="4114800" cy="571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46" name="Shape 44"/>
          <p:cNvSpPr/>
          <p:nvPr/>
        </p:nvSpPr>
        <p:spPr>
          <a:xfrm>
            <a:off x="9220200" y="5668789"/>
            <a:ext cx="9525" cy="2166565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47" name="Shape 45"/>
          <p:cNvSpPr/>
          <p:nvPr/>
        </p:nvSpPr>
        <p:spPr>
          <a:xfrm>
            <a:off x="13325475" y="5668789"/>
            <a:ext cx="9525" cy="2166565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48" name="Text 46"/>
          <p:cNvSpPr/>
          <p:nvPr/>
        </p:nvSpPr>
        <p:spPr>
          <a:xfrm>
            <a:off x="9420225" y="6401544"/>
            <a:ext cx="408622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B46A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</a:t>
            </a:r>
            <a:endParaRPr lang="en-US" sz="1650" dirty="0"/>
          </a:p>
        </p:txBody>
      </p:sp>
      <p:sp>
        <p:nvSpPr>
          <p:cNvPr id="49" name="Text 47"/>
          <p:cNvSpPr/>
          <p:nvPr/>
        </p:nvSpPr>
        <p:spPr>
          <a:xfrm>
            <a:off x="9420225" y="6830169"/>
            <a:ext cx="4086225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333"/>
              </a:lnSpc>
              <a:buNone/>
            </a:pPr>
            <a:r>
              <a:rPr lang="en-US" sz="2100" b="1" dirty="0">
                <a:solidFill>
                  <a:srgbClr val="0B1F3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Решение</a:t>
            </a:r>
            <a:endParaRPr lang="en-US" sz="2100" dirty="0"/>
          </a:p>
        </p:txBody>
      </p:sp>
      <p:sp>
        <p:nvSpPr>
          <p:cNvPr id="50" name="Shape 48"/>
          <p:cNvSpPr/>
          <p:nvPr/>
        </p:nvSpPr>
        <p:spPr>
          <a:xfrm>
            <a:off x="13487400" y="5668789"/>
            <a:ext cx="4114800" cy="2166565"/>
          </a:xfrm>
          <a:prstGeom prst="rect">
            <a:avLst/>
          </a:prstGeom>
          <a:solidFill>
            <a:srgbClr val="EFF4F1"/>
          </a:solidFill>
          <a:ln/>
        </p:spPr>
      </p:sp>
      <p:sp>
        <p:nvSpPr>
          <p:cNvPr id="51" name="Shape 49"/>
          <p:cNvSpPr/>
          <p:nvPr/>
        </p:nvSpPr>
        <p:spPr>
          <a:xfrm>
            <a:off x="13487400" y="7825829"/>
            <a:ext cx="4114800" cy="9525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2" name="Shape 50"/>
          <p:cNvSpPr/>
          <p:nvPr/>
        </p:nvSpPr>
        <p:spPr>
          <a:xfrm>
            <a:off x="13487400" y="5668789"/>
            <a:ext cx="4114800" cy="571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3" name="Shape 51"/>
          <p:cNvSpPr/>
          <p:nvPr/>
        </p:nvSpPr>
        <p:spPr>
          <a:xfrm>
            <a:off x="13487400" y="5668789"/>
            <a:ext cx="9525" cy="2166565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4" name="Shape 52"/>
          <p:cNvSpPr/>
          <p:nvPr/>
        </p:nvSpPr>
        <p:spPr>
          <a:xfrm>
            <a:off x="17592675" y="5668789"/>
            <a:ext cx="9525" cy="2166565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5" name="Text 53"/>
          <p:cNvSpPr/>
          <p:nvPr/>
        </p:nvSpPr>
        <p:spPr>
          <a:xfrm>
            <a:off x="13687425" y="6401544"/>
            <a:ext cx="408622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</a:t>
            </a:r>
            <a:endParaRPr lang="en-US" sz="1650" dirty="0"/>
          </a:p>
        </p:txBody>
      </p:sp>
      <p:sp>
        <p:nvSpPr>
          <p:cNvPr id="56" name="Text 54"/>
          <p:cNvSpPr/>
          <p:nvPr/>
        </p:nvSpPr>
        <p:spPr>
          <a:xfrm>
            <a:off x="13687425" y="6830169"/>
            <a:ext cx="4086225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333"/>
              </a:lnSpc>
              <a:buNone/>
            </a:pPr>
            <a:r>
              <a:rPr lang="en-US" sz="2100" b="1" dirty="0">
                <a:solidFill>
                  <a:srgbClr val="0B1F3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Метрика проверки</a:t>
            </a:r>
            <a:endParaRPr lang="en-US" sz="2100" dirty="0"/>
          </a:p>
        </p:txBody>
      </p:sp>
      <p:sp>
        <p:nvSpPr>
          <p:cNvPr id="57" name="Text 55"/>
          <p:cNvSpPr/>
          <p:nvPr/>
        </p:nvSpPr>
        <p:spPr>
          <a:xfrm>
            <a:off x="685800" y="8111579"/>
            <a:ext cx="102832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126" kern="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ЛЕГЕНДА</a:t>
            </a:r>
            <a:endParaRPr lang="en-US" sz="1575" dirty="0"/>
          </a:p>
        </p:txBody>
      </p:sp>
      <p:sp>
        <p:nvSpPr>
          <p:cNvPr id="58" name="Shape 56"/>
          <p:cNvSpPr/>
          <p:nvPr/>
        </p:nvSpPr>
        <p:spPr>
          <a:xfrm>
            <a:off x="1809378" y="8140154"/>
            <a:ext cx="209550" cy="13335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59" name="Text 57"/>
          <p:cNvSpPr/>
          <p:nvPr/>
        </p:nvSpPr>
        <p:spPr>
          <a:xfrm>
            <a:off x="2114178" y="8059192"/>
            <a:ext cx="1174179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Red — риск</a:t>
            </a:r>
            <a:endParaRPr lang="en-US" sz="1800" dirty="0"/>
          </a:p>
        </p:txBody>
      </p:sp>
      <p:sp>
        <p:nvSpPr>
          <p:cNvPr id="60" name="Shape 58"/>
          <p:cNvSpPr/>
          <p:nvPr/>
        </p:nvSpPr>
        <p:spPr>
          <a:xfrm>
            <a:off x="3459807" y="8140154"/>
            <a:ext cx="209550" cy="1333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61" name="Text 59"/>
          <p:cNvSpPr/>
          <p:nvPr/>
        </p:nvSpPr>
        <p:spPr>
          <a:xfrm>
            <a:off x="3764607" y="8059192"/>
            <a:ext cx="2876159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Teal — владелец и проверка</a:t>
            </a:r>
            <a:endParaRPr lang="en-US" sz="1800" dirty="0"/>
          </a:p>
        </p:txBody>
      </p:sp>
      <p:sp>
        <p:nvSpPr>
          <p:cNvPr id="62" name="Shape 60"/>
          <p:cNvSpPr/>
          <p:nvPr/>
        </p:nvSpPr>
        <p:spPr>
          <a:xfrm>
            <a:off x="1809378" y="8502104"/>
            <a:ext cx="209550" cy="1333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63" name="Text 61"/>
          <p:cNvSpPr/>
          <p:nvPr/>
        </p:nvSpPr>
        <p:spPr>
          <a:xfrm>
            <a:off x="2114178" y="8421142"/>
            <a:ext cx="1923976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Copper — решение</a:t>
            </a:r>
            <a:endParaRPr lang="en-US" sz="1800" dirty="0"/>
          </a:p>
        </p:txBody>
      </p:sp>
      <p:sp>
        <p:nvSpPr>
          <p:cNvPr id="64" name="Shape 62"/>
          <p:cNvSpPr/>
          <p:nvPr/>
        </p:nvSpPr>
        <p:spPr>
          <a:xfrm>
            <a:off x="4209604" y="8502104"/>
            <a:ext cx="209550" cy="13335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65" name="Text 63"/>
          <p:cNvSpPr/>
          <p:nvPr/>
        </p:nvSpPr>
        <p:spPr>
          <a:xfrm>
            <a:off x="4514404" y="8421142"/>
            <a:ext cx="2760576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Slate — служебные данные</a:t>
            </a:r>
            <a:endParaRPr lang="en-US" sz="1800" dirty="0"/>
          </a:p>
        </p:txBody>
      </p:sp>
      <p:sp>
        <p:nvSpPr>
          <p:cNvPr id="66" name="Shape 64"/>
          <p:cNvSpPr/>
          <p:nvPr/>
        </p:nvSpPr>
        <p:spPr>
          <a:xfrm>
            <a:off x="9353550" y="8063954"/>
            <a:ext cx="8248650" cy="1241971"/>
          </a:xfrm>
          <a:prstGeom prst="rect">
            <a:avLst/>
          </a:prstGeom>
          <a:ln w="9525">
            <a:solidFill>
              <a:srgbClr val="B91C1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553575" y="8225879"/>
            <a:ext cx="86334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126" kern="0" dirty="0">
                <a:solidFill>
                  <a:srgbClr val="B91C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ЭТО НЕ</a:t>
            </a:r>
            <a:endParaRPr lang="en-US" sz="1575" dirty="0"/>
          </a:p>
        </p:txBody>
      </p:sp>
      <p:sp>
        <p:nvSpPr>
          <p:cNvPr id="68" name="Text 66"/>
          <p:cNvSpPr/>
          <p:nvPr/>
        </p:nvSpPr>
        <p:spPr>
          <a:xfrm>
            <a:off x="9553575" y="8549729"/>
            <a:ext cx="8084058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645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Это не тревожная метка ради отчета. Красная зона существует только вместе с управленческим ответом.</a:t>
            </a:r>
            <a:endParaRPr lang="en-US" sz="1800" dirty="0"/>
          </a:p>
        </p:txBody>
      </p:sp>
      <p:sp>
        <p:nvSpPr>
          <p:cNvPr id="69" name="Shape 67"/>
          <p:cNvSpPr/>
          <p:nvPr/>
        </p:nvSpPr>
        <p:spPr>
          <a:xfrm>
            <a:off x="685800" y="9515475"/>
            <a:ext cx="16916400" cy="9525"/>
          </a:xfrm>
          <a:prstGeom prst="rect">
            <a:avLst/>
          </a:prstGeom>
          <a:solidFill>
            <a:srgbClr val="0B1F33">
              <a:alpha val="20000"/>
            </a:srgbClr>
          </a:solidFill>
          <a:ln/>
        </p:spPr>
      </p:sp>
      <p:sp>
        <p:nvSpPr>
          <p:cNvPr id="70" name="Text 68"/>
          <p:cNvSpPr/>
          <p:nvPr/>
        </p:nvSpPr>
        <p:spPr>
          <a:xfrm>
            <a:off x="685800" y="9658350"/>
            <a:ext cx="908047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0B1F33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Красная зона без владельца — наблюдение. Красная зона с владельцем — задача.</a:t>
            </a:r>
            <a:endParaRPr lang="en-US" sz="1800" dirty="0"/>
          </a:p>
        </p:txBody>
      </p:sp>
      <p:sp>
        <p:nvSpPr>
          <p:cNvPr id="71" name="Text 69"/>
          <p:cNvSpPr/>
          <p:nvPr/>
        </p:nvSpPr>
        <p:spPr>
          <a:xfrm>
            <a:off x="11950080" y="9672638"/>
            <a:ext cx="6217332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Визуализация_05_Красная_Зона_SKU_x_Канал_V1</a:t>
            </a:r>
            <a:endParaRPr lang="en-US" sz="17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B1F33">
                  <a:alpha val="5000"/>
                </a:srgbClr>
              </a:gs>
              <a:gs pos="100000">
                <a:srgbClr val="0B1F33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685800" y="842963"/>
            <a:ext cx="16916400" cy="9525"/>
          </a:xfrm>
          <a:prstGeom prst="rect">
            <a:avLst/>
          </a:prstGeom>
          <a:solidFill>
            <a:srgbClr val="0B1F33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19100"/>
            <a:ext cx="4771437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spc="103" kern="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КОНТУР МАРЖИ / ВИЗУАЛИЗАЦИЯ 06</a:t>
            </a:r>
            <a:endParaRPr lang="en-US" sz="1725" dirty="0"/>
          </a:p>
        </p:txBody>
      </p:sp>
      <p:sp>
        <p:nvSpPr>
          <p:cNvPr id="5" name="Text 3"/>
          <p:cNvSpPr/>
          <p:nvPr/>
        </p:nvSpPr>
        <p:spPr>
          <a:xfrm>
            <a:off x="8204002" y="419100"/>
            <a:ext cx="1033801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spc="103" kern="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КОНСУЛЬТАНТСКИЙ + ВНУТРЕННИЙ СЛОЙ · OWNER MAP · СЛОЖНОСТЬ СРЕДНЯЯ</a:t>
            </a:r>
            <a:endParaRPr lang="en-US" sz="1725" dirty="0"/>
          </a:p>
        </p:txBody>
      </p:sp>
      <p:sp>
        <p:nvSpPr>
          <p:cNvPr id="6" name="Text 4"/>
          <p:cNvSpPr/>
          <p:nvPr/>
        </p:nvSpPr>
        <p:spPr>
          <a:xfrm>
            <a:off x="685800" y="1100138"/>
            <a:ext cx="18608040" cy="643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500" b="1" dirty="0">
                <a:solidFill>
                  <a:srgbClr val="0B1F33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Владелец красной зоны: кто может изменить результат</a:t>
            </a:r>
            <a:endParaRPr lang="en-US" sz="4500" dirty="0"/>
          </a:p>
        </p:txBody>
      </p:sp>
      <p:sp>
        <p:nvSpPr>
          <p:cNvPr id="7" name="Text 5"/>
          <p:cNvSpPr/>
          <p:nvPr/>
        </p:nvSpPr>
        <p:spPr>
          <a:xfrm>
            <a:off x="685800" y="1839218"/>
            <a:ext cx="163449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dirty="0">
                <a:solidFill>
                  <a:srgbClr val="475569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Ответственным становится не тот, кто видит отчет, а тот, кто может изменить цену, промо, запас, канал или SKU.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685800" y="2458343"/>
            <a:ext cx="7267575" cy="1244203"/>
          </a:xfrm>
          <a:prstGeom prst="rect">
            <a:avLst/>
          </a:prstGeom>
          <a:solidFill>
            <a:srgbClr val="F8F3E9"/>
          </a:solidFill>
          <a:ln w="9525">
            <a:solidFill>
              <a:srgbClr val="0B1F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5825" y="2739926"/>
            <a:ext cx="755427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B1F3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Коммерция</a:t>
            </a:r>
            <a:endParaRPr lang="en-US" sz="2025" dirty="0"/>
          </a:p>
        </p:txBody>
      </p:sp>
      <p:sp>
        <p:nvSpPr>
          <p:cNvPr id="10" name="Text 8"/>
          <p:cNvSpPr/>
          <p:nvPr/>
        </p:nvSpPr>
        <p:spPr>
          <a:xfrm>
            <a:off x="885825" y="3111401"/>
            <a:ext cx="7554278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75569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цена, промо, канал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685800" y="3835896"/>
            <a:ext cx="7267575" cy="1244278"/>
          </a:xfrm>
          <a:prstGeom prst="rect">
            <a:avLst/>
          </a:prstGeom>
          <a:solidFill>
            <a:srgbClr val="F8F3E9"/>
          </a:solidFill>
          <a:ln w="9525">
            <a:solidFill>
              <a:srgbClr val="0B1F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5825" y="4117479"/>
            <a:ext cx="755427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B1F3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Финансы</a:t>
            </a:r>
            <a:endParaRPr lang="en-US" sz="2025" dirty="0"/>
          </a:p>
        </p:txBody>
      </p:sp>
      <p:sp>
        <p:nvSpPr>
          <p:cNvPr id="13" name="Text 11"/>
          <p:cNvSpPr/>
          <p:nvPr/>
        </p:nvSpPr>
        <p:spPr>
          <a:xfrm>
            <a:off x="885825" y="4488954"/>
            <a:ext cx="7554278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75569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вклад, комиссия, цена ошибки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685800" y="5213524"/>
            <a:ext cx="7267575" cy="1244203"/>
          </a:xfrm>
          <a:prstGeom prst="rect">
            <a:avLst/>
          </a:prstGeom>
          <a:solidFill>
            <a:srgbClr val="F8F3E9"/>
          </a:solidFill>
          <a:ln w="9525">
            <a:solidFill>
              <a:srgbClr val="0B1F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5825" y="5495106"/>
            <a:ext cx="755427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B1F3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Операции</a:t>
            </a:r>
            <a:endParaRPr lang="en-US" sz="2025" dirty="0"/>
          </a:p>
        </p:txBody>
      </p:sp>
      <p:sp>
        <p:nvSpPr>
          <p:cNvPr id="16" name="Text 14"/>
          <p:cNvSpPr/>
          <p:nvPr/>
        </p:nvSpPr>
        <p:spPr>
          <a:xfrm>
            <a:off x="885825" y="5866581"/>
            <a:ext cx="7554278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75569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запас, логистика, возвраты</a:t>
            </a:r>
            <a:endParaRPr lang="en-US" sz="1875" dirty="0"/>
          </a:p>
        </p:txBody>
      </p:sp>
      <p:sp>
        <p:nvSpPr>
          <p:cNvPr id="17" name="Shape 15"/>
          <p:cNvSpPr/>
          <p:nvPr/>
        </p:nvSpPr>
        <p:spPr>
          <a:xfrm>
            <a:off x="685800" y="6591077"/>
            <a:ext cx="7267575" cy="1244278"/>
          </a:xfrm>
          <a:prstGeom prst="rect">
            <a:avLst/>
          </a:prstGeom>
          <a:solidFill>
            <a:srgbClr val="F8F3E9"/>
          </a:solidFill>
          <a:ln w="9525">
            <a:solidFill>
              <a:srgbClr val="0B1F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5825" y="6872660"/>
            <a:ext cx="755427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B1F3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Электронная торговля</a:t>
            </a:r>
            <a:endParaRPr lang="en-US" sz="2025" dirty="0"/>
          </a:p>
        </p:txBody>
      </p:sp>
      <p:sp>
        <p:nvSpPr>
          <p:cNvPr id="19" name="Text 17"/>
          <p:cNvSpPr/>
          <p:nvPr/>
        </p:nvSpPr>
        <p:spPr>
          <a:xfrm>
            <a:off x="885825" y="7244135"/>
            <a:ext cx="7554278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75569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правила площадок и канальный конфликт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8105775" y="4350618"/>
            <a:ext cx="207645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8113"/>
              </a:lnSpc>
              <a:buNone/>
            </a:pPr>
            <a:r>
              <a:rPr lang="en-US" sz="1500" spc="90" kern="0" dirty="0">
                <a:solidFill>
                  <a:srgbClr val="B46A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ПРАВО МЕНЯТЬ ПАРАМЕТР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143875" y="5017368"/>
            <a:ext cx="1866900" cy="190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22" name="Shape 20"/>
          <p:cNvSpPr/>
          <p:nvPr/>
        </p:nvSpPr>
        <p:spPr>
          <a:xfrm>
            <a:off x="10010775" y="4941168"/>
            <a:ext cx="133350" cy="1714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23" name="Shape 21"/>
          <p:cNvSpPr/>
          <p:nvPr/>
        </p:nvSpPr>
        <p:spPr>
          <a:xfrm>
            <a:off x="8143875" y="5207868"/>
            <a:ext cx="2000250" cy="735211"/>
          </a:xfrm>
          <a:prstGeom prst="rect">
            <a:avLst/>
          </a:prstGeom>
          <a:ln w="9525">
            <a:solidFill>
              <a:srgbClr val="B91C1C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8248650" y="5312643"/>
            <a:ext cx="1790700" cy="563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725" dirty="0">
                <a:solidFill>
                  <a:srgbClr val="B91C1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Зона без владельца</a:t>
            </a:r>
            <a:endParaRPr lang="en-US" sz="1725" dirty="0"/>
          </a:p>
        </p:txBody>
      </p:sp>
      <p:sp>
        <p:nvSpPr>
          <p:cNvPr id="25" name="Shape 23"/>
          <p:cNvSpPr/>
          <p:nvPr/>
        </p:nvSpPr>
        <p:spPr>
          <a:xfrm>
            <a:off x="10334625" y="2458343"/>
            <a:ext cx="7267575" cy="2977009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26" name="Shape 24"/>
          <p:cNvSpPr/>
          <p:nvPr/>
        </p:nvSpPr>
        <p:spPr>
          <a:xfrm>
            <a:off x="10334625" y="2458343"/>
            <a:ext cx="57150" cy="2977009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7" name="Text 25"/>
          <p:cNvSpPr/>
          <p:nvPr/>
        </p:nvSpPr>
        <p:spPr>
          <a:xfrm>
            <a:off x="10620375" y="3542035"/>
            <a:ext cx="742854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7FC9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ВЛАДЕЛЕЦ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10620375" y="3913510"/>
            <a:ext cx="7428548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792"/>
              </a:lnSpc>
              <a:buNone/>
            </a:pPr>
            <a:r>
              <a:rPr lang="en-US" sz="3000" b="1" dirty="0">
                <a:solidFill>
                  <a:srgbClr val="F3EBDD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Владелец решения</a:t>
            </a:r>
            <a:endParaRPr lang="en-US" sz="3000" dirty="0"/>
          </a:p>
        </p:txBody>
      </p:sp>
      <p:sp>
        <p:nvSpPr>
          <p:cNvPr id="29" name="Shape 27"/>
          <p:cNvSpPr/>
          <p:nvPr/>
        </p:nvSpPr>
        <p:spPr>
          <a:xfrm>
            <a:off x="10334625" y="5587752"/>
            <a:ext cx="7267575" cy="2247602"/>
          </a:xfrm>
          <a:prstGeom prst="rect">
            <a:avLst/>
          </a:prstGeom>
          <a:solidFill>
            <a:srgbClr val="EFF4F1"/>
          </a:solidFill>
          <a:ln/>
        </p:spPr>
      </p:sp>
      <p:sp>
        <p:nvSpPr>
          <p:cNvPr id="30" name="Shape 28"/>
          <p:cNvSpPr/>
          <p:nvPr/>
        </p:nvSpPr>
        <p:spPr>
          <a:xfrm>
            <a:off x="10334625" y="7825829"/>
            <a:ext cx="7267575" cy="9525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1" name="Shape 29"/>
          <p:cNvSpPr/>
          <p:nvPr/>
        </p:nvSpPr>
        <p:spPr>
          <a:xfrm>
            <a:off x="10334625" y="5587752"/>
            <a:ext cx="7267575" cy="571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2" name="Shape 30"/>
          <p:cNvSpPr/>
          <p:nvPr/>
        </p:nvSpPr>
        <p:spPr>
          <a:xfrm>
            <a:off x="10334625" y="5587752"/>
            <a:ext cx="9525" cy="224760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3" name="Shape 31"/>
          <p:cNvSpPr/>
          <p:nvPr/>
        </p:nvSpPr>
        <p:spPr>
          <a:xfrm>
            <a:off x="17592675" y="5587752"/>
            <a:ext cx="9525" cy="224760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4" name="Text 32"/>
          <p:cNvSpPr/>
          <p:nvPr/>
        </p:nvSpPr>
        <p:spPr>
          <a:xfrm>
            <a:off x="10534650" y="6380559"/>
            <a:ext cx="755427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КОНТРОЛЬ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10534650" y="6732984"/>
            <a:ext cx="7554278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0B1F3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Срок и метрика проверки</a:t>
            </a:r>
            <a:endParaRPr lang="en-US" sz="2175" dirty="0"/>
          </a:p>
        </p:txBody>
      </p:sp>
      <p:sp>
        <p:nvSpPr>
          <p:cNvPr id="36" name="Text 34"/>
          <p:cNvSpPr/>
          <p:nvPr/>
        </p:nvSpPr>
        <p:spPr>
          <a:xfrm>
            <a:off x="685800" y="8111579"/>
            <a:ext cx="102832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126" kern="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ЛЕГЕНДА</a:t>
            </a:r>
            <a:endParaRPr lang="en-US" sz="1575" dirty="0"/>
          </a:p>
        </p:txBody>
      </p:sp>
      <p:sp>
        <p:nvSpPr>
          <p:cNvPr id="37" name="Shape 35"/>
          <p:cNvSpPr/>
          <p:nvPr/>
        </p:nvSpPr>
        <p:spPr>
          <a:xfrm>
            <a:off x="1809378" y="8140154"/>
            <a:ext cx="209550" cy="1333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8" name="Text 36"/>
          <p:cNvSpPr/>
          <p:nvPr/>
        </p:nvSpPr>
        <p:spPr>
          <a:xfrm>
            <a:off x="2114178" y="8059192"/>
            <a:ext cx="267626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Teal — владелец и данные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4960144" y="8140154"/>
            <a:ext cx="209550" cy="1333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40" name="Text 38"/>
          <p:cNvSpPr/>
          <p:nvPr/>
        </p:nvSpPr>
        <p:spPr>
          <a:xfrm>
            <a:off x="5264944" y="8059192"/>
            <a:ext cx="3420503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Copper — право менять параметр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1809378" y="8502104"/>
            <a:ext cx="209550" cy="13335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42" name="Text 40"/>
          <p:cNvSpPr/>
          <p:nvPr/>
        </p:nvSpPr>
        <p:spPr>
          <a:xfrm>
            <a:off x="2114178" y="8421142"/>
            <a:ext cx="2673659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Red — зона без владельца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9353550" y="8063954"/>
            <a:ext cx="8248650" cy="1241971"/>
          </a:xfrm>
          <a:prstGeom prst="rect">
            <a:avLst/>
          </a:prstGeom>
          <a:ln w="9525">
            <a:solidFill>
              <a:srgbClr val="B91C1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553575" y="8225879"/>
            <a:ext cx="86334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126" kern="0" dirty="0">
                <a:solidFill>
                  <a:srgbClr val="B91C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ЭТО НЕ</a:t>
            </a:r>
            <a:endParaRPr lang="en-US" sz="1575" dirty="0"/>
          </a:p>
        </p:txBody>
      </p:sp>
      <p:sp>
        <p:nvSpPr>
          <p:cNvPr id="45" name="Text 43"/>
          <p:cNvSpPr/>
          <p:nvPr/>
        </p:nvSpPr>
        <p:spPr>
          <a:xfrm>
            <a:off x="9553575" y="8549729"/>
            <a:ext cx="8084058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645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Это не матрица подчиненности и не организационная схема. Это карта права принять решение.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685800" y="9515475"/>
            <a:ext cx="16916400" cy="9525"/>
          </a:xfrm>
          <a:prstGeom prst="rect">
            <a:avLst/>
          </a:prstGeom>
          <a:solidFill>
            <a:srgbClr val="0B1F33">
              <a:alpha val="20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685800" y="9658350"/>
            <a:ext cx="1113717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0B1F33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Контур Маржи назначает владельца не по должности, а по способности изменить красную зону.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12344474" y="9672638"/>
            <a:ext cx="578349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Визуализация_06_Владелец_Красной_Зоны_V1</a:t>
            </a:r>
            <a:endParaRPr lang="en-US" sz="17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B1F33">
                  <a:alpha val="5000"/>
                </a:srgbClr>
              </a:gs>
              <a:gs pos="100000">
                <a:srgbClr val="0B1F33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685800" y="842963"/>
            <a:ext cx="16916400" cy="9525"/>
          </a:xfrm>
          <a:prstGeom prst="rect">
            <a:avLst/>
          </a:prstGeom>
          <a:solidFill>
            <a:srgbClr val="0B1F33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19100"/>
            <a:ext cx="4771437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spc="103" kern="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КОНТУР МАРЖИ / ВИЗУАЛИЗАЦИЯ 07</a:t>
            </a:r>
            <a:endParaRPr lang="en-US" sz="1725" dirty="0"/>
          </a:p>
        </p:txBody>
      </p:sp>
      <p:sp>
        <p:nvSpPr>
          <p:cNvPr id="5" name="Text 3"/>
          <p:cNvSpPr/>
          <p:nvPr/>
        </p:nvSpPr>
        <p:spPr>
          <a:xfrm>
            <a:off x="9794453" y="419100"/>
            <a:ext cx="858852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spc="103" kern="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КОММЕРЧЕСКИЙ СЛОЙ · PRODUCT LADDER · СЛОЖНОСТЬ ПРОСТАЯ</a:t>
            </a:r>
            <a:endParaRPr lang="en-US" sz="1725" dirty="0"/>
          </a:p>
        </p:txBody>
      </p:sp>
      <p:sp>
        <p:nvSpPr>
          <p:cNvPr id="6" name="Text 4"/>
          <p:cNvSpPr/>
          <p:nvPr/>
        </p:nvSpPr>
        <p:spPr>
          <a:xfrm>
            <a:off x="685800" y="1100138"/>
            <a:ext cx="17423892" cy="1168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216"/>
              </a:lnSpc>
              <a:buNone/>
            </a:pPr>
            <a:r>
              <a:rPr lang="en-US" sz="4200" b="1" dirty="0">
                <a:solidFill>
                  <a:srgbClr val="0B1F33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Клиентский путь: Диагностика → Сессия → Спринт → Сопровождение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2364284"/>
            <a:ext cx="163449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dirty="0">
                <a:solidFill>
                  <a:srgbClr val="475569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Каждый продукт платный и дает свой управленческий результат.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685800" y="3823320"/>
            <a:ext cx="3900488" cy="3030959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9" name="Shape 7"/>
          <p:cNvSpPr/>
          <p:nvPr/>
        </p:nvSpPr>
        <p:spPr>
          <a:xfrm>
            <a:off x="685800" y="6797129"/>
            <a:ext cx="3900488" cy="571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0" name="Text 8"/>
          <p:cNvSpPr/>
          <p:nvPr/>
        </p:nvSpPr>
        <p:spPr>
          <a:xfrm>
            <a:off x="895350" y="4032870"/>
            <a:ext cx="382952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C9A9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895350" y="5756523"/>
            <a:ext cx="3829526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3EBDD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Диагностика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895350" y="6289923"/>
            <a:ext cx="3829526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154"/>
              </a:lnSpc>
              <a:buNone/>
            </a:pPr>
            <a:r>
              <a:rPr lang="en-US" sz="1875" dirty="0">
                <a:solidFill>
                  <a:srgbClr val="D9CDB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карта потерь и вердикт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4586288" y="6197054"/>
            <a:ext cx="314325" cy="190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14" name="Shape 12"/>
          <p:cNvSpPr/>
          <p:nvPr/>
        </p:nvSpPr>
        <p:spPr>
          <a:xfrm>
            <a:off x="4900613" y="6130379"/>
            <a:ext cx="123825" cy="15240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15" name="Shape 13"/>
          <p:cNvSpPr/>
          <p:nvPr/>
        </p:nvSpPr>
        <p:spPr>
          <a:xfrm>
            <a:off x="5024438" y="3397523"/>
            <a:ext cx="3900488" cy="3456756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16" name="Shape 14"/>
          <p:cNvSpPr/>
          <p:nvPr/>
        </p:nvSpPr>
        <p:spPr>
          <a:xfrm>
            <a:off x="5024438" y="6797129"/>
            <a:ext cx="3900488" cy="571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7" name="Text 15"/>
          <p:cNvSpPr/>
          <p:nvPr/>
        </p:nvSpPr>
        <p:spPr>
          <a:xfrm>
            <a:off x="5233988" y="3607073"/>
            <a:ext cx="382952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C9A9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5233988" y="5756523"/>
            <a:ext cx="3829526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3EBDD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Сессия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5233988" y="6289923"/>
            <a:ext cx="3829526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154"/>
              </a:lnSpc>
              <a:buNone/>
            </a:pPr>
            <a:r>
              <a:rPr lang="en-US" sz="1875" dirty="0">
                <a:solidFill>
                  <a:srgbClr val="D9CDB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решения, владельцы, пороги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8924925" y="6197054"/>
            <a:ext cx="314325" cy="190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21" name="Shape 19"/>
          <p:cNvSpPr/>
          <p:nvPr/>
        </p:nvSpPr>
        <p:spPr>
          <a:xfrm>
            <a:off x="9239250" y="6130379"/>
            <a:ext cx="123825" cy="15240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22" name="Shape 20"/>
          <p:cNvSpPr/>
          <p:nvPr/>
        </p:nvSpPr>
        <p:spPr>
          <a:xfrm>
            <a:off x="9363075" y="2971726"/>
            <a:ext cx="3900488" cy="3882554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23" name="Shape 21"/>
          <p:cNvSpPr/>
          <p:nvPr/>
        </p:nvSpPr>
        <p:spPr>
          <a:xfrm>
            <a:off x="9363075" y="6797129"/>
            <a:ext cx="3900488" cy="571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4" name="Text 22"/>
          <p:cNvSpPr/>
          <p:nvPr/>
        </p:nvSpPr>
        <p:spPr>
          <a:xfrm>
            <a:off x="9572625" y="3181276"/>
            <a:ext cx="382952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C9A9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9572625" y="5756523"/>
            <a:ext cx="3829526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3EBDD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Спринт</a:t>
            </a:r>
            <a:endParaRPr lang="en-US" sz="2700" dirty="0"/>
          </a:p>
        </p:txBody>
      </p:sp>
      <p:sp>
        <p:nvSpPr>
          <p:cNvPr id="26" name="Text 24"/>
          <p:cNvSpPr/>
          <p:nvPr/>
        </p:nvSpPr>
        <p:spPr>
          <a:xfrm>
            <a:off x="9572625" y="6289923"/>
            <a:ext cx="3829526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154"/>
              </a:lnSpc>
              <a:buNone/>
            </a:pPr>
            <a:r>
              <a:rPr lang="en-US" sz="1875" dirty="0">
                <a:solidFill>
                  <a:srgbClr val="D9CDB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проверка 30-60-90</a:t>
            </a:r>
            <a:endParaRPr lang="en-US" sz="1875" dirty="0"/>
          </a:p>
        </p:txBody>
      </p:sp>
      <p:sp>
        <p:nvSpPr>
          <p:cNvPr id="27" name="Shape 25"/>
          <p:cNvSpPr/>
          <p:nvPr/>
        </p:nvSpPr>
        <p:spPr>
          <a:xfrm>
            <a:off x="13263563" y="6197054"/>
            <a:ext cx="314325" cy="190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28" name="Shape 26"/>
          <p:cNvSpPr/>
          <p:nvPr/>
        </p:nvSpPr>
        <p:spPr>
          <a:xfrm>
            <a:off x="13577888" y="6130379"/>
            <a:ext cx="123825" cy="15240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29" name="Shape 27"/>
          <p:cNvSpPr/>
          <p:nvPr/>
        </p:nvSpPr>
        <p:spPr>
          <a:xfrm>
            <a:off x="13701713" y="2507159"/>
            <a:ext cx="3900488" cy="4347121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30" name="Shape 28"/>
          <p:cNvSpPr/>
          <p:nvPr/>
        </p:nvSpPr>
        <p:spPr>
          <a:xfrm>
            <a:off x="13701713" y="6797129"/>
            <a:ext cx="3900488" cy="571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1" name="Text 29"/>
          <p:cNvSpPr/>
          <p:nvPr/>
        </p:nvSpPr>
        <p:spPr>
          <a:xfrm>
            <a:off x="13911263" y="2716709"/>
            <a:ext cx="382952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C9A9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13911263" y="5756523"/>
            <a:ext cx="3829526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3EBDD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Сопровождение</a:t>
            </a:r>
            <a:endParaRPr lang="en-US" sz="2700" dirty="0"/>
          </a:p>
        </p:txBody>
      </p:sp>
      <p:sp>
        <p:nvSpPr>
          <p:cNvPr id="33" name="Text 31"/>
          <p:cNvSpPr/>
          <p:nvPr/>
        </p:nvSpPr>
        <p:spPr>
          <a:xfrm>
            <a:off x="13911263" y="6289923"/>
            <a:ext cx="3829526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154"/>
              </a:lnSpc>
              <a:buNone/>
            </a:pPr>
            <a:r>
              <a:rPr lang="en-US" sz="1875" dirty="0">
                <a:solidFill>
                  <a:srgbClr val="D9CDB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удержание контура</a:t>
            </a:r>
            <a:endParaRPr lang="en-US" sz="1875" dirty="0"/>
          </a:p>
        </p:txBody>
      </p:sp>
      <p:sp>
        <p:nvSpPr>
          <p:cNvPr id="34" name="Shape 32"/>
          <p:cNvSpPr/>
          <p:nvPr/>
        </p:nvSpPr>
        <p:spPr>
          <a:xfrm>
            <a:off x="685800" y="7044779"/>
            <a:ext cx="16916400" cy="828675"/>
          </a:xfrm>
          <a:prstGeom prst="rect">
            <a:avLst/>
          </a:prstGeom>
          <a:solidFill>
            <a:srgbClr val="F8F3E9"/>
          </a:solidFill>
          <a:ln w="9525">
            <a:solidFill>
              <a:srgbClr val="0B1F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85825" y="7209086"/>
            <a:ext cx="1164357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50"/>
              </a:lnSpc>
              <a:buNone/>
            </a:pPr>
            <a:r>
              <a:rPr lang="en-US" sz="1575" spc="126" kern="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ВЕРДИКТЫ ПЕРЕХОДА</a:t>
            </a:r>
            <a:endParaRPr lang="en-US" sz="1575" dirty="0"/>
          </a:p>
        </p:txBody>
      </p:sp>
      <p:sp>
        <p:nvSpPr>
          <p:cNvPr id="36" name="Shape 34"/>
          <p:cNvSpPr/>
          <p:nvPr/>
        </p:nvSpPr>
        <p:spPr>
          <a:xfrm>
            <a:off x="2164482" y="7206704"/>
            <a:ext cx="2956099" cy="504825"/>
          </a:xfrm>
          <a:prstGeom prst="rect">
            <a:avLst/>
          </a:prstGeom>
          <a:solidFill>
            <a:srgbClr val="EFF4F1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88307" y="7311479"/>
            <a:ext cx="279713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Go / запускать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5234880" y="7206704"/>
            <a:ext cx="2956099" cy="504825"/>
          </a:xfrm>
          <a:prstGeom prst="rect">
            <a:avLst/>
          </a:prstGeom>
          <a:solidFill>
            <a:srgbClr val="F8F1E7"/>
          </a:solidFill>
          <a:ln w="9525">
            <a:solidFill>
              <a:srgbClr val="B46A3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58705" y="7311479"/>
            <a:ext cx="279713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46A3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Go при условиях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8305279" y="7206704"/>
            <a:ext cx="2956099" cy="504825"/>
          </a:xfrm>
          <a:prstGeom prst="rect">
            <a:avLst/>
          </a:prstGeom>
          <a:solidFill>
            <a:srgbClr val="EFEADF"/>
          </a:solidFill>
          <a:ln w="9525">
            <a:solidFill>
              <a:srgbClr val="47556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429104" y="7311479"/>
            <a:ext cx="279713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75569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Hold / отложить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11375678" y="7206704"/>
            <a:ext cx="2956099" cy="504825"/>
          </a:xfrm>
          <a:prstGeom prst="rect">
            <a:avLst/>
          </a:prstGeom>
          <a:solidFill>
            <a:srgbClr val="FAEEEB"/>
          </a:solidFill>
          <a:ln w="9525">
            <a:solidFill>
              <a:srgbClr val="B91C1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1499503" y="7311479"/>
            <a:ext cx="279713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91C1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Stop / остановить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14446076" y="7206704"/>
            <a:ext cx="2956099" cy="504825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45" name="Text 43"/>
          <p:cNvSpPr/>
          <p:nvPr/>
        </p:nvSpPr>
        <p:spPr>
          <a:xfrm>
            <a:off x="14560376" y="7301954"/>
            <a:ext cx="281618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3EBD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No Fit / не подходит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685800" y="8130629"/>
            <a:ext cx="102832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126" kern="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ЛЕГЕНДА</a:t>
            </a:r>
            <a:endParaRPr lang="en-US" sz="1575" dirty="0"/>
          </a:p>
        </p:txBody>
      </p:sp>
      <p:sp>
        <p:nvSpPr>
          <p:cNvPr id="47" name="Shape 45"/>
          <p:cNvSpPr/>
          <p:nvPr/>
        </p:nvSpPr>
        <p:spPr>
          <a:xfrm>
            <a:off x="1809378" y="8159204"/>
            <a:ext cx="209550" cy="1333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48" name="Text 46"/>
          <p:cNvSpPr/>
          <p:nvPr/>
        </p:nvSpPr>
        <p:spPr>
          <a:xfrm>
            <a:off x="2114178" y="8078242"/>
            <a:ext cx="3251957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Copper — продуктовый переход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1809378" y="8521154"/>
            <a:ext cx="209550" cy="1333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0" name="Text 48"/>
          <p:cNvSpPr/>
          <p:nvPr/>
        </p:nvSpPr>
        <p:spPr>
          <a:xfrm>
            <a:off x="2114178" y="8440192"/>
            <a:ext cx="3574792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Teal — подтвержденная готовность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5832500" y="8521154"/>
            <a:ext cx="209550" cy="13335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52" name="Text 50"/>
          <p:cNvSpPr/>
          <p:nvPr/>
        </p:nvSpPr>
        <p:spPr>
          <a:xfrm>
            <a:off x="6137300" y="8440192"/>
            <a:ext cx="1155948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Red — Stop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9353550" y="8083004"/>
            <a:ext cx="8248650" cy="1241971"/>
          </a:xfrm>
          <a:prstGeom prst="rect">
            <a:avLst/>
          </a:prstGeom>
          <a:ln w="9525">
            <a:solidFill>
              <a:srgbClr val="B91C1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553575" y="8244929"/>
            <a:ext cx="86334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126" kern="0" dirty="0">
                <a:solidFill>
                  <a:srgbClr val="B91C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ЭТО НЕ</a:t>
            </a:r>
            <a:endParaRPr lang="en-US" sz="1575" dirty="0"/>
          </a:p>
        </p:txBody>
      </p:sp>
      <p:sp>
        <p:nvSpPr>
          <p:cNvPr id="55" name="Text 53"/>
          <p:cNvSpPr/>
          <p:nvPr/>
        </p:nvSpPr>
        <p:spPr>
          <a:xfrm>
            <a:off x="9553575" y="8568779"/>
            <a:ext cx="8084058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645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Первичный разговор, сайт и презентация не являются продуктами технологии.</a:t>
            </a:r>
            <a:endParaRPr lang="en-US" sz="1800" dirty="0"/>
          </a:p>
        </p:txBody>
      </p:sp>
      <p:sp>
        <p:nvSpPr>
          <p:cNvPr id="56" name="Shape 54"/>
          <p:cNvSpPr/>
          <p:nvPr/>
        </p:nvSpPr>
        <p:spPr>
          <a:xfrm>
            <a:off x="685800" y="9515475"/>
            <a:ext cx="16916400" cy="9525"/>
          </a:xfrm>
          <a:prstGeom prst="rect">
            <a:avLst/>
          </a:prstGeom>
          <a:solidFill>
            <a:srgbClr val="0B1F33">
              <a:alpha val="20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685800" y="9658350"/>
            <a:ext cx="1016080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0B1F33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Сила Контура Маржи — в последовательности: увидеть, решить, проверить, удержать.</a:t>
            </a:r>
            <a:endParaRPr lang="en-US" sz="1800" dirty="0"/>
          </a:p>
        </p:txBody>
      </p:sp>
      <p:sp>
        <p:nvSpPr>
          <p:cNvPr id="58" name="Text 56"/>
          <p:cNvSpPr/>
          <p:nvPr/>
        </p:nvSpPr>
        <p:spPr>
          <a:xfrm>
            <a:off x="10767120" y="9672638"/>
            <a:ext cx="7518589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Визуализация_07_Клиентский_Путь_Четырех_Продуктов_V1</a:t>
            </a:r>
            <a:endParaRPr lang="en-US" sz="17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B1F33">
                  <a:alpha val="5000"/>
                </a:srgbClr>
              </a:gs>
              <a:gs pos="100000">
                <a:srgbClr val="0B1F33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685800" y="842963"/>
            <a:ext cx="16916400" cy="9525"/>
          </a:xfrm>
          <a:prstGeom prst="rect">
            <a:avLst/>
          </a:prstGeom>
          <a:solidFill>
            <a:srgbClr val="0B1F33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19100"/>
            <a:ext cx="4771437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spc="103" kern="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КОНТУР МАРЖИ / ВИЗУАЛИЗАЦИЯ 08</a:t>
            </a:r>
            <a:endParaRPr lang="en-US" sz="1725" dirty="0"/>
          </a:p>
        </p:txBody>
      </p:sp>
      <p:sp>
        <p:nvSpPr>
          <p:cNvPr id="5" name="Text 3"/>
          <p:cNvSpPr/>
          <p:nvPr/>
        </p:nvSpPr>
        <p:spPr>
          <a:xfrm>
            <a:off x="8348588" y="419100"/>
            <a:ext cx="1017897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spc="103" kern="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КОНСУЛЬТАНТСКИЙ СЛОЙ · DECISION WORKSHOP MAP · СЛОЖНОСТЬ СРЕДНЯЯ</a:t>
            </a:r>
            <a:endParaRPr lang="en-US" sz="1725" dirty="0"/>
          </a:p>
        </p:txBody>
      </p:sp>
      <p:sp>
        <p:nvSpPr>
          <p:cNvPr id="6" name="Text 4"/>
          <p:cNvSpPr/>
          <p:nvPr/>
        </p:nvSpPr>
        <p:spPr>
          <a:xfrm>
            <a:off x="685800" y="1100138"/>
            <a:ext cx="18608040" cy="643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500" b="1" dirty="0">
                <a:solidFill>
                  <a:srgbClr val="0B1F33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Сессия: красная зона превращается в решение</a:t>
            </a:r>
            <a:endParaRPr lang="en-US" sz="4500" dirty="0"/>
          </a:p>
        </p:txBody>
      </p:sp>
      <p:sp>
        <p:nvSpPr>
          <p:cNvPr id="7" name="Text 5"/>
          <p:cNvSpPr/>
          <p:nvPr/>
        </p:nvSpPr>
        <p:spPr>
          <a:xfrm>
            <a:off x="685800" y="1839218"/>
            <a:ext cx="163449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dirty="0">
                <a:solidFill>
                  <a:srgbClr val="475569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На Сессии фиксируются решение, владелец, порог проверки и условия Спринта.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685800" y="2458343"/>
            <a:ext cx="3380259" cy="5377011"/>
          </a:xfrm>
          <a:prstGeom prst="rect">
            <a:avLst/>
          </a:prstGeom>
          <a:solidFill>
            <a:srgbClr val="EFEADF"/>
          </a:solidFill>
          <a:ln w="9525">
            <a:solidFill>
              <a:srgbClr val="475569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885825" y="4617318"/>
            <a:ext cx="327823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126" kern="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ВХОД</a:t>
            </a:r>
            <a:endParaRPr lang="en-US" sz="1575" dirty="0"/>
          </a:p>
        </p:txBody>
      </p:sp>
      <p:sp>
        <p:nvSpPr>
          <p:cNvPr id="10" name="Text 8"/>
          <p:cNvSpPr/>
          <p:nvPr/>
        </p:nvSpPr>
        <p:spPr>
          <a:xfrm>
            <a:off x="885825" y="5036418"/>
            <a:ext cx="3069615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333"/>
              </a:lnSpc>
              <a:buNone/>
            </a:pPr>
            <a:r>
              <a:rPr lang="en-US" sz="2100" b="1" dirty="0">
                <a:solidFill>
                  <a:srgbClr val="0B1F3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Карта потерь Диагностики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4066059" y="5137324"/>
            <a:ext cx="276225" cy="190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12" name="Shape 10"/>
          <p:cNvSpPr/>
          <p:nvPr/>
        </p:nvSpPr>
        <p:spPr>
          <a:xfrm>
            <a:off x="4342284" y="5070649"/>
            <a:ext cx="123825" cy="15240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13" name="Shape 11"/>
          <p:cNvSpPr/>
          <p:nvPr/>
        </p:nvSpPr>
        <p:spPr>
          <a:xfrm>
            <a:off x="4466109" y="2458343"/>
            <a:ext cx="2991594" cy="5377011"/>
          </a:xfrm>
          <a:prstGeom prst="rect">
            <a:avLst/>
          </a:prstGeom>
          <a:solidFill>
            <a:srgbClr val="FAEEEB"/>
          </a:solidFill>
          <a:ln/>
        </p:spPr>
      </p:sp>
      <p:sp>
        <p:nvSpPr>
          <p:cNvPr id="14" name="Shape 12"/>
          <p:cNvSpPr/>
          <p:nvPr/>
        </p:nvSpPr>
        <p:spPr>
          <a:xfrm>
            <a:off x="4466109" y="7825829"/>
            <a:ext cx="2991594" cy="9525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5" name="Shape 13"/>
          <p:cNvSpPr/>
          <p:nvPr/>
        </p:nvSpPr>
        <p:spPr>
          <a:xfrm>
            <a:off x="4466109" y="2458343"/>
            <a:ext cx="2991594" cy="5715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6" name="Shape 14"/>
          <p:cNvSpPr/>
          <p:nvPr/>
        </p:nvSpPr>
        <p:spPr>
          <a:xfrm>
            <a:off x="4466109" y="2458343"/>
            <a:ext cx="9525" cy="5377011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7" name="Shape 15"/>
          <p:cNvSpPr/>
          <p:nvPr/>
        </p:nvSpPr>
        <p:spPr>
          <a:xfrm>
            <a:off x="7448178" y="2458343"/>
            <a:ext cx="9525" cy="5377011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8" name="Text 16"/>
          <p:cNvSpPr/>
          <p:nvPr/>
        </p:nvSpPr>
        <p:spPr>
          <a:xfrm>
            <a:off x="4666134" y="4796358"/>
            <a:ext cx="285069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B91C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4666134" y="5224983"/>
            <a:ext cx="2850699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333"/>
              </a:lnSpc>
              <a:buNone/>
            </a:pPr>
            <a:r>
              <a:rPr lang="en-US" sz="2100" b="1" dirty="0">
                <a:solidFill>
                  <a:srgbClr val="B91C1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Красные зоны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7457703" y="5137324"/>
            <a:ext cx="276225" cy="190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21" name="Shape 19"/>
          <p:cNvSpPr/>
          <p:nvPr/>
        </p:nvSpPr>
        <p:spPr>
          <a:xfrm>
            <a:off x="7733928" y="5070649"/>
            <a:ext cx="123825" cy="15240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22" name="Shape 20"/>
          <p:cNvSpPr/>
          <p:nvPr/>
        </p:nvSpPr>
        <p:spPr>
          <a:xfrm>
            <a:off x="7857753" y="2458343"/>
            <a:ext cx="2991520" cy="5377011"/>
          </a:xfrm>
          <a:prstGeom prst="rect">
            <a:avLst/>
          </a:prstGeom>
          <a:solidFill>
            <a:srgbClr val="F8F1E7"/>
          </a:solidFill>
          <a:ln/>
        </p:spPr>
      </p:sp>
      <p:sp>
        <p:nvSpPr>
          <p:cNvPr id="23" name="Shape 21"/>
          <p:cNvSpPr/>
          <p:nvPr/>
        </p:nvSpPr>
        <p:spPr>
          <a:xfrm>
            <a:off x="7857753" y="7825829"/>
            <a:ext cx="2991520" cy="9525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24" name="Shape 22"/>
          <p:cNvSpPr/>
          <p:nvPr/>
        </p:nvSpPr>
        <p:spPr>
          <a:xfrm>
            <a:off x="7857753" y="2458343"/>
            <a:ext cx="2991520" cy="571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25" name="Shape 23"/>
          <p:cNvSpPr/>
          <p:nvPr/>
        </p:nvSpPr>
        <p:spPr>
          <a:xfrm>
            <a:off x="7857753" y="2458343"/>
            <a:ext cx="9525" cy="5377011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26" name="Shape 24"/>
          <p:cNvSpPr/>
          <p:nvPr/>
        </p:nvSpPr>
        <p:spPr>
          <a:xfrm>
            <a:off x="10839748" y="2458343"/>
            <a:ext cx="9525" cy="5377011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27" name="Text 25"/>
          <p:cNvSpPr/>
          <p:nvPr/>
        </p:nvSpPr>
        <p:spPr>
          <a:xfrm>
            <a:off x="8057778" y="4796358"/>
            <a:ext cx="285061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B46A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8057778" y="5224983"/>
            <a:ext cx="2850617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333"/>
              </a:lnSpc>
              <a:buNone/>
            </a:pPr>
            <a:r>
              <a:rPr lang="en-US" sz="2100" b="1" dirty="0">
                <a:solidFill>
                  <a:srgbClr val="0B1F3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Варианты решений</a:t>
            </a:r>
            <a:endParaRPr lang="en-US" sz="2100" dirty="0"/>
          </a:p>
        </p:txBody>
      </p:sp>
      <p:sp>
        <p:nvSpPr>
          <p:cNvPr id="29" name="Shape 27"/>
          <p:cNvSpPr/>
          <p:nvPr/>
        </p:nvSpPr>
        <p:spPr>
          <a:xfrm>
            <a:off x="10849273" y="5137324"/>
            <a:ext cx="276225" cy="190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30" name="Shape 28"/>
          <p:cNvSpPr/>
          <p:nvPr/>
        </p:nvSpPr>
        <p:spPr>
          <a:xfrm>
            <a:off x="11125498" y="5070649"/>
            <a:ext cx="123825" cy="15240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31" name="Shape 29"/>
          <p:cNvSpPr/>
          <p:nvPr/>
        </p:nvSpPr>
        <p:spPr>
          <a:xfrm>
            <a:off x="11249323" y="2458343"/>
            <a:ext cx="2591544" cy="2621831"/>
          </a:xfrm>
          <a:prstGeom prst="rect">
            <a:avLst/>
          </a:prstGeom>
          <a:solidFill>
            <a:srgbClr val="EFF4F1"/>
          </a:solidFill>
          <a:ln/>
        </p:spPr>
      </p:sp>
      <p:sp>
        <p:nvSpPr>
          <p:cNvPr id="32" name="Shape 30"/>
          <p:cNvSpPr/>
          <p:nvPr/>
        </p:nvSpPr>
        <p:spPr>
          <a:xfrm>
            <a:off x="11249323" y="5070649"/>
            <a:ext cx="2591544" cy="9525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3" name="Shape 31"/>
          <p:cNvSpPr/>
          <p:nvPr/>
        </p:nvSpPr>
        <p:spPr>
          <a:xfrm>
            <a:off x="11249323" y="2458343"/>
            <a:ext cx="2591544" cy="571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4" name="Shape 32"/>
          <p:cNvSpPr/>
          <p:nvPr/>
        </p:nvSpPr>
        <p:spPr>
          <a:xfrm>
            <a:off x="11249323" y="2458343"/>
            <a:ext cx="9525" cy="2621831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5" name="Shape 33"/>
          <p:cNvSpPr/>
          <p:nvPr/>
        </p:nvSpPr>
        <p:spPr>
          <a:xfrm>
            <a:off x="13831342" y="2458343"/>
            <a:ext cx="9525" cy="2621831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6" name="Text 34"/>
          <p:cNvSpPr/>
          <p:nvPr/>
        </p:nvSpPr>
        <p:spPr>
          <a:xfrm>
            <a:off x="11449348" y="3418731"/>
            <a:ext cx="241064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11449348" y="3847356"/>
            <a:ext cx="2410644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333"/>
              </a:lnSpc>
              <a:buNone/>
            </a:pPr>
            <a:r>
              <a:rPr lang="en-US" sz="2100" b="1" dirty="0">
                <a:solidFill>
                  <a:srgbClr val="0B1F3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Владелец</a:t>
            </a:r>
            <a:endParaRPr lang="en-US" sz="2100" dirty="0"/>
          </a:p>
        </p:txBody>
      </p:sp>
      <p:sp>
        <p:nvSpPr>
          <p:cNvPr id="38" name="Shape 36"/>
          <p:cNvSpPr/>
          <p:nvPr/>
        </p:nvSpPr>
        <p:spPr>
          <a:xfrm>
            <a:off x="11249323" y="5213524"/>
            <a:ext cx="2591544" cy="2621831"/>
          </a:xfrm>
          <a:prstGeom prst="rect">
            <a:avLst/>
          </a:prstGeom>
          <a:solidFill>
            <a:srgbClr val="EFF4F1"/>
          </a:solidFill>
          <a:ln/>
        </p:spPr>
      </p:sp>
      <p:sp>
        <p:nvSpPr>
          <p:cNvPr id="39" name="Shape 37"/>
          <p:cNvSpPr/>
          <p:nvPr/>
        </p:nvSpPr>
        <p:spPr>
          <a:xfrm>
            <a:off x="11249323" y="7825829"/>
            <a:ext cx="2591544" cy="9525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0" name="Shape 38"/>
          <p:cNvSpPr/>
          <p:nvPr/>
        </p:nvSpPr>
        <p:spPr>
          <a:xfrm>
            <a:off x="11249323" y="5213524"/>
            <a:ext cx="2591544" cy="571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1" name="Shape 39"/>
          <p:cNvSpPr/>
          <p:nvPr/>
        </p:nvSpPr>
        <p:spPr>
          <a:xfrm>
            <a:off x="11249323" y="5213524"/>
            <a:ext cx="9525" cy="2621831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2" name="Shape 40"/>
          <p:cNvSpPr/>
          <p:nvPr/>
        </p:nvSpPr>
        <p:spPr>
          <a:xfrm>
            <a:off x="13831342" y="5213524"/>
            <a:ext cx="9525" cy="2621831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3" name="Text 41"/>
          <p:cNvSpPr/>
          <p:nvPr/>
        </p:nvSpPr>
        <p:spPr>
          <a:xfrm>
            <a:off x="11449348" y="6173912"/>
            <a:ext cx="241064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650" dirty="0"/>
          </a:p>
        </p:txBody>
      </p:sp>
      <p:sp>
        <p:nvSpPr>
          <p:cNvPr id="44" name="Text 42"/>
          <p:cNvSpPr/>
          <p:nvPr/>
        </p:nvSpPr>
        <p:spPr>
          <a:xfrm>
            <a:off x="11449348" y="6602537"/>
            <a:ext cx="2410644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333"/>
              </a:lnSpc>
              <a:buNone/>
            </a:pPr>
            <a:r>
              <a:rPr lang="en-US" sz="2100" b="1" dirty="0">
                <a:solidFill>
                  <a:srgbClr val="0B1F3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Порог проверки</a:t>
            </a:r>
            <a:endParaRPr lang="en-US" sz="2100" dirty="0"/>
          </a:p>
        </p:txBody>
      </p:sp>
      <p:sp>
        <p:nvSpPr>
          <p:cNvPr id="45" name="Shape 43"/>
          <p:cNvSpPr/>
          <p:nvPr/>
        </p:nvSpPr>
        <p:spPr>
          <a:xfrm>
            <a:off x="13840867" y="5137324"/>
            <a:ext cx="276225" cy="190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46" name="Shape 44"/>
          <p:cNvSpPr/>
          <p:nvPr/>
        </p:nvSpPr>
        <p:spPr>
          <a:xfrm>
            <a:off x="14117092" y="5070649"/>
            <a:ext cx="123825" cy="15240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47" name="Shape 45"/>
          <p:cNvSpPr/>
          <p:nvPr/>
        </p:nvSpPr>
        <p:spPr>
          <a:xfrm>
            <a:off x="14240917" y="2458343"/>
            <a:ext cx="3361283" cy="5377011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48" name="Text 46"/>
          <p:cNvSpPr/>
          <p:nvPr/>
        </p:nvSpPr>
        <p:spPr>
          <a:xfrm>
            <a:off x="14431417" y="4751115"/>
            <a:ext cx="327831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126" kern="0" dirty="0">
                <a:solidFill>
                  <a:srgbClr val="C9A9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РЕЗУЛЬТАТ</a:t>
            </a:r>
            <a:endParaRPr lang="en-US" sz="1575" dirty="0"/>
          </a:p>
        </p:txBody>
      </p:sp>
      <p:sp>
        <p:nvSpPr>
          <p:cNvPr id="49" name="Text 47"/>
          <p:cNvSpPr/>
          <p:nvPr/>
        </p:nvSpPr>
        <p:spPr>
          <a:xfrm>
            <a:off x="14431417" y="5170215"/>
            <a:ext cx="3278312" cy="4104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889"/>
              </a:lnSpc>
              <a:buNone/>
            </a:pPr>
            <a:r>
              <a:rPr lang="en-US" sz="2550" b="1" dirty="0">
                <a:solidFill>
                  <a:srgbClr val="F3EBDD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Паспорт Спринта</a:t>
            </a:r>
            <a:endParaRPr lang="en-US" sz="2550" dirty="0"/>
          </a:p>
        </p:txBody>
      </p:sp>
      <p:sp>
        <p:nvSpPr>
          <p:cNvPr id="50" name="Text 48"/>
          <p:cNvSpPr/>
          <p:nvPr/>
        </p:nvSpPr>
        <p:spPr>
          <a:xfrm>
            <a:off x="685800" y="8111579"/>
            <a:ext cx="102832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126" kern="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ЛЕГЕНДА</a:t>
            </a:r>
            <a:endParaRPr lang="en-US" sz="1575" dirty="0"/>
          </a:p>
        </p:txBody>
      </p:sp>
      <p:sp>
        <p:nvSpPr>
          <p:cNvPr id="51" name="Shape 49"/>
          <p:cNvSpPr/>
          <p:nvPr/>
        </p:nvSpPr>
        <p:spPr>
          <a:xfrm>
            <a:off x="1809378" y="8140154"/>
            <a:ext cx="209550" cy="13335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52" name="Text 50"/>
          <p:cNvSpPr/>
          <p:nvPr/>
        </p:nvSpPr>
        <p:spPr>
          <a:xfrm>
            <a:off x="2114178" y="8059192"/>
            <a:ext cx="202942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Red — красная зона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4315048" y="8140154"/>
            <a:ext cx="209550" cy="1333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54" name="Text 52"/>
          <p:cNvSpPr/>
          <p:nvPr/>
        </p:nvSpPr>
        <p:spPr>
          <a:xfrm>
            <a:off x="4619848" y="8059192"/>
            <a:ext cx="2611189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Copper — выбор решения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1809378" y="8502104"/>
            <a:ext cx="209550" cy="1333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6" name="Text 54"/>
          <p:cNvSpPr/>
          <p:nvPr/>
        </p:nvSpPr>
        <p:spPr>
          <a:xfrm>
            <a:off x="2114178" y="8421142"/>
            <a:ext cx="2498973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Teal — владелец и порог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9353550" y="8063954"/>
            <a:ext cx="8248650" cy="1241971"/>
          </a:xfrm>
          <a:prstGeom prst="rect">
            <a:avLst/>
          </a:prstGeom>
          <a:ln w="9525">
            <a:solidFill>
              <a:srgbClr val="B91C1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553575" y="8225879"/>
            <a:ext cx="86334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126" kern="0" dirty="0">
                <a:solidFill>
                  <a:srgbClr val="B91C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ЭТО НЕ</a:t>
            </a:r>
            <a:endParaRPr lang="en-US" sz="1575" dirty="0"/>
          </a:p>
        </p:txBody>
      </p:sp>
      <p:sp>
        <p:nvSpPr>
          <p:cNvPr id="59" name="Text 57"/>
          <p:cNvSpPr/>
          <p:nvPr/>
        </p:nvSpPr>
        <p:spPr>
          <a:xfrm>
            <a:off x="9553575" y="8549729"/>
            <a:ext cx="8084058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645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Это не стратегическая дискуссия без артефактов. Сессия заканчивается паспортом Спринта или отказом от движения.</a:t>
            </a:r>
            <a:endParaRPr lang="en-US" sz="1800" dirty="0"/>
          </a:p>
        </p:txBody>
      </p:sp>
      <p:sp>
        <p:nvSpPr>
          <p:cNvPr id="60" name="Shape 58"/>
          <p:cNvSpPr/>
          <p:nvPr/>
        </p:nvSpPr>
        <p:spPr>
          <a:xfrm>
            <a:off x="685800" y="9515475"/>
            <a:ext cx="16916400" cy="9525"/>
          </a:xfrm>
          <a:prstGeom prst="rect">
            <a:avLst/>
          </a:prstGeom>
          <a:solidFill>
            <a:srgbClr val="0B1F33">
              <a:alpha val="20000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685800" y="9658350"/>
            <a:ext cx="942475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0B1F33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Сессия нужна, чтобы решение стало проводимым, а не осталось выводом отчета.</a:t>
            </a:r>
            <a:endParaRPr lang="en-US" sz="1800" dirty="0"/>
          </a:p>
        </p:txBody>
      </p:sp>
      <p:sp>
        <p:nvSpPr>
          <p:cNvPr id="62" name="Text 60"/>
          <p:cNvSpPr/>
          <p:nvPr/>
        </p:nvSpPr>
        <p:spPr>
          <a:xfrm>
            <a:off x="12607305" y="9672638"/>
            <a:ext cx="549438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Визуализация_08_Сессия_Сбор_Решения_V1</a:t>
            </a:r>
            <a:endParaRPr lang="en-US" sz="17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B1F33">
                  <a:alpha val="5000"/>
                </a:srgbClr>
              </a:gs>
              <a:gs pos="100000">
                <a:srgbClr val="0B1F33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685800" y="842963"/>
            <a:ext cx="16916400" cy="9525"/>
          </a:xfrm>
          <a:prstGeom prst="rect">
            <a:avLst/>
          </a:prstGeom>
          <a:solidFill>
            <a:srgbClr val="0B1F33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19100"/>
            <a:ext cx="4771437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spc="103" kern="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КОНТУР МАРЖИ / ВИЗУАЛИЗАЦИЯ 09</a:t>
            </a:r>
            <a:endParaRPr lang="en-US" sz="1725" dirty="0"/>
          </a:p>
        </p:txBody>
      </p:sp>
      <p:sp>
        <p:nvSpPr>
          <p:cNvPr id="5" name="Text 3"/>
          <p:cNvSpPr/>
          <p:nvPr/>
        </p:nvSpPr>
        <p:spPr>
          <a:xfrm>
            <a:off x="9794453" y="419100"/>
            <a:ext cx="858852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spc="103" kern="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КОНСУЛЬТАНТСКИЙ СЛОЙ · SPRINT FLOW · СЛОЖНОСТЬ СРЕДНЯЯ</a:t>
            </a:r>
            <a:endParaRPr lang="en-US" sz="1725" dirty="0"/>
          </a:p>
        </p:txBody>
      </p:sp>
      <p:sp>
        <p:nvSpPr>
          <p:cNvPr id="6" name="Text 4"/>
          <p:cNvSpPr/>
          <p:nvPr/>
        </p:nvSpPr>
        <p:spPr>
          <a:xfrm>
            <a:off x="685800" y="1100138"/>
            <a:ext cx="17423892" cy="12092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844"/>
              </a:lnSpc>
              <a:buNone/>
            </a:pPr>
            <a:r>
              <a:rPr lang="en-US" sz="4350" b="1" dirty="0">
                <a:solidFill>
                  <a:srgbClr val="0B1F33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Спринт 30-60-90: проверка решения на ассортиментном контуре</a:t>
            </a:r>
            <a:endParaRPr lang="en-US" sz="4350" dirty="0"/>
          </a:p>
        </p:txBody>
      </p:sp>
      <p:sp>
        <p:nvSpPr>
          <p:cNvPr id="7" name="Text 5"/>
          <p:cNvSpPr/>
          <p:nvPr/>
        </p:nvSpPr>
        <p:spPr>
          <a:xfrm>
            <a:off x="685800" y="2404616"/>
            <a:ext cx="163449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dirty="0">
                <a:solidFill>
                  <a:srgbClr val="475569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Решение проходит недельный ритм, контроль отклонений и финальный управленческий вывод.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685800" y="3023741"/>
            <a:ext cx="3857625" cy="3035201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9" name="Text 7"/>
          <p:cNvSpPr/>
          <p:nvPr/>
        </p:nvSpPr>
        <p:spPr>
          <a:xfrm>
            <a:off x="876300" y="4161309"/>
            <a:ext cx="382428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C9A9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ДЕНЬ 0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876300" y="4589934"/>
            <a:ext cx="3824288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2175" b="1" dirty="0">
                <a:solidFill>
                  <a:srgbClr val="F3EBD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Паспорт Спринта</a:t>
            </a:r>
            <a:endParaRPr lang="en-US" sz="2175" dirty="0"/>
          </a:p>
        </p:txBody>
      </p:sp>
      <p:sp>
        <p:nvSpPr>
          <p:cNvPr id="11" name="Shape 9"/>
          <p:cNvSpPr/>
          <p:nvPr/>
        </p:nvSpPr>
        <p:spPr>
          <a:xfrm>
            <a:off x="4543425" y="4531816"/>
            <a:ext cx="352425" cy="190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12" name="Shape 10"/>
          <p:cNvSpPr/>
          <p:nvPr/>
        </p:nvSpPr>
        <p:spPr>
          <a:xfrm>
            <a:off x="4895850" y="4465141"/>
            <a:ext cx="123825" cy="15240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13" name="Shape 11"/>
          <p:cNvSpPr/>
          <p:nvPr/>
        </p:nvSpPr>
        <p:spPr>
          <a:xfrm>
            <a:off x="5019675" y="3023741"/>
            <a:ext cx="3876675" cy="3035201"/>
          </a:xfrm>
          <a:prstGeom prst="rect">
            <a:avLst/>
          </a:prstGeom>
          <a:solidFill>
            <a:srgbClr val="EFF4F1"/>
          </a:solidFill>
          <a:ln/>
        </p:spPr>
      </p:sp>
      <p:sp>
        <p:nvSpPr>
          <p:cNvPr id="14" name="Shape 12"/>
          <p:cNvSpPr/>
          <p:nvPr/>
        </p:nvSpPr>
        <p:spPr>
          <a:xfrm>
            <a:off x="5019675" y="6049417"/>
            <a:ext cx="3876675" cy="9525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5" name="Shape 13"/>
          <p:cNvSpPr/>
          <p:nvPr/>
        </p:nvSpPr>
        <p:spPr>
          <a:xfrm>
            <a:off x="5019675" y="3023741"/>
            <a:ext cx="3876675" cy="571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6" name="Shape 14"/>
          <p:cNvSpPr/>
          <p:nvPr/>
        </p:nvSpPr>
        <p:spPr>
          <a:xfrm>
            <a:off x="5019675" y="3023741"/>
            <a:ext cx="9525" cy="3035201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7" name="Shape 15"/>
          <p:cNvSpPr/>
          <p:nvPr/>
        </p:nvSpPr>
        <p:spPr>
          <a:xfrm>
            <a:off x="8886825" y="3023741"/>
            <a:ext cx="9525" cy="3035201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8" name="Text 16"/>
          <p:cNvSpPr/>
          <p:nvPr/>
        </p:nvSpPr>
        <p:spPr>
          <a:xfrm>
            <a:off x="5219700" y="4119414"/>
            <a:ext cx="382428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862"/>
              </a:lnSpc>
              <a:buNone/>
            </a:pPr>
            <a:r>
              <a:rPr lang="en-US" sz="3300" b="1" dirty="0">
                <a:solidFill>
                  <a:srgbClr val="0F766E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30</a:t>
            </a:r>
            <a:endParaRPr lang="en-US" sz="3300" dirty="0"/>
          </a:p>
        </p:txBody>
      </p:sp>
      <p:sp>
        <p:nvSpPr>
          <p:cNvPr id="19" name="Text 17"/>
          <p:cNvSpPr/>
          <p:nvPr/>
        </p:nvSpPr>
        <p:spPr>
          <a:xfrm>
            <a:off x="5219700" y="4690914"/>
            <a:ext cx="3824288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333"/>
              </a:lnSpc>
              <a:buNone/>
            </a:pPr>
            <a:r>
              <a:rPr lang="en-US" sz="2100" b="1" dirty="0">
                <a:solidFill>
                  <a:srgbClr val="0B1F3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дней: первая проверка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8896350" y="4531816"/>
            <a:ext cx="352425" cy="190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21" name="Shape 19"/>
          <p:cNvSpPr/>
          <p:nvPr/>
        </p:nvSpPr>
        <p:spPr>
          <a:xfrm>
            <a:off x="9248775" y="4465141"/>
            <a:ext cx="123825" cy="15240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22" name="Shape 20"/>
          <p:cNvSpPr/>
          <p:nvPr/>
        </p:nvSpPr>
        <p:spPr>
          <a:xfrm>
            <a:off x="9372600" y="3023741"/>
            <a:ext cx="3876675" cy="3035201"/>
          </a:xfrm>
          <a:prstGeom prst="rect">
            <a:avLst/>
          </a:prstGeom>
          <a:solidFill>
            <a:srgbClr val="F8F1E7"/>
          </a:solidFill>
          <a:ln/>
        </p:spPr>
      </p:sp>
      <p:sp>
        <p:nvSpPr>
          <p:cNvPr id="23" name="Shape 21"/>
          <p:cNvSpPr/>
          <p:nvPr/>
        </p:nvSpPr>
        <p:spPr>
          <a:xfrm>
            <a:off x="9372600" y="6049417"/>
            <a:ext cx="3876675" cy="9525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24" name="Shape 22"/>
          <p:cNvSpPr/>
          <p:nvPr/>
        </p:nvSpPr>
        <p:spPr>
          <a:xfrm>
            <a:off x="9372600" y="3023741"/>
            <a:ext cx="3876675" cy="571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25" name="Shape 23"/>
          <p:cNvSpPr/>
          <p:nvPr/>
        </p:nvSpPr>
        <p:spPr>
          <a:xfrm>
            <a:off x="9372600" y="3023741"/>
            <a:ext cx="9525" cy="3035201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39750" y="3023741"/>
            <a:ext cx="9525" cy="3035201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27" name="Text 25"/>
          <p:cNvSpPr/>
          <p:nvPr/>
        </p:nvSpPr>
        <p:spPr>
          <a:xfrm>
            <a:off x="9572625" y="4119414"/>
            <a:ext cx="382428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862"/>
              </a:lnSpc>
              <a:buNone/>
            </a:pPr>
            <a:r>
              <a:rPr lang="en-US" sz="3300" b="1" dirty="0">
                <a:solidFill>
                  <a:srgbClr val="B46A3C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60</a:t>
            </a:r>
            <a:endParaRPr lang="en-US" sz="3300" dirty="0"/>
          </a:p>
        </p:txBody>
      </p:sp>
      <p:sp>
        <p:nvSpPr>
          <p:cNvPr id="28" name="Text 26"/>
          <p:cNvSpPr/>
          <p:nvPr/>
        </p:nvSpPr>
        <p:spPr>
          <a:xfrm>
            <a:off x="9572625" y="4690914"/>
            <a:ext cx="3824288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333"/>
              </a:lnSpc>
              <a:buNone/>
            </a:pPr>
            <a:r>
              <a:rPr lang="en-US" sz="2100" b="1" dirty="0">
                <a:solidFill>
                  <a:srgbClr val="0B1F3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дней: корректировка</a:t>
            </a:r>
            <a:endParaRPr lang="en-US" sz="2100" dirty="0"/>
          </a:p>
        </p:txBody>
      </p:sp>
      <p:sp>
        <p:nvSpPr>
          <p:cNvPr id="29" name="Shape 27"/>
          <p:cNvSpPr/>
          <p:nvPr/>
        </p:nvSpPr>
        <p:spPr>
          <a:xfrm>
            <a:off x="13249275" y="4531816"/>
            <a:ext cx="352425" cy="190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30" name="Shape 28"/>
          <p:cNvSpPr/>
          <p:nvPr/>
        </p:nvSpPr>
        <p:spPr>
          <a:xfrm>
            <a:off x="13601700" y="4465141"/>
            <a:ext cx="123825" cy="15240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31" name="Shape 29"/>
          <p:cNvSpPr/>
          <p:nvPr/>
        </p:nvSpPr>
        <p:spPr>
          <a:xfrm>
            <a:off x="13725525" y="3023741"/>
            <a:ext cx="3876675" cy="3035201"/>
          </a:xfrm>
          <a:prstGeom prst="rect">
            <a:avLst/>
          </a:prstGeom>
          <a:solidFill>
            <a:srgbClr val="F8F3E9"/>
          </a:solidFill>
          <a:ln/>
        </p:spPr>
      </p:sp>
      <p:sp>
        <p:nvSpPr>
          <p:cNvPr id="32" name="Shape 30"/>
          <p:cNvSpPr/>
          <p:nvPr/>
        </p:nvSpPr>
        <p:spPr>
          <a:xfrm>
            <a:off x="13725525" y="6049417"/>
            <a:ext cx="3876675" cy="9525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33" name="Shape 31"/>
          <p:cNvSpPr/>
          <p:nvPr/>
        </p:nvSpPr>
        <p:spPr>
          <a:xfrm>
            <a:off x="13725525" y="3023741"/>
            <a:ext cx="3876675" cy="5715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34" name="Shape 32"/>
          <p:cNvSpPr/>
          <p:nvPr/>
        </p:nvSpPr>
        <p:spPr>
          <a:xfrm>
            <a:off x="13725525" y="3023741"/>
            <a:ext cx="9525" cy="3035201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35" name="Shape 33"/>
          <p:cNvSpPr/>
          <p:nvPr/>
        </p:nvSpPr>
        <p:spPr>
          <a:xfrm>
            <a:off x="17592675" y="3023741"/>
            <a:ext cx="9525" cy="3035201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36" name="Text 34"/>
          <p:cNvSpPr/>
          <p:nvPr/>
        </p:nvSpPr>
        <p:spPr>
          <a:xfrm>
            <a:off x="13925550" y="4119414"/>
            <a:ext cx="382428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862"/>
              </a:lnSpc>
              <a:buNone/>
            </a:pPr>
            <a:r>
              <a:rPr lang="en-US" sz="3300" b="1" dirty="0">
                <a:solidFill>
                  <a:srgbClr val="0B1F33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90</a:t>
            </a:r>
            <a:endParaRPr lang="en-US" sz="3300" dirty="0"/>
          </a:p>
        </p:txBody>
      </p:sp>
      <p:sp>
        <p:nvSpPr>
          <p:cNvPr id="37" name="Text 35"/>
          <p:cNvSpPr/>
          <p:nvPr/>
        </p:nvSpPr>
        <p:spPr>
          <a:xfrm>
            <a:off x="13925550" y="4690914"/>
            <a:ext cx="3824288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333"/>
              </a:lnSpc>
              <a:buNone/>
            </a:pPr>
            <a:r>
              <a:rPr lang="en-US" sz="2100" b="1" dirty="0">
                <a:solidFill>
                  <a:srgbClr val="0B1F3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дней: финальный вывод</a:t>
            </a:r>
            <a:endParaRPr lang="en-US" sz="2100" dirty="0"/>
          </a:p>
        </p:txBody>
      </p:sp>
      <p:sp>
        <p:nvSpPr>
          <p:cNvPr id="38" name="Shape 36"/>
          <p:cNvSpPr/>
          <p:nvPr/>
        </p:nvSpPr>
        <p:spPr>
          <a:xfrm>
            <a:off x="685800" y="6211342"/>
            <a:ext cx="16916400" cy="619125"/>
          </a:xfrm>
          <a:prstGeom prst="rect">
            <a:avLst/>
          </a:prstGeom>
          <a:solidFill>
            <a:srgbClr val="FAEEEB"/>
          </a:solidFill>
          <a:ln/>
        </p:spPr>
      </p:sp>
      <p:sp>
        <p:nvSpPr>
          <p:cNvPr id="39" name="Shape 37"/>
          <p:cNvSpPr/>
          <p:nvPr/>
        </p:nvSpPr>
        <p:spPr>
          <a:xfrm>
            <a:off x="685800" y="6820942"/>
            <a:ext cx="16916400" cy="9525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40" name="Shape 38"/>
          <p:cNvSpPr/>
          <p:nvPr/>
        </p:nvSpPr>
        <p:spPr>
          <a:xfrm>
            <a:off x="685800" y="6211342"/>
            <a:ext cx="16916400" cy="9525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41" name="Shape 39"/>
          <p:cNvSpPr/>
          <p:nvPr/>
        </p:nvSpPr>
        <p:spPr>
          <a:xfrm>
            <a:off x="685800" y="6211342"/>
            <a:ext cx="57150" cy="619125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42" name="Shape 40"/>
          <p:cNvSpPr/>
          <p:nvPr/>
        </p:nvSpPr>
        <p:spPr>
          <a:xfrm>
            <a:off x="17592675" y="6211342"/>
            <a:ext cx="9525" cy="619125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43" name="Text 41"/>
          <p:cNvSpPr/>
          <p:nvPr/>
        </p:nvSpPr>
        <p:spPr>
          <a:xfrm>
            <a:off x="933450" y="6387554"/>
            <a:ext cx="284275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126" kern="0" dirty="0">
                <a:solidFill>
                  <a:srgbClr val="B91C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КОНТРОЛЬ ОТКЛОНЕНИЙ</a:t>
            </a:r>
            <a:endParaRPr lang="en-US" sz="1575" dirty="0"/>
          </a:p>
        </p:txBody>
      </p:sp>
      <p:sp>
        <p:nvSpPr>
          <p:cNvPr id="44" name="Text 42"/>
          <p:cNvSpPr/>
          <p:nvPr/>
        </p:nvSpPr>
        <p:spPr>
          <a:xfrm>
            <a:off x="3689226" y="6354217"/>
            <a:ext cx="255233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B1F3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Журнал исключений</a:t>
            </a:r>
            <a:endParaRPr lang="en-US" sz="2025" dirty="0"/>
          </a:p>
        </p:txBody>
      </p:sp>
      <p:sp>
        <p:nvSpPr>
          <p:cNvPr id="45" name="Shape 43"/>
          <p:cNvSpPr/>
          <p:nvPr/>
        </p:nvSpPr>
        <p:spPr>
          <a:xfrm>
            <a:off x="685800" y="6982867"/>
            <a:ext cx="16916400" cy="890588"/>
          </a:xfrm>
          <a:prstGeom prst="rect">
            <a:avLst/>
          </a:prstGeom>
          <a:solidFill>
            <a:srgbClr val="F8F3E9"/>
          </a:solidFill>
          <a:ln w="9525">
            <a:solidFill>
              <a:srgbClr val="0B1F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85825" y="7294811"/>
            <a:ext cx="102832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126" kern="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РЕШЕНИЕ</a:t>
            </a:r>
            <a:endParaRPr lang="en-US" sz="1575" dirty="0"/>
          </a:p>
        </p:txBody>
      </p:sp>
      <p:sp>
        <p:nvSpPr>
          <p:cNvPr id="47" name="Shape 45"/>
          <p:cNvSpPr/>
          <p:nvPr/>
        </p:nvSpPr>
        <p:spPr>
          <a:xfrm>
            <a:off x="2028453" y="7144792"/>
            <a:ext cx="5035674" cy="566738"/>
          </a:xfrm>
          <a:prstGeom prst="rect">
            <a:avLst/>
          </a:prstGeom>
          <a:solidFill>
            <a:srgbClr val="EFF4F1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190378" y="7268617"/>
            <a:ext cx="4862894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F766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масштабировать</a:t>
            </a:r>
            <a:endParaRPr lang="en-US" sz="1950" dirty="0"/>
          </a:p>
        </p:txBody>
      </p:sp>
      <p:sp>
        <p:nvSpPr>
          <p:cNvPr id="49" name="Shape 47"/>
          <p:cNvSpPr/>
          <p:nvPr/>
        </p:nvSpPr>
        <p:spPr>
          <a:xfrm>
            <a:off x="7197477" y="7144792"/>
            <a:ext cx="5035674" cy="566738"/>
          </a:xfrm>
          <a:prstGeom prst="rect">
            <a:avLst/>
          </a:prstGeom>
          <a:solidFill>
            <a:srgbClr val="F8F1E7"/>
          </a:solidFill>
          <a:ln w="9525">
            <a:solidFill>
              <a:srgbClr val="B46A3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359402" y="7268617"/>
            <a:ext cx="4862894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B46A3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изменить</a:t>
            </a:r>
            <a:endParaRPr lang="en-US" sz="1950" dirty="0"/>
          </a:p>
        </p:txBody>
      </p:sp>
      <p:sp>
        <p:nvSpPr>
          <p:cNvPr id="51" name="Shape 49"/>
          <p:cNvSpPr/>
          <p:nvPr/>
        </p:nvSpPr>
        <p:spPr>
          <a:xfrm>
            <a:off x="12366501" y="7144792"/>
            <a:ext cx="5035674" cy="566738"/>
          </a:xfrm>
          <a:prstGeom prst="rect">
            <a:avLst/>
          </a:prstGeom>
          <a:solidFill>
            <a:srgbClr val="FAEEEB"/>
          </a:solidFill>
          <a:ln w="9525">
            <a:solidFill>
              <a:srgbClr val="B91C1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2528426" y="7268617"/>
            <a:ext cx="4862894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B91C1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остановить</a:t>
            </a:r>
            <a:endParaRPr lang="en-US" sz="1950" dirty="0"/>
          </a:p>
        </p:txBody>
      </p:sp>
      <p:sp>
        <p:nvSpPr>
          <p:cNvPr id="53" name="Text 51"/>
          <p:cNvSpPr/>
          <p:nvPr/>
        </p:nvSpPr>
        <p:spPr>
          <a:xfrm>
            <a:off x="685800" y="8130629"/>
            <a:ext cx="102832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126" kern="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ЛЕГЕНДА</a:t>
            </a:r>
            <a:endParaRPr lang="en-US" sz="1575" dirty="0"/>
          </a:p>
        </p:txBody>
      </p:sp>
      <p:sp>
        <p:nvSpPr>
          <p:cNvPr id="54" name="Shape 52"/>
          <p:cNvSpPr/>
          <p:nvPr/>
        </p:nvSpPr>
        <p:spPr>
          <a:xfrm>
            <a:off x="1809378" y="8159204"/>
            <a:ext cx="209550" cy="1333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55" name="Text 53"/>
          <p:cNvSpPr/>
          <p:nvPr/>
        </p:nvSpPr>
        <p:spPr>
          <a:xfrm>
            <a:off x="2114178" y="8078242"/>
            <a:ext cx="3279473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Copper — движение по времени</a:t>
            </a:r>
            <a:endParaRPr lang="en-US" sz="1800" dirty="0"/>
          </a:p>
        </p:txBody>
      </p:sp>
      <p:sp>
        <p:nvSpPr>
          <p:cNvPr id="56" name="Shape 54"/>
          <p:cNvSpPr/>
          <p:nvPr/>
        </p:nvSpPr>
        <p:spPr>
          <a:xfrm>
            <a:off x="1809378" y="8521154"/>
            <a:ext cx="209550" cy="1333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7" name="Text 55"/>
          <p:cNvSpPr/>
          <p:nvPr/>
        </p:nvSpPr>
        <p:spPr>
          <a:xfrm>
            <a:off x="2114178" y="8440192"/>
            <a:ext cx="3296719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Teal — подтвержденные данные</a:t>
            </a:r>
            <a:endParaRPr lang="en-US" sz="1800" dirty="0"/>
          </a:p>
        </p:txBody>
      </p:sp>
      <p:sp>
        <p:nvSpPr>
          <p:cNvPr id="58" name="Shape 56"/>
          <p:cNvSpPr/>
          <p:nvPr/>
        </p:nvSpPr>
        <p:spPr>
          <a:xfrm>
            <a:off x="5562526" y="8521154"/>
            <a:ext cx="209550" cy="13335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59" name="Text 57"/>
          <p:cNvSpPr/>
          <p:nvPr/>
        </p:nvSpPr>
        <p:spPr>
          <a:xfrm>
            <a:off x="5867326" y="8440192"/>
            <a:ext cx="2570262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Red — отклонение и Stop</a:t>
            </a:r>
            <a:endParaRPr lang="en-US" sz="1800" dirty="0"/>
          </a:p>
        </p:txBody>
      </p:sp>
      <p:sp>
        <p:nvSpPr>
          <p:cNvPr id="60" name="Shape 58"/>
          <p:cNvSpPr/>
          <p:nvPr/>
        </p:nvSpPr>
        <p:spPr>
          <a:xfrm>
            <a:off x="9353550" y="8083004"/>
            <a:ext cx="8248650" cy="1241971"/>
          </a:xfrm>
          <a:prstGeom prst="rect">
            <a:avLst/>
          </a:prstGeom>
          <a:ln w="9525">
            <a:solidFill>
              <a:srgbClr val="B91C1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553575" y="8244929"/>
            <a:ext cx="86334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126" kern="0" dirty="0">
                <a:solidFill>
                  <a:srgbClr val="B91C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ЭТО НЕ</a:t>
            </a:r>
            <a:endParaRPr lang="en-US" sz="1575" dirty="0"/>
          </a:p>
        </p:txBody>
      </p:sp>
      <p:sp>
        <p:nvSpPr>
          <p:cNvPr id="62" name="Text 60"/>
          <p:cNvSpPr/>
          <p:nvPr/>
        </p:nvSpPr>
        <p:spPr>
          <a:xfrm>
            <a:off x="9553575" y="8568779"/>
            <a:ext cx="8084058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645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Это не внедрение большой информационной системы. Это проверка управленческого решения на ограниченном участке.</a:t>
            </a:r>
            <a:endParaRPr lang="en-US" sz="1800" dirty="0"/>
          </a:p>
        </p:txBody>
      </p:sp>
      <p:sp>
        <p:nvSpPr>
          <p:cNvPr id="63" name="Shape 61"/>
          <p:cNvSpPr/>
          <p:nvPr/>
        </p:nvSpPr>
        <p:spPr>
          <a:xfrm>
            <a:off x="685800" y="9515475"/>
            <a:ext cx="16916400" cy="9525"/>
          </a:xfrm>
          <a:prstGeom prst="rect">
            <a:avLst/>
          </a:prstGeom>
          <a:solidFill>
            <a:srgbClr val="0B1F33">
              <a:alpha val="20000"/>
            </a:srgbClr>
          </a:solidFill>
          <a:ln/>
        </p:spPr>
      </p:sp>
      <p:sp>
        <p:nvSpPr>
          <p:cNvPr id="64" name="Text 62"/>
          <p:cNvSpPr/>
          <p:nvPr/>
        </p:nvSpPr>
        <p:spPr>
          <a:xfrm>
            <a:off x="685800" y="9658350"/>
            <a:ext cx="1079894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0B1F33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Спринт показывает, выдерживает ли решение реальную коммерческую и операционную среду.</a:t>
            </a:r>
            <a:endParaRPr lang="en-US" sz="1800" dirty="0"/>
          </a:p>
        </p:txBody>
      </p:sp>
      <p:sp>
        <p:nvSpPr>
          <p:cNvPr id="65" name="Text 63"/>
          <p:cNvSpPr/>
          <p:nvPr/>
        </p:nvSpPr>
        <p:spPr>
          <a:xfrm>
            <a:off x="13133115" y="9672638"/>
            <a:ext cx="491599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Визуализация_09_Спринт_30_60_90_V1</a:t>
            </a:r>
            <a:endParaRPr lang="en-US" sz="17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B1F33">
                  <a:alpha val="5000"/>
                </a:srgbClr>
              </a:gs>
              <a:gs pos="100000">
                <a:srgbClr val="0B1F33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685800" y="842963"/>
            <a:ext cx="16916400" cy="9525"/>
          </a:xfrm>
          <a:prstGeom prst="rect">
            <a:avLst/>
          </a:prstGeom>
          <a:solidFill>
            <a:srgbClr val="0B1F33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19100"/>
            <a:ext cx="4771437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spc="103" kern="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КОНТУР МАРЖИ / ВИЗУАЛИЗАЦИЯ 10</a:t>
            </a:r>
            <a:endParaRPr lang="en-US" sz="1725" dirty="0"/>
          </a:p>
        </p:txBody>
      </p:sp>
      <p:sp>
        <p:nvSpPr>
          <p:cNvPr id="5" name="Text 3"/>
          <p:cNvSpPr/>
          <p:nvPr/>
        </p:nvSpPr>
        <p:spPr>
          <a:xfrm>
            <a:off x="10083626" y="419100"/>
            <a:ext cx="827043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spc="103" kern="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КЛИЕНТСКИЙ СЛОЙ · BEFORE / AFTER · СЛОЖНОСТЬ ПРОСТАЯ</a:t>
            </a:r>
            <a:endParaRPr lang="en-US" sz="1725" dirty="0"/>
          </a:p>
        </p:txBody>
      </p:sp>
      <p:sp>
        <p:nvSpPr>
          <p:cNvPr id="6" name="Text 4"/>
          <p:cNvSpPr/>
          <p:nvPr/>
        </p:nvSpPr>
        <p:spPr>
          <a:xfrm>
            <a:off x="685800" y="1100138"/>
            <a:ext cx="18608040" cy="643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500" b="1" dirty="0">
                <a:solidFill>
                  <a:srgbClr val="0B1F33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До: виден итог. После: видна зона действия</a:t>
            </a:r>
            <a:endParaRPr lang="en-US" sz="4500" dirty="0"/>
          </a:p>
        </p:txBody>
      </p:sp>
      <p:sp>
        <p:nvSpPr>
          <p:cNvPr id="7" name="Text 5"/>
          <p:cNvSpPr/>
          <p:nvPr/>
        </p:nvSpPr>
        <p:spPr>
          <a:xfrm>
            <a:off x="685800" y="1839218"/>
            <a:ext cx="163449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dirty="0">
                <a:solidFill>
                  <a:srgbClr val="475569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P&amp;L / отчет о прибылях и убытках показывает результат периода, Контур Маржи показывает, где принять решение.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685800" y="2458343"/>
            <a:ext cx="7743825" cy="5386536"/>
          </a:xfrm>
          <a:prstGeom prst="rect">
            <a:avLst/>
          </a:prstGeom>
          <a:solidFill>
            <a:srgbClr val="EFEADF"/>
          </a:solidFill>
          <a:ln w="9525">
            <a:solidFill>
              <a:srgbClr val="4755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3925" y="2696468"/>
            <a:ext cx="799433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ДО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923925" y="3144143"/>
            <a:ext cx="7267575" cy="985838"/>
          </a:xfrm>
          <a:prstGeom prst="rect">
            <a:avLst/>
          </a:prstGeom>
          <a:solidFill>
            <a:srgbClr val="DED6C6"/>
          </a:solidFill>
          <a:ln w="9525">
            <a:solidFill>
              <a:srgbClr val="4755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23950" y="3344168"/>
            <a:ext cx="7554278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0B1F3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Итоговая прибыль по периоду</a:t>
            </a:r>
            <a:endParaRPr lang="en-US" sz="2175" dirty="0"/>
          </a:p>
        </p:txBody>
      </p:sp>
      <p:sp>
        <p:nvSpPr>
          <p:cNvPr id="12" name="Shape 10"/>
          <p:cNvSpPr/>
          <p:nvPr/>
        </p:nvSpPr>
        <p:spPr>
          <a:xfrm>
            <a:off x="1123950" y="3796605"/>
            <a:ext cx="6867525" cy="13335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3" name="Shape 11"/>
          <p:cNvSpPr/>
          <p:nvPr/>
        </p:nvSpPr>
        <p:spPr>
          <a:xfrm>
            <a:off x="923925" y="4301430"/>
            <a:ext cx="7267575" cy="3305324"/>
          </a:xfrm>
          <a:prstGeom prst="rect">
            <a:avLst/>
          </a:prstGeom>
          <a:solidFill>
            <a:srgbClr val="FAEEEB"/>
          </a:solidFill>
          <a:ln/>
        </p:spPr>
      </p:sp>
      <p:sp>
        <p:nvSpPr>
          <p:cNvPr id="14" name="Shape 12"/>
          <p:cNvSpPr/>
          <p:nvPr/>
        </p:nvSpPr>
        <p:spPr>
          <a:xfrm>
            <a:off x="923925" y="7597229"/>
            <a:ext cx="7267575" cy="9525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5" name="Shape 13"/>
          <p:cNvSpPr/>
          <p:nvPr/>
        </p:nvSpPr>
        <p:spPr>
          <a:xfrm>
            <a:off x="923925" y="4301430"/>
            <a:ext cx="7267575" cy="9525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6" name="Shape 14"/>
          <p:cNvSpPr/>
          <p:nvPr/>
        </p:nvSpPr>
        <p:spPr>
          <a:xfrm>
            <a:off x="923925" y="4301430"/>
            <a:ext cx="57150" cy="3305324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7" name="Shape 15"/>
          <p:cNvSpPr/>
          <p:nvPr/>
        </p:nvSpPr>
        <p:spPr>
          <a:xfrm>
            <a:off x="8181975" y="4301430"/>
            <a:ext cx="9525" cy="3305324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8" name="Text 16"/>
          <p:cNvSpPr/>
          <p:nvPr/>
        </p:nvSpPr>
        <p:spPr>
          <a:xfrm>
            <a:off x="1171575" y="5615955"/>
            <a:ext cx="75018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126" kern="0" dirty="0">
                <a:solidFill>
                  <a:srgbClr val="B91C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НЕ ВИДНО</a:t>
            </a:r>
            <a:endParaRPr lang="en-US" sz="1575" dirty="0"/>
          </a:p>
        </p:txBody>
      </p:sp>
      <p:sp>
        <p:nvSpPr>
          <p:cNvPr id="19" name="Text 17"/>
          <p:cNvSpPr/>
          <p:nvPr/>
        </p:nvSpPr>
        <p:spPr>
          <a:xfrm>
            <a:off x="1171575" y="5958855"/>
            <a:ext cx="750189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222"/>
              </a:lnSpc>
              <a:buNone/>
            </a:pPr>
            <a:r>
              <a:rPr lang="en-US" sz="2100" b="1" dirty="0">
                <a:solidFill>
                  <a:srgbClr val="0B1F3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SKU x канал, причина, владелец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8540055" y="4761086"/>
            <a:ext cx="1207815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8113"/>
              </a:lnSpc>
              <a:buNone/>
            </a:pPr>
            <a:r>
              <a:rPr lang="en-US" sz="1500" spc="90" kern="0" dirty="0">
                <a:solidFill>
                  <a:srgbClr val="B46A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ПЕРЕХОД К РЕШЕНИЮ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429625" y="5446886"/>
            <a:ext cx="1295400" cy="190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22" name="Shape 20"/>
          <p:cNvSpPr/>
          <p:nvPr/>
        </p:nvSpPr>
        <p:spPr>
          <a:xfrm>
            <a:off x="9725025" y="5370686"/>
            <a:ext cx="133350" cy="1714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23" name="Shape 21"/>
          <p:cNvSpPr/>
          <p:nvPr/>
        </p:nvSpPr>
        <p:spPr>
          <a:xfrm>
            <a:off x="9858375" y="2458343"/>
            <a:ext cx="7743825" cy="5386536"/>
          </a:xfrm>
          <a:prstGeom prst="rect">
            <a:avLst/>
          </a:prstGeom>
          <a:solidFill>
            <a:srgbClr val="F8F3E9"/>
          </a:solidFill>
          <a:ln w="9525">
            <a:solidFill>
              <a:srgbClr val="0B1F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96500" y="2696468"/>
            <a:ext cx="799433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0B1F3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ПОСЛЕ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0096500" y="3144143"/>
            <a:ext cx="7267575" cy="1033462"/>
          </a:xfrm>
          <a:prstGeom prst="rect">
            <a:avLst/>
          </a:prstGeom>
          <a:solidFill>
            <a:srgbClr val="FAEEEB"/>
          </a:solidFill>
          <a:ln/>
        </p:spPr>
      </p:sp>
      <p:sp>
        <p:nvSpPr>
          <p:cNvPr id="26" name="Shape 24"/>
          <p:cNvSpPr/>
          <p:nvPr/>
        </p:nvSpPr>
        <p:spPr>
          <a:xfrm>
            <a:off x="10096500" y="4168080"/>
            <a:ext cx="7267575" cy="9525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27" name="Shape 25"/>
          <p:cNvSpPr/>
          <p:nvPr/>
        </p:nvSpPr>
        <p:spPr>
          <a:xfrm>
            <a:off x="10096500" y="3144143"/>
            <a:ext cx="7267575" cy="5715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28" name="Shape 26"/>
          <p:cNvSpPr/>
          <p:nvPr/>
        </p:nvSpPr>
        <p:spPr>
          <a:xfrm>
            <a:off x="10096500" y="3144143"/>
            <a:ext cx="9525" cy="1033462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29" name="Shape 27"/>
          <p:cNvSpPr/>
          <p:nvPr/>
        </p:nvSpPr>
        <p:spPr>
          <a:xfrm>
            <a:off x="17354550" y="3144143"/>
            <a:ext cx="9525" cy="1033462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0" name="Text 28"/>
          <p:cNvSpPr/>
          <p:nvPr/>
        </p:nvSpPr>
        <p:spPr>
          <a:xfrm>
            <a:off x="10296525" y="3391793"/>
            <a:ext cx="7554278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B91C1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Красная зона и решение</a:t>
            </a:r>
            <a:endParaRPr lang="en-US" sz="2175" dirty="0"/>
          </a:p>
        </p:txBody>
      </p:sp>
      <p:sp>
        <p:nvSpPr>
          <p:cNvPr id="31" name="Shape 29"/>
          <p:cNvSpPr/>
          <p:nvPr/>
        </p:nvSpPr>
        <p:spPr>
          <a:xfrm>
            <a:off x="10296525" y="3844230"/>
            <a:ext cx="1312515" cy="13335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2" name="Shape 30"/>
          <p:cNvSpPr/>
          <p:nvPr/>
        </p:nvSpPr>
        <p:spPr>
          <a:xfrm>
            <a:off x="11685240" y="3844230"/>
            <a:ext cx="1312590" cy="133350"/>
          </a:xfrm>
          <a:prstGeom prst="rect">
            <a:avLst/>
          </a:prstGeom>
          <a:solidFill>
            <a:srgbClr val="DED6C6"/>
          </a:solidFill>
          <a:ln/>
        </p:spPr>
      </p:sp>
      <p:sp>
        <p:nvSpPr>
          <p:cNvPr id="33" name="Shape 31"/>
          <p:cNvSpPr/>
          <p:nvPr/>
        </p:nvSpPr>
        <p:spPr>
          <a:xfrm>
            <a:off x="13074030" y="3844230"/>
            <a:ext cx="1312515" cy="1333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4" name="Shape 32"/>
          <p:cNvSpPr/>
          <p:nvPr/>
        </p:nvSpPr>
        <p:spPr>
          <a:xfrm>
            <a:off x="14462745" y="3844230"/>
            <a:ext cx="1312590" cy="133350"/>
          </a:xfrm>
          <a:prstGeom prst="rect">
            <a:avLst/>
          </a:prstGeom>
          <a:solidFill>
            <a:srgbClr val="DED6C6"/>
          </a:solidFill>
          <a:ln/>
        </p:spPr>
      </p:sp>
      <p:sp>
        <p:nvSpPr>
          <p:cNvPr id="35" name="Shape 33"/>
          <p:cNvSpPr/>
          <p:nvPr/>
        </p:nvSpPr>
        <p:spPr>
          <a:xfrm>
            <a:off x="15851535" y="3844230"/>
            <a:ext cx="1312515" cy="13335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6" name="Shape 34"/>
          <p:cNvSpPr/>
          <p:nvPr/>
        </p:nvSpPr>
        <p:spPr>
          <a:xfrm>
            <a:off x="10096500" y="4349055"/>
            <a:ext cx="7267575" cy="3257699"/>
          </a:xfrm>
          <a:prstGeom prst="rect">
            <a:avLst/>
          </a:prstGeom>
          <a:solidFill>
            <a:srgbClr val="EFF4F1"/>
          </a:solidFill>
          <a:ln/>
        </p:spPr>
      </p:sp>
      <p:sp>
        <p:nvSpPr>
          <p:cNvPr id="37" name="Shape 35"/>
          <p:cNvSpPr/>
          <p:nvPr/>
        </p:nvSpPr>
        <p:spPr>
          <a:xfrm>
            <a:off x="10096500" y="7597229"/>
            <a:ext cx="7267575" cy="9525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8" name="Shape 36"/>
          <p:cNvSpPr/>
          <p:nvPr/>
        </p:nvSpPr>
        <p:spPr>
          <a:xfrm>
            <a:off x="10096500" y="4349055"/>
            <a:ext cx="7267575" cy="9525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9" name="Shape 37"/>
          <p:cNvSpPr/>
          <p:nvPr/>
        </p:nvSpPr>
        <p:spPr>
          <a:xfrm>
            <a:off x="10096500" y="4349055"/>
            <a:ext cx="57150" cy="3257699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0" name="Shape 38"/>
          <p:cNvSpPr/>
          <p:nvPr/>
        </p:nvSpPr>
        <p:spPr>
          <a:xfrm>
            <a:off x="17354550" y="4349055"/>
            <a:ext cx="9525" cy="3257699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1" name="Text 39"/>
          <p:cNvSpPr/>
          <p:nvPr/>
        </p:nvSpPr>
        <p:spPr>
          <a:xfrm>
            <a:off x="10344150" y="5639767"/>
            <a:ext cx="75018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126" kern="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ВИДНО</a:t>
            </a:r>
            <a:endParaRPr lang="en-US" sz="1575" dirty="0"/>
          </a:p>
        </p:txBody>
      </p:sp>
      <p:sp>
        <p:nvSpPr>
          <p:cNvPr id="42" name="Text 40"/>
          <p:cNvSpPr/>
          <p:nvPr/>
        </p:nvSpPr>
        <p:spPr>
          <a:xfrm>
            <a:off x="10344150" y="5982667"/>
            <a:ext cx="750189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222"/>
              </a:lnSpc>
              <a:buNone/>
            </a:pPr>
            <a:r>
              <a:rPr lang="en-US" sz="2100" b="1" dirty="0">
                <a:solidFill>
                  <a:srgbClr val="0B1F3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строка, причина, владелец, проверка</a:t>
            </a:r>
            <a:endParaRPr lang="en-US" sz="2100" dirty="0"/>
          </a:p>
        </p:txBody>
      </p:sp>
      <p:sp>
        <p:nvSpPr>
          <p:cNvPr id="43" name="Text 41"/>
          <p:cNvSpPr/>
          <p:nvPr/>
        </p:nvSpPr>
        <p:spPr>
          <a:xfrm>
            <a:off x="685800" y="8121104"/>
            <a:ext cx="102832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126" kern="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ЛЕГЕНДА</a:t>
            </a:r>
            <a:endParaRPr lang="en-US" sz="1575" dirty="0"/>
          </a:p>
        </p:txBody>
      </p:sp>
      <p:sp>
        <p:nvSpPr>
          <p:cNvPr id="44" name="Shape 42"/>
          <p:cNvSpPr/>
          <p:nvPr/>
        </p:nvSpPr>
        <p:spPr>
          <a:xfrm>
            <a:off x="1809378" y="8149679"/>
            <a:ext cx="209550" cy="13335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45" name="Text 43"/>
          <p:cNvSpPr/>
          <p:nvPr/>
        </p:nvSpPr>
        <p:spPr>
          <a:xfrm>
            <a:off x="2114178" y="8068717"/>
            <a:ext cx="3637182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Slate — итоговый финансовый слой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5893073" y="8149679"/>
            <a:ext cx="209550" cy="13335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47" name="Text 45"/>
          <p:cNvSpPr/>
          <p:nvPr/>
        </p:nvSpPr>
        <p:spPr>
          <a:xfrm>
            <a:off x="6197873" y="8068717"/>
            <a:ext cx="2137097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Red — зона действия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1809378" y="8511629"/>
            <a:ext cx="209550" cy="1333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49" name="Text 47"/>
          <p:cNvSpPr/>
          <p:nvPr/>
        </p:nvSpPr>
        <p:spPr>
          <a:xfrm>
            <a:off x="2114178" y="8430667"/>
            <a:ext cx="3046851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Copper — переход к решению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5319936" y="8511629"/>
            <a:ext cx="209550" cy="1333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1" name="Text 49"/>
          <p:cNvSpPr/>
          <p:nvPr/>
        </p:nvSpPr>
        <p:spPr>
          <a:xfrm>
            <a:off x="5624736" y="8430667"/>
            <a:ext cx="1652662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Teal — контроль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9353550" y="9296400"/>
            <a:ext cx="8248650" cy="9525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53" name="Shape 51"/>
          <p:cNvSpPr/>
          <p:nvPr/>
        </p:nvSpPr>
        <p:spPr>
          <a:xfrm>
            <a:off x="9353550" y="8073479"/>
            <a:ext cx="9525" cy="1232446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54" name="Shape 52"/>
          <p:cNvSpPr/>
          <p:nvPr/>
        </p:nvSpPr>
        <p:spPr>
          <a:xfrm>
            <a:off x="17592675" y="8073479"/>
            <a:ext cx="9525" cy="1232446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55" name="Text 53"/>
          <p:cNvSpPr/>
          <p:nvPr/>
        </p:nvSpPr>
        <p:spPr>
          <a:xfrm>
            <a:off x="9553575" y="8225879"/>
            <a:ext cx="86334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126" kern="0" dirty="0">
                <a:solidFill>
                  <a:srgbClr val="B91C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ЭТО НЕ</a:t>
            </a:r>
            <a:endParaRPr lang="en-US" sz="1575" dirty="0"/>
          </a:p>
        </p:txBody>
      </p:sp>
      <p:sp>
        <p:nvSpPr>
          <p:cNvPr id="56" name="Text 54"/>
          <p:cNvSpPr/>
          <p:nvPr/>
        </p:nvSpPr>
        <p:spPr>
          <a:xfrm>
            <a:off x="9553575" y="8549729"/>
            <a:ext cx="8084058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645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Это не замена P&amp;L / отчета о прибылях и убытках. Это управленческий слой поверх финансового результата.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685800" y="9515475"/>
            <a:ext cx="16916400" cy="9525"/>
          </a:xfrm>
          <a:prstGeom prst="rect">
            <a:avLst/>
          </a:prstGeom>
          <a:solidFill>
            <a:srgbClr val="0B1F33">
              <a:alpha val="20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685800" y="9658350"/>
            <a:ext cx="948762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0B1F33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Финансовый итог важен, но решение принимается там, где видна красная строка.</a:t>
            </a:r>
            <a:endParaRPr lang="en-US" sz="1800" dirty="0"/>
          </a:p>
        </p:txBody>
      </p:sp>
      <p:sp>
        <p:nvSpPr>
          <p:cNvPr id="59" name="Text 57"/>
          <p:cNvSpPr/>
          <p:nvPr/>
        </p:nvSpPr>
        <p:spPr>
          <a:xfrm>
            <a:off x="11555760" y="9672638"/>
            <a:ext cx="665108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Визуализация_10_До_После_PL_и_Зона_Действия_V1</a:t>
            </a:r>
            <a:endParaRPr lang="en-US" sz="17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B1F33">
                  <a:alpha val="5000"/>
                </a:srgbClr>
              </a:gs>
              <a:gs pos="100000">
                <a:srgbClr val="0B1F33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685800" y="842963"/>
            <a:ext cx="16916400" cy="9525"/>
          </a:xfrm>
          <a:prstGeom prst="rect">
            <a:avLst/>
          </a:prstGeom>
          <a:solidFill>
            <a:srgbClr val="0B1F33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19100"/>
            <a:ext cx="4771437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spc="103" kern="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КОНТУР МАРЖИ / ВИЗУАЛИЗАЦИЯ 11</a:t>
            </a:r>
            <a:endParaRPr lang="en-US" sz="1725" dirty="0"/>
          </a:p>
        </p:txBody>
      </p:sp>
      <p:sp>
        <p:nvSpPr>
          <p:cNvPr id="5" name="Text 3"/>
          <p:cNvSpPr/>
          <p:nvPr/>
        </p:nvSpPr>
        <p:spPr>
          <a:xfrm>
            <a:off x="8926934" y="419100"/>
            <a:ext cx="9542792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spc="103" kern="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КЕЙСОВЫЙ + КОММЕРЧЕСКИЙ СЛОЙ · CASE FLOW · СЛОЖНОСТЬ СРЕДНЯЯ</a:t>
            </a:r>
            <a:endParaRPr lang="en-US" sz="1725" dirty="0"/>
          </a:p>
        </p:txBody>
      </p:sp>
      <p:sp>
        <p:nvSpPr>
          <p:cNvPr id="6" name="Text 4"/>
          <p:cNvSpPr/>
          <p:nvPr/>
        </p:nvSpPr>
        <p:spPr>
          <a:xfrm>
            <a:off x="685800" y="1100138"/>
            <a:ext cx="14073291" cy="10880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884"/>
              </a:lnSpc>
              <a:buNone/>
            </a:pPr>
            <a:r>
              <a:rPr lang="en-US" sz="3900" b="1" dirty="0">
                <a:solidFill>
                  <a:srgbClr val="0B1F33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Кейс: боль → красная зона → владелец → решение → эффект</a:t>
            </a:r>
            <a:endParaRPr lang="en-US" sz="3900" dirty="0"/>
          </a:p>
        </p:txBody>
      </p:sp>
      <p:sp>
        <p:nvSpPr>
          <p:cNvPr id="7" name="Shape 5"/>
          <p:cNvSpPr/>
          <p:nvPr/>
        </p:nvSpPr>
        <p:spPr>
          <a:xfrm>
            <a:off x="14577789" y="1100138"/>
            <a:ext cx="3024411" cy="519113"/>
          </a:xfrm>
          <a:prstGeom prst="rect">
            <a:avLst/>
          </a:prstGeom>
          <a:ln w="19050">
            <a:solidFill>
              <a:srgbClr val="B91C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749239" y="1214438"/>
            <a:ext cx="277224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spc="138" kern="0" dirty="0">
                <a:solidFill>
                  <a:srgbClr val="B91C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МОДЕЛЬНЫЙ СЦЕНАРИЙ</a:t>
            </a:r>
            <a:endParaRPr lang="en-US" sz="1725" dirty="0"/>
          </a:p>
        </p:txBody>
      </p:sp>
      <p:sp>
        <p:nvSpPr>
          <p:cNvPr id="9" name="Text 7"/>
          <p:cNvSpPr/>
          <p:nvPr/>
        </p:nvSpPr>
        <p:spPr>
          <a:xfrm>
            <a:off x="685800" y="2283470"/>
            <a:ext cx="163449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dirty="0">
                <a:solidFill>
                  <a:srgbClr val="475569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Модельный сценарий показывает логику применения технологии, а не обещает повторить результат.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685800" y="2883545"/>
            <a:ext cx="3971925" cy="2418755"/>
          </a:xfrm>
          <a:prstGeom prst="rect">
            <a:avLst/>
          </a:prstGeom>
          <a:solidFill>
            <a:srgbClr val="FAEEEB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" y="5292775"/>
            <a:ext cx="3971925" cy="9525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2" name="Shape 10"/>
          <p:cNvSpPr/>
          <p:nvPr/>
        </p:nvSpPr>
        <p:spPr>
          <a:xfrm>
            <a:off x="685800" y="2883545"/>
            <a:ext cx="3971925" cy="5715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3" name="Shape 11"/>
          <p:cNvSpPr/>
          <p:nvPr/>
        </p:nvSpPr>
        <p:spPr>
          <a:xfrm>
            <a:off x="685800" y="2883545"/>
            <a:ext cx="9525" cy="2418755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4" name="Shape 12"/>
          <p:cNvSpPr/>
          <p:nvPr/>
        </p:nvSpPr>
        <p:spPr>
          <a:xfrm>
            <a:off x="4648200" y="2883545"/>
            <a:ext cx="9525" cy="2418755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5" name="Text 13"/>
          <p:cNvSpPr/>
          <p:nvPr/>
        </p:nvSpPr>
        <p:spPr>
          <a:xfrm>
            <a:off x="866775" y="3752850"/>
            <a:ext cx="397097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B91C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575" dirty="0"/>
          </a:p>
        </p:txBody>
      </p:sp>
      <p:sp>
        <p:nvSpPr>
          <p:cNvPr id="16" name="Text 14"/>
          <p:cNvSpPr/>
          <p:nvPr/>
        </p:nvSpPr>
        <p:spPr>
          <a:xfrm>
            <a:off x="866775" y="4171950"/>
            <a:ext cx="3970973" cy="346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71"/>
              </a:lnSpc>
              <a:buNone/>
            </a:pPr>
            <a:r>
              <a:rPr lang="en-US" sz="2025" b="1" dirty="0">
                <a:solidFill>
                  <a:srgbClr val="B91C1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Боль клиента</a:t>
            </a:r>
            <a:endParaRPr lang="en-US" sz="2025" dirty="0"/>
          </a:p>
        </p:txBody>
      </p:sp>
      <p:sp>
        <p:nvSpPr>
          <p:cNvPr id="17" name="Shape 15"/>
          <p:cNvSpPr/>
          <p:nvPr/>
        </p:nvSpPr>
        <p:spPr>
          <a:xfrm>
            <a:off x="4657725" y="4083397"/>
            <a:ext cx="228600" cy="190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18" name="Shape 16"/>
          <p:cNvSpPr/>
          <p:nvPr/>
        </p:nvSpPr>
        <p:spPr>
          <a:xfrm>
            <a:off x="4886325" y="4026247"/>
            <a:ext cx="114300" cy="1333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19" name="Shape 17"/>
          <p:cNvSpPr/>
          <p:nvPr/>
        </p:nvSpPr>
        <p:spPr>
          <a:xfrm>
            <a:off x="5000625" y="2883545"/>
            <a:ext cx="3971925" cy="2418755"/>
          </a:xfrm>
          <a:prstGeom prst="rect">
            <a:avLst/>
          </a:prstGeom>
          <a:solidFill>
            <a:srgbClr val="EFF4F1"/>
          </a:solidFill>
          <a:ln/>
        </p:spPr>
      </p:sp>
      <p:sp>
        <p:nvSpPr>
          <p:cNvPr id="20" name="Shape 18"/>
          <p:cNvSpPr/>
          <p:nvPr/>
        </p:nvSpPr>
        <p:spPr>
          <a:xfrm>
            <a:off x="5000625" y="5292775"/>
            <a:ext cx="3971925" cy="9525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1" name="Shape 19"/>
          <p:cNvSpPr/>
          <p:nvPr/>
        </p:nvSpPr>
        <p:spPr>
          <a:xfrm>
            <a:off x="5000625" y="2883545"/>
            <a:ext cx="3971925" cy="571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2" name="Shape 20"/>
          <p:cNvSpPr/>
          <p:nvPr/>
        </p:nvSpPr>
        <p:spPr>
          <a:xfrm>
            <a:off x="5000625" y="2883545"/>
            <a:ext cx="9525" cy="2418755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3" name="Shape 21"/>
          <p:cNvSpPr/>
          <p:nvPr/>
        </p:nvSpPr>
        <p:spPr>
          <a:xfrm>
            <a:off x="8963025" y="2883545"/>
            <a:ext cx="9525" cy="2418755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4" name="Text 22"/>
          <p:cNvSpPr/>
          <p:nvPr/>
        </p:nvSpPr>
        <p:spPr>
          <a:xfrm>
            <a:off x="5181600" y="3752850"/>
            <a:ext cx="397097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575" dirty="0"/>
          </a:p>
        </p:txBody>
      </p:sp>
      <p:sp>
        <p:nvSpPr>
          <p:cNvPr id="25" name="Text 23"/>
          <p:cNvSpPr/>
          <p:nvPr/>
        </p:nvSpPr>
        <p:spPr>
          <a:xfrm>
            <a:off x="5181600" y="4171950"/>
            <a:ext cx="3970973" cy="346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71"/>
              </a:lnSpc>
              <a:buNone/>
            </a:pPr>
            <a:r>
              <a:rPr lang="en-US" sz="2025" b="1" dirty="0">
                <a:solidFill>
                  <a:srgbClr val="0B1F3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Данные Диагностики</a:t>
            </a:r>
            <a:endParaRPr lang="en-US" sz="2025" dirty="0"/>
          </a:p>
        </p:txBody>
      </p:sp>
      <p:sp>
        <p:nvSpPr>
          <p:cNvPr id="26" name="Shape 24"/>
          <p:cNvSpPr/>
          <p:nvPr/>
        </p:nvSpPr>
        <p:spPr>
          <a:xfrm>
            <a:off x="8972550" y="4083397"/>
            <a:ext cx="228600" cy="190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27" name="Shape 25"/>
          <p:cNvSpPr/>
          <p:nvPr/>
        </p:nvSpPr>
        <p:spPr>
          <a:xfrm>
            <a:off x="9201150" y="4026247"/>
            <a:ext cx="114300" cy="1333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28" name="Shape 26"/>
          <p:cNvSpPr/>
          <p:nvPr/>
        </p:nvSpPr>
        <p:spPr>
          <a:xfrm>
            <a:off x="9315450" y="2883545"/>
            <a:ext cx="3971925" cy="2418755"/>
          </a:xfrm>
          <a:prstGeom prst="rect">
            <a:avLst/>
          </a:prstGeom>
          <a:solidFill>
            <a:srgbClr val="FAEEEB"/>
          </a:solidFill>
          <a:ln/>
        </p:spPr>
      </p:sp>
      <p:sp>
        <p:nvSpPr>
          <p:cNvPr id="29" name="Shape 27"/>
          <p:cNvSpPr/>
          <p:nvPr/>
        </p:nvSpPr>
        <p:spPr>
          <a:xfrm>
            <a:off x="9315450" y="5292775"/>
            <a:ext cx="3971925" cy="9525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0" name="Shape 28"/>
          <p:cNvSpPr/>
          <p:nvPr/>
        </p:nvSpPr>
        <p:spPr>
          <a:xfrm>
            <a:off x="9315450" y="2883545"/>
            <a:ext cx="3971925" cy="5715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1" name="Shape 29"/>
          <p:cNvSpPr/>
          <p:nvPr/>
        </p:nvSpPr>
        <p:spPr>
          <a:xfrm>
            <a:off x="9315450" y="2883545"/>
            <a:ext cx="9525" cy="2418755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2" name="Shape 30"/>
          <p:cNvSpPr/>
          <p:nvPr/>
        </p:nvSpPr>
        <p:spPr>
          <a:xfrm>
            <a:off x="13277850" y="2883545"/>
            <a:ext cx="9525" cy="2418755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3" name="Text 31"/>
          <p:cNvSpPr/>
          <p:nvPr/>
        </p:nvSpPr>
        <p:spPr>
          <a:xfrm>
            <a:off x="9496425" y="3752850"/>
            <a:ext cx="397097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B91C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575" dirty="0"/>
          </a:p>
        </p:txBody>
      </p:sp>
      <p:sp>
        <p:nvSpPr>
          <p:cNvPr id="34" name="Text 32"/>
          <p:cNvSpPr/>
          <p:nvPr/>
        </p:nvSpPr>
        <p:spPr>
          <a:xfrm>
            <a:off x="9496425" y="4171950"/>
            <a:ext cx="3970973" cy="346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71"/>
              </a:lnSpc>
              <a:buNone/>
            </a:pPr>
            <a:r>
              <a:rPr lang="en-US" sz="2025" b="1" dirty="0">
                <a:solidFill>
                  <a:srgbClr val="B91C1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Красная зона SKU x канал</a:t>
            </a:r>
            <a:endParaRPr lang="en-US" sz="2025" dirty="0"/>
          </a:p>
        </p:txBody>
      </p:sp>
      <p:sp>
        <p:nvSpPr>
          <p:cNvPr id="35" name="Shape 33"/>
          <p:cNvSpPr/>
          <p:nvPr/>
        </p:nvSpPr>
        <p:spPr>
          <a:xfrm>
            <a:off x="13287375" y="4083397"/>
            <a:ext cx="228600" cy="190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36" name="Shape 34"/>
          <p:cNvSpPr/>
          <p:nvPr/>
        </p:nvSpPr>
        <p:spPr>
          <a:xfrm>
            <a:off x="13515975" y="4026247"/>
            <a:ext cx="114300" cy="1333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37" name="Shape 35"/>
          <p:cNvSpPr/>
          <p:nvPr/>
        </p:nvSpPr>
        <p:spPr>
          <a:xfrm>
            <a:off x="13630275" y="2883545"/>
            <a:ext cx="3971925" cy="2418755"/>
          </a:xfrm>
          <a:prstGeom prst="rect">
            <a:avLst/>
          </a:prstGeom>
          <a:solidFill>
            <a:srgbClr val="EFF4F1"/>
          </a:solidFill>
          <a:ln/>
        </p:spPr>
      </p:sp>
      <p:sp>
        <p:nvSpPr>
          <p:cNvPr id="38" name="Shape 36"/>
          <p:cNvSpPr/>
          <p:nvPr/>
        </p:nvSpPr>
        <p:spPr>
          <a:xfrm>
            <a:off x="13630275" y="5292775"/>
            <a:ext cx="3971925" cy="9525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9" name="Shape 37"/>
          <p:cNvSpPr/>
          <p:nvPr/>
        </p:nvSpPr>
        <p:spPr>
          <a:xfrm>
            <a:off x="13630275" y="2883545"/>
            <a:ext cx="3971925" cy="571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0" name="Shape 38"/>
          <p:cNvSpPr/>
          <p:nvPr/>
        </p:nvSpPr>
        <p:spPr>
          <a:xfrm>
            <a:off x="13630275" y="2883545"/>
            <a:ext cx="9525" cy="2418755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1" name="Shape 39"/>
          <p:cNvSpPr/>
          <p:nvPr/>
        </p:nvSpPr>
        <p:spPr>
          <a:xfrm>
            <a:off x="17592675" y="2883545"/>
            <a:ext cx="9525" cy="2418755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2" name="Text 40"/>
          <p:cNvSpPr/>
          <p:nvPr/>
        </p:nvSpPr>
        <p:spPr>
          <a:xfrm>
            <a:off x="13811250" y="3752850"/>
            <a:ext cx="397097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575" dirty="0"/>
          </a:p>
        </p:txBody>
      </p:sp>
      <p:sp>
        <p:nvSpPr>
          <p:cNvPr id="43" name="Text 41"/>
          <p:cNvSpPr/>
          <p:nvPr/>
        </p:nvSpPr>
        <p:spPr>
          <a:xfrm>
            <a:off x="13811250" y="4171950"/>
            <a:ext cx="3970973" cy="346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71"/>
              </a:lnSpc>
              <a:buNone/>
            </a:pPr>
            <a:r>
              <a:rPr lang="en-US" sz="2025" b="1" dirty="0">
                <a:solidFill>
                  <a:srgbClr val="0B1F3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Владелец решения</a:t>
            </a:r>
            <a:endParaRPr lang="en-US" sz="2025" dirty="0"/>
          </a:p>
        </p:txBody>
      </p:sp>
      <p:sp>
        <p:nvSpPr>
          <p:cNvPr id="44" name="Shape 42"/>
          <p:cNvSpPr/>
          <p:nvPr/>
        </p:nvSpPr>
        <p:spPr>
          <a:xfrm>
            <a:off x="685800" y="5454700"/>
            <a:ext cx="4073649" cy="2418755"/>
          </a:xfrm>
          <a:prstGeom prst="rect">
            <a:avLst/>
          </a:prstGeom>
          <a:solidFill>
            <a:srgbClr val="F8F1E7"/>
          </a:solidFill>
          <a:ln/>
        </p:spPr>
      </p:sp>
      <p:sp>
        <p:nvSpPr>
          <p:cNvPr id="45" name="Shape 43"/>
          <p:cNvSpPr/>
          <p:nvPr/>
        </p:nvSpPr>
        <p:spPr>
          <a:xfrm>
            <a:off x="685800" y="7863929"/>
            <a:ext cx="4073649" cy="9525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46" name="Shape 44"/>
          <p:cNvSpPr/>
          <p:nvPr/>
        </p:nvSpPr>
        <p:spPr>
          <a:xfrm>
            <a:off x="685800" y="5454700"/>
            <a:ext cx="4073649" cy="571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47" name="Shape 45"/>
          <p:cNvSpPr/>
          <p:nvPr/>
        </p:nvSpPr>
        <p:spPr>
          <a:xfrm>
            <a:off x="685800" y="5454700"/>
            <a:ext cx="9525" cy="2418755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48" name="Shape 46"/>
          <p:cNvSpPr/>
          <p:nvPr/>
        </p:nvSpPr>
        <p:spPr>
          <a:xfrm>
            <a:off x="4749924" y="5454700"/>
            <a:ext cx="9525" cy="2418755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49" name="Text 47"/>
          <p:cNvSpPr/>
          <p:nvPr/>
        </p:nvSpPr>
        <p:spPr>
          <a:xfrm>
            <a:off x="866775" y="6324005"/>
            <a:ext cx="408286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B46A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1575" dirty="0"/>
          </a:p>
        </p:txBody>
      </p:sp>
      <p:sp>
        <p:nvSpPr>
          <p:cNvPr id="50" name="Text 48"/>
          <p:cNvSpPr/>
          <p:nvPr/>
        </p:nvSpPr>
        <p:spPr>
          <a:xfrm>
            <a:off x="866775" y="6743105"/>
            <a:ext cx="4082869" cy="346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71"/>
              </a:lnSpc>
              <a:buNone/>
            </a:pPr>
            <a:r>
              <a:rPr lang="en-US" sz="2025" b="1" dirty="0">
                <a:solidFill>
                  <a:srgbClr val="0B1F3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Решение</a:t>
            </a:r>
            <a:endParaRPr lang="en-US" sz="2025" dirty="0"/>
          </a:p>
        </p:txBody>
      </p:sp>
      <p:sp>
        <p:nvSpPr>
          <p:cNvPr id="51" name="Shape 49"/>
          <p:cNvSpPr/>
          <p:nvPr/>
        </p:nvSpPr>
        <p:spPr>
          <a:xfrm>
            <a:off x="4759449" y="6654552"/>
            <a:ext cx="228600" cy="190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52" name="Shape 50"/>
          <p:cNvSpPr/>
          <p:nvPr/>
        </p:nvSpPr>
        <p:spPr>
          <a:xfrm>
            <a:off x="4988049" y="6597402"/>
            <a:ext cx="114300" cy="1333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53" name="Shape 51"/>
          <p:cNvSpPr/>
          <p:nvPr/>
        </p:nvSpPr>
        <p:spPr>
          <a:xfrm>
            <a:off x="5102349" y="5454700"/>
            <a:ext cx="4073649" cy="2418755"/>
          </a:xfrm>
          <a:prstGeom prst="rect">
            <a:avLst/>
          </a:prstGeom>
          <a:solidFill>
            <a:srgbClr val="EFF4F1"/>
          </a:solidFill>
          <a:ln/>
        </p:spPr>
      </p:sp>
      <p:sp>
        <p:nvSpPr>
          <p:cNvPr id="54" name="Shape 52"/>
          <p:cNvSpPr/>
          <p:nvPr/>
        </p:nvSpPr>
        <p:spPr>
          <a:xfrm>
            <a:off x="5102349" y="7863929"/>
            <a:ext cx="4073649" cy="9525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5" name="Shape 53"/>
          <p:cNvSpPr/>
          <p:nvPr/>
        </p:nvSpPr>
        <p:spPr>
          <a:xfrm>
            <a:off x="5102349" y="5454700"/>
            <a:ext cx="4073649" cy="571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6" name="Shape 54"/>
          <p:cNvSpPr/>
          <p:nvPr/>
        </p:nvSpPr>
        <p:spPr>
          <a:xfrm>
            <a:off x="5102349" y="5454700"/>
            <a:ext cx="9525" cy="2418755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7" name="Shape 55"/>
          <p:cNvSpPr/>
          <p:nvPr/>
        </p:nvSpPr>
        <p:spPr>
          <a:xfrm>
            <a:off x="9166473" y="5454700"/>
            <a:ext cx="9525" cy="2418755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8" name="Text 56"/>
          <p:cNvSpPr/>
          <p:nvPr/>
        </p:nvSpPr>
        <p:spPr>
          <a:xfrm>
            <a:off x="5283324" y="6324005"/>
            <a:ext cx="408286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1575" dirty="0"/>
          </a:p>
        </p:txBody>
      </p:sp>
      <p:sp>
        <p:nvSpPr>
          <p:cNvPr id="59" name="Text 57"/>
          <p:cNvSpPr/>
          <p:nvPr/>
        </p:nvSpPr>
        <p:spPr>
          <a:xfrm>
            <a:off x="5283324" y="6743105"/>
            <a:ext cx="4082869" cy="346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71"/>
              </a:lnSpc>
              <a:buNone/>
            </a:pPr>
            <a:r>
              <a:rPr lang="en-US" sz="2025" b="1" dirty="0">
                <a:solidFill>
                  <a:srgbClr val="0B1F3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Проверка</a:t>
            </a:r>
            <a:endParaRPr lang="en-US" sz="2025" dirty="0"/>
          </a:p>
        </p:txBody>
      </p:sp>
      <p:sp>
        <p:nvSpPr>
          <p:cNvPr id="60" name="Shape 58"/>
          <p:cNvSpPr/>
          <p:nvPr/>
        </p:nvSpPr>
        <p:spPr>
          <a:xfrm>
            <a:off x="9175998" y="6654552"/>
            <a:ext cx="228600" cy="190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61" name="Shape 59"/>
          <p:cNvSpPr/>
          <p:nvPr/>
        </p:nvSpPr>
        <p:spPr>
          <a:xfrm>
            <a:off x="9404598" y="6597402"/>
            <a:ext cx="114300" cy="1333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62" name="Shape 60"/>
          <p:cNvSpPr/>
          <p:nvPr/>
        </p:nvSpPr>
        <p:spPr>
          <a:xfrm>
            <a:off x="9518898" y="5454700"/>
            <a:ext cx="8083302" cy="2418755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63" name="Shape 61"/>
          <p:cNvSpPr/>
          <p:nvPr/>
        </p:nvSpPr>
        <p:spPr>
          <a:xfrm>
            <a:off x="9518898" y="5454700"/>
            <a:ext cx="57150" cy="2418755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64" name="Text 62"/>
          <p:cNvSpPr/>
          <p:nvPr/>
        </p:nvSpPr>
        <p:spPr>
          <a:xfrm>
            <a:off x="9747498" y="6300192"/>
            <a:ext cx="845157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C9A9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</a:t>
            </a:r>
            <a:endParaRPr lang="en-US" sz="1575" dirty="0"/>
          </a:p>
        </p:txBody>
      </p:sp>
      <p:sp>
        <p:nvSpPr>
          <p:cNvPr id="65" name="Text 63"/>
          <p:cNvSpPr/>
          <p:nvPr/>
        </p:nvSpPr>
        <p:spPr>
          <a:xfrm>
            <a:off x="9747498" y="6719292"/>
            <a:ext cx="8451577" cy="346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71"/>
              </a:lnSpc>
              <a:buNone/>
            </a:pPr>
            <a:r>
              <a:rPr lang="en-US" sz="2025" b="1" dirty="0">
                <a:solidFill>
                  <a:srgbClr val="F3EBD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Эффект при условиях</a:t>
            </a:r>
            <a:endParaRPr lang="en-US" sz="2025" dirty="0"/>
          </a:p>
        </p:txBody>
      </p:sp>
      <p:sp>
        <p:nvSpPr>
          <p:cNvPr id="66" name="Text 64"/>
          <p:cNvSpPr/>
          <p:nvPr/>
        </p:nvSpPr>
        <p:spPr>
          <a:xfrm>
            <a:off x="685800" y="8130629"/>
            <a:ext cx="102832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126" kern="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ЛЕГЕНДА</a:t>
            </a:r>
            <a:endParaRPr lang="en-US" sz="1575" dirty="0"/>
          </a:p>
        </p:txBody>
      </p:sp>
      <p:sp>
        <p:nvSpPr>
          <p:cNvPr id="67" name="Shape 65"/>
          <p:cNvSpPr/>
          <p:nvPr/>
        </p:nvSpPr>
        <p:spPr>
          <a:xfrm>
            <a:off x="1809378" y="8159204"/>
            <a:ext cx="209550" cy="13335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68" name="Text 66"/>
          <p:cNvSpPr/>
          <p:nvPr/>
        </p:nvSpPr>
        <p:spPr>
          <a:xfrm>
            <a:off x="2114178" y="8078242"/>
            <a:ext cx="2744787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Red — боль и красная зона</a:t>
            </a:r>
            <a:endParaRPr lang="en-US" sz="1800" dirty="0"/>
          </a:p>
        </p:txBody>
      </p:sp>
      <p:sp>
        <p:nvSpPr>
          <p:cNvPr id="69" name="Shape 67"/>
          <p:cNvSpPr/>
          <p:nvPr/>
        </p:nvSpPr>
        <p:spPr>
          <a:xfrm>
            <a:off x="5026670" y="8159204"/>
            <a:ext cx="209550" cy="1333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70" name="Text 68"/>
          <p:cNvSpPr/>
          <p:nvPr/>
        </p:nvSpPr>
        <p:spPr>
          <a:xfrm>
            <a:off x="5331470" y="8078242"/>
            <a:ext cx="1923976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Copper — решение</a:t>
            </a:r>
            <a:endParaRPr lang="en-US" sz="1800" dirty="0"/>
          </a:p>
        </p:txBody>
      </p:sp>
      <p:sp>
        <p:nvSpPr>
          <p:cNvPr id="71" name="Shape 69"/>
          <p:cNvSpPr/>
          <p:nvPr/>
        </p:nvSpPr>
        <p:spPr>
          <a:xfrm>
            <a:off x="1809378" y="8521154"/>
            <a:ext cx="209550" cy="1333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72" name="Text 70"/>
          <p:cNvSpPr/>
          <p:nvPr/>
        </p:nvSpPr>
        <p:spPr>
          <a:xfrm>
            <a:off x="2114178" y="8440192"/>
            <a:ext cx="5574499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Teal — владелец, проверка и подтвержденный эффект</a:t>
            </a:r>
            <a:endParaRPr lang="en-US" sz="1800" dirty="0"/>
          </a:p>
        </p:txBody>
      </p:sp>
      <p:sp>
        <p:nvSpPr>
          <p:cNvPr id="73" name="Shape 71"/>
          <p:cNvSpPr/>
          <p:nvPr/>
        </p:nvSpPr>
        <p:spPr>
          <a:xfrm>
            <a:off x="9353550" y="8083004"/>
            <a:ext cx="8248650" cy="1241971"/>
          </a:xfrm>
          <a:prstGeom prst="rect">
            <a:avLst/>
          </a:prstGeom>
          <a:ln w="9525">
            <a:solidFill>
              <a:srgbClr val="B91C1C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9553575" y="8244929"/>
            <a:ext cx="86334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126" kern="0" dirty="0">
                <a:solidFill>
                  <a:srgbClr val="B91C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ЭТО НЕ</a:t>
            </a:r>
            <a:endParaRPr lang="en-US" sz="1575" dirty="0"/>
          </a:p>
        </p:txBody>
      </p:sp>
      <p:sp>
        <p:nvSpPr>
          <p:cNvPr id="75" name="Text 73"/>
          <p:cNvSpPr/>
          <p:nvPr/>
        </p:nvSpPr>
        <p:spPr>
          <a:xfrm>
            <a:off x="9553575" y="8568779"/>
            <a:ext cx="8084058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645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Это не реальный клиентский кейс, если нет фактического внедрения. Обязательная маркировка: модельный сценарий.</a:t>
            </a:r>
            <a:endParaRPr lang="en-US" sz="1800" dirty="0"/>
          </a:p>
        </p:txBody>
      </p:sp>
      <p:sp>
        <p:nvSpPr>
          <p:cNvPr id="76" name="Shape 74"/>
          <p:cNvSpPr/>
          <p:nvPr/>
        </p:nvSpPr>
        <p:spPr>
          <a:xfrm>
            <a:off x="685800" y="9515475"/>
            <a:ext cx="16916400" cy="9525"/>
          </a:xfrm>
          <a:prstGeom prst="rect">
            <a:avLst/>
          </a:prstGeom>
          <a:solidFill>
            <a:srgbClr val="0B1F33">
              <a:alpha val="20000"/>
            </a:srgbClr>
          </a:solidFill>
          <a:ln/>
        </p:spPr>
      </p:sp>
      <p:sp>
        <p:nvSpPr>
          <p:cNvPr id="77" name="Text 75"/>
          <p:cNvSpPr/>
          <p:nvPr/>
        </p:nvSpPr>
        <p:spPr>
          <a:xfrm>
            <a:off x="685800" y="9658350"/>
            <a:ext cx="952437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0B1F33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Кейс нужен, чтобы узнать типовую ситуацию и вернуться к покупке Диагностики.</a:t>
            </a:r>
            <a:endParaRPr lang="en-US" sz="1800" dirty="0"/>
          </a:p>
        </p:txBody>
      </p:sp>
      <p:sp>
        <p:nvSpPr>
          <p:cNvPr id="78" name="Text 76"/>
          <p:cNvSpPr/>
          <p:nvPr/>
        </p:nvSpPr>
        <p:spPr>
          <a:xfrm>
            <a:off x="13264530" y="9672638"/>
            <a:ext cx="4771437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Визуализация_11_Кейсовая_Схема_V1</a:t>
            </a:r>
            <a:endParaRPr lang="en-US" sz="17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B1F33">
                  <a:alpha val="5000"/>
                </a:srgbClr>
              </a:gs>
              <a:gs pos="100000">
                <a:srgbClr val="0B1F33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685800" y="842963"/>
            <a:ext cx="16916400" cy="9525"/>
          </a:xfrm>
          <a:prstGeom prst="rect">
            <a:avLst/>
          </a:prstGeom>
          <a:solidFill>
            <a:srgbClr val="0B1F33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19100"/>
            <a:ext cx="4771437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spc="103" kern="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КОНТУР МАРЖИ / ВИЗУАЛИЗАЦИЯ 12</a:t>
            </a:r>
            <a:endParaRPr lang="en-US" sz="1725" dirty="0"/>
          </a:p>
        </p:txBody>
      </p:sp>
      <p:sp>
        <p:nvSpPr>
          <p:cNvPr id="5" name="Text 3"/>
          <p:cNvSpPr/>
          <p:nvPr/>
        </p:nvSpPr>
        <p:spPr>
          <a:xfrm>
            <a:off x="6613550" y="419100"/>
            <a:ext cx="1208751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spc="103" kern="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КЛИЕНТСКИЙ + КОММЕРЧЕСКИЙ СЛОЙ · ANTI-POSITIONING MATRIX · СЛОЖНОСТЬ ПРОСТАЯ</a:t>
            </a:r>
            <a:endParaRPr lang="en-US" sz="1725" dirty="0"/>
          </a:p>
        </p:txBody>
      </p:sp>
      <p:sp>
        <p:nvSpPr>
          <p:cNvPr id="6" name="Text 4"/>
          <p:cNvSpPr/>
          <p:nvPr/>
        </p:nvSpPr>
        <p:spPr>
          <a:xfrm>
            <a:off x="685800" y="1100138"/>
            <a:ext cx="18608040" cy="6236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844"/>
              </a:lnSpc>
              <a:buNone/>
            </a:pPr>
            <a:r>
              <a:rPr lang="en-US" sz="4350" b="1" dirty="0">
                <a:solidFill>
                  <a:srgbClr val="0B1F33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Контур Маржи — это не панель, не аудит и не набор таблиц</a:t>
            </a:r>
            <a:endParaRPr lang="en-US" sz="4350" dirty="0"/>
          </a:p>
        </p:txBody>
      </p:sp>
      <p:sp>
        <p:nvSpPr>
          <p:cNvPr id="7" name="Text 5"/>
          <p:cNvSpPr/>
          <p:nvPr/>
        </p:nvSpPr>
        <p:spPr>
          <a:xfrm>
            <a:off x="685800" y="1819052"/>
            <a:ext cx="163449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dirty="0">
                <a:solidFill>
                  <a:srgbClr val="475569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Технология продает управленческий контур решений по ассортиментной прибыли.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685800" y="2438177"/>
            <a:ext cx="3810000" cy="1787575"/>
          </a:xfrm>
          <a:prstGeom prst="rect">
            <a:avLst/>
          </a:prstGeom>
          <a:solidFill>
            <a:srgbClr val="FAEEEB"/>
          </a:solidFill>
          <a:ln/>
        </p:spPr>
      </p:sp>
      <p:sp>
        <p:nvSpPr>
          <p:cNvPr id="9" name="Shape 7"/>
          <p:cNvSpPr/>
          <p:nvPr/>
        </p:nvSpPr>
        <p:spPr>
          <a:xfrm>
            <a:off x="685800" y="4216226"/>
            <a:ext cx="3810000" cy="9525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2438177"/>
            <a:ext cx="3810000" cy="9525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" y="2438177"/>
            <a:ext cx="57150" cy="1787575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2" name="Shape 10"/>
          <p:cNvSpPr/>
          <p:nvPr/>
        </p:nvSpPr>
        <p:spPr>
          <a:xfrm>
            <a:off x="4486275" y="2438177"/>
            <a:ext cx="9525" cy="1787575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581052"/>
            <a:ext cx="3514725" cy="1539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92571"/>
              </a:lnSpc>
              <a:buNone/>
            </a:pPr>
            <a:r>
              <a:rPr lang="en-US" sz="2025" b="1" dirty="0">
                <a:solidFill>
                  <a:srgbClr val="B91C1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Не BI / бизнес-аналитика</a:t>
            </a:r>
            <a:endParaRPr lang="en-US" sz="2025" dirty="0"/>
          </a:p>
        </p:txBody>
      </p:sp>
      <p:sp>
        <p:nvSpPr>
          <p:cNvPr id="14" name="Shape 12"/>
          <p:cNvSpPr/>
          <p:nvPr/>
        </p:nvSpPr>
        <p:spPr>
          <a:xfrm>
            <a:off x="4629150" y="2438177"/>
            <a:ext cx="3810000" cy="1787575"/>
          </a:xfrm>
          <a:prstGeom prst="rect">
            <a:avLst/>
          </a:prstGeom>
          <a:solidFill>
            <a:srgbClr val="FAEEEB"/>
          </a:solidFill>
          <a:ln/>
        </p:spPr>
      </p:sp>
      <p:sp>
        <p:nvSpPr>
          <p:cNvPr id="15" name="Shape 13"/>
          <p:cNvSpPr/>
          <p:nvPr/>
        </p:nvSpPr>
        <p:spPr>
          <a:xfrm>
            <a:off x="4629150" y="4216226"/>
            <a:ext cx="3810000" cy="9525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6" name="Shape 14"/>
          <p:cNvSpPr/>
          <p:nvPr/>
        </p:nvSpPr>
        <p:spPr>
          <a:xfrm>
            <a:off x="4629150" y="2438177"/>
            <a:ext cx="3810000" cy="9525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7" name="Shape 15"/>
          <p:cNvSpPr/>
          <p:nvPr/>
        </p:nvSpPr>
        <p:spPr>
          <a:xfrm>
            <a:off x="4629150" y="2438177"/>
            <a:ext cx="57150" cy="1787575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8" name="Shape 16"/>
          <p:cNvSpPr/>
          <p:nvPr/>
        </p:nvSpPr>
        <p:spPr>
          <a:xfrm>
            <a:off x="8429625" y="2438177"/>
            <a:ext cx="9525" cy="1787575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9" name="Text 17"/>
          <p:cNvSpPr/>
          <p:nvPr/>
        </p:nvSpPr>
        <p:spPr>
          <a:xfrm>
            <a:off x="4857750" y="2581052"/>
            <a:ext cx="3514725" cy="1539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92571"/>
              </a:lnSpc>
              <a:buNone/>
            </a:pPr>
            <a:r>
              <a:rPr lang="en-US" sz="2025" b="1" dirty="0">
                <a:solidFill>
                  <a:srgbClr val="B91C1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Не P&amp;L / отчет о прибылях и убытках</a:t>
            </a:r>
            <a:endParaRPr lang="en-US" sz="2025" dirty="0"/>
          </a:p>
        </p:txBody>
      </p:sp>
      <p:sp>
        <p:nvSpPr>
          <p:cNvPr id="20" name="Shape 18"/>
          <p:cNvSpPr/>
          <p:nvPr/>
        </p:nvSpPr>
        <p:spPr>
          <a:xfrm>
            <a:off x="685800" y="4359101"/>
            <a:ext cx="3810000" cy="1787575"/>
          </a:xfrm>
          <a:prstGeom prst="rect">
            <a:avLst/>
          </a:prstGeom>
          <a:solidFill>
            <a:srgbClr val="FAEEEB"/>
          </a:solidFill>
          <a:ln/>
        </p:spPr>
      </p:sp>
      <p:sp>
        <p:nvSpPr>
          <p:cNvPr id="21" name="Shape 19"/>
          <p:cNvSpPr/>
          <p:nvPr/>
        </p:nvSpPr>
        <p:spPr>
          <a:xfrm>
            <a:off x="685800" y="6137151"/>
            <a:ext cx="3810000" cy="9525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22" name="Shape 20"/>
          <p:cNvSpPr/>
          <p:nvPr/>
        </p:nvSpPr>
        <p:spPr>
          <a:xfrm>
            <a:off x="685800" y="4359101"/>
            <a:ext cx="3810000" cy="9525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23" name="Shape 21"/>
          <p:cNvSpPr/>
          <p:nvPr/>
        </p:nvSpPr>
        <p:spPr>
          <a:xfrm>
            <a:off x="685800" y="4359101"/>
            <a:ext cx="57150" cy="1787575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24" name="Shape 22"/>
          <p:cNvSpPr/>
          <p:nvPr/>
        </p:nvSpPr>
        <p:spPr>
          <a:xfrm>
            <a:off x="4486275" y="4359101"/>
            <a:ext cx="9525" cy="1787575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4501976"/>
            <a:ext cx="3514725" cy="1539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92571"/>
              </a:lnSpc>
              <a:buNone/>
            </a:pPr>
            <a:r>
              <a:rPr lang="en-US" sz="2025" b="1" dirty="0">
                <a:solidFill>
                  <a:srgbClr val="B91C1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Не Excel / электронные таблицы</a:t>
            </a:r>
            <a:endParaRPr lang="en-US" sz="2025" dirty="0"/>
          </a:p>
        </p:txBody>
      </p:sp>
      <p:sp>
        <p:nvSpPr>
          <p:cNvPr id="26" name="Shape 24"/>
          <p:cNvSpPr/>
          <p:nvPr/>
        </p:nvSpPr>
        <p:spPr>
          <a:xfrm>
            <a:off x="4629150" y="4359101"/>
            <a:ext cx="3810000" cy="1787575"/>
          </a:xfrm>
          <a:prstGeom prst="rect">
            <a:avLst/>
          </a:prstGeom>
          <a:solidFill>
            <a:srgbClr val="FAEEEB"/>
          </a:solidFill>
          <a:ln/>
        </p:spPr>
      </p:sp>
      <p:sp>
        <p:nvSpPr>
          <p:cNvPr id="27" name="Shape 25"/>
          <p:cNvSpPr/>
          <p:nvPr/>
        </p:nvSpPr>
        <p:spPr>
          <a:xfrm>
            <a:off x="4629150" y="6137151"/>
            <a:ext cx="3810000" cy="9525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28" name="Shape 26"/>
          <p:cNvSpPr/>
          <p:nvPr/>
        </p:nvSpPr>
        <p:spPr>
          <a:xfrm>
            <a:off x="4629150" y="4359101"/>
            <a:ext cx="3810000" cy="9525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29" name="Shape 27"/>
          <p:cNvSpPr/>
          <p:nvPr/>
        </p:nvSpPr>
        <p:spPr>
          <a:xfrm>
            <a:off x="4629150" y="4359101"/>
            <a:ext cx="57150" cy="1787575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0" name="Shape 28"/>
          <p:cNvSpPr/>
          <p:nvPr/>
        </p:nvSpPr>
        <p:spPr>
          <a:xfrm>
            <a:off x="8429625" y="4359101"/>
            <a:ext cx="9525" cy="1787575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1" name="Text 29"/>
          <p:cNvSpPr/>
          <p:nvPr/>
        </p:nvSpPr>
        <p:spPr>
          <a:xfrm>
            <a:off x="4857750" y="4501976"/>
            <a:ext cx="3514725" cy="1539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92571"/>
              </a:lnSpc>
              <a:buNone/>
            </a:pPr>
            <a:r>
              <a:rPr lang="en-US" sz="2025" b="1" dirty="0">
                <a:solidFill>
                  <a:srgbClr val="B91C1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Не аудит маркетплейсов</a:t>
            </a:r>
            <a:endParaRPr lang="en-US" sz="2025" dirty="0"/>
          </a:p>
        </p:txBody>
      </p:sp>
      <p:sp>
        <p:nvSpPr>
          <p:cNvPr id="32" name="Shape 30"/>
          <p:cNvSpPr/>
          <p:nvPr/>
        </p:nvSpPr>
        <p:spPr>
          <a:xfrm>
            <a:off x="685800" y="6280026"/>
            <a:ext cx="3810000" cy="1787649"/>
          </a:xfrm>
          <a:prstGeom prst="rect">
            <a:avLst/>
          </a:prstGeom>
          <a:solidFill>
            <a:srgbClr val="FAEEEB"/>
          </a:solidFill>
          <a:ln/>
        </p:spPr>
      </p:sp>
      <p:sp>
        <p:nvSpPr>
          <p:cNvPr id="33" name="Shape 31"/>
          <p:cNvSpPr/>
          <p:nvPr/>
        </p:nvSpPr>
        <p:spPr>
          <a:xfrm>
            <a:off x="685800" y="8058150"/>
            <a:ext cx="3810000" cy="9525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4" name="Shape 32"/>
          <p:cNvSpPr/>
          <p:nvPr/>
        </p:nvSpPr>
        <p:spPr>
          <a:xfrm>
            <a:off x="685800" y="6280026"/>
            <a:ext cx="3810000" cy="9525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5" name="Shape 33"/>
          <p:cNvSpPr/>
          <p:nvPr/>
        </p:nvSpPr>
        <p:spPr>
          <a:xfrm>
            <a:off x="685800" y="6280026"/>
            <a:ext cx="57150" cy="1787649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6" name="Shape 34"/>
          <p:cNvSpPr/>
          <p:nvPr/>
        </p:nvSpPr>
        <p:spPr>
          <a:xfrm>
            <a:off x="4486275" y="6280026"/>
            <a:ext cx="9525" cy="1787649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7" name="Text 35"/>
          <p:cNvSpPr/>
          <p:nvPr/>
        </p:nvSpPr>
        <p:spPr>
          <a:xfrm>
            <a:off x="914400" y="6422901"/>
            <a:ext cx="3514725" cy="15399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92571"/>
              </a:lnSpc>
              <a:buNone/>
            </a:pPr>
            <a:r>
              <a:rPr lang="en-US" sz="2025" b="1" dirty="0">
                <a:solidFill>
                  <a:srgbClr val="B91C1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Не категорийный аудит</a:t>
            </a:r>
            <a:endParaRPr lang="en-US" sz="2025" dirty="0"/>
          </a:p>
        </p:txBody>
      </p:sp>
      <p:sp>
        <p:nvSpPr>
          <p:cNvPr id="38" name="Shape 36"/>
          <p:cNvSpPr/>
          <p:nvPr/>
        </p:nvSpPr>
        <p:spPr>
          <a:xfrm>
            <a:off x="4629150" y="6280026"/>
            <a:ext cx="3810000" cy="1787649"/>
          </a:xfrm>
          <a:prstGeom prst="rect">
            <a:avLst/>
          </a:prstGeom>
          <a:solidFill>
            <a:srgbClr val="FAEEEB"/>
          </a:solidFill>
          <a:ln/>
        </p:spPr>
      </p:sp>
      <p:sp>
        <p:nvSpPr>
          <p:cNvPr id="39" name="Shape 37"/>
          <p:cNvSpPr/>
          <p:nvPr/>
        </p:nvSpPr>
        <p:spPr>
          <a:xfrm>
            <a:off x="4629150" y="8058150"/>
            <a:ext cx="3810000" cy="9525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40" name="Shape 38"/>
          <p:cNvSpPr/>
          <p:nvPr/>
        </p:nvSpPr>
        <p:spPr>
          <a:xfrm>
            <a:off x="4629150" y="6280026"/>
            <a:ext cx="3810000" cy="9525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41" name="Shape 39"/>
          <p:cNvSpPr/>
          <p:nvPr/>
        </p:nvSpPr>
        <p:spPr>
          <a:xfrm>
            <a:off x="4629150" y="6280026"/>
            <a:ext cx="57150" cy="1787649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42" name="Shape 40"/>
          <p:cNvSpPr/>
          <p:nvPr/>
        </p:nvSpPr>
        <p:spPr>
          <a:xfrm>
            <a:off x="8429625" y="6280026"/>
            <a:ext cx="9525" cy="1787649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43" name="Text 41"/>
          <p:cNvSpPr/>
          <p:nvPr/>
        </p:nvSpPr>
        <p:spPr>
          <a:xfrm>
            <a:off x="4857750" y="6422901"/>
            <a:ext cx="3514725" cy="15399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92571"/>
              </a:lnSpc>
              <a:buNone/>
            </a:pPr>
            <a:r>
              <a:rPr lang="en-US" sz="2025" b="1" dirty="0">
                <a:solidFill>
                  <a:srgbClr val="B91C1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Не отчет ради отчета</a:t>
            </a:r>
            <a:endParaRPr lang="en-US" sz="2025" dirty="0"/>
          </a:p>
        </p:txBody>
      </p:sp>
      <p:sp>
        <p:nvSpPr>
          <p:cNvPr id="44" name="Text 42"/>
          <p:cNvSpPr/>
          <p:nvPr/>
        </p:nvSpPr>
        <p:spPr>
          <a:xfrm>
            <a:off x="8665815" y="4862364"/>
            <a:ext cx="95637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8113"/>
              </a:lnSpc>
              <a:buNone/>
            </a:pPr>
            <a:r>
              <a:rPr lang="en-US" sz="1500" spc="90" kern="0" dirty="0">
                <a:solidFill>
                  <a:srgbClr val="B46A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ПЕРЕХОД К СУТИ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8629650" y="5548164"/>
            <a:ext cx="895350" cy="190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46" name="Shape 44"/>
          <p:cNvSpPr/>
          <p:nvPr/>
        </p:nvSpPr>
        <p:spPr>
          <a:xfrm>
            <a:off x="9525000" y="5471964"/>
            <a:ext cx="133350" cy="1714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47" name="Shape 45"/>
          <p:cNvSpPr/>
          <p:nvPr/>
        </p:nvSpPr>
        <p:spPr>
          <a:xfrm>
            <a:off x="9848850" y="2438177"/>
            <a:ext cx="7753350" cy="5629498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48" name="Text 46"/>
          <p:cNvSpPr/>
          <p:nvPr/>
        </p:nvSpPr>
        <p:spPr>
          <a:xfrm>
            <a:off x="10172700" y="4775746"/>
            <a:ext cx="781621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C9A9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ДА</a:t>
            </a:r>
            <a:endParaRPr lang="en-US" sz="1650" dirty="0"/>
          </a:p>
        </p:txBody>
      </p:sp>
      <p:sp>
        <p:nvSpPr>
          <p:cNvPr id="49" name="Text 47"/>
          <p:cNvSpPr/>
          <p:nvPr/>
        </p:nvSpPr>
        <p:spPr>
          <a:xfrm>
            <a:off x="10172700" y="5204371"/>
            <a:ext cx="7816215" cy="563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929"/>
              </a:lnSpc>
              <a:buNone/>
            </a:pPr>
            <a:r>
              <a:rPr lang="en-US" sz="3600" b="1" dirty="0">
                <a:solidFill>
                  <a:srgbClr val="F3EBDD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Контур решений SKU x канал</a:t>
            </a:r>
            <a:endParaRPr lang="en-US" sz="3600" dirty="0"/>
          </a:p>
        </p:txBody>
      </p:sp>
      <p:sp>
        <p:nvSpPr>
          <p:cNvPr id="50" name="Text 48"/>
          <p:cNvSpPr/>
          <p:nvPr/>
        </p:nvSpPr>
        <p:spPr>
          <a:xfrm>
            <a:off x="685800" y="8343900"/>
            <a:ext cx="102832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126" kern="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ЛЕГЕНДА</a:t>
            </a:r>
            <a:endParaRPr lang="en-US" sz="1575" dirty="0"/>
          </a:p>
        </p:txBody>
      </p:sp>
      <p:sp>
        <p:nvSpPr>
          <p:cNvPr id="51" name="Shape 49"/>
          <p:cNvSpPr/>
          <p:nvPr/>
        </p:nvSpPr>
        <p:spPr>
          <a:xfrm>
            <a:off x="1809378" y="8372475"/>
            <a:ext cx="209550" cy="13335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52" name="Text 50"/>
          <p:cNvSpPr/>
          <p:nvPr/>
        </p:nvSpPr>
        <p:spPr>
          <a:xfrm>
            <a:off x="2114178" y="8291513"/>
            <a:ext cx="3181519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Red — неправильная категория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1809378" y="8734425"/>
            <a:ext cx="209550" cy="13335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54" name="Text 52"/>
          <p:cNvSpPr/>
          <p:nvPr/>
        </p:nvSpPr>
        <p:spPr>
          <a:xfrm>
            <a:off x="2114178" y="8653463"/>
            <a:ext cx="4620633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Deep Navy — правильное позиционирование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1809378" y="9096375"/>
            <a:ext cx="209550" cy="1333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56" name="Text 54"/>
          <p:cNvSpPr/>
          <p:nvPr/>
        </p:nvSpPr>
        <p:spPr>
          <a:xfrm>
            <a:off x="2114178" y="9015413"/>
            <a:ext cx="251973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Copper — переход к сути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9353550" y="8296275"/>
            <a:ext cx="8248650" cy="944835"/>
          </a:xfrm>
          <a:prstGeom prst="rect">
            <a:avLst/>
          </a:prstGeom>
          <a:ln w="9525">
            <a:solidFill>
              <a:srgbClr val="B91C1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553575" y="8458200"/>
            <a:ext cx="86334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126" kern="0" dirty="0">
                <a:solidFill>
                  <a:srgbClr val="B91C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ЭТО НЕ</a:t>
            </a:r>
            <a:endParaRPr lang="en-US" sz="1575" dirty="0"/>
          </a:p>
        </p:txBody>
      </p:sp>
      <p:sp>
        <p:nvSpPr>
          <p:cNvPr id="59" name="Text 57"/>
          <p:cNvSpPr/>
          <p:nvPr/>
        </p:nvSpPr>
        <p:spPr>
          <a:xfrm>
            <a:off x="9553575" y="8782050"/>
            <a:ext cx="8633460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645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Этот блок обязателен: он и есть защита от подмены категории.</a:t>
            </a:r>
            <a:endParaRPr lang="en-US" sz="1800" dirty="0"/>
          </a:p>
        </p:txBody>
      </p:sp>
      <p:sp>
        <p:nvSpPr>
          <p:cNvPr id="60" name="Shape 58"/>
          <p:cNvSpPr/>
          <p:nvPr/>
        </p:nvSpPr>
        <p:spPr>
          <a:xfrm>
            <a:off x="685800" y="9515475"/>
            <a:ext cx="16916400" cy="9525"/>
          </a:xfrm>
          <a:prstGeom prst="rect">
            <a:avLst/>
          </a:prstGeom>
          <a:solidFill>
            <a:srgbClr val="0B1F33">
              <a:alpha val="20000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685800" y="9658350"/>
            <a:ext cx="986833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0B1F33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Контур Маржи продает не экран, а управляемый переход от красной зоны к решению.</a:t>
            </a:r>
            <a:endParaRPr lang="en-US" sz="1800" dirty="0"/>
          </a:p>
        </p:txBody>
      </p:sp>
      <p:sp>
        <p:nvSpPr>
          <p:cNvPr id="62" name="Text 60"/>
          <p:cNvSpPr/>
          <p:nvPr/>
        </p:nvSpPr>
        <p:spPr>
          <a:xfrm>
            <a:off x="12475890" y="9672638"/>
            <a:ext cx="563894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Визуализация_12_Антипозиционирование_V1</a:t>
            </a:r>
            <a:endParaRPr lang="en-US" sz="17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2026-07-31T08:33:18Z</dcterms:created>
  <dcterms:modified xsi:type="dcterms:W3CDTF">2026-07-31T08:33:18Z</dcterms:modified>
</cp:coreProperties>
</file>