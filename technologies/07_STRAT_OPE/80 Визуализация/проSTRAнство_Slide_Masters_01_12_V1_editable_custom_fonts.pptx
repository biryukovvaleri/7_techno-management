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Ядро проSTRAнства: от проблемы к исполнению. За 30 секунд объяснить, что технология является экспертной системой отбора и сцепки, а не каталогом моделей.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проSTRAнство не является каталогом моделей. Снять главный риск неправильной категории: ценность не в перечне моделей, а в точном отборе под доказанную задачу.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Диагностика управленческой задачи. Обязательный платный вход, который проверяет применимость технологии и защищает клиента от лишней Сессии.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Экспертная система триггеров. Технология переводит симптомы в ранжированные триггеры и ограничивает фокус Сессии.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Отбор стратегических фреймворков из большого поля. Из большого поля выбираются только 5-7 нужных для текущей управленческой задачи.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от стратегии к операционным инструментам. Центральный механизм технологии: стратегический выход переводится в инструмент, владельца, метрику и ритм.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Операционные инструменты и измерители. Операционный слой работает через ограниченный набор инструментов, связанных с функцией, владельцем и метрикой.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Клиентский путь четырех продуктов. Клиент проходит технологию без автоматической продажи следующего этапа.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Сессия: сбор решения и контура внедрения. Точка сборки рабочего набора и моста, а не мозговой штурм.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Спринт 30-60-90: контроль внедрения. Выбранный мост проверяется в действии через три контрольные точки и итоговый вердикт.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Кейсовая схема: от управленческой боли к рабочему пространству решений. Кейс помогает узнать боль и продать Диагностику, а не обещать одинаковый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Антипозиционирование: чем проSTRAнство не является. Защита технологии от четырех неправильных категорий.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7725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5280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 / ВИЗУАЛИЗАЦИЯ 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67675" y="438150"/>
            <a:ext cx="10487978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+ КОММЕРЧЕСКИЙ СЛОЙ · ПОТОК / FLOW · СЛОЖНОСТЬ ПРОСТАЯ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1123950"/>
            <a:ext cx="17423892" cy="119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977"/>
              </a:lnSpc>
              <a:buNone/>
            </a:pPr>
            <a:r>
              <a:rPr lang="en-US" sz="435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проSTRAнство связывает стратегический выбор с операционным исполнением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85800" y="2436465"/>
            <a:ext cx="1634490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Путь начинается с управленческой проблемы и заканчивается владельцами, метриками и Спринтом 30-60-90.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85800" y="3048670"/>
            <a:ext cx="3943350" cy="1715914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1538" y="3215357"/>
            <a:ext cx="392906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71538" y="3563020"/>
            <a:ext cx="3929063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3"/>
              </a:lnSpc>
              <a:buNone/>
            </a:pPr>
            <a:r>
              <a:rPr lang="en-US" sz="2175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Проблема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871538" y="3956819"/>
            <a:ext cx="367903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болит в управлении и результате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4762500" y="3830389"/>
            <a:ext cx="114300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3" name="Shape 11"/>
          <p:cNvSpPr/>
          <p:nvPr/>
        </p:nvSpPr>
        <p:spPr>
          <a:xfrm>
            <a:off x="5010150" y="3048670"/>
            <a:ext cx="3943350" cy="1715914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5888" y="3215357"/>
            <a:ext cx="392906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195888" y="3563020"/>
            <a:ext cx="3929063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3"/>
              </a:lnSpc>
              <a:buNone/>
            </a:pPr>
            <a:r>
              <a:rPr lang="en-US" sz="2175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Триггеры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5195888" y="3956819"/>
            <a:ext cx="367903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включает необходимость выбора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086850" y="3830389"/>
            <a:ext cx="114300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8" name="Shape 16"/>
          <p:cNvSpPr/>
          <p:nvPr/>
        </p:nvSpPr>
        <p:spPr>
          <a:xfrm>
            <a:off x="9334500" y="3048670"/>
            <a:ext cx="3943350" cy="1715914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20238" y="3215357"/>
            <a:ext cx="392906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520238" y="3563020"/>
            <a:ext cx="3929063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3"/>
              </a:lnSpc>
              <a:buNone/>
            </a:pPr>
            <a:r>
              <a:rPr lang="en-US" sz="2175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Фреймворки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9520238" y="3956819"/>
            <a:ext cx="367903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5-7 стратегических рамок под задачу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3411200" y="3830389"/>
            <a:ext cx="114300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3" name="Shape 21"/>
          <p:cNvSpPr/>
          <p:nvPr/>
        </p:nvSpPr>
        <p:spPr>
          <a:xfrm>
            <a:off x="13658850" y="3048670"/>
            <a:ext cx="3943350" cy="1715914"/>
          </a:xfrm>
          <a:prstGeom prst="rect">
            <a:avLst/>
          </a:prstGeom>
          <a:solidFill>
            <a:srgbClr val="0B1F33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844588" y="3215357"/>
            <a:ext cx="392906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3844588" y="3563020"/>
            <a:ext cx="3929063" cy="37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23"/>
              </a:lnSpc>
              <a:buNone/>
            </a:pPr>
            <a:r>
              <a:rPr lang="en-US" sz="2325" b="1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Мост</a:t>
            </a:r>
            <a:endParaRPr lang="en-US" sz="2325" dirty="0"/>
          </a:p>
        </p:txBody>
      </p:sp>
      <p:sp>
        <p:nvSpPr>
          <p:cNvPr id="26" name="Text 24"/>
          <p:cNvSpPr/>
          <p:nvPr/>
        </p:nvSpPr>
        <p:spPr>
          <a:xfrm>
            <a:off x="13844588" y="3978771"/>
            <a:ext cx="367903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E8DF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перевод стратегии в операционный контур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685800" y="4916984"/>
            <a:ext cx="113235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МАРШРУТ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894359" y="5043190"/>
            <a:ext cx="15441141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9" name="Shape 27"/>
          <p:cNvSpPr/>
          <p:nvPr/>
        </p:nvSpPr>
        <p:spPr>
          <a:xfrm>
            <a:off x="17487900" y="4976515"/>
            <a:ext cx="114300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5340846"/>
            <a:ext cx="3943350" cy="1715914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1538" y="5507534"/>
            <a:ext cx="392906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871538" y="5855196"/>
            <a:ext cx="3929063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3"/>
              </a:lnSpc>
              <a:buNone/>
            </a:pPr>
            <a:r>
              <a:rPr lang="en-US" sz="2175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Инструменты</a:t>
            </a:r>
            <a:endParaRPr lang="en-US" sz="2175" dirty="0"/>
          </a:p>
        </p:txBody>
      </p:sp>
      <p:sp>
        <p:nvSpPr>
          <p:cNvPr id="33" name="Text 31"/>
          <p:cNvSpPr/>
          <p:nvPr/>
        </p:nvSpPr>
        <p:spPr>
          <a:xfrm>
            <a:off x="871538" y="6248995"/>
            <a:ext cx="367903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3-5 операционных инструментов в работу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4762500" y="6122566"/>
            <a:ext cx="114300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5" name="Shape 33"/>
          <p:cNvSpPr/>
          <p:nvPr/>
        </p:nvSpPr>
        <p:spPr>
          <a:xfrm>
            <a:off x="5010150" y="5340846"/>
            <a:ext cx="3943350" cy="1715914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95888" y="5507534"/>
            <a:ext cx="392906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5195888" y="5855196"/>
            <a:ext cx="3929063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3"/>
              </a:lnSpc>
              <a:buNone/>
            </a:pPr>
            <a:r>
              <a:rPr lang="en-US" sz="217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Владельцы</a:t>
            </a:r>
            <a:endParaRPr lang="en-US" sz="2175" dirty="0"/>
          </a:p>
        </p:txBody>
      </p:sp>
      <p:sp>
        <p:nvSpPr>
          <p:cNvPr id="38" name="Text 36"/>
          <p:cNvSpPr/>
          <p:nvPr/>
        </p:nvSpPr>
        <p:spPr>
          <a:xfrm>
            <a:off x="5195888" y="6248995"/>
            <a:ext cx="367903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отвечает за действие и данные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9086850" y="6122566"/>
            <a:ext cx="114300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0" name="Shape 38"/>
          <p:cNvSpPr/>
          <p:nvPr/>
        </p:nvSpPr>
        <p:spPr>
          <a:xfrm>
            <a:off x="9334500" y="5340846"/>
            <a:ext cx="3943350" cy="1715914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20238" y="5507534"/>
            <a:ext cx="392906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9520238" y="5855196"/>
            <a:ext cx="3929063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3"/>
              </a:lnSpc>
              <a:buNone/>
            </a:pPr>
            <a:r>
              <a:rPr lang="en-US" sz="217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Метрики</a:t>
            </a:r>
            <a:endParaRPr lang="en-US" sz="2175" dirty="0"/>
          </a:p>
        </p:txBody>
      </p:sp>
      <p:sp>
        <p:nvSpPr>
          <p:cNvPr id="43" name="Text 41"/>
          <p:cNvSpPr/>
          <p:nvPr/>
        </p:nvSpPr>
        <p:spPr>
          <a:xfrm>
            <a:off x="9520238" y="6248995"/>
            <a:ext cx="367903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измеряется результат и откат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3411200" y="6122566"/>
            <a:ext cx="114300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5" name="Shape 43"/>
          <p:cNvSpPr/>
          <p:nvPr/>
        </p:nvSpPr>
        <p:spPr>
          <a:xfrm>
            <a:off x="13658850" y="5340846"/>
            <a:ext cx="3943350" cy="1715914"/>
          </a:xfrm>
          <a:prstGeom prst="rect">
            <a:avLst/>
          </a:prstGeom>
          <a:solidFill>
            <a:srgbClr val="0B1F33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844588" y="5507534"/>
            <a:ext cx="392906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3844588" y="5855196"/>
            <a:ext cx="3929063" cy="37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23"/>
              </a:lnSpc>
              <a:buNone/>
            </a:pPr>
            <a:r>
              <a:rPr lang="en-US" sz="2325" b="1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Спринт 30-60-90</a:t>
            </a:r>
            <a:endParaRPr lang="en-US" sz="2325" dirty="0"/>
          </a:p>
        </p:txBody>
      </p:sp>
      <p:sp>
        <p:nvSpPr>
          <p:cNvPr id="48" name="Text 46"/>
          <p:cNvSpPr/>
          <p:nvPr/>
        </p:nvSpPr>
        <p:spPr>
          <a:xfrm>
            <a:off x="13844588" y="6270947"/>
            <a:ext cx="367903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E8DF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проверка выбранного контура в действии</a:t>
            </a:r>
            <a:endParaRPr lang="en-US" sz="1875" dirty="0"/>
          </a:p>
        </p:txBody>
      </p:sp>
      <p:sp>
        <p:nvSpPr>
          <p:cNvPr id="49" name="Shape 47"/>
          <p:cNvSpPr/>
          <p:nvPr/>
        </p:nvSpPr>
        <p:spPr>
          <a:xfrm>
            <a:off x="685800" y="7810500"/>
            <a:ext cx="16916400" cy="9525"/>
          </a:xfrm>
          <a:prstGeom prst="rect">
            <a:avLst/>
          </a:prstGeom>
          <a:solidFill>
            <a:srgbClr val="0B1F33">
              <a:alpha val="2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" y="8029575"/>
            <a:ext cx="1103040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903140" y="8048625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2" name="Text 50"/>
          <p:cNvSpPr/>
          <p:nvPr/>
        </p:nvSpPr>
        <p:spPr>
          <a:xfrm>
            <a:off x="2188890" y="7991475"/>
            <a:ext cx="629836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медная стрелка = обязательный логический переход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903140" y="8401050"/>
            <a:ext cx="171450" cy="1714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4" name="Text 52"/>
          <p:cNvSpPr/>
          <p:nvPr/>
        </p:nvSpPr>
        <p:spPr>
          <a:xfrm>
            <a:off x="2188890" y="8343900"/>
            <a:ext cx="62455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темно-синий блок = ключевой механизм технологии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903140" y="8753475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6" name="Text 54"/>
          <p:cNvSpPr/>
          <p:nvPr/>
        </p:nvSpPr>
        <p:spPr>
          <a:xfrm>
            <a:off x="2188890" y="8696325"/>
            <a:ext cx="63976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бирюзовая метка = данные, владельцы, устойчивость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903140" y="9105900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8" name="Text 56"/>
          <p:cNvSpPr/>
          <p:nvPr/>
        </p:nvSpPr>
        <p:spPr>
          <a:xfrm>
            <a:off x="2188890" y="9048750"/>
            <a:ext cx="502273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красная метка = риск неверного перехода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0934700" y="7991475"/>
            <a:ext cx="6667500" cy="153828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125200" y="8124825"/>
            <a:ext cx="69151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11125200" y="8443913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каталог стратегических фреймворков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1125200" y="8777288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стратегическая сессия ради презентации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1125200" y="9110663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запуск всех инструментов сразу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685800" y="9682163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85800" y="9805988"/>
            <a:ext cx="861537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C-Level Insight | проSTRAнство | экспертный выбор + мост в исполнение</a:t>
            </a:r>
            <a:endParaRPr lang="en-US" sz="1875" dirty="0"/>
          </a:p>
        </p:txBody>
      </p:sp>
      <p:sp>
        <p:nvSpPr>
          <p:cNvPr id="66" name="Text 64"/>
          <p:cNvSpPr/>
          <p:nvPr/>
        </p:nvSpPr>
        <p:spPr>
          <a:xfrm>
            <a:off x="10281270" y="9872663"/>
            <a:ext cx="80530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проSTRAнство_Визуализация_01_Ядро_От_Проблемы_К_Исполнению_V1</a:t>
            </a:r>
            <a:endParaRPr lang="en-US" sz="15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7725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5280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 / ВИЗУАЛИЗАЦИЯ 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7410" y="438150"/>
            <a:ext cx="12424269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+ КОММЕРЧЕСКИЙ СЛОЙ · МАТРИЦА / MATRIX ОТЛИЧИЙ · СЛОЖНОСТЬ ПРОСТАЯ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1123950"/>
            <a:ext cx="1860804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04"/>
              </a:lnSpc>
              <a:buNone/>
            </a:pPr>
            <a:r>
              <a:rPr lang="en-US" sz="4350" b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Ценность не в количестве моделей, а в точности выбора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85800" y="1856408"/>
            <a:ext cx="1634490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проSTRAнство не раскрывает библиотеку как меню; оно сужает поле до рабочего набора под проблему.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85800" y="2468612"/>
            <a:ext cx="3522390" cy="452512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3438" y="2559100"/>
            <a:ext cx="3332786" cy="309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НЕПРАВИЛЬНАЯ КАТЕГОРИЯ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0144125" y="2468612"/>
            <a:ext cx="2788965" cy="452512"/>
          </a:xfrm>
          <a:prstGeom prst="rect">
            <a:avLst/>
          </a:prstGeom>
          <a:ln w="14288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91763" y="2559100"/>
            <a:ext cx="2577359" cy="309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ЛОГИКА ТЕХНОЛОГИИ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85800" y="3054474"/>
            <a:ext cx="7458075" cy="1432917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054474"/>
            <a:ext cx="57150" cy="143291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3416126"/>
            <a:ext cx="76800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Если это каталог: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52500" y="3816176"/>
            <a:ext cx="768000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клиент выбирает из большого списка и спорит о подходах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8653909" y="3525664"/>
            <a:ext cx="105638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СУЖЕНИЕ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8315325" y="3930476"/>
            <a:ext cx="1543050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8" name="Shape 16"/>
          <p:cNvSpPr/>
          <p:nvPr/>
        </p:nvSpPr>
        <p:spPr>
          <a:xfrm>
            <a:off x="9858375" y="3863801"/>
            <a:ext cx="114300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44125" y="3054474"/>
            <a:ext cx="7458075" cy="1432917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67963" y="3416126"/>
            <a:ext cx="77114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Если это проSTRAнство: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367963" y="3816176"/>
            <a:ext cx="77114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проблема формализуется и отбор делает экспертная система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685800" y="4620741"/>
            <a:ext cx="7458075" cy="1432992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620741"/>
            <a:ext cx="57150" cy="143299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170066"/>
            <a:ext cx="3887807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286"/>
              </a:lnSpc>
              <a:buNone/>
            </a:pPr>
            <a:r>
              <a:rPr lang="en-US" sz="202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Каталог дает ширину выбора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8315325" y="5327675"/>
            <a:ext cx="1543050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6" name="Shape 24"/>
          <p:cNvSpPr/>
          <p:nvPr/>
        </p:nvSpPr>
        <p:spPr>
          <a:xfrm>
            <a:off x="9858375" y="5261000"/>
            <a:ext cx="114300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44125" y="4620741"/>
            <a:ext cx="7458075" cy="1432992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67963" y="5170066"/>
            <a:ext cx="549266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286"/>
              </a:lnSpc>
              <a:buNone/>
            </a:pPr>
            <a:r>
              <a:rPr lang="en-US" sz="202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проSTRAнство дает узкий рабочий набор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685800" y="6187083"/>
            <a:ext cx="7458075" cy="1432917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6187083"/>
            <a:ext cx="57150" cy="143291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6736407"/>
            <a:ext cx="4296921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286"/>
              </a:lnSpc>
              <a:buNone/>
            </a:pPr>
            <a:r>
              <a:rPr lang="en-US" sz="202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Каталог заканчивается знанием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8315325" y="6894016"/>
            <a:ext cx="1543050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3" name="Shape 31"/>
          <p:cNvSpPr/>
          <p:nvPr/>
        </p:nvSpPr>
        <p:spPr>
          <a:xfrm>
            <a:off x="9858375" y="6827341"/>
            <a:ext cx="114300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44125" y="6187083"/>
            <a:ext cx="7458075" cy="1432917"/>
          </a:xfrm>
          <a:prstGeom prst="rect">
            <a:avLst/>
          </a:prstGeom>
          <a:solidFill>
            <a:srgbClr val="0B1F33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67963" y="6569273"/>
            <a:ext cx="7220712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286"/>
              </a:lnSpc>
              <a:buNone/>
            </a:pPr>
            <a:r>
              <a:rPr lang="en-US" sz="2025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проSTRAнство заканчивается мостом, владельцами, метриками и Спринтом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685800" y="7810500"/>
            <a:ext cx="16916400" cy="9525"/>
          </a:xfrm>
          <a:prstGeom prst="rect">
            <a:avLst/>
          </a:prstGeom>
          <a:solidFill>
            <a:srgbClr val="0B1F33">
              <a:alpha val="2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8029575"/>
            <a:ext cx="1103040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903140" y="8048625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9" name="Text 37"/>
          <p:cNvSpPr/>
          <p:nvPr/>
        </p:nvSpPr>
        <p:spPr>
          <a:xfrm>
            <a:off x="2188890" y="7991475"/>
            <a:ext cx="45054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левая зона = неправильная категория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903140" y="8401050"/>
            <a:ext cx="171450" cy="1714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1" name="Text 39"/>
          <p:cNvSpPr/>
          <p:nvPr/>
        </p:nvSpPr>
        <p:spPr>
          <a:xfrm>
            <a:off x="2188890" y="8343900"/>
            <a:ext cx="53943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правая зона = правильная логика технологии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903140" y="8753475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3" name="Text 41"/>
          <p:cNvSpPr/>
          <p:nvPr/>
        </p:nvSpPr>
        <p:spPr>
          <a:xfrm>
            <a:off x="2188890" y="8696325"/>
            <a:ext cx="48248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медный переход = сужение поля выбора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903140" y="9105900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5" name="Text 43"/>
          <p:cNvSpPr/>
          <p:nvPr/>
        </p:nvSpPr>
        <p:spPr>
          <a:xfrm>
            <a:off x="2188890" y="9048750"/>
            <a:ext cx="507225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красный маркер = риск подмены продукта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0934700" y="7991475"/>
            <a:ext cx="6667500" cy="153828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125200" y="8124825"/>
            <a:ext cx="69151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1125200" y="8443913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библиотека лучших практик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1125200" y="8777288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обучение фреймворкам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1125200" y="9110663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витрина 100 стратегических рамок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685800" y="9682163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9805988"/>
            <a:ext cx="928290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C-Level Insight | проSTRAнство | не меню моделей, а точный выбор под задачу</a:t>
            </a:r>
            <a:endParaRPr lang="en-US" sz="1875" dirty="0"/>
          </a:p>
        </p:txBody>
      </p:sp>
      <p:sp>
        <p:nvSpPr>
          <p:cNvPr id="53" name="Text 51"/>
          <p:cNvSpPr/>
          <p:nvPr/>
        </p:nvSpPr>
        <p:spPr>
          <a:xfrm>
            <a:off x="11601450" y="9872663"/>
            <a:ext cx="66008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проSTRAнство_Визуализация_02_Не_Каталог_Моделей_V1</a:t>
            </a:r>
            <a:endParaRPr lang="en-US" sz="15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7725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5280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 / ВИЗУАЛИЗАЦИЯ 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14070" y="438150"/>
            <a:ext cx="12746943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КОММЕРЧЕСКИЙ + КОНСУЛЬТАНТСКИЙ СЛОЙ · ДИАГНОСТИЧЕСКАЯ КАРТА · СЛОЖНОСТЬ СРЕДНЯЯ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1123950"/>
            <a:ext cx="1860804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04"/>
              </a:lnSpc>
              <a:buNone/>
            </a:pPr>
            <a:r>
              <a:rPr lang="en-US" sz="4350" b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 проверяет, есть ли задача для проSTRAнства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85800" y="1856408"/>
            <a:ext cx="1634490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 входе жалоба клиента; на выходе карта проблемной единицы, текущий контур и вердикт следующего шага.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85800" y="2468612"/>
            <a:ext cx="16916400" cy="3827413"/>
          </a:xfrm>
          <a:prstGeom prst="rect">
            <a:avLst/>
          </a:prstGeom>
          <a:ln w="19050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250" y="2621012"/>
            <a:ext cx="182308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ОБЛАСТЬ ПРОВЕРКИ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57250" y="2987725"/>
            <a:ext cx="3040335" cy="3136850"/>
          </a:xfrm>
          <a:prstGeom prst="rect">
            <a:avLst/>
          </a:prstGeom>
          <a:solidFill>
            <a:srgbClr val="FFFFFF">
              <a:alpha val="40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3938" y="3135362"/>
            <a:ext cx="297765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Жалоба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23938" y="3554462"/>
            <a:ext cx="2788169" cy="623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97"/>
              </a:lnSpc>
              <a:buNone/>
            </a:pPr>
            <a:r>
              <a:rPr lang="en-US" sz="1800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клиент формулирует проблему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011885" y="4479950"/>
            <a:ext cx="114300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4" name="Shape 12"/>
          <p:cNvSpPr/>
          <p:nvPr/>
        </p:nvSpPr>
        <p:spPr>
          <a:xfrm>
            <a:off x="4240485" y="2987725"/>
            <a:ext cx="3040410" cy="3136850"/>
          </a:xfrm>
          <a:prstGeom prst="rect">
            <a:avLst/>
          </a:prstGeom>
          <a:solidFill>
            <a:srgbClr val="FFFFFF">
              <a:alpha val="40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173" y="3135362"/>
            <a:ext cx="29777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Факты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407173" y="3554462"/>
            <a:ext cx="2788246" cy="623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97"/>
              </a:lnSpc>
              <a:buNone/>
            </a:pPr>
            <a:r>
              <a:rPr lang="en-US" sz="1800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подтверждает или опровергает жалобу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95195" y="4479950"/>
            <a:ext cx="114300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3795" y="2987725"/>
            <a:ext cx="3040335" cy="3136850"/>
          </a:xfrm>
          <a:prstGeom prst="rect">
            <a:avLst/>
          </a:prstGeom>
          <a:solidFill>
            <a:srgbClr val="FFFFFF">
              <a:alpha val="40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0483" y="3135362"/>
            <a:ext cx="297765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Текущий контур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790483" y="3554462"/>
            <a:ext cx="2788169" cy="623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97"/>
              </a:lnSpc>
              <a:buNone/>
            </a:pPr>
            <a:r>
              <a:rPr lang="en-US" sz="1800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уже есть, что работает, что разорвано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778430" y="4479950"/>
            <a:ext cx="114300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07030" y="2987725"/>
            <a:ext cx="3040410" cy="3136850"/>
          </a:xfrm>
          <a:prstGeom prst="rect">
            <a:avLst/>
          </a:prstGeom>
          <a:solidFill>
            <a:srgbClr val="0B1F33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73718" y="3135362"/>
            <a:ext cx="2788246" cy="949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759"/>
              </a:lnSpc>
              <a:buNone/>
            </a:pPr>
            <a:r>
              <a:rPr lang="en-US" sz="2175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Проблемная единица / Problem Unit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11173718" y="4123060"/>
            <a:ext cx="2788246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97"/>
              </a:lnSpc>
              <a:buNone/>
            </a:pPr>
            <a:r>
              <a:rPr lang="en-US" sz="1800" dirty="0">
                <a:solidFill>
                  <a:srgbClr val="E8DF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управленческий разрыв в стандартизированной форме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4161740" y="4479950"/>
            <a:ext cx="114300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6" name="Shape 24"/>
          <p:cNvSpPr/>
          <p:nvPr/>
        </p:nvSpPr>
        <p:spPr>
          <a:xfrm>
            <a:off x="14390340" y="2987725"/>
            <a:ext cx="3040410" cy="3136850"/>
          </a:xfrm>
          <a:prstGeom prst="rect">
            <a:avLst/>
          </a:prstGeom>
          <a:solidFill>
            <a:srgbClr val="FFFFFF">
              <a:alpha val="40000"/>
            </a:srgbClr>
          </a:solidFill>
          <a:ln w="14288">
            <a:solidFill>
              <a:srgbClr val="B46A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557028" y="3135362"/>
            <a:ext cx="29777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Мандат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4557028" y="3554462"/>
            <a:ext cx="2788246" cy="623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97"/>
              </a:lnSpc>
              <a:buNone/>
            </a:pPr>
            <a:r>
              <a:rPr lang="en-US" sz="1800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имеет право менять контур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85800" y="6448425"/>
            <a:ext cx="16916400" cy="842963"/>
          </a:xfrm>
          <a:prstGeom prst="rect">
            <a:avLst/>
          </a:prstGeom>
          <a:ln w="19050">
            <a:solidFill>
              <a:srgbClr val="0B1F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5350" y="6727031"/>
            <a:ext cx="114969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73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ВЕРДИКТ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2178397" y="6619875"/>
            <a:ext cx="3703513" cy="500063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178397" y="6619875"/>
            <a:ext cx="57150" cy="500063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3" name="Text 31"/>
          <p:cNvSpPr/>
          <p:nvPr/>
        </p:nvSpPr>
        <p:spPr>
          <a:xfrm>
            <a:off x="2368897" y="6715125"/>
            <a:ext cx="349076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запускать Сессию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6015261" y="6619875"/>
            <a:ext cx="3703588" cy="500063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015261" y="6619875"/>
            <a:ext cx="57150" cy="500063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6" name="Text 34"/>
          <p:cNvSpPr/>
          <p:nvPr/>
        </p:nvSpPr>
        <p:spPr>
          <a:xfrm>
            <a:off x="6205761" y="6715125"/>
            <a:ext cx="349084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запускать с условиями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9852199" y="6619875"/>
            <a:ext cx="3703513" cy="500063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852199" y="6619875"/>
            <a:ext cx="57150" cy="500063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9" name="Text 37"/>
          <p:cNvSpPr/>
          <p:nvPr/>
        </p:nvSpPr>
        <p:spPr>
          <a:xfrm>
            <a:off x="10042699" y="6715125"/>
            <a:ext cx="349076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удержать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3689062" y="6619875"/>
            <a:ext cx="3703588" cy="500063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3689062" y="6619875"/>
            <a:ext cx="57150" cy="500063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2" name="Text 40"/>
          <p:cNvSpPr/>
          <p:nvPr/>
        </p:nvSpPr>
        <p:spPr>
          <a:xfrm>
            <a:off x="13879562" y="6715125"/>
            <a:ext cx="349084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остановить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685800" y="7481887"/>
            <a:ext cx="16916400" cy="9525"/>
          </a:xfrm>
          <a:prstGeom prst="rect">
            <a:avLst/>
          </a:prstGeom>
          <a:solidFill>
            <a:srgbClr val="0B1F33">
              <a:alpha val="2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7700963"/>
            <a:ext cx="1103040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903140" y="7720013"/>
            <a:ext cx="171450" cy="1714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6" name="Text 44"/>
          <p:cNvSpPr/>
          <p:nvPr/>
        </p:nvSpPr>
        <p:spPr>
          <a:xfrm>
            <a:off x="2188890" y="7662863"/>
            <a:ext cx="39987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синий контур = область проверки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903140" y="8072438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8" name="Text 46"/>
          <p:cNvSpPr/>
          <p:nvPr/>
        </p:nvSpPr>
        <p:spPr>
          <a:xfrm>
            <a:off x="2188890" y="8015288"/>
            <a:ext cx="536063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бирюзовая метка = подтвержденные данные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903140" y="8424863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0" name="Text 48"/>
          <p:cNvSpPr/>
          <p:nvPr/>
        </p:nvSpPr>
        <p:spPr>
          <a:xfrm>
            <a:off x="2188890" y="8367712"/>
            <a:ext cx="4251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янтарная метка = условие перехода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903140" y="8777288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2" name="Text 50"/>
          <p:cNvSpPr/>
          <p:nvPr/>
        </p:nvSpPr>
        <p:spPr>
          <a:xfrm>
            <a:off x="2188890" y="8720138"/>
            <a:ext cx="57365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красная метка = остановка или запрет перехода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0934700" y="7662863"/>
            <a:ext cx="6667500" cy="153828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125200" y="7796212"/>
            <a:ext cx="69151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1125200" y="8115300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бесплатный пресейл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1125200" y="8448675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аудит ради отчета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1125200" y="8782050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обещание Спринта до проверки моста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685800" y="9353550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85800" y="9477375"/>
            <a:ext cx="899645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C-Level Insight | проSTRAнство | Диагностика - платный вход и право остановить неверный шаг</a:t>
            </a:r>
            <a:endParaRPr lang="en-US" sz="1875" dirty="0"/>
          </a:p>
        </p:txBody>
      </p:sp>
      <p:sp>
        <p:nvSpPr>
          <p:cNvPr id="60" name="Text 58"/>
          <p:cNvSpPr/>
          <p:nvPr/>
        </p:nvSpPr>
        <p:spPr>
          <a:xfrm>
            <a:off x="9801225" y="9872663"/>
            <a:ext cx="85810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проSTRAнство_Визуализация_03_Диагностика_Управленческой_Задачи_V1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7725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5280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 / ВИЗУАЛИЗАЦИЯ 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34250" y="438150"/>
            <a:ext cx="11294745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+ ВНУТРЕННИЙ СЛОЙ · ДЕРЕВО РЕШЕНИЙ · СЛОЖНОСТЬ СЛОЖНАЯ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1123950"/>
            <a:ext cx="1860804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04"/>
              </a:lnSpc>
              <a:buNone/>
            </a:pPr>
            <a:r>
              <a:rPr lang="en-US" sz="4350" b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Триггеры помогают не распылить Сессию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85800" y="1856408"/>
            <a:ext cx="15304770" cy="76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После Диагностики триггеры ранжируются и группируются: одна Сессия работает только с 1-3 связанными триггерами.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85800" y="2833167"/>
            <a:ext cx="11049000" cy="581025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0588" y="2952229"/>
            <a:ext cx="135880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Симптом: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259211" y="2990329"/>
            <a:ext cx="538600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клиентская жалоба или наблюдаемый сбой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33450" y="3480867"/>
            <a:ext cx="190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2" name="Shape 10"/>
          <p:cNvSpPr/>
          <p:nvPr/>
        </p:nvSpPr>
        <p:spPr>
          <a:xfrm>
            <a:off x="981075" y="3495154"/>
            <a:ext cx="152400" cy="10477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680892"/>
            <a:ext cx="11049000" cy="581025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0588" y="3799954"/>
            <a:ext cx="25863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Проверка фактов: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375124" y="3838054"/>
            <a:ext cx="5490210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данные, деньги, клиент, операции, решения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33450" y="4328592"/>
            <a:ext cx="190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7" name="Shape 15"/>
          <p:cNvSpPr/>
          <p:nvPr/>
        </p:nvSpPr>
        <p:spPr>
          <a:xfrm>
            <a:off x="981075" y="4342879"/>
            <a:ext cx="152400" cy="10477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4528617"/>
            <a:ext cx="11049000" cy="581025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0588" y="4647679"/>
            <a:ext cx="116658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Триггер: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114327" y="4685779"/>
            <a:ext cx="6708547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причина входа в стратегическо-операционную работу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895350" y="5231085"/>
            <a:ext cx="95250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2" name="Shape 20"/>
          <p:cNvSpPr/>
          <p:nvPr/>
        </p:nvSpPr>
        <p:spPr>
          <a:xfrm>
            <a:off x="981075" y="5240610"/>
            <a:ext cx="22860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3" name="Text 21"/>
          <p:cNvSpPr/>
          <p:nvPr/>
        </p:nvSpPr>
        <p:spPr>
          <a:xfrm>
            <a:off x="1438275" y="5176317"/>
            <a:ext cx="30803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ДОМИНИРУЮЩИЙ МАРШРУТ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685800" y="5504929"/>
            <a:ext cx="11049000" cy="581025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0588" y="5623992"/>
            <a:ext cx="75671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Ранг: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704454" y="5662092"/>
            <a:ext cx="5436267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сила влияния на результат и управляемость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895350" y="6152629"/>
            <a:ext cx="95250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8" name="Shape 26"/>
          <p:cNvSpPr/>
          <p:nvPr/>
        </p:nvSpPr>
        <p:spPr>
          <a:xfrm>
            <a:off x="981075" y="6162154"/>
            <a:ext cx="22860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6371704"/>
            <a:ext cx="11049000" cy="614363"/>
          </a:xfrm>
          <a:prstGeom prst="rect">
            <a:avLst/>
          </a:prstGeom>
          <a:solidFill>
            <a:srgbClr val="0B1F33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0588" y="6490767"/>
            <a:ext cx="1196057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Группа: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2143795" y="6543154"/>
            <a:ext cx="4941205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E8DF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1-3 связанных триггера на одну Сессию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1906250" y="4406950"/>
            <a:ext cx="571500" cy="285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3" name="Text 31"/>
          <p:cNvSpPr/>
          <p:nvPr/>
        </p:nvSpPr>
        <p:spPr>
          <a:xfrm>
            <a:off x="12068175" y="4530775"/>
            <a:ext cx="323850" cy="815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РАЗРЫВ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1906250" y="5403279"/>
            <a:ext cx="571500" cy="285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2649200" y="3952577"/>
            <a:ext cx="4953000" cy="1933575"/>
          </a:xfrm>
          <a:prstGeom prst="rect">
            <a:avLst/>
          </a:prstGeom>
          <a:solidFill>
            <a:srgbClr val="FFFFFF">
              <a:alpha val="28000"/>
            </a:srgbClr>
          </a:solidFill>
          <a:ln w="19050">
            <a:solidFill>
              <a:srgbClr val="475569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2896850" y="4181177"/>
            <a:ext cx="490347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ОТЛОЖЕННЫЙ ТРИГГЕР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2896850" y="4566940"/>
            <a:ext cx="490347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Отсечение:</a:t>
            </a:r>
            <a:endParaRPr lang="en-US" sz="2175" dirty="0"/>
          </a:p>
        </p:txBody>
      </p:sp>
      <p:sp>
        <p:nvSpPr>
          <p:cNvPr id="38" name="Text 36"/>
          <p:cNvSpPr/>
          <p:nvPr/>
        </p:nvSpPr>
        <p:spPr>
          <a:xfrm>
            <a:off x="12896850" y="5038427"/>
            <a:ext cx="459143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лишние триггеры уходят в следующий цикл или не берутся в работу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685800" y="7196138"/>
            <a:ext cx="16916400" cy="9525"/>
          </a:xfrm>
          <a:prstGeom prst="rect">
            <a:avLst/>
          </a:prstGeom>
          <a:solidFill>
            <a:srgbClr val="0B1F33">
              <a:alpha val="2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7415213"/>
            <a:ext cx="1103040" cy="1824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903140" y="7434263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2" name="Text 40"/>
          <p:cNvSpPr/>
          <p:nvPr/>
        </p:nvSpPr>
        <p:spPr>
          <a:xfrm>
            <a:off x="2188890" y="7377113"/>
            <a:ext cx="51649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толстая стрелка = доминирующий маршрут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903140" y="7843838"/>
            <a:ext cx="171450" cy="381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4" name="Text 42"/>
          <p:cNvSpPr/>
          <p:nvPr/>
        </p:nvSpPr>
        <p:spPr>
          <a:xfrm>
            <a:off x="2188890" y="7729538"/>
            <a:ext cx="36894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пунктир = отложенный триггер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903140" y="8234363"/>
            <a:ext cx="17145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6" name="Text 44"/>
          <p:cNvSpPr/>
          <p:nvPr/>
        </p:nvSpPr>
        <p:spPr>
          <a:xfrm>
            <a:off x="2188890" y="8120063"/>
            <a:ext cx="73024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красный разрыв = нельзя объединять в одну шумную Сессию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903140" y="8567738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8" name="Text 46"/>
          <p:cNvSpPr/>
          <p:nvPr/>
        </p:nvSpPr>
        <p:spPr>
          <a:xfrm>
            <a:off x="2188890" y="8510588"/>
            <a:ext cx="55371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бирюза = подтвержденный триггер с данными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0934700" y="7377113"/>
            <a:ext cx="6667500" cy="182403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125200" y="7510462"/>
            <a:ext cx="69151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1125200" y="7829550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голосование за любимые темы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1125200" y="8162925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попытка решить все 14 триггеров за один день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1125200" y="8496300"/>
            <a:ext cx="647509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расширение Сессии до общего стратегического обсуждения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685800" y="9353550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85800" y="9477375"/>
            <a:ext cx="961453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C-Level Insight | проSTRAнство | один цикл работает с ограниченным числом связанных триггеров</a:t>
            </a:r>
            <a:endParaRPr lang="en-US" sz="1875" dirty="0"/>
          </a:p>
        </p:txBody>
      </p:sp>
      <p:sp>
        <p:nvSpPr>
          <p:cNvPr id="56" name="Text 54"/>
          <p:cNvSpPr/>
          <p:nvPr/>
        </p:nvSpPr>
        <p:spPr>
          <a:xfrm>
            <a:off x="10401300" y="9872663"/>
            <a:ext cx="79209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проSTRAнство_Визуализация_04_Экспертная_Система_Триггеров_V1</a:t>
            </a:r>
            <a:endParaRPr lang="en-US" sz="15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7725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5280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 / ВИЗУАЛИЗАЦИЯ 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600825" y="438150"/>
            <a:ext cx="12101513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+ КОНСУЛЬТАНТСКИЙ СЛОЙ · АРХИТЕКТУРНАЯ КАРТА · СЛОЖНОСТЬ СРЕДНЯЯ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1123950"/>
            <a:ext cx="17423892" cy="119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04"/>
              </a:lnSpc>
              <a:buNone/>
            </a:pPr>
            <a:r>
              <a:rPr lang="en-US" sz="4350" b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Фреймворки выбираются по задаче, а не по привычке консультанта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85800" y="2436465"/>
            <a:ext cx="1634490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Большое поле остается внутри технологии; клиент получает объясненный рабочий набор.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85800" y="3029620"/>
            <a:ext cx="16916400" cy="766763"/>
          </a:xfrm>
          <a:prstGeom prst="rect">
            <a:avLst/>
          </a:prstGeom>
          <a:solidFill>
            <a:srgbClr val="FFFFFF">
              <a:alpha val="22000"/>
            </a:srgbClr>
          </a:solidFill>
          <a:ln w="19050">
            <a:solidFill>
              <a:srgbClr val="475569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14400" y="3241551"/>
            <a:ext cx="21004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Большое поле: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957215" y="3270126"/>
            <a:ext cx="705716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стратегические фреймворки как внутренняя библиотека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4632112" y="3201070"/>
            <a:ext cx="2741488" cy="423863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60699" y="3282032"/>
            <a:ext cx="256655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4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НЕ КЛИЕНТСКОЕ МЕНЮ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8020943" y="3984501"/>
            <a:ext cx="171450" cy="1143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4" name="Text 12"/>
          <p:cNvSpPr/>
          <p:nvPr/>
        </p:nvSpPr>
        <p:spPr>
          <a:xfrm>
            <a:off x="8306693" y="3910682"/>
            <a:ext cx="215631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ЛОГИКА СУЖЕНИЯ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685800" y="4286920"/>
            <a:ext cx="4129088" cy="933450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B46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488" y="4434557"/>
            <a:ext cx="417528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ФИЛЬТР 1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52488" y="4763170"/>
            <a:ext cx="41752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15"/>
              </a:lnSpc>
              <a:buNone/>
            </a:pPr>
            <a:r>
              <a:rPr lang="en-US" sz="195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проблемная единица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948238" y="4286920"/>
            <a:ext cx="4129088" cy="933450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B46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4925" y="4434557"/>
            <a:ext cx="417528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ФИЛЬТР 2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114925" y="4763170"/>
            <a:ext cx="41752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15"/>
              </a:lnSpc>
              <a:buNone/>
            </a:pPr>
            <a:r>
              <a:rPr lang="en-US" sz="195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триггеры и наборы S/O/X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210675" y="4286920"/>
            <a:ext cx="4129088" cy="933450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B46A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7363" y="4434557"/>
            <a:ext cx="417528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ФИЛЬТР 3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377363" y="4763170"/>
            <a:ext cx="41752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15"/>
              </a:lnSpc>
              <a:buNone/>
            </a:pPr>
            <a:r>
              <a:rPr lang="en-US" sz="195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текущий контур клиента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3473113" y="4286920"/>
            <a:ext cx="4129088" cy="933450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B46A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639800" y="4434557"/>
            <a:ext cx="417528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ФИЛЬТР 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3639800" y="4763170"/>
            <a:ext cx="41752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15"/>
              </a:lnSpc>
              <a:buNone/>
            </a:pPr>
            <a:r>
              <a:rPr lang="en-US" sz="195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доказательства и ограничения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058275" y="5334670"/>
            <a:ext cx="171450" cy="1143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5563270"/>
            <a:ext cx="16916400" cy="79533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753770"/>
            <a:ext cx="270589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Рабочий набор: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545756" y="5794251"/>
            <a:ext cx="46716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100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5-7 стратегических фреймворков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9058275" y="6472907"/>
            <a:ext cx="171450" cy="1143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6701507"/>
            <a:ext cx="16916400" cy="685800"/>
          </a:xfrm>
          <a:prstGeom prst="rect">
            <a:avLst/>
          </a:prstGeom>
          <a:ln w="1905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3450" y="6872957"/>
            <a:ext cx="10080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Выход: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2017663" y="6896770"/>
            <a:ext cx="77791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15"/>
              </a:lnSpc>
              <a:buNone/>
            </a:pPr>
            <a:r>
              <a:rPr lang="en-US" sz="195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стратегический результат, который можно перевести в мост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685800" y="7481887"/>
            <a:ext cx="16916400" cy="9525"/>
          </a:xfrm>
          <a:prstGeom prst="rect">
            <a:avLst/>
          </a:prstGeom>
          <a:solidFill>
            <a:srgbClr val="0B1F33">
              <a:alpha val="2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7700963"/>
            <a:ext cx="1103040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903140" y="7720013"/>
            <a:ext cx="200025" cy="200025"/>
          </a:xfrm>
          <a:prstGeom prst="rect">
            <a:avLst/>
          </a:prstGeom>
          <a:ln w="14288">
            <a:solidFill>
              <a:srgbClr val="475569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2217465" y="7662863"/>
            <a:ext cx="58789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широкий светлый фон = внутреннее поле выбора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903140" y="8072438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0" name="Text 38"/>
          <p:cNvSpPr/>
          <p:nvPr/>
        </p:nvSpPr>
        <p:spPr>
          <a:xfrm>
            <a:off x="2188890" y="8015288"/>
            <a:ext cx="41802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медные фильтры = логика сужения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903140" y="8424863"/>
            <a:ext cx="171450" cy="1714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2" name="Text 40"/>
          <p:cNvSpPr/>
          <p:nvPr/>
        </p:nvSpPr>
        <p:spPr>
          <a:xfrm>
            <a:off x="2188890" y="8367712"/>
            <a:ext cx="57971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темно-синий выход = выбранный рабочий набор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903140" y="8777288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4" name="Text 42"/>
          <p:cNvSpPr/>
          <p:nvPr/>
        </p:nvSpPr>
        <p:spPr>
          <a:xfrm>
            <a:off x="2188890" y="8720138"/>
            <a:ext cx="60551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красная метка = нельзя показывать поле как меню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0934700" y="7662863"/>
            <a:ext cx="6667500" cy="153828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125200" y="7796212"/>
            <a:ext cx="69151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1125200" y="8115300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демонстрация всех фреймворков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1125200" y="8448675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выбор по вкусу команды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1125200" y="8782050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стратегический воркшоп без операционного выхода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685800" y="9353550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85800" y="9477375"/>
            <a:ext cx="912001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C-Level Insight | проSTRAнство | выбранные фреймворки должны давать выход для моста</a:t>
            </a:r>
            <a:endParaRPr lang="en-US" sz="1875" dirty="0"/>
          </a:p>
        </p:txBody>
      </p:sp>
      <p:sp>
        <p:nvSpPr>
          <p:cNvPr id="52" name="Text 50"/>
          <p:cNvSpPr/>
          <p:nvPr/>
        </p:nvSpPr>
        <p:spPr>
          <a:xfrm>
            <a:off x="9921180" y="9872663"/>
            <a:ext cx="844912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проSTRAнство_Визуализация_05_Отбор_Стратегических_Фреймворков_V1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7725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5280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 / ВИЗУАЛИЗАЦИЯ 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867400" y="438150"/>
            <a:ext cx="12908280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+ КЛИЕНТСКИЙ СЛОЙ · КАРТА МОСТА / BRIDGE MAP · СЛОЖНОСТЬ СЛОЖНАЯ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1123950"/>
            <a:ext cx="17423892" cy="119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04"/>
              </a:lnSpc>
              <a:buNone/>
            </a:pPr>
            <a:r>
              <a:rPr lang="en-US" sz="4350" b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Мост превращает стратегический вывод в управляемое действие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85800" y="2436465"/>
            <a:ext cx="1634490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Нет стратегического выхода - нет моста. Нет моста - нет Спринта.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85800" y="4538960"/>
            <a:ext cx="3810000" cy="1171575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9638" y="4743748"/>
            <a:ext cx="369855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Стратегический выход: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909638" y="5196185"/>
            <a:ext cx="369855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выбрано и почему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4629150" y="5110460"/>
            <a:ext cx="400050" cy="2857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5029498"/>
            <a:ext cx="133350" cy="1905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3" name="Shape 11"/>
          <p:cNvSpPr/>
          <p:nvPr/>
        </p:nvSpPr>
        <p:spPr>
          <a:xfrm>
            <a:off x="5295900" y="3048670"/>
            <a:ext cx="4191000" cy="415223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4" name="Text 12"/>
          <p:cNvSpPr/>
          <p:nvPr/>
        </p:nvSpPr>
        <p:spPr>
          <a:xfrm>
            <a:off x="5524500" y="3715569"/>
            <a:ext cx="41071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МОСТ / BRIDGE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524500" y="4158481"/>
            <a:ext cx="3845814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30"/>
              </a:lnSpc>
              <a:buNone/>
            </a:pPr>
            <a:r>
              <a:rPr lang="en-US" sz="25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Операционный перевод: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5524500" y="5042371"/>
            <a:ext cx="3845814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E8DF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какой контур должен измениться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5524500" y="5857652"/>
            <a:ext cx="3733800" cy="190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5524500" y="6010052"/>
            <a:ext cx="384581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8FA6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БЕЗ СТРАТЕГИЧЕСКОЙ СВЯЗИ ИНСТРУМЕНТ НЕ ПРОХОДИТ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9620250" y="4170313"/>
            <a:ext cx="400050" cy="2857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20300" y="4089350"/>
            <a:ext cx="133350" cy="1905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1" name="Shape 19"/>
          <p:cNvSpPr/>
          <p:nvPr/>
        </p:nvSpPr>
        <p:spPr>
          <a:xfrm>
            <a:off x="9820275" y="4375100"/>
            <a:ext cx="133350" cy="4953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9770269" y="4965650"/>
            <a:ext cx="309562" cy="1232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425" spc="86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БЛОКИРОВКА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10287000" y="3048670"/>
            <a:ext cx="3600450" cy="1307827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53688" y="3364409"/>
            <a:ext cx="35937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Инструмент: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0453688" y="3754934"/>
            <a:ext cx="35937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запускается в функции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4001750" y="3048670"/>
            <a:ext cx="3600450" cy="1307827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68438" y="3364409"/>
            <a:ext cx="35937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Владелец: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4168438" y="3754934"/>
            <a:ext cx="35937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отвечает за действие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287000" y="4470797"/>
            <a:ext cx="3600450" cy="1307902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53688" y="4786610"/>
            <a:ext cx="35937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Метрика: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0453688" y="5177135"/>
            <a:ext cx="35937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измеряется эффект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4001750" y="4470797"/>
            <a:ext cx="3600450" cy="1307902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168438" y="4643735"/>
            <a:ext cx="35937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Ритм:</a:t>
            </a:r>
            <a:endParaRPr lang="en-US" sz="2025" dirty="0"/>
          </a:p>
        </p:txBody>
      </p:sp>
      <p:sp>
        <p:nvSpPr>
          <p:cNvPr id="34" name="Text 32"/>
          <p:cNvSpPr/>
          <p:nvPr/>
        </p:nvSpPr>
        <p:spPr>
          <a:xfrm>
            <a:off x="14168438" y="5034260"/>
            <a:ext cx="336508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часто проверяется прогресс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287000" y="5892998"/>
            <a:ext cx="7315200" cy="1307827"/>
          </a:xfrm>
          <a:prstGeom prst="rect">
            <a:avLst/>
          </a:prstGeom>
          <a:solidFill>
            <a:srgbClr val="0B1F33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53688" y="6187306"/>
            <a:ext cx="7680008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Артефакт Спринта:</a:t>
            </a:r>
            <a:endParaRPr lang="en-US" sz="2175" dirty="0"/>
          </a:p>
        </p:txBody>
      </p:sp>
      <p:sp>
        <p:nvSpPr>
          <p:cNvPr id="37" name="Text 35"/>
          <p:cNvSpPr/>
          <p:nvPr/>
        </p:nvSpPr>
        <p:spPr>
          <a:xfrm>
            <a:off x="10453688" y="6620694"/>
            <a:ext cx="76800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E8DF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остается в управлении клиента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85800" y="7391400"/>
            <a:ext cx="16916400" cy="9525"/>
          </a:xfrm>
          <a:prstGeom prst="rect">
            <a:avLst/>
          </a:prstGeom>
          <a:solidFill>
            <a:srgbClr val="0B1F33">
              <a:alpha val="2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7610475"/>
            <a:ext cx="1103040" cy="162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903140" y="7629525"/>
            <a:ext cx="171450" cy="1714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1" name="Text 39"/>
          <p:cNvSpPr/>
          <p:nvPr/>
        </p:nvSpPr>
        <p:spPr>
          <a:xfrm>
            <a:off x="2188890" y="7572375"/>
            <a:ext cx="54851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темно-синяя центральная зона = мост / Bridge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903140" y="7981950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3" name="Text 41"/>
          <p:cNvSpPr/>
          <p:nvPr/>
        </p:nvSpPr>
        <p:spPr>
          <a:xfrm>
            <a:off x="2188890" y="7924800"/>
            <a:ext cx="58940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медные стрелки = обязательная логика перевода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903140" y="8334375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5" name="Text 43"/>
          <p:cNvSpPr/>
          <p:nvPr/>
        </p:nvSpPr>
        <p:spPr>
          <a:xfrm>
            <a:off x="2188890" y="8277225"/>
            <a:ext cx="48459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бирюзовые точки = владельцы и данные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903140" y="8686800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7" name="Text 45"/>
          <p:cNvSpPr/>
          <p:nvPr/>
        </p:nvSpPr>
        <p:spPr>
          <a:xfrm>
            <a:off x="2188890" y="8629650"/>
            <a:ext cx="857651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красная блокировка = инструмент нельзя запускать без стратегической связи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0934700" y="7572375"/>
            <a:ext cx="6667500" cy="1628775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25200" y="7705725"/>
            <a:ext cx="69151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1125200" y="8024812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список инициатив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1125200" y="8358188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таблица задач без стратегического основания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1125200" y="8691563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проектный офис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85800" y="9353550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85800" y="9477375"/>
            <a:ext cx="912001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C-Level Insight | проSTRAнство | мост допускает в Спринт только связанный рабочий набор</a:t>
            </a:r>
            <a:endParaRPr lang="en-US" sz="1875" dirty="0"/>
          </a:p>
        </p:txBody>
      </p:sp>
      <p:sp>
        <p:nvSpPr>
          <p:cNvPr id="55" name="Text 53"/>
          <p:cNvSpPr/>
          <p:nvPr/>
        </p:nvSpPr>
        <p:spPr>
          <a:xfrm>
            <a:off x="9921180" y="9872663"/>
            <a:ext cx="844912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проSTRAнство_Визуализация_06_Мост_К_Операционным_Инструментам_V1</a:t>
            </a:r>
            <a:endParaRPr lang="en-US" sz="15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7725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5280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 / ВИЗУАЛИЗАЦИЯ 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35" y="438150"/>
            <a:ext cx="11617501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+ ВНУТРЕННИЙ СЛОЙ · МАТРИЦА / MATRIX · СЛОЖНОСТЬ СРЕДНЯЯ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1123950"/>
            <a:ext cx="1860804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04"/>
              </a:lnSpc>
              <a:buNone/>
            </a:pPr>
            <a:r>
              <a:rPr lang="en-US" sz="4350" b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 Спринт попадает не инструмент, а управляемая связка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85800" y="1856408"/>
            <a:ext cx="1634490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Каждый выбранный инструмент получает функцию, владельца, метрику, ритм и критерий вердикта.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85800" y="2468612"/>
            <a:ext cx="2334964" cy="5857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9" name="Text 7"/>
          <p:cNvSpPr/>
          <p:nvPr/>
        </p:nvSpPr>
        <p:spPr>
          <a:xfrm>
            <a:off x="819150" y="2582912"/>
            <a:ext cx="214446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Инструмент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3116014" y="2468612"/>
            <a:ext cx="2334964" cy="5857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1" name="Text 9"/>
          <p:cNvSpPr/>
          <p:nvPr/>
        </p:nvSpPr>
        <p:spPr>
          <a:xfrm>
            <a:off x="3249364" y="2582912"/>
            <a:ext cx="214446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Функция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546229" y="2468612"/>
            <a:ext cx="2334964" cy="5857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3" name="Shape 11"/>
          <p:cNvSpPr/>
          <p:nvPr/>
        </p:nvSpPr>
        <p:spPr>
          <a:xfrm>
            <a:off x="5546229" y="3016300"/>
            <a:ext cx="2334964" cy="381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5679579" y="2582912"/>
            <a:ext cx="214446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7976443" y="2468612"/>
            <a:ext cx="2335039" cy="5857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6" name="Shape 14"/>
          <p:cNvSpPr/>
          <p:nvPr/>
        </p:nvSpPr>
        <p:spPr>
          <a:xfrm>
            <a:off x="7976443" y="3016300"/>
            <a:ext cx="2335039" cy="381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8109793" y="2582912"/>
            <a:ext cx="214453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Метрика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406732" y="2468612"/>
            <a:ext cx="2334964" cy="5857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06732" y="3016300"/>
            <a:ext cx="2334964" cy="381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10540082" y="2582912"/>
            <a:ext cx="214446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Базовая линия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2836947" y="2468612"/>
            <a:ext cx="2334964" cy="5857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2" name="Text 20"/>
          <p:cNvSpPr/>
          <p:nvPr/>
        </p:nvSpPr>
        <p:spPr>
          <a:xfrm>
            <a:off x="12970297" y="2582912"/>
            <a:ext cx="214446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Ритм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5267161" y="2468612"/>
            <a:ext cx="2334964" cy="5857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4" name="Shape 22"/>
          <p:cNvSpPr/>
          <p:nvPr/>
        </p:nvSpPr>
        <p:spPr>
          <a:xfrm>
            <a:off x="15267161" y="3016300"/>
            <a:ext cx="2334964" cy="381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5" name="Text 23"/>
          <p:cNvSpPr/>
          <p:nvPr/>
        </p:nvSpPr>
        <p:spPr>
          <a:xfrm>
            <a:off x="15400511" y="2582912"/>
            <a:ext cx="214446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Вердикт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685800" y="3149650"/>
            <a:ext cx="2334964" cy="2305050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2488" y="3373487"/>
            <a:ext cx="2077789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запускаем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3116014" y="3149650"/>
            <a:ext cx="2334964" cy="2305050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82702" y="3373487"/>
            <a:ext cx="2077789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живет инструмент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5546229" y="3149650"/>
            <a:ext cx="2334964" cy="2305050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2916" y="3373487"/>
            <a:ext cx="2077789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принимает и держит решение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7976443" y="3149650"/>
            <a:ext cx="2335039" cy="2305050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43131" y="3373487"/>
            <a:ext cx="2077864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чем измеряется движение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0406732" y="3149650"/>
            <a:ext cx="2334964" cy="2305050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73420" y="3373487"/>
            <a:ext cx="2077789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 чего считаем эффект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12836947" y="3149650"/>
            <a:ext cx="2334964" cy="2305050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003634" y="3373487"/>
            <a:ext cx="2077789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недельный или иной цикл контроля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15267161" y="3149650"/>
            <a:ext cx="2334964" cy="2305050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B46A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433849" y="3373487"/>
            <a:ext cx="2077789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масштабировать, продолжить, пересобрать, остановить, передать клиенту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685800" y="5669012"/>
            <a:ext cx="677689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СТРОКА МАТРИЦЫ = ОДИН ВЫБРАННЫЙ ИНСТРУМЕНТ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7075215" y="5795218"/>
            <a:ext cx="1386780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2" name="Shape 40"/>
          <p:cNvSpPr/>
          <p:nvPr/>
        </p:nvSpPr>
        <p:spPr>
          <a:xfrm>
            <a:off x="8690595" y="5588050"/>
            <a:ext cx="8911605" cy="433388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19183" y="5669012"/>
            <a:ext cx="892177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НЕТ ВЛАДЕЛЬЦА, ДАННЫХ ИЛИ МЕТРИКИ = СТРОКА НЕ ИДЕТ В СПРИНТ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685800" y="7481887"/>
            <a:ext cx="16916400" cy="9525"/>
          </a:xfrm>
          <a:prstGeom prst="rect">
            <a:avLst/>
          </a:prstGeom>
          <a:solidFill>
            <a:srgbClr val="0B1F33">
              <a:alpha val="2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7700963"/>
            <a:ext cx="1103040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903140" y="7720013"/>
            <a:ext cx="200025" cy="200025"/>
          </a:xfrm>
          <a:prstGeom prst="rect">
            <a:avLst/>
          </a:prstGeom>
          <a:ln w="14288">
            <a:solidFill>
              <a:srgbClr val="0B1F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17465" y="7662863"/>
            <a:ext cx="56481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строка матрицы = один выбранный инструмент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903140" y="8072438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9" name="Text 47"/>
          <p:cNvSpPr/>
          <p:nvPr/>
        </p:nvSpPr>
        <p:spPr>
          <a:xfrm>
            <a:off x="2188890" y="8015288"/>
            <a:ext cx="392005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бирюза = данные и устойчивость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903140" y="8424863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1" name="Text 49"/>
          <p:cNvSpPr/>
          <p:nvPr/>
        </p:nvSpPr>
        <p:spPr>
          <a:xfrm>
            <a:off x="2188890" y="8367712"/>
            <a:ext cx="45252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медь = переход от выбора к действию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903140" y="8777288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3" name="Text 51"/>
          <p:cNvSpPr/>
          <p:nvPr/>
        </p:nvSpPr>
        <p:spPr>
          <a:xfrm>
            <a:off x="2188890" y="8720138"/>
            <a:ext cx="56025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красный = нет владельца, данных или метрики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0934700" y="7662863"/>
            <a:ext cx="6667500" cy="153828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125200" y="7796212"/>
            <a:ext cx="69151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1125200" y="8115300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выгрузка всего инструментального ядра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1125200" y="8448675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список задач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1125200" y="8782050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операционная таблица без стратегического выхода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685800" y="9353550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85800" y="9477375"/>
            <a:ext cx="850193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C-Level Insight | проSTRAнство | 3-5 инструментов в Спринте должны быть измеримыми</a:t>
            </a:r>
            <a:endParaRPr lang="en-US" sz="1875" dirty="0"/>
          </a:p>
        </p:txBody>
      </p:sp>
      <p:sp>
        <p:nvSpPr>
          <p:cNvPr id="61" name="Text 59"/>
          <p:cNvSpPr/>
          <p:nvPr/>
        </p:nvSpPr>
        <p:spPr>
          <a:xfrm>
            <a:off x="9321105" y="9872663"/>
            <a:ext cx="91092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проSTRAнство_Визуализация_07_Операционные_Инструменты_И_Измерители_V1</a:t>
            </a:r>
            <a:endParaRPr lang="en-US" sz="15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7725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5280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 / ВИЗУАЛИЗАЦИЯ 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94165" y="438150"/>
            <a:ext cx="11778838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КОММЕРЧЕСКИЙ + КЛИЕНТСКИЙ СЛОЙ · ПРОДУКТОВАЯ ЛЕСТНИЦА · СЛОЖНОСТЬ ПРОСТАЯ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1123950"/>
            <a:ext cx="17423892" cy="119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04"/>
              </a:lnSpc>
              <a:buNone/>
            </a:pPr>
            <a:r>
              <a:rPr lang="en-US" sz="4350" b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Клиент проходит четыре продукта, но каждый переход проверяется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85800" y="2436465"/>
            <a:ext cx="15304770" cy="76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Диагностика - обязательный платный вход; Сессия, Спринт и Сопровождение идут только при подтвержденных условиях.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85800" y="3394174"/>
            <a:ext cx="16916400" cy="585788"/>
          </a:xfrm>
          <a:prstGeom prst="rect">
            <a:avLst/>
          </a:prstGeom>
          <a:ln w="19050">
            <a:solidFill>
              <a:srgbClr val="475569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95350" y="3565624"/>
            <a:ext cx="177495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ДО ПРОДУКТА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661345" y="3527524"/>
            <a:ext cx="48506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первичный разговор и квалификация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85800" y="4255740"/>
            <a:ext cx="4014788" cy="1778347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" y="4427190"/>
            <a:ext cx="399716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76300" y="4793903"/>
            <a:ext cx="399716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76300" y="5303490"/>
            <a:ext cx="374280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E8DF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задача, текущий контур, вердикт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4776788" y="4978450"/>
            <a:ext cx="1333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6" name="Shape 14"/>
          <p:cNvSpPr/>
          <p:nvPr/>
        </p:nvSpPr>
        <p:spPr>
          <a:xfrm>
            <a:off x="4986338" y="4100587"/>
            <a:ext cx="4014788" cy="1933501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5176838" y="4272037"/>
            <a:ext cx="399716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176838" y="4638749"/>
            <a:ext cx="399716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Сессия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176838" y="5148337"/>
            <a:ext cx="374280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E8DF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рабочий набор, мост, устав Спринта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077325" y="4978450"/>
            <a:ext cx="1333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1" name="Shape 19"/>
          <p:cNvSpPr/>
          <p:nvPr/>
        </p:nvSpPr>
        <p:spPr>
          <a:xfrm>
            <a:off x="9286875" y="3926012"/>
            <a:ext cx="4014788" cy="2108076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2" name="Text 20"/>
          <p:cNvSpPr/>
          <p:nvPr/>
        </p:nvSpPr>
        <p:spPr>
          <a:xfrm>
            <a:off x="9477375" y="4097462"/>
            <a:ext cx="399716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477375" y="4464174"/>
            <a:ext cx="399716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Спринт 30-60-90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477375" y="4973762"/>
            <a:ext cx="374280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E8DF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владельцы, метрики, ритм, проверка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3377863" y="4978450"/>
            <a:ext cx="1333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6" name="Shape 24"/>
          <p:cNvSpPr/>
          <p:nvPr/>
        </p:nvSpPr>
        <p:spPr>
          <a:xfrm>
            <a:off x="13587413" y="3703737"/>
            <a:ext cx="4014788" cy="2330351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7" name="Shape 25"/>
          <p:cNvSpPr/>
          <p:nvPr/>
        </p:nvSpPr>
        <p:spPr>
          <a:xfrm>
            <a:off x="13587413" y="5986463"/>
            <a:ext cx="4014788" cy="476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13777913" y="3875187"/>
            <a:ext cx="399716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3777913" y="4241899"/>
            <a:ext cx="399716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Сопровождение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3777913" y="4751487"/>
            <a:ext cx="374280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E8DF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устойчивость, откат, самостоятельность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685800" y="6203156"/>
            <a:ext cx="114300" cy="1524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2" name="Shape 30"/>
          <p:cNvSpPr/>
          <p:nvPr/>
        </p:nvSpPr>
        <p:spPr>
          <a:xfrm>
            <a:off x="933450" y="6269831"/>
            <a:ext cx="13595003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3" name="Text 31"/>
          <p:cNvSpPr/>
          <p:nvPr/>
        </p:nvSpPr>
        <p:spPr>
          <a:xfrm>
            <a:off x="14661803" y="6148388"/>
            <a:ext cx="32344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ВОЗВРАТ НА ПЕРЕСБОРКУ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685800" y="6524625"/>
            <a:ext cx="16916400" cy="785813"/>
          </a:xfrm>
          <a:prstGeom prst="rect">
            <a:avLst/>
          </a:prstGeom>
          <a:ln w="19050">
            <a:solidFill>
              <a:srgbClr val="0B1F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5350" y="6750844"/>
            <a:ext cx="33714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Контрольные переходы: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4169866" y="6677025"/>
            <a:ext cx="3205683" cy="48101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69866" y="6677025"/>
            <a:ext cx="57150" cy="48101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8" name="Text 36"/>
          <p:cNvSpPr/>
          <p:nvPr/>
        </p:nvSpPr>
        <p:spPr>
          <a:xfrm>
            <a:off x="4360366" y="6762750"/>
            <a:ext cx="29780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запускать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7508900" y="6677025"/>
            <a:ext cx="3205683" cy="48101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508900" y="6677025"/>
            <a:ext cx="57150" cy="481012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1" name="Text 39"/>
          <p:cNvSpPr/>
          <p:nvPr/>
        </p:nvSpPr>
        <p:spPr>
          <a:xfrm>
            <a:off x="7699400" y="6762750"/>
            <a:ext cx="29780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запускать с условиями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0847933" y="6677025"/>
            <a:ext cx="3205683" cy="48101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847933" y="6677025"/>
            <a:ext cx="57150" cy="48101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4" name="Text 42"/>
          <p:cNvSpPr/>
          <p:nvPr/>
        </p:nvSpPr>
        <p:spPr>
          <a:xfrm>
            <a:off x="11038433" y="6762750"/>
            <a:ext cx="29780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удержать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4186967" y="6677025"/>
            <a:ext cx="3205683" cy="48101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4186967" y="6677025"/>
            <a:ext cx="57150" cy="48101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7" name="Text 45"/>
          <p:cNvSpPr/>
          <p:nvPr/>
        </p:nvSpPr>
        <p:spPr>
          <a:xfrm>
            <a:off x="14377467" y="6762750"/>
            <a:ext cx="29780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остановить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685800" y="7481887"/>
            <a:ext cx="16916400" cy="9525"/>
          </a:xfrm>
          <a:prstGeom prst="rect">
            <a:avLst/>
          </a:prstGeom>
          <a:solidFill>
            <a:srgbClr val="0B1F33">
              <a:alpha val="2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85800" y="7700963"/>
            <a:ext cx="1103040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1903140" y="7720013"/>
            <a:ext cx="171450" cy="1714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1" name="Text 49"/>
          <p:cNvSpPr/>
          <p:nvPr/>
        </p:nvSpPr>
        <p:spPr>
          <a:xfrm>
            <a:off x="2188890" y="7662863"/>
            <a:ext cx="35820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лестница = платные продукты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903140" y="8072438"/>
            <a:ext cx="200025" cy="200025"/>
          </a:xfrm>
          <a:prstGeom prst="rect">
            <a:avLst/>
          </a:prstGeom>
          <a:ln w="14288">
            <a:solidFill>
              <a:srgbClr val="475569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2217465" y="8015288"/>
            <a:ext cx="59807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пунктир до лестницы = квалификация, не продукт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903140" y="8424863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5" name="Text 53"/>
          <p:cNvSpPr/>
          <p:nvPr/>
        </p:nvSpPr>
        <p:spPr>
          <a:xfrm>
            <a:off x="2188890" y="8367712"/>
            <a:ext cx="43885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цветные метки = вердикты перехода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903140" y="8777288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7" name="Text 55"/>
          <p:cNvSpPr/>
          <p:nvPr/>
        </p:nvSpPr>
        <p:spPr>
          <a:xfrm>
            <a:off x="2188890" y="8720138"/>
            <a:ext cx="50910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обратная стрелка = возврат на пересборку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0934700" y="7662863"/>
            <a:ext cx="6667500" cy="153828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125200" y="7796212"/>
            <a:ext cx="69151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11125200" y="8115300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продажа всей цепочки сразу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1125200" y="8448675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Сессия первым шагом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1125200" y="8782050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Сопровождение без объекта после Спринта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685800" y="9353550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85800" y="9477375"/>
            <a:ext cx="973808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C-Level Insight | проSTRAнство | следующий продукт покупается только после проверенного перехода</a:t>
            </a:r>
            <a:endParaRPr lang="en-US" sz="1875" dirty="0"/>
          </a:p>
        </p:txBody>
      </p:sp>
      <p:sp>
        <p:nvSpPr>
          <p:cNvPr id="65" name="Text 63"/>
          <p:cNvSpPr/>
          <p:nvPr/>
        </p:nvSpPr>
        <p:spPr>
          <a:xfrm>
            <a:off x="10521255" y="9872663"/>
            <a:ext cx="7789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проSTRAнство_Визуализация_08_Клиентский_Путь_4_Продуктов_V1</a:t>
            </a:r>
            <a:endParaRPr lang="en-US" sz="15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7725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5280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 / ВИЗУАЛИЗАЦИЯ 09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600825" y="438150"/>
            <a:ext cx="12101513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+ КЛИЕНТСКИЙ СЛОЙ · АРХИТЕКТУРНАЯ КАРТА · СЛОЖНОСТЬ СРЕДНЯЯ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1123950"/>
            <a:ext cx="1860804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04"/>
              </a:lnSpc>
              <a:buNone/>
            </a:pPr>
            <a:r>
              <a:rPr lang="en-US" sz="4350" b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Сессия собирает рабочий набор и мост к Спринту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85800" y="1856408"/>
            <a:ext cx="15304770" cy="76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Входом является диагностический вердикт; выходом - выбранные фреймворки, 3-5 инструментов, владельцы, метрики и устав Спринта.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85800" y="2814117"/>
            <a:ext cx="16916400" cy="52387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9" name="Text 7"/>
          <p:cNvSpPr/>
          <p:nvPr/>
        </p:nvSpPr>
        <p:spPr>
          <a:xfrm>
            <a:off x="895350" y="2909367"/>
            <a:ext cx="7702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Вход: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722760" y="2928417"/>
            <a:ext cx="64505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диагностический вердикт и 1-3 связанных триггера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193304" y="3395142"/>
            <a:ext cx="15901392" cy="552450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B46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141" y="3504679"/>
            <a:ext cx="15415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Уточнение: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2951931" y="3523729"/>
            <a:ext cx="413468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3-5 ядровых проблемных единиц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700808" y="4004742"/>
            <a:ext cx="14886384" cy="552450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B46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4645" y="4114279"/>
            <a:ext cx="97489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Выбор: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2956694" y="4133329"/>
            <a:ext cx="417110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5-7 стратегических фреймворков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2208312" y="4614342"/>
            <a:ext cx="13871377" cy="552450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B46A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32149" y="4723879"/>
            <a:ext cx="20387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Рассмотрение: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4418930" y="4742929"/>
            <a:ext cx="647173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10-20 операционных инструментов как поле отбора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2715741" y="5223942"/>
            <a:ext cx="12856443" cy="552450"/>
          </a:xfrm>
          <a:prstGeom prst="rect">
            <a:avLst/>
          </a:prstGeom>
          <a:solidFill>
            <a:srgbClr val="FFFFFF">
              <a:alpha val="35000"/>
            </a:srgbClr>
          </a:solidFill>
          <a:ln w="14288">
            <a:solidFill>
              <a:srgbClr val="B46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39579" y="5333479"/>
            <a:ext cx="126831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Сужение: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4265042" y="5352529"/>
            <a:ext cx="307490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3-5 инструментов в мост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3223245" y="5833542"/>
            <a:ext cx="11841435" cy="561975"/>
          </a:xfrm>
          <a:prstGeom prst="rect">
            <a:avLst/>
          </a:prstGeom>
          <a:solidFill>
            <a:srgbClr val="FFFFFF">
              <a:alpha val="35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1845" y="5947842"/>
            <a:ext cx="10579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Сборка: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4566940" y="5966892"/>
            <a:ext cx="438933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владелец, метрика, ритм, артефакт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3730749" y="6452667"/>
            <a:ext cx="10826428" cy="64293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7" name="Shape 25"/>
          <p:cNvSpPr/>
          <p:nvPr/>
        </p:nvSpPr>
        <p:spPr>
          <a:xfrm>
            <a:off x="3730749" y="6452667"/>
            <a:ext cx="76200" cy="64293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8" name="Text 26"/>
          <p:cNvSpPr/>
          <p:nvPr/>
        </p:nvSpPr>
        <p:spPr>
          <a:xfrm>
            <a:off x="4016499" y="6586017"/>
            <a:ext cx="1099319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Выход:</a:t>
            </a:r>
            <a:endParaRPr lang="en-US" sz="2175" dirty="0"/>
          </a:p>
        </p:txBody>
      </p:sp>
      <p:sp>
        <p:nvSpPr>
          <p:cNvPr id="29" name="Text 27"/>
          <p:cNvSpPr/>
          <p:nvPr/>
        </p:nvSpPr>
        <p:spPr>
          <a:xfrm>
            <a:off x="5172968" y="6628879"/>
            <a:ext cx="336958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Bridge Map и устав Спринта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685800" y="7810500"/>
            <a:ext cx="16916400" cy="9525"/>
          </a:xfrm>
          <a:prstGeom prst="rect">
            <a:avLst/>
          </a:prstGeom>
          <a:solidFill>
            <a:srgbClr val="0B1F33">
              <a:alpha val="2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8029575"/>
            <a:ext cx="1103040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903140" y="8048625"/>
            <a:ext cx="171450" cy="1714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3" name="Text 31"/>
          <p:cNvSpPr/>
          <p:nvPr/>
        </p:nvSpPr>
        <p:spPr>
          <a:xfrm>
            <a:off x="2188890" y="7991475"/>
            <a:ext cx="45013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синий центр = рабочая сборка Сессии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903140" y="8401050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5" name="Text 33"/>
          <p:cNvSpPr/>
          <p:nvPr/>
        </p:nvSpPr>
        <p:spPr>
          <a:xfrm>
            <a:off x="2188890" y="8343900"/>
            <a:ext cx="55777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медные фильтры = последовательное сужение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903140" y="8753475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7" name="Text 35"/>
          <p:cNvSpPr/>
          <p:nvPr/>
        </p:nvSpPr>
        <p:spPr>
          <a:xfrm>
            <a:off x="2188890" y="8696325"/>
            <a:ext cx="70673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бирюзовая метка = подтвержденный владелец или данные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903140" y="9105900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9" name="Text 37"/>
          <p:cNvSpPr/>
          <p:nvPr/>
        </p:nvSpPr>
        <p:spPr>
          <a:xfrm>
            <a:off x="2188890" y="9048750"/>
            <a:ext cx="472273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красная метка = нет моста, нет Спринта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934700" y="7991475"/>
            <a:ext cx="6667500" cy="153828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25200" y="8124825"/>
            <a:ext cx="69151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1125200" y="8443913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мозговой штурм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1125200" y="8777288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выбор любимых моделей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125200" y="9110663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Спринт без карты моста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85800" y="9682163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9805988"/>
            <a:ext cx="1002565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C-Level Insight | проSTRAнство | Сессия заканчивается мостом и уставом Спринта</a:t>
            </a:r>
            <a:endParaRPr lang="en-US" sz="1875" dirty="0"/>
          </a:p>
        </p:txBody>
      </p:sp>
      <p:sp>
        <p:nvSpPr>
          <p:cNvPr id="47" name="Text 45"/>
          <p:cNvSpPr/>
          <p:nvPr/>
        </p:nvSpPr>
        <p:spPr>
          <a:xfrm>
            <a:off x="10281270" y="9872663"/>
            <a:ext cx="80530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проSTRAнство_Визуализация_09_Сессия_Сбор_Решения_И_Контура_V1</a:t>
            </a:r>
            <a:endParaRPr lang="en-US" sz="15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7725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5280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 / ВИЗУАЛИЗАЦИЯ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87505" y="438150"/>
            <a:ext cx="11456164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+ КЛИЕНТСКИЙ СЛОЙ · ПОТОК ВНЕДРЕНИЯ · СЛОЖНОСТЬ СРЕДНЯЯ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1123950"/>
            <a:ext cx="1860804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04"/>
              </a:lnSpc>
              <a:buNone/>
            </a:pPr>
            <a:r>
              <a:rPr lang="en-US" sz="4350" b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Спринт проверяет выбранный контур в действии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85800" y="1856408"/>
            <a:ext cx="1634490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 дней - запуск, 60 дней - стабилизация, 90 дней - вердикт по дальнейшему движению.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85800" y="2449562"/>
            <a:ext cx="16916400" cy="6096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9" name="Text 7"/>
          <p:cNvSpPr/>
          <p:nvPr/>
        </p:nvSpPr>
        <p:spPr>
          <a:xfrm>
            <a:off x="895350" y="2582912"/>
            <a:ext cx="8970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Старт: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849562" y="2611487"/>
            <a:ext cx="519896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устав Спринта, владельцы, базовая линия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85800" y="3192512"/>
            <a:ext cx="5384750" cy="2555825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5734050"/>
            <a:ext cx="538475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192512"/>
            <a:ext cx="5384750" cy="571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192512"/>
            <a:ext cx="14288" cy="255582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6263" y="3192512"/>
            <a:ext cx="14288" cy="255582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909638" y="3421112"/>
            <a:ext cx="543078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941"/>
              </a:lnSpc>
              <a:buNone/>
            </a:pPr>
            <a:r>
              <a:rPr lang="en-US" sz="4650" b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30</a:t>
            </a:r>
            <a:endParaRPr lang="en-US" sz="4650" dirty="0"/>
          </a:p>
        </p:txBody>
      </p:sp>
      <p:sp>
        <p:nvSpPr>
          <p:cNvPr id="17" name="Text 15"/>
          <p:cNvSpPr/>
          <p:nvPr/>
        </p:nvSpPr>
        <p:spPr>
          <a:xfrm>
            <a:off x="909638" y="4106912"/>
            <a:ext cx="54307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 дней: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909638" y="4535537"/>
            <a:ext cx="50851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запуск 3-5 инструментов и первый контроль данных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6199138" y="4384700"/>
            <a:ext cx="123825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51550" y="3192512"/>
            <a:ext cx="5384825" cy="2555825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51550" y="5734050"/>
            <a:ext cx="538482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51550" y="3192512"/>
            <a:ext cx="5384825" cy="571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3" name="Shape 21"/>
          <p:cNvSpPr/>
          <p:nvPr/>
        </p:nvSpPr>
        <p:spPr>
          <a:xfrm>
            <a:off x="6451550" y="3192512"/>
            <a:ext cx="14288" cy="255582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22088" y="3192512"/>
            <a:ext cx="14288" cy="255582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388" y="3421112"/>
            <a:ext cx="543086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941"/>
              </a:lnSpc>
              <a:buNone/>
            </a:pPr>
            <a:r>
              <a:rPr lang="en-US" sz="4650" b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60</a:t>
            </a:r>
            <a:endParaRPr lang="en-US" sz="4650" dirty="0"/>
          </a:p>
        </p:txBody>
      </p:sp>
      <p:sp>
        <p:nvSpPr>
          <p:cNvPr id="26" name="Text 24"/>
          <p:cNvSpPr/>
          <p:nvPr/>
        </p:nvSpPr>
        <p:spPr>
          <a:xfrm>
            <a:off x="6675388" y="4106912"/>
            <a:ext cx="54308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 дней: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6675388" y="4535537"/>
            <a:ext cx="543086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стабилизация ритма, решений и метрик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1964963" y="4384700"/>
            <a:ext cx="123825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9" name="Shape 27"/>
          <p:cNvSpPr/>
          <p:nvPr/>
        </p:nvSpPr>
        <p:spPr>
          <a:xfrm>
            <a:off x="12217375" y="3192512"/>
            <a:ext cx="5384825" cy="2555825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2217375" y="5734050"/>
            <a:ext cx="5384825" cy="1428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Shape 29"/>
          <p:cNvSpPr/>
          <p:nvPr/>
        </p:nvSpPr>
        <p:spPr>
          <a:xfrm>
            <a:off x="12217375" y="3192512"/>
            <a:ext cx="5384825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2" name="Shape 30"/>
          <p:cNvSpPr/>
          <p:nvPr/>
        </p:nvSpPr>
        <p:spPr>
          <a:xfrm>
            <a:off x="12217375" y="3192512"/>
            <a:ext cx="14288" cy="25558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3" name="Shape 31"/>
          <p:cNvSpPr/>
          <p:nvPr/>
        </p:nvSpPr>
        <p:spPr>
          <a:xfrm>
            <a:off x="17587913" y="3192512"/>
            <a:ext cx="14288" cy="25558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12441213" y="3421112"/>
            <a:ext cx="543086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941"/>
              </a:lnSpc>
              <a:buNone/>
            </a:pPr>
            <a:r>
              <a:rPr lang="en-US" sz="4650" b="1" dirty="0">
                <a:solidFill>
                  <a:srgbClr val="0F766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90</a:t>
            </a:r>
            <a:endParaRPr lang="en-US" sz="4650" dirty="0"/>
          </a:p>
        </p:txBody>
      </p:sp>
      <p:sp>
        <p:nvSpPr>
          <p:cNvPr id="35" name="Text 33"/>
          <p:cNvSpPr/>
          <p:nvPr/>
        </p:nvSpPr>
        <p:spPr>
          <a:xfrm>
            <a:off x="12441213" y="4106912"/>
            <a:ext cx="54308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90 дней: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12441213" y="4535537"/>
            <a:ext cx="543086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итоговый вердикт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685800" y="5881688"/>
            <a:ext cx="16916400" cy="733425"/>
          </a:xfrm>
          <a:prstGeom prst="rect">
            <a:avLst/>
          </a:prstGeom>
          <a:ln w="19050">
            <a:solidFill>
              <a:srgbClr val="0B1F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5350" y="6081713"/>
            <a:ext cx="14792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Вердикты:</a:t>
            </a:r>
            <a:endParaRPr lang="en-US" sz="2025" dirty="0"/>
          </a:p>
        </p:txBody>
      </p:sp>
      <p:sp>
        <p:nvSpPr>
          <p:cNvPr id="39" name="Shape 37"/>
          <p:cNvSpPr/>
          <p:nvPr/>
        </p:nvSpPr>
        <p:spPr>
          <a:xfrm>
            <a:off x="2430587" y="6024563"/>
            <a:ext cx="2900958" cy="4476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430587" y="6024563"/>
            <a:ext cx="57150" cy="4476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1" name="Text 39"/>
          <p:cNvSpPr/>
          <p:nvPr/>
        </p:nvSpPr>
        <p:spPr>
          <a:xfrm>
            <a:off x="2602037" y="6100763"/>
            <a:ext cx="27022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масштабировать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445844" y="6024563"/>
            <a:ext cx="2901032" cy="4476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445844" y="6024563"/>
            <a:ext cx="57150" cy="4476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4" name="Text 42"/>
          <p:cNvSpPr/>
          <p:nvPr/>
        </p:nvSpPr>
        <p:spPr>
          <a:xfrm>
            <a:off x="5617294" y="6100763"/>
            <a:ext cx="27023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продолжить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461177" y="6024563"/>
            <a:ext cx="2900958" cy="4476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461177" y="6024563"/>
            <a:ext cx="57150" cy="44767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7" name="Text 45"/>
          <p:cNvSpPr/>
          <p:nvPr/>
        </p:nvSpPr>
        <p:spPr>
          <a:xfrm>
            <a:off x="8632627" y="6100763"/>
            <a:ext cx="27022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пересобрать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1476434" y="6024563"/>
            <a:ext cx="2900958" cy="4476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476434" y="6024563"/>
            <a:ext cx="57150" cy="4476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0" name="Text 48"/>
          <p:cNvSpPr/>
          <p:nvPr/>
        </p:nvSpPr>
        <p:spPr>
          <a:xfrm>
            <a:off x="11647884" y="6100763"/>
            <a:ext cx="27022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остановить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4491692" y="6024563"/>
            <a:ext cx="2900958" cy="4476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4491692" y="6024563"/>
            <a:ext cx="57150" cy="447675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3" name="Text 51"/>
          <p:cNvSpPr/>
          <p:nvPr/>
        </p:nvSpPr>
        <p:spPr>
          <a:xfrm>
            <a:off x="14663142" y="6100763"/>
            <a:ext cx="27022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передать клиенту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685800" y="6748463"/>
            <a:ext cx="16916400" cy="561975"/>
          </a:xfrm>
          <a:prstGeom prst="rect">
            <a:avLst/>
          </a:prstGeom>
          <a:ln w="19050">
            <a:solidFill>
              <a:srgbClr val="0F766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6862763"/>
            <a:ext cx="24837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Журнал решений:</a:t>
            </a:r>
            <a:endParaRPr lang="en-US" sz="2025" dirty="0"/>
          </a:p>
        </p:txBody>
      </p:sp>
      <p:sp>
        <p:nvSpPr>
          <p:cNvPr id="56" name="Text 54"/>
          <p:cNvSpPr/>
          <p:nvPr/>
        </p:nvSpPr>
        <p:spPr>
          <a:xfrm>
            <a:off x="3305696" y="6881813"/>
            <a:ext cx="56630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принято, кем, на основании каких данных</a:t>
            </a:r>
            <a:endParaRPr lang="en-US" sz="1875" dirty="0"/>
          </a:p>
        </p:txBody>
      </p:sp>
      <p:sp>
        <p:nvSpPr>
          <p:cNvPr id="57" name="Shape 55"/>
          <p:cNvSpPr/>
          <p:nvPr/>
        </p:nvSpPr>
        <p:spPr>
          <a:xfrm>
            <a:off x="685800" y="7481887"/>
            <a:ext cx="16916400" cy="9525"/>
          </a:xfrm>
          <a:prstGeom prst="rect">
            <a:avLst/>
          </a:prstGeom>
          <a:solidFill>
            <a:srgbClr val="0B1F33">
              <a:alpha val="25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85800" y="7700963"/>
            <a:ext cx="1103040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1903140" y="7758113"/>
            <a:ext cx="171450" cy="571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60" name="Text 58"/>
          <p:cNvSpPr/>
          <p:nvPr/>
        </p:nvSpPr>
        <p:spPr>
          <a:xfrm>
            <a:off x="2188890" y="7662863"/>
            <a:ext cx="41443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три контрольные точки = 30/60/90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903140" y="8110537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2" name="Text 60"/>
          <p:cNvSpPr/>
          <p:nvPr/>
        </p:nvSpPr>
        <p:spPr>
          <a:xfrm>
            <a:off x="2188890" y="8053387"/>
            <a:ext cx="392005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бирюза = устойчивость и данные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903140" y="8462963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64" name="Text 62"/>
          <p:cNvSpPr/>
          <p:nvPr/>
        </p:nvSpPr>
        <p:spPr>
          <a:xfrm>
            <a:off x="2188890" y="8405813"/>
            <a:ext cx="31141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медь = движение Спринта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903140" y="8815388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6" name="Text 64"/>
          <p:cNvSpPr/>
          <p:nvPr/>
        </p:nvSpPr>
        <p:spPr>
          <a:xfrm>
            <a:off x="2188890" y="8758238"/>
            <a:ext cx="61268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красный = откат, отсутствие владельца или данных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0934700" y="7662863"/>
            <a:ext cx="6667500" cy="153828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1125200" y="7796212"/>
            <a:ext cx="69151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69" name="Text 67"/>
          <p:cNvSpPr/>
          <p:nvPr/>
        </p:nvSpPr>
        <p:spPr>
          <a:xfrm>
            <a:off x="11125200" y="8115300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общий список инициатив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11125200" y="8448675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проектный офис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1125200" y="8782050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обещание результата без базовой линии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685800" y="9353550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685800" y="9477375"/>
            <a:ext cx="887282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C-Level Insight | проSTRAнство | Спринт проверяет не идею, а управляемый контур</a:t>
            </a:r>
            <a:endParaRPr lang="en-US" sz="1875" dirty="0"/>
          </a:p>
        </p:txBody>
      </p:sp>
      <p:sp>
        <p:nvSpPr>
          <p:cNvPr id="74" name="Text 72"/>
          <p:cNvSpPr/>
          <p:nvPr/>
        </p:nvSpPr>
        <p:spPr>
          <a:xfrm>
            <a:off x="9681195" y="9872663"/>
            <a:ext cx="871310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проSTRAнство_Визуализация_10_Спринт_30_60_90_Контроль_Внедрения_V1</a:t>
            </a:r>
            <a:endParaRPr lang="en-US" sz="15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7725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5280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 / ВИЗУАЛИЗАЦИЯ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7410" y="438150"/>
            <a:ext cx="12424269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КЕЙСОВЫЙ + КОММЕРЧЕСКИЙ СЛОЙ · КЕЙСОВЫЙ ПОТОК / CASE FLOW · СЛОЖНОСТЬ СРЕДНЯЯ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1123950"/>
            <a:ext cx="1860804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04"/>
              </a:lnSpc>
              <a:buNone/>
            </a:pPr>
            <a:r>
              <a:rPr lang="en-US" sz="4350" b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Кейс помогает узнать проблему и перейти к Диагностике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85800" y="1856408"/>
            <a:ext cx="1634490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Кейс не копируется в клиента; он помогает задать правильный вопрос и проверить применимость технологии.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85800" y="2468612"/>
            <a:ext cx="3714750" cy="515138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6300" y="2640062"/>
            <a:ext cx="366712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ДО ТЕХНОЛОГИИ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76300" y="3562350"/>
            <a:ext cx="36671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Боль клиента: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76300" y="3981450"/>
            <a:ext cx="343376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узнаваемая ситуация из бизнеса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876300" y="5251475"/>
            <a:ext cx="3333750" cy="9525"/>
          </a:xfrm>
          <a:prstGeom prst="rect">
            <a:avLst/>
          </a:prstGeom>
          <a:solidFill>
            <a:srgbClr val="B91C1C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" y="5892775"/>
            <a:ext cx="36671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Вопрос: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76300" y="6311875"/>
            <a:ext cx="343376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похоже ли это на вашу ситуацию?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4514850" y="5030019"/>
            <a:ext cx="304800" cy="2857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6" name="Shape 14"/>
          <p:cNvSpPr/>
          <p:nvPr/>
        </p:nvSpPr>
        <p:spPr>
          <a:xfrm>
            <a:off x="4819650" y="4949056"/>
            <a:ext cx="133350" cy="1905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7" name="Shape 15"/>
          <p:cNvSpPr/>
          <p:nvPr/>
        </p:nvSpPr>
        <p:spPr>
          <a:xfrm>
            <a:off x="5067300" y="2468612"/>
            <a:ext cx="8439150" cy="5151388"/>
          </a:xfrm>
          <a:prstGeom prst="rect">
            <a:avLst/>
          </a:prstGeom>
          <a:ln w="19050">
            <a:solidFill>
              <a:srgbClr val="0B1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2640062"/>
            <a:ext cx="886396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ТЕХНОЛОГИЧЕСКИЙ МАРШРУТ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5257800" y="3025825"/>
            <a:ext cx="3971925" cy="21304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5410200" y="3579019"/>
            <a:ext cx="4033838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Диагностика: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5410200" y="4031456"/>
            <a:ext cx="377713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E8DF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проверка фактов, контура и проблемной единицы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344025" y="3025825"/>
            <a:ext cx="3971925" cy="21304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3" name="Text 21"/>
          <p:cNvSpPr/>
          <p:nvPr/>
        </p:nvSpPr>
        <p:spPr>
          <a:xfrm>
            <a:off x="9496425" y="3721894"/>
            <a:ext cx="4033838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Сессия: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9496425" y="4174331"/>
            <a:ext cx="40338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E8DF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выбор рабочего набора и моста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257800" y="5270525"/>
            <a:ext cx="3971925" cy="217802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6" name="Text 24"/>
          <p:cNvSpPr/>
          <p:nvPr/>
        </p:nvSpPr>
        <p:spPr>
          <a:xfrm>
            <a:off x="5410200" y="5990406"/>
            <a:ext cx="4033838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Спринт: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5410200" y="6442844"/>
            <a:ext cx="40338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E8DF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проверка 3-5 инструментов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344025" y="5270525"/>
            <a:ext cx="3971925" cy="217802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9" name="Shape 27"/>
          <p:cNvSpPr/>
          <p:nvPr/>
        </p:nvSpPr>
        <p:spPr>
          <a:xfrm>
            <a:off x="9344025" y="7400925"/>
            <a:ext cx="3971925" cy="476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0" name="Text 28"/>
          <p:cNvSpPr/>
          <p:nvPr/>
        </p:nvSpPr>
        <p:spPr>
          <a:xfrm>
            <a:off x="9496425" y="5823719"/>
            <a:ext cx="4033838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Сопровождение: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9496425" y="6276156"/>
            <a:ext cx="377713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E8DF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удержание работающего контура или выход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3620750" y="5030019"/>
            <a:ext cx="304800" cy="2857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3" name="Shape 31"/>
          <p:cNvSpPr/>
          <p:nvPr/>
        </p:nvSpPr>
        <p:spPr>
          <a:xfrm>
            <a:off x="13925550" y="4949056"/>
            <a:ext cx="133350" cy="1905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4" name="Shape 32"/>
          <p:cNvSpPr/>
          <p:nvPr/>
        </p:nvSpPr>
        <p:spPr>
          <a:xfrm>
            <a:off x="14173200" y="2468612"/>
            <a:ext cx="3429000" cy="5151388"/>
          </a:xfrm>
          <a:prstGeom prst="rect">
            <a:avLst/>
          </a:prstGeom>
          <a:ln w="1905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363700" y="4171876"/>
            <a:ext cx="3352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Итог: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4363700" y="4629076"/>
            <a:ext cx="3139440" cy="1325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клиент получает не копию кейса, а свое рабочее пространство решений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685800" y="7810500"/>
            <a:ext cx="16916400" cy="9525"/>
          </a:xfrm>
          <a:prstGeom prst="rect">
            <a:avLst/>
          </a:prstGeom>
          <a:solidFill>
            <a:srgbClr val="0B1F33">
              <a:alpha val="2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8029575"/>
            <a:ext cx="1103040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903140" y="8048625"/>
            <a:ext cx="209550" cy="209550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26990" y="7991475"/>
            <a:ext cx="41571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красная зона = боль до технологии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903140" y="8401050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2" name="Text 40"/>
          <p:cNvSpPr/>
          <p:nvPr/>
        </p:nvSpPr>
        <p:spPr>
          <a:xfrm>
            <a:off x="2188890" y="8343900"/>
            <a:ext cx="45132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медная стрелка = переход к проверке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903140" y="8753475"/>
            <a:ext cx="171450" cy="1714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4" name="Text 42"/>
          <p:cNvSpPr/>
          <p:nvPr/>
        </p:nvSpPr>
        <p:spPr>
          <a:xfrm>
            <a:off x="2188890" y="8696325"/>
            <a:ext cx="47143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синяя зона = технологический маршрут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903140" y="9105900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6" name="Text 44"/>
          <p:cNvSpPr/>
          <p:nvPr/>
        </p:nvSpPr>
        <p:spPr>
          <a:xfrm>
            <a:off x="2188890" y="9048750"/>
            <a:ext cx="65991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бирюза = подтвержденный результат или устойчивость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0934700" y="7991475"/>
            <a:ext cx="6667500" cy="153828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125200" y="8124825"/>
            <a:ext cx="69151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1125200" y="8443913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обещание повторить чужой результат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1125200" y="8777288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продажа готового решения до Диагностики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1125200" y="9110663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кейс ради красивой истории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685800" y="9682163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85800" y="9805988"/>
            <a:ext cx="920464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C-Level Insight | проSTRAнство | кейс продает проверку, а не готовый рецепт</a:t>
            </a:r>
            <a:endParaRPr lang="en-US" sz="1875" dirty="0"/>
          </a:p>
        </p:txBody>
      </p:sp>
      <p:sp>
        <p:nvSpPr>
          <p:cNvPr id="54" name="Text 52"/>
          <p:cNvSpPr/>
          <p:nvPr/>
        </p:nvSpPr>
        <p:spPr>
          <a:xfrm>
            <a:off x="12081495" y="9872663"/>
            <a:ext cx="607277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проSTRAнство_Визуализация_11_Кейсовая_Схема_V1</a:t>
            </a:r>
            <a:endParaRPr lang="en-US" sz="15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" y="847725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9100"/>
            <a:ext cx="5280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 / ВИЗУАЛИЗАЦИЯ 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34250" y="438150"/>
            <a:ext cx="11294745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+ КОММЕРЧЕСКИЙ СЛОЙ · МАТРИЦА ОТСТРОЙКИ · СЛОЖНОСТЬ ПРОСТАЯ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1123950"/>
            <a:ext cx="17423892" cy="119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04"/>
              </a:lnSpc>
              <a:buNone/>
            </a:pPr>
            <a:r>
              <a:rPr lang="en-US" sz="4350" b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проSTRAнство не заменяет привычные форматы - оно решает другую задачу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85800" y="2436465"/>
            <a:ext cx="15304770" cy="76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Технология выбирает нужные фреймворки под доказанную проблему и связывает их с операционным исполнением.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85800" y="3413224"/>
            <a:ext cx="10115550" cy="951681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3413224"/>
            <a:ext cx="57150" cy="951681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" y="3524696"/>
            <a:ext cx="1064514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стратегическая сессия: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33450" y="3948559"/>
            <a:ext cx="106451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62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потому что начинается с Диагностики и фактов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85800" y="4498256"/>
            <a:ext cx="10115550" cy="951681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4498256"/>
            <a:ext cx="57150" cy="951681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933450" y="4609728"/>
            <a:ext cx="1064514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каталог моделей: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933450" y="5033590"/>
            <a:ext cx="106451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62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потому что клиент получает узкий рабочий набор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685800" y="5583287"/>
            <a:ext cx="10115550" cy="951681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5583287"/>
            <a:ext cx="57150" cy="951681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933450" y="5694759"/>
            <a:ext cx="1064514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аудит ради отчета: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933450" y="6118622"/>
            <a:ext cx="106451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62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потому что выход должен вести к решению о следующем шаге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685800" y="6668319"/>
            <a:ext cx="10115550" cy="951681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6668319"/>
            <a:ext cx="57150" cy="951681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933450" y="6779791"/>
            <a:ext cx="1064514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проектный офис: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933450" y="7203653"/>
            <a:ext cx="106451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62"/>
              </a:lnSpc>
              <a:buNone/>
            </a:pPr>
            <a:r>
              <a:rPr lang="en-US" sz="1875" dirty="0">
                <a:solidFill>
                  <a:srgbClr val="1F2C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потому что владельцы остаются у клиента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1125200" y="4790777"/>
            <a:ext cx="323850" cy="1204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ОТСТРОЙКА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915650" y="6132909"/>
            <a:ext cx="533400" cy="2857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49050" y="6051947"/>
            <a:ext cx="133350" cy="1905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7" name="Shape 25"/>
          <p:cNvSpPr/>
          <p:nvPr/>
        </p:nvSpPr>
        <p:spPr>
          <a:xfrm>
            <a:off x="11696700" y="3413224"/>
            <a:ext cx="5905500" cy="4206776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96700" y="7562850"/>
            <a:ext cx="5905500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9" name="Text 27"/>
          <p:cNvSpPr/>
          <p:nvPr/>
        </p:nvSpPr>
        <p:spPr>
          <a:xfrm>
            <a:off x="12020550" y="4745906"/>
            <a:ext cx="57835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9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ЧТО ТАКОЕ проSTRAнство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12020550" y="5241206"/>
            <a:ext cx="5415534" cy="102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533"/>
              </a:lnSpc>
              <a:buNone/>
            </a:pPr>
            <a:r>
              <a:rPr lang="en-US" sz="33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экспертный выбор + мост в исполнение</a:t>
            </a:r>
            <a:endParaRPr lang="en-US" sz="3300" dirty="0"/>
          </a:p>
        </p:txBody>
      </p:sp>
      <p:sp>
        <p:nvSpPr>
          <p:cNvPr id="31" name="Shape 29"/>
          <p:cNvSpPr/>
          <p:nvPr/>
        </p:nvSpPr>
        <p:spPr>
          <a:xfrm>
            <a:off x="685800" y="7810500"/>
            <a:ext cx="16916400" cy="9525"/>
          </a:xfrm>
          <a:prstGeom prst="rect">
            <a:avLst/>
          </a:prstGeom>
          <a:solidFill>
            <a:srgbClr val="0B1F33">
              <a:alpha val="2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8029575"/>
            <a:ext cx="1103040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903140" y="8048625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4" name="Text 32"/>
          <p:cNvSpPr/>
          <p:nvPr/>
        </p:nvSpPr>
        <p:spPr>
          <a:xfrm>
            <a:off x="2188890" y="7991475"/>
            <a:ext cx="46035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красный маркер = неверная категория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903140" y="8401050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6" name="Text 34"/>
          <p:cNvSpPr/>
          <p:nvPr/>
        </p:nvSpPr>
        <p:spPr>
          <a:xfrm>
            <a:off x="2188890" y="8343900"/>
            <a:ext cx="3451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медный переход = отстройка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903140" y="8753475"/>
            <a:ext cx="171450" cy="1714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8" name="Text 36"/>
          <p:cNvSpPr/>
          <p:nvPr/>
        </p:nvSpPr>
        <p:spPr>
          <a:xfrm>
            <a:off x="2188890" y="8696325"/>
            <a:ext cx="51846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темно-синяя панель = правильная формула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903140" y="9105900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0" name="Text 38"/>
          <p:cNvSpPr/>
          <p:nvPr/>
        </p:nvSpPr>
        <p:spPr>
          <a:xfrm>
            <a:off x="2188890" y="9048750"/>
            <a:ext cx="65993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бирюзовая метка = управляемость, данные, владельцы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0934700" y="7991475"/>
            <a:ext cx="6667500" cy="153828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125200" y="8124825"/>
            <a:ext cx="69151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1125200" y="8443913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унижать другие форматы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125200" y="8777288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спорить с рынком абстрактно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1125200" y="9110663"/>
            <a:ext cx="6915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обещать универсальную замену всему консалтингу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85800" y="9682163"/>
            <a:ext cx="169164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9805988"/>
            <a:ext cx="861537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142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C-Level Insight | проSTRAнство | экспертный выбор + мост в исполнение</a:t>
            </a:r>
            <a:endParaRPr lang="en-US" sz="1875" dirty="0"/>
          </a:p>
        </p:txBody>
      </p:sp>
      <p:sp>
        <p:nvSpPr>
          <p:cNvPr id="48" name="Text 46"/>
          <p:cNvSpPr/>
          <p:nvPr/>
        </p:nvSpPr>
        <p:spPr>
          <a:xfrm>
            <a:off x="11361390" y="9872663"/>
            <a:ext cx="686489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проSTRAнство_Визуализация_12_Антипозиционирование_V1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2026-07-30T16:38:47Z</dcterms:created>
  <dcterms:modified xsi:type="dcterms:W3CDTF">2026-07-30T16:38:47Z</dcterms:modified>
</cp:coreProperties>
</file>