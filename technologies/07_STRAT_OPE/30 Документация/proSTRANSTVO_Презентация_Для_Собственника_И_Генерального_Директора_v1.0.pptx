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9b162ee82c47d8" /><Relationship Type="http://schemas.openxmlformats.org/officeDocument/2006/relationships/extended-properties" Target="/docProps/app.xml" Id="R71e52a09d8ac4fd9" /><Relationship Type="http://schemas.openxmlformats.org/officeDocument/2006/relationships/officeDocument" Target="/ppt/presentation.xml" Id="Ra96adbfeab5745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bbd001aa164612"/>
  </p:sldMasterIdLst>
  <p:notesMasterIdLst>
    <p:notesMasterId xmlns:r="http://schemas.openxmlformats.org/officeDocument/2006/relationships" r:id="Rce077ea790fd4b1c"/>
  </p:notesMasterIdLst>
  <p:sldIdLst>
    <p:sldId xmlns:r="http://schemas.openxmlformats.org/officeDocument/2006/relationships" id="256" r:id="R9bb48a1fcdad441b"/>
    <p:sldId xmlns:r="http://schemas.openxmlformats.org/officeDocument/2006/relationships" id="257" r:id="R72db64a7621d4fde"/>
    <p:sldId xmlns:r="http://schemas.openxmlformats.org/officeDocument/2006/relationships" id="258" r:id="R40775e52efd246dc"/>
    <p:sldId xmlns:r="http://schemas.openxmlformats.org/officeDocument/2006/relationships" id="259" r:id="R33c61a73867f44dc"/>
    <p:sldId xmlns:r="http://schemas.openxmlformats.org/officeDocument/2006/relationships" id="260" r:id="R691a111826344235"/>
    <p:sldId xmlns:r="http://schemas.openxmlformats.org/officeDocument/2006/relationships" id="261" r:id="R440c8d08075b461b"/>
    <p:sldId xmlns:r="http://schemas.openxmlformats.org/officeDocument/2006/relationships" id="262" r:id="R775b75e518534f6a"/>
    <p:sldId xmlns:r="http://schemas.openxmlformats.org/officeDocument/2006/relationships" id="263" r:id="R3c54b48a53cd4cc0"/>
    <p:sldId xmlns:r="http://schemas.openxmlformats.org/officeDocument/2006/relationships" id="264" r:id="R9a25c669f1084e54"/>
    <p:sldId xmlns:r="http://schemas.openxmlformats.org/officeDocument/2006/relationships" id="265" r:id="R5b973efd4a5144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b30a5c16b43a6" /><Relationship Type="http://schemas.openxmlformats.org/officeDocument/2006/relationships/slideMaster" Target="/ppt/slideMasters/slideMaster1.xml" Id="R5dbbd001aa164612" /><Relationship Type="http://schemas.openxmlformats.org/officeDocument/2006/relationships/notesMaster" Target="/ppt/notesMasters/notesMaster1.xml" Id="Rce077ea790fd4b1c" /><Relationship Type="http://schemas.openxmlformats.org/officeDocument/2006/relationships/presProps" Target="/ppt/presProps.xml" Id="R5c6ff40a6b9c4ecb" /><Relationship Type="http://schemas.openxmlformats.org/officeDocument/2006/relationships/tableStyles" Target="/ppt/tableStyles.xml" Id="R4269ddb1e89d4254" /><Relationship Type="http://schemas.openxmlformats.org/officeDocument/2006/relationships/slide" Target="/ppt/slides/slide1.xml" Id="R9bb48a1fcdad441b" /><Relationship Type="http://schemas.openxmlformats.org/officeDocument/2006/relationships/slide" Target="/ppt/slides/slide2.xml" Id="R72db64a7621d4fde" /><Relationship Type="http://schemas.openxmlformats.org/officeDocument/2006/relationships/slide" Target="/ppt/slides/slide3.xml" Id="R40775e52efd246dc" /><Relationship Type="http://schemas.openxmlformats.org/officeDocument/2006/relationships/slide" Target="/ppt/slides/slide4.xml" Id="R33c61a73867f44dc" /><Relationship Type="http://schemas.openxmlformats.org/officeDocument/2006/relationships/slide" Target="/ppt/slides/slide5.xml" Id="R691a111826344235" /><Relationship Type="http://schemas.openxmlformats.org/officeDocument/2006/relationships/slide" Target="/ppt/slides/slide6.xml" Id="R440c8d08075b461b" /><Relationship Type="http://schemas.openxmlformats.org/officeDocument/2006/relationships/slide" Target="/ppt/slides/slide7.xml" Id="R775b75e518534f6a" /><Relationship Type="http://schemas.openxmlformats.org/officeDocument/2006/relationships/slide" Target="/ppt/slides/slide8.xml" Id="R3c54b48a53cd4cc0" /><Relationship Type="http://schemas.openxmlformats.org/officeDocument/2006/relationships/slide" Target="/ppt/slides/slide9.xml" Id="R9a25c669f1084e54" /><Relationship Type="http://schemas.openxmlformats.org/officeDocument/2006/relationships/slide" Target="/ppt/slides/slide10.xml" Id="R5b973efd4a51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71871484348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7df67a8494f3c" /><Relationship Type="http://schemas.openxmlformats.org/officeDocument/2006/relationships/notesMaster" Target="/ppt/notesMasters/notesMaster1.xml" Id="R805ab8881426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1a38be0d2b40c3" /><Relationship Type="http://schemas.openxmlformats.org/officeDocument/2006/relationships/notesMaster" Target="/ppt/notesMasters/notesMaster1.xml" Id="R08b0019e3b8a4a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01dd43232844f1" /><Relationship Type="http://schemas.openxmlformats.org/officeDocument/2006/relationships/notesMaster" Target="/ppt/notesMasters/notesMaster1.xml" Id="R4f9307fba96345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7223a2c2bc4dec" /><Relationship Type="http://schemas.openxmlformats.org/officeDocument/2006/relationships/notesMaster" Target="/ppt/notesMasters/notesMaster1.xml" Id="R52760cba588747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d58ef02faa47f3" /><Relationship Type="http://schemas.openxmlformats.org/officeDocument/2006/relationships/notesMaster" Target="/ppt/notesMasters/notesMaster1.xml" Id="R4738b133c5ea4f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e148c5d47f4f13" /><Relationship Type="http://schemas.openxmlformats.org/officeDocument/2006/relationships/notesMaster" Target="/ppt/notesMasters/notesMaster1.xml" Id="Ra4e5c577588e40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1757cc0ce9443e" /><Relationship Type="http://schemas.openxmlformats.org/officeDocument/2006/relationships/notesMaster" Target="/ppt/notesMasters/notesMaster1.xml" Id="R7d87ce62c68e40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950575df9749c3" /><Relationship Type="http://schemas.openxmlformats.org/officeDocument/2006/relationships/notesMaster" Target="/ppt/notesMasters/notesMaster1.xml" Id="R162715dadd0e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bba4dc8a774f7b" /><Relationship Type="http://schemas.openxmlformats.org/officeDocument/2006/relationships/notesMaster" Target="/ppt/notesMasters/notesMaster1.xml" Id="R8052a5d312f142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4ece5ab8ff4e69" /><Relationship Type="http://schemas.openxmlformats.org/officeDocument/2006/relationships/notesMaster" Target="/ppt/notesMasters/notesMaster1.xml" Id="R4811dae9e19c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bc189ffc844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3b1a622ee1476b" /><Relationship Type="http://schemas.openxmlformats.org/officeDocument/2006/relationships/slideLayout" Target="/ppt/slideLayouts/slideLayout1.xml" Id="R75de36610ac946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de36610ac946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06ed1aa244064" /><Relationship Type="http://schemas.openxmlformats.org/officeDocument/2006/relationships/notesSlide" Target="/ppt/notesSlides/notesSlide1.xml" Id="R84cfe1181b094d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d42d1b56a4c0e" /><Relationship Type="http://schemas.openxmlformats.org/officeDocument/2006/relationships/notesSlide" Target="/ppt/notesSlides/notesSlide2.xml" Id="Re41ec386a5fe40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fdbfc58044f2b" /><Relationship Type="http://schemas.openxmlformats.org/officeDocument/2006/relationships/notesSlide" Target="/ppt/notesSlides/notesSlide3.xml" Id="R8b046b3b339a44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efa89307a4f07" /><Relationship Type="http://schemas.openxmlformats.org/officeDocument/2006/relationships/notesSlide" Target="/ppt/notesSlides/notesSlide4.xml" Id="R9d1ab0fa4dc24c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4c95b86044a7e" /><Relationship Type="http://schemas.openxmlformats.org/officeDocument/2006/relationships/notesSlide" Target="/ppt/notesSlides/notesSlide5.xml" Id="R401691d56b20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e5bbcce654a3f" /><Relationship Type="http://schemas.openxmlformats.org/officeDocument/2006/relationships/notesSlide" Target="/ppt/notesSlides/notesSlide6.xml" Id="R73b9c9e68ae448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9bf33628c4577" /><Relationship Type="http://schemas.openxmlformats.org/officeDocument/2006/relationships/notesSlide" Target="/ppt/notesSlides/notesSlide7.xml" Id="Rb07795de2f0a4d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c1f5711904395" /><Relationship Type="http://schemas.openxmlformats.org/officeDocument/2006/relationships/notesSlide" Target="/ppt/notesSlides/notesSlide8.xml" Id="Rae63145abbc742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82257660c4fce" /><Relationship Type="http://schemas.openxmlformats.org/officeDocument/2006/relationships/notesSlide" Target="/ppt/notesSlides/notesSlide9.xml" Id="R019f6575763d49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4efe8139f4475" /><Relationship Type="http://schemas.openxmlformats.org/officeDocument/2006/relationships/notesSlide" Target="/ppt/notesSlides/notesSlide10.xml" Id="Rf354017c26784d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6D114D8-EA60-4E63-B42B-02105F95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0C240AF-A397-4CA1-878D-62A68133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Сначала диагноз управленческого контура, потом решение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B3D6805-BB82-4BA5-9028-46CCC6B3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770"/>
                </a:solidFill>
              </a:defRPr>
            </a:pPr>
            <a:r>
              <a:rPr sz="1950" b="0">
                <a:solidFill>
                  <a:srgbClr val="5B6770"/>
                </a:solidFill>
              </a:rPr>
              <a:t>Коммерческая презентация для собственника и генерального директора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077C8519-D508-46DD-BA03-10C24847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6479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panel-text">
            <a:extLst xmlns:a="http://schemas.openxmlformats.org/drawingml/2006/main">
              <a:ext uri="{FF2B5EF4-FFF2-40B4-BE49-F238E27FC236}">
                <a16:creationId xmlns:a16="http://schemas.microsoft.com/office/drawing/2014/main" id="{54010304-A536-4C35-BEC2-2385703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57300"/>
            <a:ext cx="20383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Первый платный шаг: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Диагностика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Не Сессия.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Не аудит.</a:t>
            </a:r>
          </a:p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Не каталог моделей.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B821339-E339-4C77-983A-9A885C9A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7" name="footer-num">
            <a:extLst xmlns:a="http://schemas.openxmlformats.org/drawingml/2006/main">
              <a:ext uri="{FF2B5EF4-FFF2-40B4-BE49-F238E27FC236}">
                <a16:creationId xmlns:a16="http://schemas.microsoft.com/office/drawing/2014/main" id="{7C6148EF-8E97-4800-9125-BA3B003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8929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7DB699AF-C1A1-4239-A7D9-0395024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FAB883-044D-4AED-860A-3B37332E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Типовая проблема: стратегия, операции и результат живут отдельно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C83A5A5B-2AB0-40C3-ADD7-B9AFB19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b">
            <a:extLst xmlns:a="http://schemas.openxmlformats.org/drawingml/2006/main">
              <a:ext uri="{FF2B5EF4-FFF2-40B4-BE49-F238E27FC236}">
                <a16:creationId xmlns:a16="http://schemas.microsoft.com/office/drawing/2014/main" id="{7E8F21CB-D019-4DAC-A9D5-E6BB2208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стратегия есть, но исполнение не меняется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инициатив много, но владельцы, метрики и ритм расходятся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маржа, деньги, клиент или качество проседают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функции спорят версиями правды</a:t>
            </a:r>
          </a:p>
        </p:txBody>
      </p:sp>
      <p:sp>
        <p:nvSpPr>
          <p:cNvPr id="5" name="right">
            <a:extLst xmlns:a="http://schemas.openxmlformats.org/drawingml/2006/main">
              <a:ext uri="{FF2B5EF4-FFF2-40B4-BE49-F238E27FC236}">
                <a16:creationId xmlns:a16="http://schemas.microsoft.com/office/drawing/2014/main" id="{3C476EC5-EF6F-42A8-B215-38CCEC1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ight-t">
            <a:extLst xmlns:a="http://schemas.openxmlformats.org/drawingml/2006/main">
              <a:ext uri="{FF2B5EF4-FFF2-40B4-BE49-F238E27FC236}">
                <a16:creationId xmlns:a16="http://schemas.microsoft.com/office/drawing/2014/main" id="{ADC39077-0023-4B6E-88B0-7A37193F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038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Симптом не равен проблемной единице.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Сначала надо проверить контур.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B2E81F-6445-4AF4-AA0F-F8216FDA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98E5043E-5F00-4D7B-812B-26428091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9239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6CE5DE81-D1E3-4C22-BE8E-1EAF24C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DBA53D-2CCA-451A-B47F-37D376AA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Почему привычные форматы не решают эту задачу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C5A09166-801E-4858-803C-9DCAFE7E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735C6061-1CFA-4BEA-861F-16853BD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row-a-0">
            <a:extLst xmlns:a="http://schemas.openxmlformats.org/drawingml/2006/main">
              <a:ext uri="{FF2B5EF4-FFF2-40B4-BE49-F238E27FC236}">
                <a16:creationId xmlns:a16="http://schemas.microsoft.com/office/drawing/2014/main" id="{AF05992E-23E9-4A7A-A49F-3644B582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Стратегическая сессия</a:t>
            </a:r>
          </a:p>
        </p:txBody>
      </p:sp>
      <p:sp>
        <p:nvSpPr>
          <p:cNvPr id="6" name="row-b-0">
            <a:extLst xmlns:a="http://schemas.openxmlformats.org/drawingml/2006/main">
              <a:ext uri="{FF2B5EF4-FFF2-40B4-BE49-F238E27FC236}">
                <a16:creationId xmlns:a16="http://schemas.microsoft.com/office/drawing/2014/main" id="{5484D57A-AC1F-474E-957B-AC23574E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может дать энергию, но без диагноза превращается в разговор обо всем</a:t>
            </a:r>
          </a:p>
        </p:txBody>
      </p:sp>
      <p:sp>
        <p:nvSpPr>
          <p:cNvPr id="7" name="row-1">
            <a:extLst xmlns:a="http://schemas.openxmlformats.org/drawingml/2006/main">
              <a:ext uri="{FF2B5EF4-FFF2-40B4-BE49-F238E27FC236}">
                <a16:creationId xmlns:a16="http://schemas.microsoft.com/office/drawing/2014/main" id="{04F4A0D4-176D-4044-9118-51E03EE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row-a-1">
            <a:extLst xmlns:a="http://schemas.openxmlformats.org/drawingml/2006/main">
              <a:ext uri="{FF2B5EF4-FFF2-40B4-BE49-F238E27FC236}">
                <a16:creationId xmlns:a16="http://schemas.microsoft.com/office/drawing/2014/main" id="{2F1A9D16-55B1-48D8-B623-7F1A3641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Аудит</a:t>
            </a:r>
          </a:p>
        </p:txBody>
      </p:sp>
      <p:sp>
        <p:nvSpPr>
          <p:cNvPr id="9" name="row-b-1">
            <a:extLst xmlns:a="http://schemas.openxmlformats.org/drawingml/2006/main">
              <a:ext uri="{FF2B5EF4-FFF2-40B4-BE49-F238E27FC236}">
                <a16:creationId xmlns:a16="http://schemas.microsoft.com/office/drawing/2014/main" id="{20FE4F7A-F137-4F93-AD17-058CEE27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часто фиксирует нарушения, но не собирает мост стратегии и операций</a:t>
            </a:r>
          </a:p>
        </p:txBody>
      </p:sp>
      <p:sp>
        <p:nvSpPr>
          <p:cNvPr id="10" name="row-2">
            <a:extLst xmlns:a="http://schemas.openxmlformats.org/drawingml/2006/main">
              <a:ext uri="{FF2B5EF4-FFF2-40B4-BE49-F238E27FC236}">
                <a16:creationId xmlns:a16="http://schemas.microsoft.com/office/drawing/2014/main" id="{C416CFB8-99DE-4BA4-ADD2-7A5E2527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row-a-2">
            <a:extLst xmlns:a="http://schemas.openxmlformats.org/drawingml/2006/main">
              <a:ext uri="{FF2B5EF4-FFF2-40B4-BE49-F238E27FC236}">
                <a16:creationId xmlns:a16="http://schemas.microsoft.com/office/drawing/2014/main" id="{819D37D7-2646-432C-B559-BBE60F0D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Каталог моделей</a:t>
            </a:r>
          </a:p>
        </p:txBody>
      </p:sp>
      <p:sp>
        <p:nvSpPr>
          <p:cNvPr id="12" name="row-b-2">
            <a:extLst xmlns:a="http://schemas.openxmlformats.org/drawingml/2006/main">
              <a:ext uri="{FF2B5EF4-FFF2-40B4-BE49-F238E27FC236}">
                <a16:creationId xmlns:a16="http://schemas.microsoft.com/office/drawing/2014/main" id="{9959566A-92A1-4FA3-B7B4-834EEFF3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дает выбор, но не отвечает, что нужно именно этой проблемной единице</a:t>
            </a:r>
          </a:p>
        </p:txBody>
      </p:sp>
      <p:sp>
        <p:nvSpPr>
          <p:cNvPr id="13" name="row-3">
            <a:extLst xmlns:a="http://schemas.openxmlformats.org/drawingml/2006/main">
              <a:ext uri="{FF2B5EF4-FFF2-40B4-BE49-F238E27FC236}">
                <a16:creationId xmlns:a16="http://schemas.microsoft.com/office/drawing/2014/main" id="{E69176D2-1A8E-48E4-B898-D6CC9797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row-a-3">
            <a:extLst xmlns:a="http://schemas.openxmlformats.org/drawingml/2006/main">
              <a:ext uri="{FF2B5EF4-FFF2-40B4-BE49-F238E27FC236}">
                <a16:creationId xmlns:a16="http://schemas.microsoft.com/office/drawing/2014/main" id="{DE6D34F5-2405-4C2A-BEFF-5807B20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Проектный офис</a:t>
            </a:r>
          </a:p>
        </p:txBody>
      </p:sp>
      <p:sp>
        <p:nvSpPr>
          <p:cNvPr id="15" name="row-b-3">
            <a:extLst xmlns:a="http://schemas.openxmlformats.org/drawingml/2006/main">
              <a:ext uri="{FF2B5EF4-FFF2-40B4-BE49-F238E27FC236}">
                <a16:creationId xmlns:a16="http://schemas.microsoft.com/office/drawing/2014/main" id="{02F3A0A5-64F9-431D-8CB1-37D7D0DD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ведет инициативы, но не доказывает правильность выбранного контура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8C73562-8412-470B-BE4C-D2C73B3F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17" name="footer-num">
            <a:extLst xmlns:a="http://schemas.openxmlformats.org/drawingml/2006/main">
              <a:ext uri="{FF2B5EF4-FFF2-40B4-BE49-F238E27FC236}">
                <a16:creationId xmlns:a16="http://schemas.microsoft.com/office/drawing/2014/main" id="{600EFA7E-3782-4661-B8E9-BABF1044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0205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D7B66BBC-C51B-4B60-BD91-7C269ED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33429A-F796-4B34-A3DA-34E49803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Как работает проSTRAнство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7531F0F6-BB01-4B9B-8FA5-C5EA1B0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C535B542-7F6E-4800-8B87-AE4F69C2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45324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tep-text-0">
            <a:extLst xmlns:a="http://schemas.openxmlformats.org/drawingml/2006/main">
              <a:ext uri="{FF2B5EF4-FFF2-40B4-BE49-F238E27FC236}">
                <a16:creationId xmlns:a16="http://schemas.microsoft.com/office/drawing/2014/main" id="{A2F3E6AA-BB25-40AC-BDB2-988FD484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22464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Проблема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8DFE22D2-CD9F-4897-AF70-2DC18721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93" y="2571750"/>
            <a:ext cx="145324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ep-text-1">
            <a:extLst xmlns:a="http://schemas.openxmlformats.org/drawingml/2006/main">
              <a:ext uri="{FF2B5EF4-FFF2-40B4-BE49-F238E27FC236}">
                <a16:creationId xmlns:a16="http://schemas.microsoft.com/office/drawing/2014/main" id="{8520EA26-8B57-48E7-B2A7-1283F6B2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593" y="2743200"/>
            <a:ext cx="122464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Диагностика</a:t>
            </a:r>
          </a:p>
        </p:txBody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CDEBEB25-3738-4795-AFDC-0458B027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836" y="2571750"/>
            <a:ext cx="145324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step-text-2">
            <a:extLst xmlns:a="http://schemas.openxmlformats.org/drawingml/2006/main">
              <a:ext uri="{FF2B5EF4-FFF2-40B4-BE49-F238E27FC236}">
                <a16:creationId xmlns:a16="http://schemas.microsoft.com/office/drawing/2014/main" id="{ADD6D39F-0DFB-4406-AF5F-245C2172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136" y="2743200"/>
            <a:ext cx="122464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Вердикт</a:t>
            </a:r>
          </a:p>
        </p:txBody>
      </p:sp>
      <p:sp>
        <p:nvSpPr>
          <p:cNvPr id="10" name="step-3">
            <a:extLst xmlns:a="http://schemas.openxmlformats.org/drawingml/2006/main">
              <a:ext uri="{FF2B5EF4-FFF2-40B4-BE49-F238E27FC236}">
                <a16:creationId xmlns:a16="http://schemas.microsoft.com/office/drawing/2014/main" id="{A0F5BC3D-24B2-4B6E-956C-BFD7AFE2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379" y="2571750"/>
            <a:ext cx="145324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ep-text-3">
            <a:extLst xmlns:a="http://schemas.openxmlformats.org/drawingml/2006/main">
              <a:ext uri="{FF2B5EF4-FFF2-40B4-BE49-F238E27FC236}">
                <a16:creationId xmlns:a16="http://schemas.microsoft.com/office/drawing/2014/main" id="{63B876BC-0C11-4968-92C1-6686E35E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679" y="2743200"/>
            <a:ext cx="122464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Сессия</a:t>
            </a:r>
          </a:p>
        </p:txBody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00D77C13-2B08-4F9A-B29F-A7DE59E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921" y="2571750"/>
            <a:ext cx="145324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ep-text-4">
            <a:extLst xmlns:a="http://schemas.openxmlformats.org/drawingml/2006/main">
              <a:ext uri="{FF2B5EF4-FFF2-40B4-BE49-F238E27FC236}">
                <a16:creationId xmlns:a16="http://schemas.microsoft.com/office/drawing/2014/main" id="{54C689F8-0FB0-465A-BBCB-FDC61040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221" y="2743200"/>
            <a:ext cx="122464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Рабочий набор</a:t>
            </a:r>
          </a:p>
        </p:txBody>
      </p:sp>
      <p:sp>
        <p:nvSpPr>
          <p:cNvPr id="14" name="step-5">
            <a:extLst xmlns:a="http://schemas.openxmlformats.org/drawingml/2006/main">
              <a:ext uri="{FF2B5EF4-FFF2-40B4-BE49-F238E27FC236}">
                <a16:creationId xmlns:a16="http://schemas.microsoft.com/office/drawing/2014/main" id="{19E16B36-6120-49D6-8890-AC8C7E61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464" y="2571750"/>
            <a:ext cx="145324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ep-text-5">
            <a:extLst xmlns:a="http://schemas.openxmlformats.org/drawingml/2006/main">
              <a:ext uri="{FF2B5EF4-FFF2-40B4-BE49-F238E27FC236}">
                <a16:creationId xmlns:a16="http://schemas.microsoft.com/office/drawing/2014/main" id="{829E8CF7-DDD2-4556-AE12-1F19A10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764" y="2743200"/>
            <a:ext cx="122464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Мост</a:t>
            </a:r>
          </a:p>
        </p:txBody>
      </p:sp>
      <p:sp>
        <p:nvSpPr>
          <p:cNvPr id="16" name="step-6">
            <a:extLst xmlns:a="http://schemas.openxmlformats.org/drawingml/2006/main">
              <a:ext uri="{FF2B5EF4-FFF2-40B4-BE49-F238E27FC236}">
                <a16:creationId xmlns:a16="http://schemas.microsoft.com/office/drawing/2014/main" id="{CF4320F1-AA1B-4340-944B-9F0A95A8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07" y="2571750"/>
            <a:ext cx="145324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text-6">
            <a:extLst xmlns:a="http://schemas.openxmlformats.org/drawingml/2006/main">
              <a:ext uri="{FF2B5EF4-FFF2-40B4-BE49-F238E27FC236}">
                <a16:creationId xmlns:a16="http://schemas.microsoft.com/office/drawing/2014/main" id="{D0DE5425-22CC-471B-945E-1A0E951B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307" y="2743200"/>
            <a:ext cx="122464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Спринт 30-60-90</a:t>
            </a:r>
          </a:p>
        </p:txBody>
      </p:sp>
      <p:sp>
        <p:nvSpPr>
          <p:cNvPr id="18" name="explain">
            <a:extLst xmlns:a="http://schemas.openxmlformats.org/drawingml/2006/main">
              <a:ext uri="{FF2B5EF4-FFF2-40B4-BE49-F238E27FC236}">
                <a16:creationId xmlns:a16="http://schemas.microsoft.com/office/drawing/2014/main" id="{73DEF494-ECCA-4A6B-9319-D8E68A4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Диагностика не заменяет Сессию. Она решает, есть ли право переходить к Сессии и на каких условиях.</a:t>
            </a:r>
          </a:p>
        </p:txBody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2A230B8-1DC2-4B58-9EBD-F623876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20" name="footer-num">
            <a:extLst xmlns:a="http://schemas.openxmlformats.org/drawingml/2006/main">
              <a:ext uri="{FF2B5EF4-FFF2-40B4-BE49-F238E27FC236}">
                <a16:creationId xmlns:a16="http://schemas.microsoft.com/office/drawing/2014/main" id="{1DB8F0F8-E8D8-4590-8923-E9EAA363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88310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855E303F-1952-4A92-B3CE-6BA98B8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D5F67E-E82F-4001-8FFE-8FC2DB9D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Что проверяет Диагностика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37A7A0B9-1311-4ED9-A88B-754DBCC6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b">
            <a:extLst xmlns:a="http://schemas.openxmlformats.org/drawingml/2006/main">
              <a:ext uri="{FF2B5EF4-FFF2-40B4-BE49-F238E27FC236}">
                <a16:creationId xmlns:a16="http://schemas.microsoft.com/office/drawing/2014/main" id="{2C277B2A-971D-46DB-A61D-85A03EFE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8001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что уже есть в управленческом контуре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что действительно работает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что разорвано между стратегией, операциями и результатом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что не надо трогать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- что нужно пересобрать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609D86A-0B2B-4F0F-B7F2-AD32C352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accent-text">
            <a:extLst xmlns:a="http://schemas.openxmlformats.org/drawingml/2006/main">
              <a:ext uri="{FF2B5EF4-FFF2-40B4-BE49-F238E27FC236}">
                <a16:creationId xmlns:a16="http://schemas.microsoft.com/office/drawing/2014/main" id="{04322558-B898-47D1-A803-2020F75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57500"/>
            <a:ext cx="131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Это платная проверка.</a:t>
            </a:r>
          </a:p>
          <a:p xmlns:a="http://schemas.openxmlformats.org/drawingml/2006/main">
            <a:pPr algn="ctr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Не пресейл.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AA9DDE-DE50-45CC-BFFA-1181A6E1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8" name="footer-num">
            <a:extLst xmlns:a="http://schemas.openxmlformats.org/drawingml/2006/main">
              <a:ext uri="{FF2B5EF4-FFF2-40B4-BE49-F238E27FC236}">
                <a16:creationId xmlns:a16="http://schemas.microsoft.com/office/drawing/2014/main" id="{A98F6DDC-344B-4268-AC5B-9BAAFBDB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2479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8D2D0DA5-5F0F-4175-80AA-C1828E13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504FD9-1FBB-47EF-ABB5-C12000C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Что клиент получает на выходе Диагностики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A6679C6A-BF30-4DA5-86BA-C39852EC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out-0">
            <a:extLst xmlns:a="http://schemas.openxmlformats.org/drawingml/2006/main">
              <a:ext uri="{FF2B5EF4-FFF2-40B4-BE49-F238E27FC236}">
                <a16:creationId xmlns:a16="http://schemas.microsoft.com/office/drawing/2014/main" id="{12AC6375-9DCA-4038-A25E-58B97EE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out-t-0">
            <a:extLst xmlns:a="http://schemas.openxmlformats.org/drawingml/2006/main">
              <a:ext uri="{FF2B5EF4-FFF2-40B4-BE49-F238E27FC236}">
                <a16:creationId xmlns:a16="http://schemas.microsoft.com/office/drawing/2014/main" id="{3B1A135E-48E4-4365-AE21-3D58D02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Карта проблемной единицы</a:t>
            </a:r>
          </a:p>
        </p:txBody>
      </p:sp>
      <p:sp>
        <p:nvSpPr>
          <p:cNvPr id="6" name="out-1">
            <a:extLst xmlns:a="http://schemas.openxmlformats.org/drawingml/2006/main">
              <a:ext uri="{FF2B5EF4-FFF2-40B4-BE49-F238E27FC236}">
                <a16:creationId xmlns:a16="http://schemas.microsoft.com/office/drawing/2014/main" id="{09C86747-78B4-42C3-A958-B97716F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out-t-1">
            <a:extLst xmlns:a="http://schemas.openxmlformats.org/drawingml/2006/main">
              <a:ext uri="{FF2B5EF4-FFF2-40B4-BE49-F238E27FC236}">
                <a16:creationId xmlns:a16="http://schemas.microsoft.com/office/drawing/2014/main" id="{D1AD4788-3C6A-4CE1-AD6D-B54F5B2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860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Подтвержденные факты</a:t>
            </a:r>
          </a:p>
        </p:txBody>
      </p:sp>
      <p:sp>
        <p:nvSpPr>
          <p:cNvPr id="8" name="out-2">
            <a:extLst xmlns:a="http://schemas.openxmlformats.org/drawingml/2006/main">
              <a:ext uri="{FF2B5EF4-FFF2-40B4-BE49-F238E27FC236}">
                <a16:creationId xmlns:a16="http://schemas.microsoft.com/office/drawing/2014/main" id="{25B5FA16-9EA0-49CE-A517-CE04780E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out-t-2">
            <a:extLst xmlns:a="http://schemas.openxmlformats.org/drawingml/2006/main">
              <a:ext uri="{FF2B5EF4-FFF2-40B4-BE49-F238E27FC236}">
                <a16:creationId xmlns:a16="http://schemas.microsoft.com/office/drawing/2014/main" id="{008FA8F9-CD42-48D3-A790-E2A8D2D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0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Разрывы текущего контура</a:t>
            </a:r>
          </a:p>
        </p:txBody>
      </p:sp>
      <p:sp>
        <p:nvSpPr>
          <p:cNvPr id="10" name="out-3">
            <a:extLst xmlns:a="http://schemas.openxmlformats.org/drawingml/2006/main">
              <a:ext uri="{FF2B5EF4-FFF2-40B4-BE49-F238E27FC236}">
                <a16:creationId xmlns:a16="http://schemas.microsoft.com/office/drawing/2014/main" id="{752561A0-1E63-49CF-8177-9A62360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out-t-3">
            <a:extLst xmlns:a="http://schemas.openxmlformats.org/drawingml/2006/main">
              <a:ext uri="{FF2B5EF4-FFF2-40B4-BE49-F238E27FC236}">
                <a16:creationId xmlns:a16="http://schemas.microsoft.com/office/drawing/2014/main" id="{53E0D683-098D-4F6F-BE62-526705DF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Условия перехода или отказа</a:t>
            </a:r>
          </a:p>
        </p:txBody>
      </p:sp>
      <p:sp>
        <p:nvSpPr>
          <p:cNvPr id="12" name="out-4">
            <a:extLst xmlns:a="http://schemas.openxmlformats.org/drawingml/2006/main">
              <a:ext uri="{FF2B5EF4-FFF2-40B4-BE49-F238E27FC236}">
                <a16:creationId xmlns:a16="http://schemas.microsoft.com/office/drawing/2014/main" id="{5B5BB747-1449-4081-B883-308DABF2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62375"/>
            <a:ext cx="3028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out-t-4">
            <a:extLst xmlns:a="http://schemas.openxmlformats.org/drawingml/2006/main">
              <a:ext uri="{FF2B5EF4-FFF2-40B4-BE49-F238E27FC236}">
                <a16:creationId xmlns:a16="http://schemas.microsoft.com/office/drawing/2014/main" id="{D12F4463-1FE9-47B2-88A5-3BBCB410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100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Ограничения следующего шага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D9F90AA-32F5-4A38-BED3-B346919C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15" name="footer-num">
            <a:extLst xmlns:a="http://schemas.openxmlformats.org/drawingml/2006/main">
              <a:ext uri="{FF2B5EF4-FFF2-40B4-BE49-F238E27FC236}">
                <a16:creationId xmlns:a16="http://schemas.microsoft.com/office/drawing/2014/main" id="{644192C4-8619-4C95-8400-14D07F23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0700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C59C373-1467-4687-AF62-18E0BD70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6DCB59-0D78-458A-9293-2598CB30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Вердикт Диагностики определяет следующий шаг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BC404E80-50A6-450C-903B-FCB2CA60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v-0">
            <a:extLst xmlns:a="http://schemas.openxmlformats.org/drawingml/2006/main">
              <a:ext uri="{FF2B5EF4-FFF2-40B4-BE49-F238E27FC236}">
                <a16:creationId xmlns:a16="http://schemas.microsoft.com/office/drawing/2014/main" id="{3CC9B9B0-9287-4CA1-9679-54845B8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v-a-0">
            <a:extLst xmlns:a="http://schemas.openxmlformats.org/drawingml/2006/main">
              <a:ext uri="{FF2B5EF4-FFF2-40B4-BE49-F238E27FC236}">
                <a16:creationId xmlns:a16="http://schemas.microsoft.com/office/drawing/2014/main" id="{118D090D-418B-418E-AE3B-9759D1B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переходить к Сессии / Go</a:t>
            </a:r>
          </a:p>
        </p:txBody>
      </p:sp>
      <p:sp>
        <p:nvSpPr>
          <p:cNvPr id="6" name="v-b-0">
            <a:extLst xmlns:a="http://schemas.openxmlformats.org/drawingml/2006/main">
              <a:ext uri="{FF2B5EF4-FFF2-40B4-BE49-F238E27FC236}">
                <a16:creationId xmlns:a16="http://schemas.microsoft.com/office/drawing/2014/main" id="{A81BD103-8BDA-4D15-BD3E-40958CD7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есть факты, мандат, данные и 1-3 связанных триггера</a:t>
            </a:r>
          </a:p>
        </p:txBody>
      </p:sp>
      <p:sp>
        <p:nvSpPr>
          <p:cNvPr id="7" name="v-1">
            <a:extLst xmlns:a="http://schemas.openxmlformats.org/drawingml/2006/main">
              <a:ext uri="{FF2B5EF4-FFF2-40B4-BE49-F238E27FC236}">
                <a16:creationId xmlns:a16="http://schemas.microsoft.com/office/drawing/2014/main" id="{E4FC7B69-95FB-489B-82DC-46E83EB6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v-a-1">
            <a:extLst xmlns:a="http://schemas.openxmlformats.org/drawingml/2006/main">
              <a:ext uri="{FF2B5EF4-FFF2-40B4-BE49-F238E27FC236}">
                <a16:creationId xmlns:a16="http://schemas.microsoft.com/office/drawing/2014/main" id="{EA4C1AD9-1286-414A-9396-3E9CE274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67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переходить к Сессии с условиями</a:t>
            </a:r>
          </a:p>
        </p:txBody>
      </p:sp>
      <p:sp>
        <p:nvSpPr>
          <p:cNvPr id="9" name="v-b-1">
            <a:extLst xmlns:a="http://schemas.openxmlformats.org/drawingml/2006/main">
              <a:ext uri="{FF2B5EF4-FFF2-40B4-BE49-F238E27FC236}">
                <a16:creationId xmlns:a16="http://schemas.microsoft.com/office/drawing/2014/main" id="{CAD90AA6-4072-4858-A83A-26A8DE25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сначала закрыть дефицит данных, участников, границ или мандата</a:t>
            </a:r>
          </a:p>
        </p:txBody>
      </p:sp>
      <p:sp>
        <p:nvSpPr>
          <p:cNvPr id="10" name="v-2">
            <a:extLst xmlns:a="http://schemas.openxmlformats.org/drawingml/2006/main">
              <a:ext uri="{FF2B5EF4-FFF2-40B4-BE49-F238E27FC236}">
                <a16:creationId xmlns:a16="http://schemas.microsoft.com/office/drawing/2014/main" id="{0AAF6EE8-EAB2-44CC-A700-C2BE616F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v-a-2">
            <a:extLst xmlns:a="http://schemas.openxmlformats.org/drawingml/2006/main">
              <a:ext uri="{FF2B5EF4-FFF2-40B4-BE49-F238E27FC236}">
                <a16:creationId xmlns:a16="http://schemas.microsoft.com/office/drawing/2014/main" id="{27DC0E5C-E3B2-4F66-BEAD-795FB52A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не переходить дальше сейчас / Hold</a:t>
            </a:r>
          </a:p>
        </p:txBody>
      </p:sp>
      <p:sp>
        <p:nvSpPr>
          <p:cNvPr id="12" name="v-b-2">
            <a:extLst xmlns:a="http://schemas.openxmlformats.org/drawingml/2006/main">
              <a:ext uri="{FF2B5EF4-FFF2-40B4-BE49-F238E27FC236}">
                <a16:creationId xmlns:a16="http://schemas.microsoft.com/office/drawing/2014/main" id="{1A7621DB-69AA-4D49-B5B8-B9A9EB73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862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Сессия преждевременна, нужны подготовительные действия</a:t>
            </a:r>
          </a:p>
        </p:txBody>
      </p:sp>
      <p:sp>
        <p:nvSpPr>
          <p:cNvPr id="13" name="v-3">
            <a:extLst xmlns:a="http://schemas.openxmlformats.org/drawingml/2006/main">
              <a:ext uri="{FF2B5EF4-FFF2-40B4-BE49-F238E27FC236}">
                <a16:creationId xmlns:a16="http://schemas.microsoft.com/office/drawing/2014/main" id="{553C42BF-ED9B-4792-98AE-18FA8B85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v-a-3">
            <a:extLst xmlns:a="http://schemas.openxmlformats.org/drawingml/2006/main">
              <a:ext uri="{FF2B5EF4-FFF2-40B4-BE49-F238E27FC236}">
                <a16:creationId xmlns:a16="http://schemas.microsoft.com/office/drawing/2014/main" id="{DC28DB6E-64DB-4E1B-A1CA-4222EE75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остановить / Stop</a:t>
            </a:r>
          </a:p>
        </p:txBody>
      </p:sp>
      <p:sp>
        <p:nvSpPr>
          <p:cNvPr id="15" name="v-b-3">
            <a:extLst xmlns:a="http://schemas.openxmlformats.org/drawingml/2006/main">
              <a:ext uri="{FF2B5EF4-FFF2-40B4-BE49-F238E27FC236}">
                <a16:creationId xmlns:a16="http://schemas.microsoft.com/office/drawing/2014/main" id="{16EA3D1E-9E30-48B9-A54C-E11C365B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053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0"/>
                </a:solidFill>
              </a:defRPr>
            </a:pPr>
            <a:r>
              <a:rPr sz="1500" b="0">
                <a:solidFill>
                  <a:srgbClr val="5B6770"/>
                </a:solidFill>
              </a:rPr>
              <a:t>технология сейчас не нужна или невозможна в этом контуре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190A59B-F206-40F1-AC66-33F8BC21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17" name="footer-num">
            <a:extLst xmlns:a="http://schemas.openxmlformats.org/drawingml/2006/main">
              <a:ext uri="{FF2B5EF4-FFF2-40B4-BE49-F238E27FC236}">
                <a16:creationId xmlns:a16="http://schemas.microsoft.com/office/drawing/2014/main" id="{483136C8-1AC3-4C05-9284-4106899B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1711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FF81E5AD-D1C9-44AA-AF59-5E6EA3F2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E62F44-8533-41FE-AB1A-2A29C0A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Если Диагностика подтверждает переход к Сессии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EA9DD689-0594-4AD4-BBC7-94DF0831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b">
            <a:extLst xmlns:a="http://schemas.openxmlformats.org/drawingml/2006/main">
              <a:ext uri="{FF2B5EF4-FFF2-40B4-BE49-F238E27FC236}">
                <a16:creationId xmlns:a16="http://schemas.microsoft.com/office/drawing/2014/main" id="{7D8AEF6B-52FF-4788-AA82-9BB33240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876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- Сессия берет не все проблемы, а 1-3 связанных триггера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- выбираются 5-7 стратегических фреймворков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- подбираются 3-5 инструментов из уникального инструментального ядра 115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- собирается мост: владельцы, метрики, ритм, Спринт 30-60-90</a:t>
            </a:r>
          </a:p>
        </p:txBody>
      </p:sp>
      <p:sp>
        <p:nvSpPr>
          <p:cNvPr id="5" name="warning">
            <a:extLst xmlns:a="http://schemas.openxmlformats.org/drawingml/2006/main">
              <a:ext uri="{FF2B5EF4-FFF2-40B4-BE49-F238E27FC236}">
                <a16:creationId xmlns:a16="http://schemas.microsoft.com/office/drawing/2014/main" id="{3FC74BBC-A26D-4D79-9D0C-E5043F6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Важно: ядро не продается как меню выбора.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68951D6-EFD5-4601-B810-FA2FA27E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7" name="footer-num">
            <a:extLst xmlns:a="http://schemas.openxmlformats.org/drawingml/2006/main">
              <a:ext uri="{FF2B5EF4-FFF2-40B4-BE49-F238E27FC236}">
                <a16:creationId xmlns:a16="http://schemas.microsoft.com/office/drawing/2014/main" id="{955E4FCB-13C8-4C10-A5CC-72C15138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9516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1B4EE64F-1B83-4B51-9205-6BDAAE6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6CA9CA-8AAF-45F3-AE9D-BCDCFDB5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Что нужно от клиента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D49C9CFC-F277-4BE1-8737-2CF5E71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need-0">
            <a:extLst xmlns:a="http://schemas.openxmlformats.org/drawingml/2006/main">
              <a:ext uri="{FF2B5EF4-FFF2-40B4-BE49-F238E27FC236}">
                <a16:creationId xmlns:a16="http://schemas.microsoft.com/office/drawing/2014/main" id="{A991115C-2804-413B-ADBB-E361669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333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need-a-0">
            <a:extLst xmlns:a="http://schemas.openxmlformats.org/drawingml/2006/main">
              <a:ext uri="{FF2B5EF4-FFF2-40B4-BE49-F238E27FC236}">
                <a16:creationId xmlns:a16="http://schemas.microsoft.com/office/drawing/2014/main" id="{645E6F71-CE78-46D2-A956-76ED4634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050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Мандат</a:t>
            </a:r>
          </a:p>
        </p:txBody>
      </p:sp>
      <p:sp>
        <p:nvSpPr>
          <p:cNvPr id="6" name="need-b-0">
            <a:extLst xmlns:a="http://schemas.openxmlformats.org/drawingml/2006/main">
              <a:ext uri="{FF2B5EF4-FFF2-40B4-BE49-F238E27FC236}">
                <a16:creationId xmlns:a16="http://schemas.microsoft.com/office/drawing/2014/main" id="{3A72E824-DBFC-4FCC-A90E-E5291F4A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47975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лицо решения и право проверить контур</a:t>
            </a:r>
          </a:p>
        </p:txBody>
      </p:sp>
      <p:sp>
        <p:nvSpPr>
          <p:cNvPr id="7" name="need-1">
            <a:extLst xmlns:a="http://schemas.openxmlformats.org/drawingml/2006/main">
              <a:ext uri="{FF2B5EF4-FFF2-40B4-BE49-F238E27FC236}">
                <a16:creationId xmlns:a16="http://schemas.microsoft.com/office/drawing/2014/main" id="{6E21018C-2916-4DDB-8DD0-14F3A9F7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4333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need-a-1">
            <a:extLst xmlns:a="http://schemas.openxmlformats.org/drawingml/2006/main">
              <a:ext uri="{FF2B5EF4-FFF2-40B4-BE49-F238E27FC236}">
                <a16:creationId xmlns:a16="http://schemas.microsoft.com/office/drawing/2014/main" id="{DF0D4143-361C-40F3-99CA-F37A6014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050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Данные</a:t>
            </a:r>
          </a:p>
        </p:txBody>
      </p:sp>
      <p:sp>
        <p:nvSpPr>
          <p:cNvPr id="9" name="need-b-1">
            <a:extLst xmlns:a="http://schemas.openxmlformats.org/drawingml/2006/main">
              <a:ext uri="{FF2B5EF4-FFF2-40B4-BE49-F238E27FC236}">
                <a16:creationId xmlns:a16="http://schemas.microsoft.com/office/drawing/2014/main" id="{276A9422-1006-473E-810E-DDE42BB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47975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документы, отчеты, метрики и факты</a:t>
            </a:r>
          </a:p>
        </p:txBody>
      </p:sp>
      <p:sp>
        <p:nvSpPr>
          <p:cNvPr id="10" name="need-2">
            <a:extLst xmlns:a="http://schemas.openxmlformats.org/drawingml/2006/main">
              <a:ext uri="{FF2B5EF4-FFF2-40B4-BE49-F238E27FC236}">
                <a16:creationId xmlns:a16="http://schemas.microsoft.com/office/drawing/2014/main" id="{0A966607-E1BE-42CE-8476-32B04EFC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333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need-a-2">
            <a:extLst xmlns:a="http://schemas.openxmlformats.org/drawingml/2006/main">
              <a:ext uri="{FF2B5EF4-FFF2-40B4-BE49-F238E27FC236}">
                <a16:creationId xmlns:a16="http://schemas.microsoft.com/office/drawing/2014/main" id="{CBB93B0A-22E5-4C5D-A230-5E3A039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Участники</a:t>
            </a:r>
          </a:p>
        </p:txBody>
      </p:sp>
      <p:sp>
        <p:nvSpPr>
          <p:cNvPr id="12" name="need-b-2">
            <a:extLst xmlns:a="http://schemas.openxmlformats.org/drawingml/2006/main">
              <a:ext uri="{FF2B5EF4-FFF2-40B4-BE49-F238E27FC236}">
                <a16:creationId xmlns:a16="http://schemas.microsoft.com/office/drawing/2014/main" id="{DF6780D5-3A3A-4546-9F91-F902230F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первый управленческий круг по затронутым функциям</a:t>
            </a:r>
          </a:p>
        </p:txBody>
      </p:sp>
      <p:sp>
        <p:nvSpPr>
          <p:cNvPr id="13" name="need-3">
            <a:extLst xmlns:a="http://schemas.openxmlformats.org/drawingml/2006/main">
              <a:ext uri="{FF2B5EF4-FFF2-40B4-BE49-F238E27FC236}">
                <a16:creationId xmlns:a16="http://schemas.microsoft.com/office/drawing/2014/main" id="{0B5EE0CF-FBA6-460B-8BD5-F1FD57C2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10000"/>
            <a:ext cx="4333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need-a-3">
            <a:extLst xmlns:a="http://schemas.openxmlformats.org/drawingml/2006/main">
              <a:ext uri="{FF2B5EF4-FFF2-40B4-BE49-F238E27FC236}">
                <a16:creationId xmlns:a16="http://schemas.microsoft.com/office/drawing/2014/main" id="{E437DB13-ACD5-4D55-AE55-31CB34BD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Готовность</a:t>
            </a:r>
          </a:p>
        </p:txBody>
      </p:sp>
      <p:sp>
        <p:nvSpPr>
          <p:cNvPr id="15" name="need-b-3">
            <a:extLst xmlns:a="http://schemas.openxmlformats.org/drawingml/2006/main">
              <a:ext uri="{FF2B5EF4-FFF2-40B4-BE49-F238E27FC236}">
                <a16:creationId xmlns:a16="http://schemas.microsoft.com/office/drawing/2014/main" id="{D7411F03-9936-46E0-BC01-EA4FEA25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243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0"/>
                </a:solidFill>
              </a:defRPr>
            </a:pPr>
            <a:r>
              <a:rPr sz="1425" b="0">
                <a:solidFill>
                  <a:srgbClr val="5B6770"/>
                </a:solidFill>
              </a:rPr>
              <a:t>принять не только переход, но и удержание или остановку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CD9B005-A91C-49CC-AE87-FF853504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17" name="footer-num">
            <a:extLst xmlns:a="http://schemas.openxmlformats.org/drawingml/2006/main">
              <a:ext uri="{FF2B5EF4-FFF2-40B4-BE49-F238E27FC236}">
                <a16:creationId xmlns:a16="http://schemas.microsoft.com/office/drawing/2014/main" id="{F953E83C-030C-42CA-9015-0DB65579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2444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D4BB9316-28BB-4BD0-AB77-BA82D9D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проSTRAнство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9C9C55-EA89-4AA5-A3AA-152043D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62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Следующий шаг: квалификационный разговор и платная Диагностика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677C325B-AFC2-4612-A1D9-DBB53E1C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main">
            <a:extLst xmlns:a="http://schemas.openxmlformats.org/drawingml/2006/main">
              <a:ext uri="{FF2B5EF4-FFF2-40B4-BE49-F238E27FC236}">
                <a16:creationId xmlns:a16="http://schemas.microsoft.com/office/drawing/2014/main" id="{E1316440-58B2-4290-89B0-B26A3BC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Короткий разговор нужен не для бесплатного решения проблемы, а для проверки права входа в Диагностику.</a:t>
            </a:r>
          </a:p>
        </p:txBody>
      </p:sp>
      <p:sp>
        <p:nvSpPr>
          <p:cNvPr id="5" name="price">
            <a:extLst xmlns:a="http://schemas.openxmlformats.org/drawingml/2006/main">
              <a:ext uri="{FF2B5EF4-FFF2-40B4-BE49-F238E27FC236}">
                <a16:creationId xmlns:a16="http://schemas.microsoft.com/office/drawing/2014/main" id="{F6FCB758-F0A2-406A-9F66-520A6993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457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price-t">
            <a:extLst xmlns:a="http://schemas.openxmlformats.org/drawingml/2006/main">
              <a:ext uri="{FF2B5EF4-FFF2-40B4-BE49-F238E27FC236}">
                <a16:creationId xmlns:a16="http://schemas.microsoft.com/office/drawing/2014/main" id="{A25E5F5C-9E1D-43FA-81C7-194E74CB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038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Диагностика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7-10 рабочих дней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650 000 - 1 200 000 руб.</a:t>
            </a:r>
          </a:p>
        </p:txBody>
      </p:sp>
      <p:sp>
        <p:nvSpPr>
          <p:cNvPr id="7" name="extended">
            <a:extLst xmlns:a="http://schemas.openxmlformats.org/drawingml/2006/main">
              <a:ext uri="{FF2B5EF4-FFF2-40B4-BE49-F238E27FC236}">
                <a16:creationId xmlns:a16="http://schemas.microsoft.com/office/drawing/2014/main" id="{80008A4B-8904-42B2-BD0B-65E342F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457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extended-t">
            <a:extLst xmlns:a="http://schemas.openxmlformats.org/drawingml/2006/main">
              <a:ext uri="{FF2B5EF4-FFF2-40B4-BE49-F238E27FC236}">
                <a16:creationId xmlns:a16="http://schemas.microsoft.com/office/drawing/2014/main" id="{E4A902BB-F22A-40F0-B092-1A113D66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4038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Расширенная Диагностика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10-15 рабочих дней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1 200 000 - 2 000 000 руб.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C393A5-F994-4A8E-85E7-35503A8D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Диагностика - обязательный платный вход</a:t>
            </a:r>
          </a:p>
        </p:txBody>
      </p:sp>
      <p:sp>
        <p:nvSpPr>
          <p:cNvPr id="10" name="footer-num">
            <a:extLst xmlns:a="http://schemas.openxmlformats.org/drawingml/2006/main">
              <a:ext uri="{FF2B5EF4-FFF2-40B4-BE49-F238E27FC236}">
                <a16:creationId xmlns:a16="http://schemas.microsoft.com/office/drawing/2014/main" id="{53AC95A1-DB5B-46D7-BAF0-7F818E90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770"/>
                </a:solidFill>
              </a:defRPr>
            </a:pPr>
            <a:r>
              <a:rPr sz="1050" b="0">
                <a:solidFill>
                  <a:srgbClr val="5B67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6245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2026-07-27T09:47:31.5280000Z</dcterms:created>
  <dcterms:modified xsi:type="dcterms:W3CDTF">2026-07-27T09:47:31.5280000Z</dcterms:modified>
</coreProperties>
</file>