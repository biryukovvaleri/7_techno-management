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7c777034fe49b6" /><Relationship Type="http://schemas.openxmlformats.org/officeDocument/2006/relationships/extended-properties" Target="/docProps/app.xml" Id="Ra0a58b0c91fe4d59" /><Relationship Type="http://schemas.openxmlformats.org/officeDocument/2006/relationships/officeDocument" Target="/ppt/presentation.xml" Id="Raad3096650ec49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a7f42daada481b"/>
  </p:sldMasterIdLst>
  <p:notesMasterIdLst>
    <p:notesMasterId xmlns:r="http://schemas.openxmlformats.org/officeDocument/2006/relationships" r:id="Rb8d3e60491cd49c1"/>
  </p:notesMasterIdLst>
  <p:sldIdLst>
    <p:sldId xmlns:r="http://schemas.openxmlformats.org/officeDocument/2006/relationships" id="256" r:id="Rede820c866644668"/>
    <p:sldId xmlns:r="http://schemas.openxmlformats.org/officeDocument/2006/relationships" id="257" r:id="R9025fef435084e23"/>
    <p:sldId xmlns:r="http://schemas.openxmlformats.org/officeDocument/2006/relationships" id="258" r:id="Rfae24b42ac7a4597"/>
    <p:sldId xmlns:r="http://schemas.openxmlformats.org/officeDocument/2006/relationships" id="259" r:id="R38fd29b26d824ec4"/>
    <p:sldId xmlns:r="http://schemas.openxmlformats.org/officeDocument/2006/relationships" id="260" r:id="R1a8b6ed19cf24bea"/>
    <p:sldId xmlns:r="http://schemas.openxmlformats.org/officeDocument/2006/relationships" id="261" r:id="R0a02b4a55ea04edf"/>
    <p:sldId xmlns:r="http://schemas.openxmlformats.org/officeDocument/2006/relationships" id="262" r:id="R2d20cd2e83a34c29"/>
    <p:sldId xmlns:r="http://schemas.openxmlformats.org/officeDocument/2006/relationships" id="263" r:id="R66ab6a4c748c4104"/>
    <p:sldId xmlns:r="http://schemas.openxmlformats.org/officeDocument/2006/relationships" id="264" r:id="R639638a792434c17"/>
    <p:sldId xmlns:r="http://schemas.openxmlformats.org/officeDocument/2006/relationships" id="265" r:id="R704cd584fd814b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54a53f11d44db9" /><Relationship Type="http://schemas.openxmlformats.org/officeDocument/2006/relationships/slideMaster" Target="/ppt/slideMasters/slideMaster1.xml" Id="R35a7f42daada481b" /><Relationship Type="http://schemas.openxmlformats.org/officeDocument/2006/relationships/notesMaster" Target="/ppt/notesMasters/notesMaster1.xml" Id="Rb8d3e60491cd49c1" /><Relationship Type="http://schemas.openxmlformats.org/officeDocument/2006/relationships/presProps" Target="/ppt/presProps.xml" Id="R5c8c4f299f394fd8" /><Relationship Type="http://schemas.openxmlformats.org/officeDocument/2006/relationships/tableStyles" Target="/ppt/tableStyles.xml" Id="Rb1a160ddbf3e4b9c" /><Relationship Type="http://schemas.openxmlformats.org/officeDocument/2006/relationships/slide" Target="/ppt/slides/slide1.xml" Id="Rede820c866644668" /><Relationship Type="http://schemas.openxmlformats.org/officeDocument/2006/relationships/slide" Target="/ppt/slides/slide2.xml" Id="R9025fef435084e23" /><Relationship Type="http://schemas.openxmlformats.org/officeDocument/2006/relationships/slide" Target="/ppt/slides/slide3.xml" Id="Rfae24b42ac7a4597" /><Relationship Type="http://schemas.openxmlformats.org/officeDocument/2006/relationships/slide" Target="/ppt/slides/slide4.xml" Id="R38fd29b26d824ec4" /><Relationship Type="http://schemas.openxmlformats.org/officeDocument/2006/relationships/slide" Target="/ppt/slides/slide5.xml" Id="R1a8b6ed19cf24bea" /><Relationship Type="http://schemas.openxmlformats.org/officeDocument/2006/relationships/slide" Target="/ppt/slides/slide6.xml" Id="R0a02b4a55ea04edf" /><Relationship Type="http://schemas.openxmlformats.org/officeDocument/2006/relationships/slide" Target="/ppt/slides/slide7.xml" Id="R2d20cd2e83a34c29" /><Relationship Type="http://schemas.openxmlformats.org/officeDocument/2006/relationships/slide" Target="/ppt/slides/slide8.xml" Id="R66ab6a4c748c4104" /><Relationship Type="http://schemas.openxmlformats.org/officeDocument/2006/relationships/slide" Target="/ppt/slides/slide9.xml" Id="R639638a792434c17" /><Relationship Type="http://schemas.openxmlformats.org/officeDocument/2006/relationships/slide" Target="/ppt/slides/slide10.xml" Id="R704cd584fd814b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42254c606b49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c9fb00f0e048e5" /><Relationship Type="http://schemas.openxmlformats.org/officeDocument/2006/relationships/notesMaster" Target="/ppt/notesMasters/notesMaster1.xml" Id="R4c55e29f41c44d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40c95543d24c8d" /><Relationship Type="http://schemas.openxmlformats.org/officeDocument/2006/relationships/notesMaster" Target="/ppt/notesMasters/notesMaster1.xml" Id="R41ce303f750248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6be668dc1d44fe" /><Relationship Type="http://schemas.openxmlformats.org/officeDocument/2006/relationships/notesMaster" Target="/ppt/notesMasters/notesMaster1.xml" Id="Rf13d9228658849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3781f6f52a43f9" /><Relationship Type="http://schemas.openxmlformats.org/officeDocument/2006/relationships/notesMaster" Target="/ppt/notesMasters/notesMaster1.xml" Id="R65112257908141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c15ef1141f498a" /><Relationship Type="http://schemas.openxmlformats.org/officeDocument/2006/relationships/notesMaster" Target="/ppt/notesMasters/notesMaster1.xml" Id="Rba7d6eaab2d748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ac4940732041a9" /><Relationship Type="http://schemas.openxmlformats.org/officeDocument/2006/relationships/notesMaster" Target="/ppt/notesMasters/notesMaster1.xml" Id="R87da36743b6046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7bd7416f8946e3" /><Relationship Type="http://schemas.openxmlformats.org/officeDocument/2006/relationships/notesMaster" Target="/ppt/notesMasters/notesMaster1.xml" Id="Re18e66f53f9245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2c29ca1aba4e88" /><Relationship Type="http://schemas.openxmlformats.org/officeDocument/2006/relationships/notesMaster" Target="/ppt/notesMasters/notesMaster1.xml" Id="R9a766dd2b7c548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14be0edad046a4" /><Relationship Type="http://schemas.openxmlformats.org/officeDocument/2006/relationships/notesMaster" Target="/ppt/notesMasters/notesMaster1.xml" Id="Rb1280dce0a914f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13203445804481" /><Relationship Type="http://schemas.openxmlformats.org/officeDocument/2006/relationships/notesMaster" Target="/ppt/notesMasters/notesMaster1.xml" Id="Rb893adedef6c48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Внутренние материалы проSTRAнства: промпт 12B, операционная система v1.0, пакет продажи Диагностики v1.0.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Промпт 12B; операционная система проSTRAнства v1.0.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Промпт 12B; коммерческий пакет проSTRAнства v1.0.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Операционная система проSTRAнства v1.0; справочник инструментов и карточек знания v1.0.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Пакет продажи Диагностики v1.0; коммерческое предложение Диагностика v1.0.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Операционная система проSTRAнства v1.0; квалификация клиента перед Диагностикой v1.0.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Коммерческий пакет проSTRAнства v1.0; операционная система v1.0.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Навигатор кейсов и продаж v1.0; каталог кейсов проSTRAнства.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Языковой стандарт v1.0; коммерческий пакет v1.0.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Промпт 12B; пакет продажи Диагностики v1.0; коммерческое предложение Диагностика v1.0.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a0c2b93e349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a237498a384b5b" /><Relationship Type="http://schemas.openxmlformats.org/officeDocument/2006/relationships/slideLayout" Target="/ppt/slideLayouts/slideLayout1.xml" Id="R0609f459b30a4d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09f459b30a4d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73050c385459a" /><Relationship Type="http://schemas.openxmlformats.org/officeDocument/2006/relationships/notesSlide" Target="/ppt/notesSlides/notesSlide1.xml" Id="R9450bf4949f444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84f75682b41db" /><Relationship Type="http://schemas.openxmlformats.org/officeDocument/2006/relationships/notesSlide" Target="/ppt/notesSlides/notesSlide2.xml" Id="R397d393e513941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1c2c7917e4616" /><Relationship Type="http://schemas.openxmlformats.org/officeDocument/2006/relationships/notesSlide" Target="/ppt/notesSlides/notesSlide3.xml" Id="R206f8a5c6d3747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83175ef7c466c" /><Relationship Type="http://schemas.openxmlformats.org/officeDocument/2006/relationships/notesSlide" Target="/ppt/notesSlides/notesSlide4.xml" Id="Rd86b2a2ebea847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0991f8e304798" /><Relationship Type="http://schemas.openxmlformats.org/officeDocument/2006/relationships/notesSlide" Target="/ppt/notesSlides/notesSlide5.xml" Id="R77ce0c39835149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6799817574397" /><Relationship Type="http://schemas.openxmlformats.org/officeDocument/2006/relationships/notesSlide" Target="/ppt/notesSlides/notesSlide6.xml" Id="R80803d5129cf46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45e2f301e4ae2" /><Relationship Type="http://schemas.openxmlformats.org/officeDocument/2006/relationships/notesSlide" Target="/ppt/notesSlides/notesSlide7.xml" Id="R1d89bf34ee904a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bdee38b9640a7" /><Relationship Type="http://schemas.openxmlformats.org/officeDocument/2006/relationships/notesSlide" Target="/ppt/notesSlides/notesSlide8.xml" Id="R3fc9d035f63d4f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d536a188e4522" /><Relationship Type="http://schemas.openxmlformats.org/officeDocument/2006/relationships/notesSlide" Target="/ppt/notesSlides/notesSlide9.xml" Id="Rd67e6505c4814c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e9dfae0a74ff4" /><Relationship Type="http://schemas.openxmlformats.org/officeDocument/2006/relationships/notesSlide" Target="/ppt/notesSlides/notesSlide10.xml" Id="Rab2b26e26ec94c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0B90C02-26B5-4DAC-A877-72C465EF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DFE6"/>
                </a:solidFill>
              </a:defRPr>
            </a:pPr>
            <a:r>
              <a:rPr sz="975" b="1">
                <a:solidFill>
                  <a:srgbClr val="D8DFE6"/>
                </a:solidFill>
              </a:rPr>
              <a:t>C-Level Insight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AC434A0-DD69-41FE-B534-447272F4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проSTRAнство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2FD2E-FE30-4904-A83F-F513C3F4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2857032-2D4F-4E7D-A599-2B09A346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733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5EDF3"/>
                </a:solidFill>
              </a:defRPr>
            </a:pPr>
            <a:r>
              <a:rPr sz="1950" b="0">
                <a:solidFill>
                  <a:srgbClr val="E5EDF3"/>
                </a:solidFill>
              </a:rPr>
              <a:t>Экспертная система точного выбора фреймворков и связки стратегии с операционным исполнением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853E4-80A2-4203-A5AC-CB1D62CC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E2"/>
          </a:solidFill>
          <a:ln xmlns:a="http://schemas.openxmlformats.org/drawingml/2006/main" w="953">
            <a:solidFill>
              <a:srgbClr val="F3EDE2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C96F9EA-8BFB-4D65-A38C-723AB681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проблема → триггеры → фреймворки → мост → инструменты → исполнение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3EBC09-27D5-4EC9-898E-98FAA66D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962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775"/>
                </a:solidFill>
              </a:defRPr>
            </a:pPr>
            <a:r>
              <a:rPr sz="975" b="0">
                <a:solidFill>
                  <a:srgbClr val="5B6775"/>
                </a:solidFill>
              </a:rPr>
              <a:t>Коммерческая презентация v1.0</a:t>
            </a:r>
          </a:p>
        </p:txBody>
      </p:sp>
    </p:spTree>
    <p:extLst>
      <p:ext uri="{BB962C8B-B14F-4D97-AF65-F5344CB8AC3E}">
        <p14:creationId xmlns:p14="http://schemas.microsoft.com/office/powerpoint/2010/main" val="19646792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D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CABE40-AE21-4C8B-8B71-2EEE21F6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033"/>
                </a:solidFill>
              </a:defRPr>
            </a:pPr>
            <a:r>
              <a:rPr sz="2775" b="1">
                <a:solidFill>
                  <a:srgbClr val="102033"/>
                </a:solidFill>
              </a:rPr>
              <a:t>Компании тонут в веере стратегических рамок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C800301-D8C9-40C9-8B4A-040B071A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5"/>
                </a:solidFill>
              </a:defRPr>
            </a:pPr>
            <a:r>
              <a:rPr sz="1350" b="0">
                <a:solidFill>
                  <a:srgbClr val="5B6775"/>
                </a:solidFill>
              </a:rPr>
              <a:t>Моделей, сессий и инициатив много, но непонятно, что нужно именно сейчас.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5C34C-062F-4AC0-A8B0-2EA8EF0E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FE4B0-2D66-4BE2-A531-BBF670E3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6EE6B96-FFD2-40AF-AA5E-CCC575F0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Стратегия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B879EB5-3BC4-463B-B470-7FE48534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</a:defRPr>
            </a:pPr>
            <a:r>
              <a:rPr sz="1200" b="0">
                <a:solidFill>
                  <a:srgbClr val="5B6775"/>
                </a:solidFill>
              </a:rPr>
              <a:t>есть документ, но нет движения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D621A-580E-404F-BE37-B9A72264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98E8A-7D35-4E39-9EA7-87EA2340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919233E-726F-41E7-B420-E4D83667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Сессии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4D9B7DD-1266-4B82-99D6-1C62766F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5270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</a:defRPr>
            </a:pPr>
            <a:r>
              <a:rPr sz="1200" b="0">
                <a:solidFill>
                  <a:srgbClr val="5B6775"/>
                </a:solidFill>
              </a:rPr>
              <a:t>много идей, мало обязательств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63EE9-EBCA-46A2-9CFD-9BACCED7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E0B67-E82A-405B-9646-B64177CB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D4542F9-57A1-45B1-9CCF-A13B0673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Инициативы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641E231-B2EA-4224-A84B-AC861849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</a:defRPr>
            </a:pPr>
            <a:r>
              <a:rPr sz="1200" b="0">
                <a:solidFill>
                  <a:srgbClr val="5B6775"/>
                </a:solidFill>
              </a:rPr>
              <a:t>приоритеты конкурируют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DD709-4744-4D73-932D-62FEAD5C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D18AB-EE2F-4C42-9C2B-2E4617B1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C4A05EB-862B-4C0C-8061-F9793614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Метрики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F63FFEF-3806-4027-AF42-59F27AB1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</a:defRPr>
            </a:pPr>
            <a:r>
              <a:rPr sz="1200" b="0">
                <a:solidFill>
                  <a:srgbClr val="5B6775"/>
                </a:solidFill>
              </a:rPr>
              <a:t>разные версии правды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FF8DF-14A5-473A-8DBC-19943156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14A529-DB9B-4D88-B323-7910C719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99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69588E1-E46D-4C56-80E9-8FEDC278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Функции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3D20A44-99BC-4568-BD65-28CA5F34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290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</a:defRPr>
            </a:pPr>
            <a:r>
              <a:rPr sz="1200" b="0">
                <a:solidFill>
                  <a:srgbClr val="5B6775"/>
                </a:solidFill>
              </a:rPr>
              <a:t>каждая защищает свой контур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F4086-5030-4141-9EEB-F276CC8A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038500-DACD-4D67-8511-8A95E050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99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AB54E13-A50F-4BEE-BFAB-CB4316B3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Исполнение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7F0CB61-B77E-4811-B56A-91E70B24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5"/>
                </a:solidFill>
              </a:defRPr>
            </a:pPr>
            <a:r>
              <a:rPr sz="1200" b="0">
                <a:solidFill>
                  <a:srgbClr val="5B6775"/>
                </a:solidFill>
              </a:rPr>
              <a:t>нет владельца и ритма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45A7016-0BC6-448C-8D19-082674A4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Диагноз: проблема не в дефиците моделей, а в дефиците точного выбора под управленческую задачу.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A0EDABC-EC1A-44B5-8DE2-5E762DCA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C-Level Insight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C9CE7F4-A0B5-4981-9A42-7F7F311B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9617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233141-80B4-417F-9187-E4FF7A5B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033"/>
                </a:solidFill>
              </a:defRPr>
            </a:pPr>
            <a:r>
              <a:rPr sz="2775" b="1">
                <a:solidFill>
                  <a:srgbClr val="102033"/>
                </a:solidFill>
              </a:rPr>
              <a:t>Неверный выбор стратегии дорог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A739563-44E1-4C08-9152-CFE2FEFD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5"/>
                </a:solidFill>
              </a:defRPr>
            </a:pPr>
            <a:r>
              <a:rPr sz="1350" b="0">
                <a:solidFill>
                  <a:srgbClr val="5B6775"/>
                </a:solidFill>
              </a:rPr>
              <a:t>Когда выбран не тот фреймворк, компания получает активность вместо управляемости.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54409-1DF0-43C0-96E2-AC5418A6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324100" cy="23622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83493-CC9A-486B-A26D-D7102506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80464CC-049A-47E4-8C18-9FD62F2F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Распыление ресурсов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9E8F300-EDFD-4981-B0A4-8F8C3743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905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5"/>
                </a:solidFill>
              </a:defRPr>
            </a:pPr>
            <a:r>
              <a:rPr sz="1275" b="0">
                <a:solidFill>
                  <a:srgbClr val="5B6775"/>
                </a:solidFill>
              </a:rPr>
              <a:t>много направлений, слабый фокус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13D58-2CCE-48DC-A486-2E355073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2324100" cy="23622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71E31"/>
          </a:solidFill>
          <a:ln xmlns:a="http://schemas.openxmlformats.org/drawingml/2006/main" w="9525">
            <a:solidFill>
              <a:srgbClr val="071E3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4A294-4F14-4138-8673-BF1E517D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384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solidFill>
              <a:srgbClr val="FFFFFF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AF368A7-64FF-4D54-8C75-4BA454AA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Слабое внедрение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A380BA7-23F2-4D16-B100-57390D9A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86100"/>
            <a:ext cx="1905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6EE"/>
                </a:solidFill>
              </a:defRPr>
            </a:pPr>
            <a:r>
              <a:rPr sz="1275" b="0">
                <a:solidFill>
                  <a:srgbClr val="DDE6EE"/>
                </a:solidFill>
              </a:rPr>
              <a:t>выводы не доходят до действий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B1418-C3EE-4A30-B03E-78F541A1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2324100" cy="23622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49ABC-F334-4AFF-A126-0F4BC8C3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0BA5AF3-AE44-49B4-B268-BD70AD5E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Конфликт приоритетов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7F79F23-F0D3-47E4-85DB-3AE218FA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1905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5"/>
                </a:solidFill>
              </a:defRPr>
            </a:pPr>
            <a:r>
              <a:rPr sz="1275" b="0">
                <a:solidFill>
                  <a:srgbClr val="5B6775"/>
                </a:solidFill>
              </a:rPr>
              <a:t>функции спорят о главном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812E0-E441-467B-9CAD-716215D3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2324100" cy="23622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D668B-5D68-4C05-A79C-7420A6F7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384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620276F-08B3-4F18-B45B-65B8A633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47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Нет владельцев и метрик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92EABF9-444A-4B22-BC28-F104BB64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1905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5"/>
                </a:solidFill>
              </a:defRPr>
            </a:pPr>
            <a:r>
              <a:rPr sz="1275" b="0">
                <a:solidFill>
                  <a:srgbClr val="5B6775"/>
                </a:solidFill>
              </a:rPr>
              <a:t>решения не закрепляются в ритме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02C7B51-698C-4F2F-AFF6-535D0C3B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Поэтому первый коммерческий шаг - не обсуждать любимые модели, а проверить, какую проблему действительно надо решать.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5E1BB8B-98ED-45E5-8E15-B2B798C8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C-Level Insight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D442707-F205-4B65-BE18-9587D786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5622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D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EFCDE2-49CC-4D4E-A3D4-0C5F96C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033"/>
                </a:solidFill>
              </a:defRPr>
            </a:pPr>
            <a:r>
              <a:rPr sz="2775" b="1">
                <a:solidFill>
                  <a:srgbClr val="102033"/>
                </a:solidFill>
              </a:rPr>
              <a:t>Механизм проSTRAнства сужает выбор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85DB7E4-AEC8-4FEC-BB88-81499C18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5"/>
                </a:solidFill>
              </a:defRPr>
            </a:pPr>
            <a:r>
              <a:rPr sz="1350" b="0">
                <a:solidFill>
                  <a:srgbClr val="5B6775"/>
                </a:solidFill>
              </a:rPr>
              <a:t>Технология переводит жалобу в проверяемую управленческую задачу и рабочий контур исполнения.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12D76-1F8D-4968-ABB0-AF4BE57B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4795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A4632B-295C-4CA0-B58F-5D9B17FE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537"/>
                </a:solidFill>
              </a:defRPr>
            </a:pPr>
            <a:r>
              <a:rPr sz="1050" b="1">
                <a:solidFill>
                  <a:srgbClr val="C78537"/>
                </a:solidFill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EBC211-D15C-426C-B1B5-7ABF08D5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Проблемная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единица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143F77-90A4-437D-A454-EE334F9A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5"/>
                </a:solidFill>
              </a:defRPr>
            </a:pPr>
            <a:r>
              <a:rPr sz="1050" b="0">
                <a:solidFill>
                  <a:srgbClr val="5B6775"/>
                </a:solidFill>
              </a:rPr>
              <a:t>что разорвано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F516D9-1CD9-4021-BB1A-2567F849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8537"/>
                </a:solidFill>
              </a:defRPr>
            </a:pPr>
            <a:r>
              <a:rPr sz="1650" b="1">
                <a:solidFill>
                  <a:srgbClr val="C78537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0BEEB-0DA1-40B5-989A-60727A5E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4795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AEE4FE7-A28B-41A4-A133-B0F9C2C3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0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537"/>
                </a:solidFill>
              </a:defRPr>
            </a:pPr>
            <a:r>
              <a:rPr sz="1050" b="1">
                <a:solidFill>
                  <a:srgbClr val="C78537"/>
                </a:solidFill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8D7EDB8-39DD-4D01-AAB7-AF2ACCB5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4800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Триггеры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BDF9C1D-7184-4FDF-80CF-73665F41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052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5"/>
                </a:solidFill>
              </a:defRPr>
            </a:pPr>
            <a:r>
              <a:rPr sz="1050" b="0">
                <a:solidFill>
                  <a:srgbClr val="5B6775"/>
                </a:solidFill>
              </a:rPr>
              <a:t>что включилось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972C532-2537-4FCC-94AD-8F3E7155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8537"/>
                </a:solidFill>
              </a:defRPr>
            </a:pPr>
            <a:r>
              <a:rPr sz="1650" b="1">
                <a:solidFill>
                  <a:srgbClr val="C78537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F5CBA-1227-4E10-8F63-341B6068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6789F70-3E53-453A-A678-C1CAAE89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537"/>
                </a:solidFill>
              </a:defRPr>
            </a:pPr>
            <a:r>
              <a:rPr sz="1050" b="1">
                <a:solidFill>
                  <a:srgbClr val="C78537"/>
                </a:solidFill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1A374C9-FF63-4F78-9913-F415C846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5-7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фреймворков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0520679-B1AB-4610-BEC9-9D06830B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052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5"/>
                </a:solidFill>
              </a:defRPr>
            </a:pPr>
            <a:r>
              <a:rPr sz="1050" b="0">
                <a:solidFill>
                  <a:srgbClr val="5B6775"/>
                </a:solidFill>
              </a:rPr>
              <a:t>что выбирать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51303BC-01B0-4747-803E-3F49C8A5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8537"/>
                </a:solidFill>
              </a:defRPr>
            </a:pPr>
            <a:r>
              <a:rPr sz="1650" b="1">
                <a:solidFill>
                  <a:srgbClr val="C78537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8BEE1-14C7-4F56-A5E2-2287EC5A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4795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71E31"/>
          </a:solidFill>
          <a:ln xmlns:a="http://schemas.openxmlformats.org/drawingml/2006/main" w="9525">
            <a:solidFill>
              <a:srgbClr val="071E31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B38EF59-014B-447A-8B3E-69F1F871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3867F1A-1CD1-464F-9E78-FD398A85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Мост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A70C9BF-668B-4C3E-B9F2-027C5AB8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6EE"/>
                </a:solidFill>
              </a:defRPr>
            </a:pPr>
            <a:r>
              <a:rPr sz="1050" b="0">
                <a:solidFill>
                  <a:srgbClr val="DDE6EE"/>
                </a:solidFill>
              </a:rPr>
              <a:t>как перевести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8C46A5A-6676-43C1-8DA5-CF38FA67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8537"/>
                </a:solidFill>
              </a:defRPr>
            </a:pPr>
            <a:r>
              <a:rPr sz="1650" b="1">
                <a:solidFill>
                  <a:srgbClr val="C78537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9E3139-31E3-4971-9E79-34847AEC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4444CF0-554F-4C46-AFA7-8C9CDC58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537"/>
                </a:solidFill>
              </a:defRPr>
            </a:pPr>
            <a:r>
              <a:rPr sz="1050" b="1">
                <a:solidFill>
                  <a:srgbClr val="C78537"/>
                </a:solidFill>
              </a:rPr>
              <a:t>05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32EA19D-FB47-47AD-ADBF-EE097111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3-5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инструментов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54033AB-1042-4430-95D3-90E17DEE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052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5"/>
                </a:solidFill>
              </a:defRPr>
            </a:pPr>
            <a:r>
              <a:rPr sz="1050" b="0">
                <a:solidFill>
                  <a:srgbClr val="5B6775"/>
                </a:solidFill>
              </a:rPr>
              <a:t>чем исполнять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703D9AB-6D25-40B8-BA71-7283FFF4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8537"/>
                </a:solidFill>
              </a:defRPr>
            </a:pPr>
            <a:r>
              <a:rPr sz="1650" b="1">
                <a:solidFill>
                  <a:srgbClr val="C78537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4F7398-E8A0-439C-9A44-F17F0091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3A3853A-6B65-4BCC-9BAE-0FE40E1E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80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537"/>
                </a:solidFill>
              </a:defRPr>
            </a:pPr>
            <a:r>
              <a:rPr sz="1050" b="1">
                <a:solidFill>
                  <a:srgbClr val="C78537"/>
                </a:solidFill>
              </a:rPr>
              <a:t>06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60A5484-74F2-455C-BA56-D468E5EC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4800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Владельцы</a:t>
            </a:r>
          </a:p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и метрики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4826998F-81F7-4238-863C-B0DAC3A9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5052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5"/>
                </a:solidFill>
              </a:defRPr>
            </a:pPr>
            <a:r>
              <a:rPr sz="1050" b="0">
                <a:solidFill>
                  <a:srgbClr val="5B6775"/>
                </a:solidFill>
              </a:rPr>
              <a:t>как удержать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8F03DE2-520C-4FAB-B343-7B31F666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Смысл ядра: выбрать не красивую модель, а минимальный рабочий набор, который можно привязать к владельцам, метрикам и Спринту.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A5469E5-AAF2-4492-913B-2B6D129D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C-Level Insight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C285A733-8CF7-43B9-9128-C10CA2AE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7011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050F76-78D8-459A-B140-2848424D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033"/>
                </a:solidFill>
              </a:defRPr>
            </a:pPr>
            <a:r>
              <a:rPr sz="2775" b="1">
                <a:solidFill>
                  <a:srgbClr val="102033"/>
                </a:solidFill>
              </a:rPr>
              <a:t>Первый шаг - платная Диагностика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D02296-6A65-4BD3-8D15-FF332647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5"/>
                </a:solidFill>
              </a:defRPr>
            </a:pPr>
            <a:r>
              <a:rPr sz="1350" b="0">
                <a:solidFill>
                  <a:srgbClr val="5B6775"/>
                </a:solidFill>
              </a:rPr>
              <a:t>Мы проверяем применимость технологии до того, как предлагать Сессию, Спринт или Сопровождение.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A0379-C6FF-4383-B77A-9DD05D72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E31"/>
          </a:solidFill>
          <a:ln xmlns:a="http://schemas.openxmlformats.org/drawingml/2006/main" w="953">
            <a:solidFill>
              <a:srgbClr val="071E31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8D88C30-B81E-4437-BDBD-B1245372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DD3B77-6CE2-4283-85BB-6C6F8CEE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5740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Тип проблемы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8AAF04F-7491-44B0-8BBA-FFAEE350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62200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5"/>
                </a:solidFill>
              </a:defRPr>
            </a:pPr>
            <a:r>
              <a:rPr sz="1275" b="0">
                <a:solidFill>
                  <a:srgbClr val="5B6775"/>
                </a:solidFill>
              </a:rPr>
              <a:t>отделить жалобу от управленческого разрыва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7A2B8-67D4-440D-82C7-62B20596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E31"/>
          </a:solidFill>
          <a:ln xmlns:a="http://schemas.openxmlformats.org/drawingml/2006/main" w="953">
            <a:solidFill>
              <a:srgbClr val="071E31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100B58A-E792-4980-A2D2-7511DD4E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242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1F9D939-EDA3-4330-8A0C-EA87B5EA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908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Триггеры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E1BC8EF-0CB1-47F5-B39E-532087D2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95650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5"/>
                </a:solidFill>
              </a:defRPr>
            </a:pPr>
            <a:r>
              <a:rPr sz="1275" b="0">
                <a:solidFill>
                  <a:srgbClr val="5B6775"/>
                </a:solidFill>
              </a:rPr>
              <a:t>понять, какие наборы и фреймворки действительно нужны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87212-0715-41EC-BF88-5272AC0D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E31"/>
          </a:solidFill>
          <a:ln xmlns:a="http://schemas.openxmlformats.org/drawingml/2006/main" w="953">
            <a:solidFill>
              <a:srgbClr val="071E31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D6D1DF2-EDB2-461A-961A-4C9E6EA1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576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9F0D785-1C7D-41B1-9533-CE7CE5F6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2430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Текущий контур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D855137-8011-4F01-B5DD-35BF08CE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29100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5"/>
                </a:solidFill>
              </a:defRPr>
            </a:pPr>
            <a:r>
              <a:rPr sz="1275" b="0">
                <a:solidFill>
                  <a:srgbClr val="5B6775"/>
                </a:solidFill>
              </a:rPr>
              <a:t>проверить, что есть, что работает и что разорвано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351F5-A348-4437-8EAB-2593E9EB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764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71E31"/>
          </a:solidFill>
          <a:ln xmlns:a="http://schemas.openxmlformats.org/drawingml/2006/main" w="953">
            <a:solidFill>
              <a:srgbClr val="071E31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762CF80-EF4B-4536-A78F-0640D6A7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E1657-36C1-4A49-946E-D2BA94A1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E4B10D7-C8A7-4B55-B38D-4EBAD928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956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6EE"/>
                </a:solidFill>
              </a:defRPr>
            </a:pPr>
            <a:r>
              <a:rPr sz="1500" b="0">
                <a:solidFill>
                  <a:srgbClr val="DDE6EE"/>
                </a:solidFill>
              </a:rPr>
              <a:t>Карта проблемной единицы, предварительный маршрут и условия перехода к Сессии.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E3FAE56-2283-4D04-9B97-8F0A76F9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C-Level Insight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8DC2F52-C2C0-4D6B-AD2E-4E9DD040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7518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D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6478DD-A07A-4761-8D39-76AE7F6E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033"/>
                </a:solidFill>
              </a:defRPr>
            </a:pPr>
            <a:r>
              <a:rPr sz="2775" b="1">
                <a:solidFill>
                  <a:srgbClr val="102033"/>
                </a:solidFill>
              </a:rPr>
              <a:t>Вердикт Диагностики защищает от лишней Сессии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43529C-2D84-429D-85B8-02D107CF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5"/>
                </a:solidFill>
              </a:defRPr>
            </a:pPr>
            <a:r>
              <a:rPr sz="1350" b="0">
                <a:solidFill>
                  <a:srgbClr val="5B6775"/>
                </a:solidFill>
              </a:rPr>
              <a:t>Следующий этап не продается автоматически: решение зависит от фактов, данных, мандата и готовности контура.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697B7-4B29-4AAB-A18F-950B53C7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31432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78E6F-499E-40DA-A96B-C1A9B11C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3143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953">
            <a:solidFill>
              <a:srgbClr val="2E8B5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E17C9A-BBF8-41C1-91CF-C7620AC1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57"/>
                </a:solidFill>
              </a:defRPr>
            </a:pPr>
            <a:r>
              <a:rPr sz="1875" b="1">
                <a:solidFill>
                  <a:srgbClr val="2E8B57"/>
                </a:solidFill>
              </a:rPr>
              <a:t>Запускать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DA336C8-65E1-4F65-9BCE-B30CD38A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5"/>
                </a:solidFill>
              </a:defRPr>
            </a:pPr>
            <a:r>
              <a:rPr sz="1350" b="0">
                <a:solidFill>
                  <a:srgbClr val="5B6775"/>
                </a:solidFill>
              </a:rPr>
              <a:t>есть проблема, данные, владелец и условия для Сессии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1B01C-EBFB-41BD-8AD0-112FC47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31432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BD927-C375-4EC6-8B5B-B0259C81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3143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3E682C6-AB40-413C-BDE9-0AF01D82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78537"/>
                </a:solidFill>
              </a:defRPr>
            </a:pPr>
            <a:r>
              <a:rPr sz="1875" b="1">
                <a:solidFill>
                  <a:srgbClr val="C78537"/>
                </a:solidFill>
              </a:rPr>
              <a:t>Удержать до условий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BE1026B-9887-4684-B5FC-D2FFB372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671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5"/>
                </a:solidFill>
              </a:defRPr>
            </a:pPr>
            <a:r>
              <a:rPr sz="1350" b="0">
                <a:solidFill>
                  <a:srgbClr val="5B6775"/>
                </a:solidFill>
              </a:rPr>
              <a:t>не хватает данных, мандата или готовности управленческого круга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076D7-D7B1-4739-A529-BBE56F2D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95550"/>
            <a:ext cx="31432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21D23-D761-4027-A988-C8F939D4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95550"/>
            <a:ext cx="3143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42F"/>
          </a:solidFill>
          <a:ln xmlns:a="http://schemas.openxmlformats.org/drawingml/2006/main" w="953">
            <a:solidFill>
              <a:srgbClr val="C9242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CD0E37A-B395-45E9-98C3-D819504A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242F"/>
                </a:solidFill>
              </a:defRPr>
            </a:pPr>
            <a:r>
              <a:rPr sz="1875" b="1">
                <a:solidFill>
                  <a:srgbClr val="C9242F"/>
                </a:solidFill>
              </a:rPr>
              <a:t>Остановить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E1554CC-4AD7-413A-AA3F-1B5FDFE8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5"/>
                </a:solidFill>
              </a:defRPr>
            </a:pPr>
            <a:r>
              <a:rPr sz="1350" b="0">
                <a:solidFill>
                  <a:srgbClr val="5B6775"/>
                </a:solidFill>
              </a:rPr>
              <a:t>технология сейчас не нужна или невозможна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7D87B67-3643-4FDF-AF10-0895D057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Сильный консалтинговый продукт умеет не только запускать проект, но и честно остановить неверный следующий шаг.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AFE24EC-AE5A-4414-8D4A-D9F9BE99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C-Level Insight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26161B6-5B64-4E67-935A-447DE96A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54602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33A93F-95FE-4E52-BA9B-D4DCC5BD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033"/>
                </a:solidFill>
              </a:defRPr>
            </a:pPr>
            <a:r>
              <a:rPr sz="2775" b="1">
                <a:solidFill>
                  <a:srgbClr val="102033"/>
                </a:solidFill>
              </a:rPr>
              <a:t>Клиент проходит 4 платных этапа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330C6B-3EA2-4DE6-8F8B-5B026CA2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5"/>
                </a:solidFill>
              </a:defRPr>
            </a:pPr>
            <a:r>
              <a:rPr sz="1350" b="0">
                <a:solidFill>
                  <a:srgbClr val="5B6775"/>
                </a:solidFill>
              </a:rPr>
              <a:t>Каждый этап имеет свой результат и право остановить или уточнить следующий шаг.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9CD74-BE33-4955-A17D-FE8C7810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76400"/>
            <a:ext cx="781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71E31"/>
          </a:solidFill>
          <a:ln xmlns:a="http://schemas.openxmlformats.org/drawingml/2006/main" w="9525">
            <a:solidFill>
              <a:srgbClr val="071E31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99BA788-F79F-4368-B80F-50CFE93F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05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537"/>
                </a:solidFill>
              </a:defRPr>
            </a:pPr>
            <a:r>
              <a:rPr sz="1350" b="1">
                <a:solidFill>
                  <a:srgbClr val="C78537"/>
                </a:solidFill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4E400C5-A294-49FA-B745-39A0F7C2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85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Диагностика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572CFFA-AB54-4056-910D-6C527E2A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050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6EE"/>
                </a:solidFill>
              </a:defRPr>
            </a:pPr>
            <a:r>
              <a:rPr sz="1275" b="0">
                <a:solidFill>
                  <a:srgbClr val="DDE6EE"/>
                </a:solidFill>
              </a:rPr>
              <a:t>применимость и ограничения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3D6BB-0602-4BCD-AB10-2B05C8BA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384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2EBED-34F8-40CE-808F-80DDDBB5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67000"/>
            <a:ext cx="781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E5D0B5F-B7C2-47DE-984A-0EE4B2D2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95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537"/>
                </a:solidFill>
              </a:defRPr>
            </a:pPr>
            <a:r>
              <a:rPr sz="1350" b="1">
                <a:solidFill>
                  <a:srgbClr val="C78537"/>
                </a:solidFill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F30E5D1-DC7F-464D-BDCA-F9F50B22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76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Сессия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34B6EEC-05F2-47B1-B024-11106F6B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956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5"/>
                </a:solidFill>
              </a:defRPr>
            </a:pPr>
            <a:r>
              <a:rPr sz="1275" b="0">
                <a:solidFill>
                  <a:srgbClr val="5B6775"/>
                </a:solidFill>
              </a:rPr>
              <a:t>рабочий набор и мост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B72B3-0527-4875-9471-7EF5C6E7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F4E05-2073-4538-8FBA-1F3B5E0D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57600"/>
            <a:ext cx="781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02A085B-C61D-4A6D-9AC9-359D31F4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86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537"/>
                </a:solidFill>
              </a:defRPr>
            </a:pPr>
            <a:r>
              <a:rPr sz="1350" b="1">
                <a:solidFill>
                  <a:srgbClr val="C78537"/>
                </a:solidFill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B5514BF-D4CD-43E0-815D-3CFBAA75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Спринт 30-60-90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513B4B2-39C3-4776-95CD-809A3013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862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5"/>
                </a:solidFill>
              </a:defRPr>
            </a:pPr>
            <a:r>
              <a:rPr sz="1275" b="0">
                <a:solidFill>
                  <a:srgbClr val="5B6775"/>
                </a:solidFill>
              </a:rPr>
              <a:t>исполнение на выбранном контуре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01086-6979-433B-B443-EDF4B608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196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88270-66D2-48DA-B027-DBA1B381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48200"/>
            <a:ext cx="781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E8CEB50-775F-4D0C-AC9B-3039AA55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76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537"/>
                </a:solidFill>
              </a:defRPr>
            </a:pPr>
            <a:r>
              <a:rPr sz="1350" b="1">
                <a:solidFill>
                  <a:srgbClr val="C78537"/>
                </a:solidFill>
              </a:rPr>
              <a:t>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AED039A-A00F-4C2A-BB00-1D6F1C7D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57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Сопровождение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C57FFF9-1759-41CD-95D8-607DA126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768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5"/>
                </a:solidFill>
              </a:defRPr>
            </a:pPr>
            <a:r>
              <a:rPr sz="1275" b="0">
                <a:solidFill>
                  <a:srgbClr val="5B6775"/>
                </a:solidFill>
              </a:rPr>
              <a:t>ритм управления и донастройка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BDD1FAA-A3DC-4744-BF65-2CF91664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293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На первом разговоре продается вход в проверку, а не весь проект сразу.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4F4D3A6-8AAA-400A-8E52-0227007D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C-Level Insight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4C2F797-7887-4898-A56F-BCEC051A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6992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D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4339E5-9420-49A8-B069-B1352F22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033"/>
                </a:solidFill>
              </a:defRPr>
            </a:pPr>
            <a:r>
              <a:rPr sz="2775" b="1">
                <a:solidFill>
                  <a:srgbClr val="102033"/>
                </a:solidFill>
              </a:rPr>
              <a:t>Кейсы нужны для узнавания боли, а не для обещаний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E9B0623-E59A-4FCA-9378-673AD5BE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5"/>
                </a:solidFill>
              </a:defRPr>
            </a:pPr>
            <a:r>
              <a:rPr sz="1350" b="0">
                <a:solidFill>
                  <a:srgbClr val="5B6775"/>
                </a:solidFill>
              </a:rPr>
              <a:t>В первом контакте показываются похожие ситуации, чтобы клиент увидел свою проблему и согласился на проверку.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FB2E7-E54E-4723-8B44-5A92F41F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8575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33C21-FFF3-46E7-B685-A729C3D9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680E543-0E31-4C28-BDA6-D693A9D8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Стратегия зависла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F39131A-2C25-49D1-9778-D253907B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5"/>
                </a:solidFill>
              </a:defRPr>
            </a:pPr>
            <a:r>
              <a:rPr sz="1275" b="0">
                <a:solidFill>
                  <a:srgbClr val="5B6775"/>
                </a:solidFill>
              </a:rPr>
              <a:t>курс есть, но решения не доходят до владельцев и метрик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B2170-72FF-4177-8A37-7C3D76F1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28575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AEFEB-BCE5-408D-9D2A-8D24F995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B39C47-9698-4CBD-A4C7-5C3CC0A4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Моделей много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573F21F-3795-4B4B-8467-65442B87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565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5"/>
                </a:solidFill>
              </a:defRPr>
            </a:pPr>
            <a:r>
              <a:rPr sz="1275" b="0">
                <a:solidFill>
                  <a:srgbClr val="5B6775"/>
                </a:solidFill>
              </a:rPr>
              <a:t>команда спорит о подходах, а не о проверяемой задаче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789FF-6C7C-49C7-8086-72FC976F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62200"/>
            <a:ext cx="28575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15933-637D-4B2D-BE51-BF48BD53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479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2317F15-B37D-406E-A875-99F2896A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Внедрение не держится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9012B79-19E4-4CA3-8CCF-5D541B0E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5"/>
                </a:solidFill>
              </a:defRPr>
            </a:pPr>
            <a:r>
              <a:rPr sz="1275" b="0">
                <a:solidFill>
                  <a:srgbClr val="5B6775"/>
                </a:solidFill>
              </a:rPr>
              <a:t>Спринты идут, но контур управления не меняется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6449433-788A-41AE-92DD-686E9928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53000"/>
            <a:ext cx="902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Формула разговора: «Похоже ли это на вашу ситуацию?» вместо «У нас есть универсальный рецепт».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52D1BE2-60B1-4D3A-B810-EA9741B9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C-Level Insight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D58882B-B69B-4859-AF90-3F19D6F9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78546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FA1799-F22A-4C3E-8268-01B1E804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033"/>
                </a:solidFill>
              </a:defRPr>
            </a:pPr>
            <a:r>
              <a:rPr sz="2775" b="1">
                <a:solidFill>
                  <a:srgbClr val="102033"/>
                </a:solidFill>
              </a:rPr>
              <a:t>Чем проSTRAнство не является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488686C-E251-4D7E-B3B5-FD7240FF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5"/>
                </a:solidFill>
              </a:defRPr>
            </a:pPr>
            <a:r>
              <a:rPr sz="1350" b="0">
                <a:solidFill>
                  <a:srgbClr val="5B6775"/>
                </a:solidFill>
              </a:rPr>
              <a:t>Это важно проговорить до продажи: иначе клиент будет ждать сессию, аудит или проектный офис.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CFA87-3892-408E-9A16-E6C27458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24050"/>
            <a:ext cx="723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09FDC26-56FA-4B35-B8DA-72060085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383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242F"/>
                </a:solidFill>
              </a:defRPr>
            </a:pPr>
            <a:r>
              <a:rPr sz="1200" b="1">
                <a:solidFill>
                  <a:srgbClr val="C9242F"/>
                </a:solidFill>
              </a:rPr>
              <a:t>не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9951315-4EAD-42A5-B91C-84625007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193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каталог стратегических фреймворков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35B7A-536A-437F-BD43-8731908B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723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C2A6C7-685B-4607-A8D3-A86C1256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4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242F"/>
                </a:solidFill>
              </a:defRPr>
            </a:pPr>
            <a:r>
              <a:rPr sz="1200" b="1">
                <a:solidFill>
                  <a:srgbClr val="C9242F"/>
                </a:solidFill>
              </a:rPr>
              <a:t>не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C2D9D6-1C28-4019-89B5-35E99F76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24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обычная стратегическая сессия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785E6-120F-4137-B51A-ECF79685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723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8BA7798-08CD-4676-A379-CED22A54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48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242F"/>
                </a:solidFill>
              </a:defRPr>
            </a:pPr>
            <a:r>
              <a:rPr sz="1200" b="1">
                <a:solidFill>
                  <a:srgbClr val="C9242F"/>
                </a:solidFill>
              </a:rPr>
              <a:t>не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C7ECD5E-F8A8-413F-8E29-4A2A77D7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29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аудит ради отчета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9901F-B308-4DF1-AFBF-B20DD0F9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723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BFDD40C-5396-413E-A2F4-C0BAD94B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52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242F"/>
                </a:solidFill>
              </a:defRPr>
            </a:pPr>
            <a:r>
              <a:rPr sz="1200" b="1">
                <a:solidFill>
                  <a:srgbClr val="C9242F"/>
                </a:solidFill>
              </a:rPr>
              <a:t>не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6803014-69A4-450F-BBF4-C8C9B830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3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проектный офис клиента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AC738-6A68-477D-AA02-42C1BE65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20002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071E31"/>
          </a:solidFill>
          <a:ln xmlns:a="http://schemas.openxmlformats.org/drawingml/2006/main" w="953">
            <a:solidFill>
              <a:srgbClr val="071E31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375C6A4-1F67-491B-9818-62F21A62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Что продается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5C12E76-47E7-4BE7-B094-2A76945E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813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DE6EE"/>
                </a:solidFill>
              </a:defRPr>
            </a:pPr>
            <a:r>
              <a:rPr sz="1350" b="0">
                <a:solidFill>
                  <a:srgbClr val="DDE6EE"/>
                </a:solidFill>
              </a:rPr>
              <a:t>точный вход в управленческую проверку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95FF14C-9DC0-415B-A419-2A565850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C-Level Insight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434E1A5-916E-4D71-B9E6-F26992EC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3909C"/>
                </a:solidFill>
              </a:defRPr>
            </a:pPr>
            <a:r>
              <a:rPr sz="900" b="0">
                <a:solidFill>
                  <a:srgbClr val="83909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81933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E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71575F1-0ED5-4FF9-8E6C-08521284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Следующий шаг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91FAD98-85B4-472B-AFAA-78DA6C52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Запустить Диагностику применимости проSTRAнства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8AB056D-94D2-4B0D-8468-69350282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6EE"/>
                </a:solidFill>
              </a:defRPr>
            </a:pPr>
            <a:r>
              <a:rPr sz="1650" b="0">
                <a:solidFill>
                  <a:srgbClr val="DDE6EE"/>
                </a:solidFill>
              </a:rPr>
              <a:t>На выходе: карта проблемной единицы, предварительный маршрут и вердикт Диагностики по следующему этапу.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089B8-9E72-47BD-A6E8-2778DA7E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33550"/>
            <a:ext cx="2381250" cy="29146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EDE2"/>
          </a:solidFill>
          <a:ln xmlns:a="http://schemas.openxmlformats.org/drawingml/2006/main" w="953">
            <a:solidFill>
              <a:srgbClr val="F3EDE2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9C25093-D1F3-499F-A4CA-3A30ED2F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Решение для клиента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8B7292B-145F-4E3F-BA30-17A473CD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5270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не покупать большой проект заранее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проверить применимость связки стратегии и исполнения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B86C7-1FEB-47A7-A653-0F2BCAD3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37"/>
          </a:solidFill>
          <a:ln xmlns:a="http://schemas.openxmlformats.org/drawingml/2006/main" w="953">
            <a:solidFill>
              <a:srgbClr val="C7853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08D831D-DDD4-4495-9AF6-E1610755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3385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Начать с платной Диагностики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47D3615-FEEA-4A14-BCAA-A0D46443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FE6"/>
                </a:solidFill>
              </a:defRPr>
            </a:pPr>
            <a:r>
              <a:rPr sz="900" b="0">
                <a:solidFill>
                  <a:srgbClr val="D8DFE6"/>
                </a:solidFill>
              </a:rPr>
              <a:t>C-Level Insight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FFB599F-9C47-42BA-9786-EE7AD6DE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DFE6"/>
                </a:solidFill>
              </a:defRPr>
            </a:pPr>
            <a:r>
              <a:rPr sz="900" b="0">
                <a:solidFill>
                  <a:srgbClr val="D8DFE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9115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2026-07-28T07:15:36.6870000Z</dcterms:created>
  <dcterms:modified xsi:type="dcterms:W3CDTF">2026-07-28T07:15:36.6870000Z</dcterms:modified>
</coreProperties>
</file>