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Объяснить технологию за 30 секунд как управляемый контур, а не как маркетинговую активность.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Показать дорогую проблему: продажный всплеск может не создавать привычку возвращаться.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Дать консультанту и клиенту карту проверки до обещаний результата.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Показать путь клиента как поведенческую цепочку, а не как рекламную воронку.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Зафиксировать, что повторяемость должна быть встроена в продукт и предложение.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Показать канал как среду подтверждения повторяемого поведения, а не как набор медиа.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Показать, как клиент возвращается без постоянного давления скидкой.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Связать поведение с финансовыми метриками без необоснованных гарантий.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Показать, как покупается и проводится технология без продажи всего консалтинга сразу.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Показать, что Сессия не является бренд-брейнштормом, а собирает решение для внедрения.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Показать Спринт как управляемое внедрение, а не как набор маркетинговых улучшений.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Дать универсальный кейсовый каркас для объяснения любого из 12 кейсов.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Защитить технологию от неправильной категории до передачи в дизайн и продажи.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B1F33">
                  <a:alpha val="5000"/>
                </a:srgbClr>
              </a:gs>
              <a:gs pos="100000">
                <a:srgbClr val="0B1F33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533400" y="804863"/>
            <a:ext cx="17221200" cy="1905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4" name="Text 2"/>
          <p:cNvSpPr/>
          <p:nvPr/>
        </p:nvSpPr>
        <p:spPr>
          <a:xfrm>
            <a:off x="533400" y="419100"/>
            <a:ext cx="5889419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15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ПОВТОРЯЕМЫЙ СПРОС / ВИЗУАЛИЗАЦИЯ 01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8423300" y="419100"/>
            <a:ext cx="1026443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15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КЛИЕНТСКИЙ СЛОЙ · FLOW + ARCHITECTURE MAP · СЛОЖНОСТЬ ПРОСТАЯ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533400" y="1071563"/>
            <a:ext cx="17737836" cy="12663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461"/>
              </a:lnSpc>
              <a:buNone/>
            </a:pPr>
            <a:r>
              <a:rPr lang="en-US" sz="4650" b="1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Повторяемый Спрос: как потребность превращается в повтор</a:t>
            </a:r>
            <a:endParaRPr lang="en-US" sz="4650" dirty="0"/>
          </a:p>
        </p:txBody>
      </p:sp>
      <p:sp>
        <p:nvSpPr>
          <p:cNvPr id="7" name="Text 5"/>
          <p:cNvSpPr/>
          <p:nvPr/>
        </p:nvSpPr>
        <p:spPr>
          <a:xfrm>
            <a:off x="533400" y="2433191"/>
            <a:ext cx="15697200" cy="7323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143"/>
              </a:lnSpc>
              <a:buNone/>
            </a:pPr>
            <a:r>
              <a:rPr lang="en-US" sz="2025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Технология связывает клиентскую потребность, предложение, сценарий, канал, повтор и экономику в один управляемый контур.</a:t>
            </a:r>
            <a:endParaRPr lang="en-US" sz="2025" dirty="0"/>
          </a:p>
        </p:txBody>
      </p:sp>
      <p:sp>
        <p:nvSpPr>
          <p:cNvPr id="8" name="Text 6"/>
          <p:cNvSpPr/>
          <p:nvPr/>
        </p:nvSpPr>
        <p:spPr>
          <a:xfrm>
            <a:off x="533400" y="3337024"/>
            <a:ext cx="1894332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165" kern="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потребность -&gt; предложение -&gt; сценарий -&gt; канал -&gt; повтор -&gt; экономика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533400" y="3798987"/>
            <a:ext cx="2457450" cy="3942011"/>
          </a:xfrm>
          <a:prstGeom prst="rect">
            <a:avLst/>
          </a:prstGeom>
          <a:solidFill>
            <a:srgbClr val="FFFFFF">
              <a:alpha val="32000"/>
            </a:srgbClr>
          </a:solidFill>
          <a:ln w="19050">
            <a:solidFill>
              <a:srgbClr val="0B1F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2950" y="4008537"/>
            <a:ext cx="2242185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742950" y="4375249"/>
            <a:ext cx="2242185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Потребность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742950" y="4837212"/>
            <a:ext cx="2114550" cy="63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645"/>
              </a:lnSpc>
              <a:buNone/>
            </a:pPr>
            <a:r>
              <a:rPr lang="en-US" sz="180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что человеку реально нужно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952750" y="3798987"/>
            <a:ext cx="571500" cy="39801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550" dirty="0">
                <a:solidFill>
                  <a:srgbClr val="B46A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2550" dirty="0"/>
          </a:p>
        </p:txBody>
      </p:sp>
      <p:sp>
        <p:nvSpPr>
          <p:cNvPr id="14" name="Shape 12"/>
          <p:cNvSpPr/>
          <p:nvPr/>
        </p:nvSpPr>
        <p:spPr>
          <a:xfrm>
            <a:off x="3486150" y="3798987"/>
            <a:ext cx="2457450" cy="3942011"/>
          </a:xfrm>
          <a:prstGeom prst="rect">
            <a:avLst/>
          </a:prstGeom>
          <a:solidFill>
            <a:srgbClr val="FFFFFF">
              <a:alpha val="32000"/>
            </a:srgbClr>
          </a:solidFill>
          <a:ln w="19050">
            <a:solidFill>
              <a:srgbClr val="0B1F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95700" y="4008537"/>
            <a:ext cx="2242185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3695700" y="4375249"/>
            <a:ext cx="2242185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Предложение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3695700" y="4837212"/>
            <a:ext cx="2114550" cy="63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645"/>
              </a:lnSpc>
              <a:buNone/>
            </a:pPr>
            <a:r>
              <a:rPr lang="en-US" sz="180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что бренд имеет право дать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905500" y="3798987"/>
            <a:ext cx="571500" cy="39801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550" dirty="0">
                <a:solidFill>
                  <a:srgbClr val="B46A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2550" dirty="0"/>
          </a:p>
        </p:txBody>
      </p:sp>
      <p:sp>
        <p:nvSpPr>
          <p:cNvPr id="19" name="Shape 17"/>
          <p:cNvSpPr/>
          <p:nvPr/>
        </p:nvSpPr>
        <p:spPr>
          <a:xfrm>
            <a:off x="6438900" y="3798987"/>
            <a:ext cx="2457450" cy="3942011"/>
          </a:xfrm>
          <a:prstGeom prst="rect">
            <a:avLst/>
          </a:prstGeom>
          <a:solidFill>
            <a:srgbClr val="FFFFFF">
              <a:alpha val="32000"/>
            </a:srgbClr>
          </a:solidFill>
          <a:ln w="19050">
            <a:solidFill>
              <a:srgbClr val="0B1F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48450" y="4008537"/>
            <a:ext cx="2242185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6648450" y="4375249"/>
            <a:ext cx="2242185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Сценарий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6648450" y="4837212"/>
            <a:ext cx="2114550" cy="929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645"/>
              </a:lnSpc>
              <a:buNone/>
            </a:pPr>
            <a:r>
              <a:rPr lang="en-US" sz="180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где и как возникает действие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858250" y="3798987"/>
            <a:ext cx="571500" cy="39801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550" dirty="0">
                <a:solidFill>
                  <a:srgbClr val="B46A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2550" dirty="0"/>
          </a:p>
        </p:txBody>
      </p:sp>
      <p:sp>
        <p:nvSpPr>
          <p:cNvPr id="24" name="Shape 22"/>
          <p:cNvSpPr/>
          <p:nvPr/>
        </p:nvSpPr>
        <p:spPr>
          <a:xfrm>
            <a:off x="9391650" y="3798987"/>
            <a:ext cx="2457450" cy="3942011"/>
          </a:xfrm>
          <a:prstGeom prst="rect">
            <a:avLst/>
          </a:prstGeom>
          <a:solidFill>
            <a:srgbClr val="FFFFFF">
              <a:alpha val="32000"/>
            </a:srgbClr>
          </a:solidFill>
          <a:ln w="19050">
            <a:solidFill>
              <a:srgbClr val="0B1F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01200" y="4008537"/>
            <a:ext cx="2242185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9601200" y="4375249"/>
            <a:ext cx="2242185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Канал</a:t>
            </a:r>
            <a:endParaRPr lang="en-US" sz="2250" dirty="0"/>
          </a:p>
        </p:txBody>
      </p:sp>
      <p:sp>
        <p:nvSpPr>
          <p:cNvPr id="27" name="Text 25"/>
          <p:cNvSpPr/>
          <p:nvPr/>
        </p:nvSpPr>
        <p:spPr>
          <a:xfrm>
            <a:off x="9601200" y="4837212"/>
            <a:ext cx="2114550" cy="929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645"/>
              </a:lnSpc>
              <a:buNone/>
            </a:pPr>
            <a:r>
              <a:rPr lang="en-US" sz="180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где спрос создается и подтверждается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1811000" y="3798987"/>
            <a:ext cx="571500" cy="39801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550" dirty="0">
                <a:solidFill>
                  <a:srgbClr val="B46A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2550" dirty="0"/>
          </a:p>
        </p:txBody>
      </p:sp>
      <p:sp>
        <p:nvSpPr>
          <p:cNvPr id="29" name="Shape 27"/>
          <p:cNvSpPr/>
          <p:nvPr/>
        </p:nvSpPr>
        <p:spPr>
          <a:xfrm>
            <a:off x="12344400" y="3798987"/>
            <a:ext cx="2457450" cy="3942011"/>
          </a:xfrm>
          <a:prstGeom prst="rect">
            <a:avLst/>
          </a:prstGeom>
          <a:solidFill>
            <a:srgbClr val="0F766E">
              <a:alpha val="6000"/>
            </a:srgbClr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2553950" y="4008537"/>
            <a:ext cx="2242185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12553950" y="4375249"/>
            <a:ext cx="2242185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F76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Повтор</a:t>
            </a:r>
            <a:endParaRPr lang="en-US" sz="2250" dirty="0"/>
          </a:p>
        </p:txBody>
      </p:sp>
      <p:sp>
        <p:nvSpPr>
          <p:cNvPr id="32" name="Text 30"/>
          <p:cNvSpPr/>
          <p:nvPr/>
        </p:nvSpPr>
        <p:spPr>
          <a:xfrm>
            <a:off x="12553950" y="4837212"/>
            <a:ext cx="2114550" cy="63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645"/>
              </a:lnSpc>
              <a:buNone/>
            </a:pPr>
            <a:r>
              <a:rPr lang="en-US" sz="180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какое действие должно вернуться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4763750" y="3798987"/>
            <a:ext cx="571500" cy="39801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550" dirty="0">
                <a:solidFill>
                  <a:srgbClr val="B46A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2550" dirty="0"/>
          </a:p>
        </p:txBody>
      </p:sp>
      <p:sp>
        <p:nvSpPr>
          <p:cNvPr id="34" name="Shape 32"/>
          <p:cNvSpPr/>
          <p:nvPr/>
        </p:nvSpPr>
        <p:spPr>
          <a:xfrm>
            <a:off x="15297150" y="3798987"/>
            <a:ext cx="2457450" cy="3942011"/>
          </a:xfrm>
          <a:prstGeom prst="rect">
            <a:avLst/>
          </a:prstGeom>
          <a:solidFill>
            <a:srgbClr val="0F766E">
              <a:alpha val="6000"/>
            </a:srgbClr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5506700" y="4008537"/>
            <a:ext cx="2242185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</a:t>
            </a:r>
            <a:endParaRPr lang="en-US" sz="1650" dirty="0"/>
          </a:p>
        </p:txBody>
      </p:sp>
      <p:sp>
        <p:nvSpPr>
          <p:cNvPr id="36" name="Text 34"/>
          <p:cNvSpPr/>
          <p:nvPr/>
        </p:nvSpPr>
        <p:spPr>
          <a:xfrm>
            <a:off x="15506700" y="4375249"/>
            <a:ext cx="2242185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F76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Экономика</a:t>
            </a:r>
            <a:endParaRPr lang="en-US" sz="2250" dirty="0"/>
          </a:p>
        </p:txBody>
      </p:sp>
      <p:sp>
        <p:nvSpPr>
          <p:cNvPr id="37" name="Text 35"/>
          <p:cNvSpPr/>
          <p:nvPr/>
        </p:nvSpPr>
        <p:spPr>
          <a:xfrm>
            <a:off x="15506700" y="4837212"/>
            <a:ext cx="2114550" cy="63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645"/>
              </a:lnSpc>
              <a:buNone/>
            </a:pPr>
            <a:r>
              <a:rPr lang="en-US" sz="180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что меняется в марже, LTV и CAC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533400" y="7988647"/>
            <a:ext cx="988368" cy="600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171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ЛЕГЕНДА</a:t>
            </a:r>
            <a:endParaRPr lang="en-US" sz="1425" dirty="0"/>
          </a:p>
        </p:txBody>
      </p:sp>
      <p:sp>
        <p:nvSpPr>
          <p:cNvPr id="39" name="Shape 37"/>
          <p:cNvSpPr/>
          <p:nvPr/>
        </p:nvSpPr>
        <p:spPr>
          <a:xfrm>
            <a:off x="1636068" y="8017222"/>
            <a:ext cx="190500" cy="123825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40" name="Text 38"/>
          <p:cNvSpPr/>
          <p:nvPr/>
        </p:nvSpPr>
        <p:spPr>
          <a:xfrm>
            <a:off x="1921818" y="7950547"/>
            <a:ext cx="3072445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Copper — маршрут перехода</a:t>
            </a:r>
            <a:endParaRPr lang="en-US" sz="1650" dirty="0"/>
          </a:p>
        </p:txBody>
      </p:sp>
      <p:sp>
        <p:nvSpPr>
          <p:cNvPr id="41" name="Shape 39"/>
          <p:cNvSpPr/>
          <p:nvPr/>
        </p:nvSpPr>
        <p:spPr>
          <a:xfrm>
            <a:off x="5496520" y="8017222"/>
            <a:ext cx="190500" cy="123825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2" name="Text 40"/>
          <p:cNvSpPr/>
          <p:nvPr/>
        </p:nvSpPr>
        <p:spPr>
          <a:xfrm>
            <a:off x="5782270" y="7950547"/>
            <a:ext cx="3530017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Muted Teal — устойчивый повтор</a:t>
            </a:r>
            <a:endParaRPr lang="en-US" sz="1650" dirty="0"/>
          </a:p>
        </p:txBody>
      </p:sp>
      <p:sp>
        <p:nvSpPr>
          <p:cNvPr id="43" name="Shape 41"/>
          <p:cNvSpPr/>
          <p:nvPr/>
        </p:nvSpPr>
        <p:spPr>
          <a:xfrm>
            <a:off x="1636068" y="8345835"/>
            <a:ext cx="190500" cy="123825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44" name="Text 42"/>
          <p:cNvSpPr/>
          <p:nvPr/>
        </p:nvSpPr>
        <p:spPr>
          <a:xfrm>
            <a:off x="1921818" y="8279160"/>
            <a:ext cx="294033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Deep Navy — ядро решения</a:t>
            </a:r>
            <a:endParaRPr lang="en-US" sz="1650" dirty="0"/>
          </a:p>
        </p:txBody>
      </p:sp>
      <p:sp>
        <p:nvSpPr>
          <p:cNvPr id="45" name="Shape 43"/>
          <p:cNvSpPr/>
          <p:nvPr/>
        </p:nvSpPr>
        <p:spPr>
          <a:xfrm>
            <a:off x="5496520" y="8345835"/>
            <a:ext cx="190500" cy="123825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46" name="Text 44"/>
          <p:cNvSpPr/>
          <p:nvPr/>
        </p:nvSpPr>
        <p:spPr>
          <a:xfrm>
            <a:off x="5782270" y="8279160"/>
            <a:ext cx="3617848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Diagnostic Red — разрыв или Stop</a:t>
            </a:r>
            <a:endParaRPr lang="en-US" sz="1650" dirty="0"/>
          </a:p>
        </p:txBody>
      </p:sp>
      <p:sp>
        <p:nvSpPr>
          <p:cNvPr id="47" name="Shape 45"/>
          <p:cNvSpPr/>
          <p:nvPr/>
        </p:nvSpPr>
        <p:spPr>
          <a:xfrm>
            <a:off x="11468100" y="7950547"/>
            <a:ext cx="6286500" cy="1126778"/>
          </a:xfrm>
          <a:prstGeom prst="rect">
            <a:avLst/>
          </a:prstGeom>
          <a:ln w="19050">
            <a:solidFill>
              <a:srgbClr val="B91C1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1658600" y="8083897"/>
            <a:ext cx="64960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171" kern="0" dirty="0">
                <a:solidFill>
                  <a:srgbClr val="B9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ЭТО НЕ</a:t>
            </a:r>
            <a:endParaRPr lang="en-US" sz="1425" dirty="0"/>
          </a:p>
        </p:txBody>
      </p:sp>
      <p:sp>
        <p:nvSpPr>
          <p:cNvPr id="49" name="Text 47"/>
          <p:cNvSpPr/>
          <p:nvPr/>
        </p:nvSpPr>
        <p:spPr>
          <a:xfrm>
            <a:off x="11658600" y="8374410"/>
            <a:ext cx="6082665" cy="607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667"/>
              </a:lnSpc>
              <a:buNone/>
            </a:pPr>
            <a:r>
              <a:rPr lang="en-US" sz="172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Это не бренд-мудборд, не контент-план и не рекламная воронка.</a:t>
            </a:r>
            <a:endParaRPr lang="en-US" sz="1725" dirty="0"/>
          </a:p>
        </p:txBody>
      </p:sp>
      <p:sp>
        <p:nvSpPr>
          <p:cNvPr id="50" name="Shape 48"/>
          <p:cNvSpPr/>
          <p:nvPr/>
        </p:nvSpPr>
        <p:spPr>
          <a:xfrm>
            <a:off x="533400" y="9229725"/>
            <a:ext cx="17221200" cy="9525"/>
          </a:xfrm>
          <a:prstGeom prst="rect">
            <a:avLst/>
          </a:prstGeom>
          <a:solidFill>
            <a:srgbClr val="0B1F33">
              <a:alpha val="35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533400" y="9353550"/>
            <a:ext cx="9685126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0B1F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Повторяемый Спрос управляет не шумом вокруг бренда, а повторяемым поведением клиента.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10317435" y="9734550"/>
            <a:ext cx="818088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60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Повторяемый_Спрос_Визуализация_01_Ядро_Повторяемого_Спроса_V1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B1F33">
                  <a:alpha val="5000"/>
                </a:srgbClr>
              </a:gs>
              <a:gs pos="100000">
                <a:srgbClr val="0B1F33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533400" y="804863"/>
            <a:ext cx="17221200" cy="1905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4" name="Text 2"/>
          <p:cNvSpPr/>
          <p:nvPr/>
        </p:nvSpPr>
        <p:spPr>
          <a:xfrm>
            <a:off x="533400" y="419100"/>
            <a:ext cx="5889419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15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ПОВТОРЯЕМЫЙ СПРОС / ВИЗУАЛИЗАЦИЯ 02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199561" y="419100"/>
            <a:ext cx="11610543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15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КЛИЕНТСКИЙ СЛОЙ · BEFORE / AFTER + DIAGNOSTIC MAP · СЛОЖНОСТЬ ПРОСТАЯ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533400" y="1071563"/>
            <a:ext cx="18943320" cy="6522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859"/>
              </a:lnSpc>
              <a:buNone/>
            </a:pPr>
            <a:r>
              <a:rPr lang="en-US" sz="4650" b="1" dirty="0">
                <a:solidFill>
                  <a:srgbClr val="0B1F3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Продажи могут расти, а повторяемость — не появляться</a:t>
            </a:r>
            <a:endParaRPr lang="en-US" sz="4650" dirty="0"/>
          </a:p>
        </p:txBody>
      </p:sp>
      <p:sp>
        <p:nvSpPr>
          <p:cNvPr id="7" name="Text 5"/>
          <p:cNvSpPr/>
          <p:nvPr/>
        </p:nvSpPr>
        <p:spPr>
          <a:xfrm>
            <a:off x="533400" y="1819052"/>
            <a:ext cx="15893415" cy="7323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143"/>
              </a:lnSpc>
              <a:buNone/>
            </a:pPr>
            <a:r>
              <a:rPr lang="en-US" sz="2025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Разовая продажа показывает факт покупки. Повторяемый спрос показывает, почему клиент вернется без нового давления скидкой.</a:t>
            </a:r>
            <a:endParaRPr lang="en-US" sz="2025" dirty="0"/>
          </a:p>
        </p:txBody>
      </p:sp>
      <p:sp>
        <p:nvSpPr>
          <p:cNvPr id="8" name="Shape 6"/>
          <p:cNvSpPr/>
          <p:nvPr/>
        </p:nvSpPr>
        <p:spPr>
          <a:xfrm>
            <a:off x="533400" y="2760985"/>
            <a:ext cx="7943850" cy="1133475"/>
          </a:xfrm>
          <a:prstGeom prst="rect">
            <a:avLst/>
          </a:prstGeom>
          <a:solidFill>
            <a:srgbClr val="B91C1C">
              <a:alpha val="5000"/>
            </a:srgbClr>
          </a:solidFill>
          <a:ln w="19050">
            <a:solidFill>
              <a:srgbClr val="B91C1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2000" y="2951485"/>
            <a:ext cx="8235315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B91C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Разовая продажа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762000" y="3394397"/>
            <a:ext cx="823531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скидка, промо, всплеск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533400" y="4065910"/>
            <a:ext cx="7943850" cy="1133475"/>
          </a:xfrm>
          <a:prstGeom prst="rect">
            <a:avLst/>
          </a:prstGeom>
          <a:solidFill>
            <a:srgbClr val="B91C1C">
              <a:alpha val="5000"/>
            </a:srgbClr>
          </a:solidFill>
          <a:ln w="19050">
            <a:solidFill>
              <a:srgbClr val="B91C1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2000" y="4256410"/>
            <a:ext cx="8235315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B91C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Активность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762000" y="4699322"/>
            <a:ext cx="823531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охват, клики, вовлечение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533400" y="5370835"/>
            <a:ext cx="7943850" cy="2370162"/>
          </a:xfrm>
          <a:prstGeom prst="rect">
            <a:avLst/>
          </a:prstGeom>
          <a:solidFill>
            <a:srgbClr val="B91C1C"/>
          </a:solidFill>
          <a:ln w="19050">
            <a:solidFill>
              <a:srgbClr val="B91C1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2000" y="6193929"/>
            <a:ext cx="823531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80" kern="0" dirty="0">
                <a:solidFill>
                  <a:srgbClr val="F3EBD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РАЗРЫВ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62000" y="6517779"/>
            <a:ext cx="823531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3EBD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нет причины вернуться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820150" y="2760985"/>
            <a:ext cx="647700" cy="50181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850" dirty="0">
                <a:solidFill>
                  <a:srgbClr val="B46A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2850" dirty="0"/>
          </a:p>
        </p:txBody>
      </p:sp>
      <p:sp>
        <p:nvSpPr>
          <p:cNvPr id="18" name="Shape 16"/>
          <p:cNvSpPr/>
          <p:nvPr/>
        </p:nvSpPr>
        <p:spPr>
          <a:xfrm>
            <a:off x="9810750" y="2760985"/>
            <a:ext cx="7943850" cy="4146575"/>
          </a:xfrm>
          <a:prstGeom prst="rect">
            <a:avLst/>
          </a:prstGeom>
          <a:solidFill>
            <a:srgbClr val="0F766E">
              <a:alpha val="7000"/>
            </a:srgbClr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39350" y="2989585"/>
            <a:ext cx="8235315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0F76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Повторяемость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10039350" y="3584897"/>
            <a:ext cx="3676650" cy="647700"/>
          </a:xfrm>
          <a:prstGeom prst="rect">
            <a:avLst/>
          </a:prstGeom>
          <a:ln w="19050">
            <a:solidFill>
              <a:srgbClr val="0F76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229850" y="3737297"/>
            <a:ext cx="340595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Мотив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13849350" y="3584897"/>
            <a:ext cx="3676650" cy="647700"/>
          </a:xfrm>
          <a:prstGeom prst="rect">
            <a:avLst/>
          </a:prstGeom>
          <a:ln w="19050">
            <a:solidFill>
              <a:srgbClr val="0F76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039850" y="3737297"/>
            <a:ext cx="340595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Сцена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10039350" y="4365947"/>
            <a:ext cx="3676650" cy="647700"/>
          </a:xfrm>
          <a:prstGeom prst="rect">
            <a:avLst/>
          </a:prstGeom>
          <a:ln w="19050">
            <a:solidFill>
              <a:srgbClr val="0F76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229850" y="4518347"/>
            <a:ext cx="340595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Ритуал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13849350" y="4365947"/>
            <a:ext cx="3676650" cy="647700"/>
          </a:xfrm>
          <a:prstGeom prst="rect">
            <a:avLst/>
          </a:prstGeom>
          <a:ln w="19050">
            <a:solidFill>
              <a:srgbClr val="0F76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039850" y="4518347"/>
            <a:ext cx="340595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Сигнал</a:t>
            </a:r>
            <a:endParaRPr lang="en-US" sz="2100" dirty="0"/>
          </a:p>
        </p:txBody>
      </p:sp>
      <p:sp>
        <p:nvSpPr>
          <p:cNvPr id="28" name="Shape 26"/>
          <p:cNvSpPr/>
          <p:nvPr/>
        </p:nvSpPr>
        <p:spPr>
          <a:xfrm>
            <a:off x="9810750" y="7079010"/>
            <a:ext cx="7943850" cy="661988"/>
          </a:xfrm>
          <a:prstGeom prst="rect">
            <a:avLst/>
          </a:prstGeom>
          <a:ln w="19050">
            <a:solidFill>
              <a:srgbClr val="B46A3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020300" y="7307610"/>
            <a:ext cx="316846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80" kern="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УПРАВЛЕНЧЕСКИЙ ВОПРОС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3072170" y="7250460"/>
            <a:ext cx="4544616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что останется от спроса без промо</a:t>
            </a:r>
            <a:endParaRPr lang="en-US" sz="1950" dirty="0"/>
          </a:p>
        </p:txBody>
      </p:sp>
      <p:sp>
        <p:nvSpPr>
          <p:cNvPr id="31" name="Text 29"/>
          <p:cNvSpPr/>
          <p:nvPr/>
        </p:nvSpPr>
        <p:spPr>
          <a:xfrm>
            <a:off x="533400" y="7988647"/>
            <a:ext cx="988368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171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ЛЕГЕНДА</a:t>
            </a:r>
            <a:endParaRPr lang="en-US" sz="1425" dirty="0"/>
          </a:p>
        </p:txBody>
      </p:sp>
      <p:sp>
        <p:nvSpPr>
          <p:cNvPr id="32" name="Shape 30"/>
          <p:cNvSpPr/>
          <p:nvPr/>
        </p:nvSpPr>
        <p:spPr>
          <a:xfrm>
            <a:off x="1636068" y="8017222"/>
            <a:ext cx="190500" cy="123825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3" name="Text 31"/>
          <p:cNvSpPr/>
          <p:nvPr/>
        </p:nvSpPr>
        <p:spPr>
          <a:xfrm>
            <a:off x="1921818" y="7950547"/>
            <a:ext cx="5409992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Красная зона — зависимость от разового стимула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1636068" y="8364885"/>
            <a:ext cx="190500" cy="123825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5" name="Text 33"/>
          <p:cNvSpPr/>
          <p:nvPr/>
        </p:nvSpPr>
        <p:spPr>
          <a:xfrm>
            <a:off x="1921818" y="8298210"/>
            <a:ext cx="5397058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Teal-зона — закрепленное повторяемое действие</a:t>
            </a:r>
            <a:endParaRPr lang="en-US" sz="1650" dirty="0"/>
          </a:p>
        </p:txBody>
      </p:sp>
      <p:sp>
        <p:nvSpPr>
          <p:cNvPr id="36" name="Shape 34"/>
          <p:cNvSpPr/>
          <p:nvPr/>
        </p:nvSpPr>
        <p:spPr>
          <a:xfrm>
            <a:off x="11468100" y="7950547"/>
            <a:ext cx="6286500" cy="1126778"/>
          </a:xfrm>
          <a:prstGeom prst="rect">
            <a:avLst/>
          </a:prstGeom>
          <a:ln w="19050">
            <a:solidFill>
              <a:srgbClr val="B91C1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1658600" y="8083897"/>
            <a:ext cx="64960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171" kern="0" dirty="0">
                <a:solidFill>
                  <a:srgbClr val="B9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ЭТО НЕ</a:t>
            </a:r>
            <a:endParaRPr lang="en-US" sz="1425" dirty="0"/>
          </a:p>
        </p:txBody>
      </p:sp>
      <p:sp>
        <p:nvSpPr>
          <p:cNvPr id="38" name="Text 36"/>
          <p:cNvSpPr/>
          <p:nvPr/>
        </p:nvSpPr>
        <p:spPr>
          <a:xfrm>
            <a:off x="11658600" y="8374410"/>
            <a:ext cx="6082665" cy="607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667"/>
              </a:lnSpc>
              <a:buNone/>
            </a:pPr>
            <a:r>
              <a:rPr lang="en-US" sz="172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Это не спор с рекламой и не запрет промо. Это проверка, что остается после промо.</a:t>
            </a:r>
            <a:endParaRPr lang="en-US" sz="1725" dirty="0"/>
          </a:p>
        </p:txBody>
      </p:sp>
      <p:sp>
        <p:nvSpPr>
          <p:cNvPr id="39" name="Shape 37"/>
          <p:cNvSpPr/>
          <p:nvPr/>
        </p:nvSpPr>
        <p:spPr>
          <a:xfrm>
            <a:off x="533400" y="9229725"/>
            <a:ext cx="17221200" cy="9525"/>
          </a:xfrm>
          <a:prstGeom prst="rect">
            <a:avLst/>
          </a:prstGeom>
          <a:solidFill>
            <a:srgbClr val="0B1F33">
              <a:alpha val="35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533400" y="9353550"/>
            <a:ext cx="817818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0B1F3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Если спрос каждый цикл покупается заново, компания управляет активностью, а не поведением.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8854380" y="9734550"/>
            <a:ext cx="97902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60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Повторяемый_Спрос_Визуализация_02_Продажи_Не_Равны_Повторяемому_Спросу_V1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B1F33">
                  <a:alpha val="5000"/>
                </a:srgbClr>
              </a:gs>
              <a:gs pos="100000">
                <a:srgbClr val="0B1F33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533400" y="804863"/>
            <a:ext cx="17221200" cy="1905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4" name="Text 2"/>
          <p:cNvSpPr/>
          <p:nvPr/>
        </p:nvSpPr>
        <p:spPr>
          <a:xfrm>
            <a:off x="533400" y="419100"/>
            <a:ext cx="5889419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15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ПОВТОРЯЕМЫЙ СПРОС / ВИЗУАЛИЗАЦИЯ 03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9035207" y="419100"/>
            <a:ext cx="9591333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15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КОНСУЛЬТАНТСКИЙ СЛОЙ · DIAGNOSTIC MAP · СЛОЖНОСТЬ СРЕДНЯЯ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533400" y="1071563"/>
            <a:ext cx="18943320" cy="6522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859"/>
              </a:lnSpc>
              <a:buNone/>
            </a:pPr>
            <a:r>
              <a:rPr lang="en-US" sz="4650" b="1" dirty="0">
                <a:solidFill>
                  <a:srgbClr val="0B1F3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Диагностика показывает, где ломается повтор</a:t>
            </a:r>
            <a:endParaRPr lang="en-US" sz="4650" dirty="0"/>
          </a:p>
        </p:txBody>
      </p:sp>
      <p:sp>
        <p:nvSpPr>
          <p:cNvPr id="7" name="Text 5"/>
          <p:cNvSpPr/>
          <p:nvPr/>
        </p:nvSpPr>
        <p:spPr>
          <a:xfrm>
            <a:off x="533400" y="1819052"/>
            <a:ext cx="16973550" cy="3852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143"/>
              </a:lnSpc>
              <a:buNone/>
            </a:pPr>
            <a:r>
              <a:rPr lang="en-US" sz="2025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До Сессии и Спринта нужно понять, какой элемент контура не держит повторяемое действие.</a:t>
            </a:r>
            <a:endParaRPr lang="en-US" sz="2025" dirty="0"/>
          </a:p>
        </p:txBody>
      </p:sp>
      <p:sp>
        <p:nvSpPr>
          <p:cNvPr id="8" name="Shape 6"/>
          <p:cNvSpPr/>
          <p:nvPr/>
        </p:nvSpPr>
        <p:spPr>
          <a:xfrm>
            <a:off x="533400" y="2413843"/>
            <a:ext cx="8798644" cy="571500"/>
          </a:xfrm>
          <a:prstGeom prst="rect">
            <a:avLst/>
          </a:prstGeom>
          <a:solidFill>
            <a:srgbClr val="FFFFFF">
              <a:alpha val="3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533400" y="2413843"/>
            <a:ext cx="76200" cy="5715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0" name="Text 8"/>
          <p:cNvSpPr/>
          <p:nvPr/>
        </p:nvSpPr>
        <p:spPr>
          <a:xfrm>
            <a:off x="781050" y="2528143"/>
            <a:ext cx="240982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Мотив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3124200" y="2556718"/>
            <a:ext cx="4994657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нет достаточной причины возвращаться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533400" y="3099643"/>
            <a:ext cx="8798644" cy="571500"/>
          </a:xfrm>
          <a:prstGeom prst="rect">
            <a:avLst/>
          </a:prstGeom>
          <a:solidFill>
            <a:srgbClr val="FFFFFF">
              <a:alpha val="3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533400" y="3099643"/>
            <a:ext cx="76200" cy="5715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4" name="Text 12"/>
          <p:cNvSpPr/>
          <p:nvPr/>
        </p:nvSpPr>
        <p:spPr>
          <a:xfrm>
            <a:off x="781050" y="3213943"/>
            <a:ext cx="240982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Предложение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3124200" y="3242518"/>
            <a:ext cx="4154656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продукт не поддерживает повтор</a:t>
            </a:r>
            <a:endParaRPr lang="en-US" sz="1875" dirty="0"/>
          </a:p>
        </p:txBody>
      </p:sp>
      <p:sp>
        <p:nvSpPr>
          <p:cNvPr id="16" name="Shape 14"/>
          <p:cNvSpPr/>
          <p:nvPr/>
        </p:nvSpPr>
        <p:spPr>
          <a:xfrm>
            <a:off x="533400" y="3785443"/>
            <a:ext cx="8798644" cy="571500"/>
          </a:xfrm>
          <a:prstGeom prst="rect">
            <a:avLst/>
          </a:prstGeom>
          <a:solidFill>
            <a:srgbClr val="FFFFFF">
              <a:alpha val="32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533400" y="3785443"/>
            <a:ext cx="76200" cy="5715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8" name="Text 16"/>
          <p:cNvSpPr/>
          <p:nvPr/>
        </p:nvSpPr>
        <p:spPr>
          <a:xfrm>
            <a:off x="781050" y="3899743"/>
            <a:ext cx="240982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Сценарий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3124200" y="3928318"/>
            <a:ext cx="474532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ситуация потребления не повторяется</a:t>
            </a:r>
            <a:endParaRPr lang="en-US" sz="1875" dirty="0"/>
          </a:p>
        </p:txBody>
      </p:sp>
      <p:sp>
        <p:nvSpPr>
          <p:cNvPr id="20" name="Shape 18"/>
          <p:cNvSpPr/>
          <p:nvPr/>
        </p:nvSpPr>
        <p:spPr>
          <a:xfrm>
            <a:off x="533400" y="4471243"/>
            <a:ext cx="8798644" cy="571500"/>
          </a:xfrm>
          <a:prstGeom prst="rect">
            <a:avLst/>
          </a:prstGeom>
          <a:solidFill>
            <a:srgbClr val="FFFFFF">
              <a:alpha val="32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533400" y="4471243"/>
            <a:ext cx="76200" cy="5715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22" name="Text 20"/>
          <p:cNvSpPr/>
          <p:nvPr/>
        </p:nvSpPr>
        <p:spPr>
          <a:xfrm>
            <a:off x="781050" y="4585543"/>
            <a:ext cx="240982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Канал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3124200" y="4614118"/>
            <a:ext cx="4301587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касания теряют смысл или момент</a:t>
            </a:r>
            <a:endParaRPr lang="en-US" sz="1875" dirty="0"/>
          </a:p>
        </p:txBody>
      </p:sp>
      <p:sp>
        <p:nvSpPr>
          <p:cNvPr id="24" name="Shape 22"/>
          <p:cNvSpPr/>
          <p:nvPr/>
        </p:nvSpPr>
        <p:spPr>
          <a:xfrm>
            <a:off x="533400" y="5157043"/>
            <a:ext cx="8798644" cy="571500"/>
          </a:xfrm>
          <a:prstGeom prst="rect">
            <a:avLst/>
          </a:prstGeom>
          <a:solidFill>
            <a:srgbClr val="FFFFFF">
              <a:alpha val="32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533400" y="5157043"/>
            <a:ext cx="76200" cy="5715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26" name="Text 24"/>
          <p:cNvSpPr/>
          <p:nvPr/>
        </p:nvSpPr>
        <p:spPr>
          <a:xfrm>
            <a:off x="781050" y="5271343"/>
            <a:ext cx="240982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Сигнал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3124200" y="5299918"/>
            <a:ext cx="4508517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коммуникация не запускает возврат</a:t>
            </a:r>
            <a:endParaRPr lang="en-US" sz="1875" dirty="0"/>
          </a:p>
        </p:txBody>
      </p:sp>
      <p:sp>
        <p:nvSpPr>
          <p:cNvPr id="28" name="Shape 26"/>
          <p:cNvSpPr/>
          <p:nvPr/>
        </p:nvSpPr>
        <p:spPr>
          <a:xfrm>
            <a:off x="533400" y="5842843"/>
            <a:ext cx="8798644" cy="571500"/>
          </a:xfrm>
          <a:prstGeom prst="rect">
            <a:avLst/>
          </a:prstGeom>
          <a:solidFill>
            <a:srgbClr val="FFFFFF">
              <a:alpha val="32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533400" y="5842843"/>
            <a:ext cx="76200" cy="5715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0" name="Text 28"/>
          <p:cNvSpPr/>
          <p:nvPr/>
        </p:nvSpPr>
        <p:spPr>
          <a:xfrm>
            <a:off x="781050" y="5957143"/>
            <a:ext cx="240982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Экономика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3124200" y="5985718"/>
            <a:ext cx="4043333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повтор не связан с маржей и LTV</a:t>
            </a:r>
            <a:endParaRPr lang="en-US" sz="1875" dirty="0"/>
          </a:p>
        </p:txBody>
      </p:sp>
      <p:sp>
        <p:nvSpPr>
          <p:cNvPr id="32" name="Shape 30"/>
          <p:cNvSpPr/>
          <p:nvPr/>
        </p:nvSpPr>
        <p:spPr>
          <a:xfrm>
            <a:off x="533400" y="6566743"/>
            <a:ext cx="8798644" cy="561975"/>
          </a:xfrm>
          <a:prstGeom prst="rect">
            <a:avLst/>
          </a:prstGeom>
          <a:ln w="19050">
            <a:solidFill>
              <a:srgbClr val="B46A3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3900" y="6723906"/>
            <a:ext cx="196142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80" kern="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ЗОНА ПРОВЕРКИ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2678460" y="6700093"/>
            <a:ext cx="638685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каждый разрыв проверяется до обещания результата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9674944" y="2413843"/>
            <a:ext cx="647700" cy="53652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850" dirty="0">
                <a:solidFill>
                  <a:srgbClr val="B46A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2850" dirty="0"/>
          </a:p>
        </p:txBody>
      </p:sp>
      <p:sp>
        <p:nvSpPr>
          <p:cNvPr id="36" name="Shape 34"/>
          <p:cNvSpPr/>
          <p:nvPr/>
        </p:nvSpPr>
        <p:spPr>
          <a:xfrm>
            <a:off x="10665544" y="2413843"/>
            <a:ext cx="7089056" cy="5327154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37" name="Text 35"/>
          <p:cNvSpPr/>
          <p:nvPr/>
        </p:nvSpPr>
        <p:spPr>
          <a:xfrm>
            <a:off x="10951294" y="3161481"/>
            <a:ext cx="716931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205" kern="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ВЕРДИКТ</a:t>
            </a:r>
            <a:endParaRPr lang="en-US" sz="1575" dirty="0"/>
          </a:p>
        </p:txBody>
      </p:sp>
      <p:sp>
        <p:nvSpPr>
          <p:cNvPr id="38" name="Shape 36"/>
          <p:cNvSpPr/>
          <p:nvPr/>
        </p:nvSpPr>
        <p:spPr>
          <a:xfrm>
            <a:off x="10951294" y="3632969"/>
            <a:ext cx="6517556" cy="742950"/>
          </a:xfrm>
          <a:prstGeom prst="rect">
            <a:avLst/>
          </a:prstGeom>
          <a:solidFill>
            <a:srgbClr val="0F766E">
              <a:alpha val="25000"/>
            </a:srgbClr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1160844" y="3804419"/>
            <a:ext cx="6293982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3EBD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Go</a:t>
            </a:r>
            <a:endParaRPr lang="en-US" sz="2400" dirty="0"/>
          </a:p>
        </p:txBody>
      </p:sp>
      <p:sp>
        <p:nvSpPr>
          <p:cNvPr id="40" name="Shape 38"/>
          <p:cNvSpPr/>
          <p:nvPr/>
        </p:nvSpPr>
        <p:spPr>
          <a:xfrm>
            <a:off x="10951294" y="4528319"/>
            <a:ext cx="6517556" cy="742950"/>
          </a:xfrm>
          <a:prstGeom prst="rect">
            <a:avLst/>
          </a:prstGeom>
          <a:solidFill>
            <a:srgbClr val="B46A3C">
              <a:alpha val="22000"/>
            </a:srgbClr>
          </a:solidFill>
          <a:ln w="19050">
            <a:solidFill>
              <a:srgbClr val="B46A3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1160844" y="4699769"/>
            <a:ext cx="6293982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3EBD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Go при условиях</a:t>
            </a:r>
            <a:endParaRPr lang="en-US" sz="2400" dirty="0"/>
          </a:p>
        </p:txBody>
      </p:sp>
      <p:sp>
        <p:nvSpPr>
          <p:cNvPr id="42" name="Shape 40"/>
          <p:cNvSpPr/>
          <p:nvPr/>
        </p:nvSpPr>
        <p:spPr>
          <a:xfrm>
            <a:off x="10951294" y="5423669"/>
            <a:ext cx="6517556" cy="742950"/>
          </a:xfrm>
          <a:prstGeom prst="rect">
            <a:avLst/>
          </a:prstGeom>
          <a:solidFill>
            <a:srgbClr val="B91C1C">
              <a:alpha val="28000"/>
            </a:srgbClr>
          </a:solidFill>
          <a:ln w="19050">
            <a:solidFill>
              <a:srgbClr val="B91C1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1160844" y="5595119"/>
            <a:ext cx="6293982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3EBD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Stop</a:t>
            </a:r>
            <a:endParaRPr lang="en-US" sz="2400" dirty="0"/>
          </a:p>
        </p:txBody>
      </p:sp>
      <p:sp>
        <p:nvSpPr>
          <p:cNvPr id="44" name="Text 42"/>
          <p:cNvSpPr/>
          <p:nvPr/>
        </p:nvSpPr>
        <p:spPr>
          <a:xfrm>
            <a:off x="10951294" y="6376169"/>
            <a:ext cx="6713082" cy="655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516"/>
              </a:lnSpc>
              <a:buNone/>
            </a:pPr>
            <a:r>
              <a:rPr lang="en-US" sz="1800" dirty="0">
                <a:solidFill>
                  <a:srgbClr val="F3EBDD">
                    <a:alpha val="85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Диагностика применимости завершается управленческим вердиктом, а не автоматической продажей проекта.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533400" y="7988647"/>
            <a:ext cx="988368" cy="966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171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ЛЕГЕНДА</a:t>
            </a:r>
            <a:endParaRPr lang="en-US" sz="1425" dirty="0"/>
          </a:p>
        </p:txBody>
      </p:sp>
      <p:sp>
        <p:nvSpPr>
          <p:cNvPr id="46" name="Shape 44"/>
          <p:cNvSpPr/>
          <p:nvPr/>
        </p:nvSpPr>
        <p:spPr>
          <a:xfrm>
            <a:off x="1636068" y="8017222"/>
            <a:ext cx="190500" cy="123825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47" name="Text 45"/>
          <p:cNvSpPr/>
          <p:nvPr/>
        </p:nvSpPr>
        <p:spPr>
          <a:xfrm>
            <a:off x="1921818" y="7950547"/>
            <a:ext cx="2630998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Diagnostic Red — разрыв</a:t>
            </a:r>
            <a:endParaRPr lang="en-US" sz="1650" dirty="0"/>
          </a:p>
        </p:txBody>
      </p:sp>
      <p:sp>
        <p:nvSpPr>
          <p:cNvPr id="48" name="Shape 46"/>
          <p:cNvSpPr/>
          <p:nvPr/>
        </p:nvSpPr>
        <p:spPr>
          <a:xfrm>
            <a:off x="1636068" y="8364885"/>
            <a:ext cx="190500" cy="123825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49" name="Text 47"/>
          <p:cNvSpPr/>
          <p:nvPr/>
        </p:nvSpPr>
        <p:spPr>
          <a:xfrm>
            <a:off x="1921818" y="8298210"/>
            <a:ext cx="2643031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Copper — зона проверки</a:t>
            </a:r>
            <a:endParaRPr lang="en-US" sz="1650" dirty="0"/>
          </a:p>
        </p:txBody>
      </p:sp>
      <p:sp>
        <p:nvSpPr>
          <p:cNvPr id="50" name="Shape 48"/>
          <p:cNvSpPr/>
          <p:nvPr/>
        </p:nvSpPr>
        <p:spPr>
          <a:xfrm>
            <a:off x="1636068" y="8712547"/>
            <a:ext cx="190500" cy="123825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51" name="Text 49"/>
          <p:cNvSpPr/>
          <p:nvPr/>
        </p:nvSpPr>
        <p:spPr>
          <a:xfrm>
            <a:off x="1921818" y="8645872"/>
            <a:ext cx="4928681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Muted Teal — подтвержденная применимость</a:t>
            </a:r>
            <a:endParaRPr lang="en-US" sz="1650" dirty="0"/>
          </a:p>
        </p:txBody>
      </p:sp>
      <p:sp>
        <p:nvSpPr>
          <p:cNvPr id="52" name="Shape 50"/>
          <p:cNvSpPr/>
          <p:nvPr/>
        </p:nvSpPr>
        <p:spPr>
          <a:xfrm>
            <a:off x="11468100" y="7950547"/>
            <a:ext cx="6286500" cy="1126778"/>
          </a:xfrm>
          <a:prstGeom prst="rect">
            <a:avLst/>
          </a:prstGeom>
          <a:ln w="19050">
            <a:solidFill>
              <a:srgbClr val="B91C1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1658600" y="8083897"/>
            <a:ext cx="64960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171" kern="0" dirty="0">
                <a:solidFill>
                  <a:srgbClr val="B9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ЭТО НЕ</a:t>
            </a:r>
            <a:endParaRPr lang="en-US" sz="1425" dirty="0"/>
          </a:p>
        </p:txBody>
      </p:sp>
      <p:sp>
        <p:nvSpPr>
          <p:cNvPr id="54" name="Text 52"/>
          <p:cNvSpPr/>
          <p:nvPr/>
        </p:nvSpPr>
        <p:spPr>
          <a:xfrm>
            <a:off x="11658600" y="8374410"/>
            <a:ext cx="6082665" cy="607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667"/>
              </a:lnSpc>
              <a:buNone/>
            </a:pPr>
            <a:r>
              <a:rPr lang="en-US" sz="172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Это не бесплатный пресейл и не исследование ради отчета.</a:t>
            </a:r>
            <a:endParaRPr lang="en-US" sz="1725" dirty="0"/>
          </a:p>
        </p:txBody>
      </p:sp>
      <p:sp>
        <p:nvSpPr>
          <p:cNvPr id="55" name="Shape 53"/>
          <p:cNvSpPr/>
          <p:nvPr/>
        </p:nvSpPr>
        <p:spPr>
          <a:xfrm>
            <a:off x="533400" y="9229725"/>
            <a:ext cx="17221200" cy="9525"/>
          </a:xfrm>
          <a:prstGeom prst="rect">
            <a:avLst/>
          </a:prstGeom>
          <a:solidFill>
            <a:srgbClr val="0B1F33">
              <a:alpha val="35000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533400" y="9353550"/>
            <a:ext cx="10438638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0B1F3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Диагностика — обязательный платный вход, потому что технология не применима ко всем случаям.</a:t>
            </a:r>
            <a:endParaRPr lang="en-US" sz="1800" dirty="0"/>
          </a:p>
        </p:txBody>
      </p:sp>
      <p:sp>
        <p:nvSpPr>
          <p:cNvPr id="57" name="Text 55"/>
          <p:cNvSpPr/>
          <p:nvPr/>
        </p:nvSpPr>
        <p:spPr>
          <a:xfrm>
            <a:off x="11049000" y="9734550"/>
            <a:ext cx="737616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60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Повторяемый_Спрос_Визуализация_03_Диагностика_Спроса_V1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B1F33">
                  <a:alpha val="5000"/>
                </a:srgbClr>
              </a:gs>
              <a:gs pos="100000">
                <a:srgbClr val="0B1F33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533400" y="804863"/>
            <a:ext cx="17221200" cy="1905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4" name="Text 2"/>
          <p:cNvSpPr/>
          <p:nvPr/>
        </p:nvSpPr>
        <p:spPr>
          <a:xfrm>
            <a:off x="533400" y="419100"/>
            <a:ext cx="5889419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15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ПОВТОРЯЕМЫЙ СПРОС / ВИЗУАЛИЗАЦИЯ 04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9188128" y="419100"/>
            <a:ext cx="942312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15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КЛИЕНТСКИЙ СЛОЙ · FLOW + DEMAND LOOP · СЛОЖНОСТЬ СРЕДНЯЯ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533400" y="1071563"/>
            <a:ext cx="17737836" cy="12663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859"/>
              </a:lnSpc>
              <a:buNone/>
            </a:pPr>
            <a:r>
              <a:rPr lang="en-US" sz="4650" b="1" dirty="0">
                <a:solidFill>
                  <a:srgbClr val="0B1F3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Повторяемость начинается там, где интерес становится действием</a:t>
            </a:r>
            <a:endParaRPr lang="en-US" sz="4650" dirty="0"/>
          </a:p>
        </p:txBody>
      </p:sp>
      <p:sp>
        <p:nvSpPr>
          <p:cNvPr id="7" name="Text 5"/>
          <p:cNvSpPr/>
          <p:nvPr/>
        </p:nvSpPr>
        <p:spPr>
          <a:xfrm>
            <a:off x="533400" y="2433191"/>
            <a:ext cx="16973550" cy="3852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143"/>
              </a:lnSpc>
              <a:buNone/>
            </a:pPr>
            <a:r>
              <a:rPr lang="en-US" sz="2025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Задача технологии — найти действие, которое клиент способен повторять в понятной сцене.</a:t>
            </a:r>
            <a:endParaRPr lang="en-US" sz="2025" dirty="0"/>
          </a:p>
        </p:txBody>
      </p:sp>
      <p:sp>
        <p:nvSpPr>
          <p:cNvPr id="8" name="Shape 6"/>
          <p:cNvSpPr/>
          <p:nvPr/>
        </p:nvSpPr>
        <p:spPr>
          <a:xfrm>
            <a:off x="533400" y="3027983"/>
            <a:ext cx="2489150" cy="4303440"/>
          </a:xfrm>
          <a:prstGeom prst="rect">
            <a:avLst/>
          </a:prstGeom>
          <a:solidFill>
            <a:srgbClr val="FFFFFF">
              <a:alpha val="32000"/>
            </a:srgbClr>
          </a:solidFill>
          <a:ln w="19050">
            <a:solidFill>
              <a:srgbClr val="0B1F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2950" y="3237533"/>
            <a:ext cx="2277055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742950" y="3604245"/>
            <a:ext cx="2146250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Первый интерес</a:t>
            </a:r>
            <a:endParaRPr lang="en-US" sz="2175" dirty="0"/>
          </a:p>
        </p:txBody>
      </p:sp>
      <p:sp>
        <p:nvSpPr>
          <p:cNvPr id="11" name="Text 9"/>
          <p:cNvSpPr/>
          <p:nvPr/>
        </p:nvSpPr>
        <p:spPr>
          <a:xfrm>
            <a:off x="742950" y="4413870"/>
            <a:ext cx="2146250" cy="63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645"/>
              </a:lnSpc>
              <a:buNone/>
            </a:pPr>
            <a:r>
              <a:rPr lang="en-US" sz="180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клиент замечает возможность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984450" y="3027983"/>
            <a:ext cx="533400" cy="4341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B46A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3479750" y="3027983"/>
            <a:ext cx="2489225" cy="4303440"/>
          </a:xfrm>
          <a:prstGeom prst="rect">
            <a:avLst/>
          </a:prstGeom>
          <a:solidFill>
            <a:srgbClr val="FFFFFF">
              <a:alpha val="32000"/>
            </a:srgbClr>
          </a:solidFill>
          <a:ln w="19050">
            <a:solidFill>
              <a:srgbClr val="0B1F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89300" y="3237533"/>
            <a:ext cx="2277137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3689300" y="3604245"/>
            <a:ext cx="2146325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Первое действие</a:t>
            </a:r>
            <a:endParaRPr lang="en-US" sz="2175" dirty="0"/>
          </a:p>
        </p:txBody>
      </p:sp>
      <p:sp>
        <p:nvSpPr>
          <p:cNvPr id="16" name="Text 14"/>
          <p:cNvSpPr/>
          <p:nvPr/>
        </p:nvSpPr>
        <p:spPr>
          <a:xfrm>
            <a:off x="3689300" y="4413870"/>
            <a:ext cx="2146325" cy="929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645"/>
              </a:lnSpc>
              <a:buNone/>
            </a:pPr>
            <a:r>
              <a:rPr lang="en-US" sz="180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клиент пробует продукт или сценарий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930875" y="3027983"/>
            <a:ext cx="533400" cy="4341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B46A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6426175" y="3027983"/>
            <a:ext cx="2489150" cy="4303440"/>
          </a:xfrm>
          <a:prstGeom prst="rect">
            <a:avLst/>
          </a:prstGeom>
          <a:solidFill>
            <a:srgbClr val="FFFFFF">
              <a:alpha val="32000"/>
            </a:srgbClr>
          </a:solidFill>
          <a:ln w="19050">
            <a:solidFill>
              <a:srgbClr val="0B1F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35725" y="3237533"/>
            <a:ext cx="2277055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6635725" y="3604245"/>
            <a:ext cx="2277055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Ценность</a:t>
            </a:r>
            <a:endParaRPr lang="en-US" sz="2175" dirty="0"/>
          </a:p>
        </p:txBody>
      </p:sp>
      <p:sp>
        <p:nvSpPr>
          <p:cNvPr id="21" name="Text 19"/>
          <p:cNvSpPr/>
          <p:nvPr/>
        </p:nvSpPr>
        <p:spPr>
          <a:xfrm>
            <a:off x="6635725" y="4056683"/>
            <a:ext cx="2146250" cy="929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645"/>
              </a:lnSpc>
              <a:buNone/>
            </a:pPr>
            <a:r>
              <a:rPr lang="en-US" sz="180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клиент получает понятный выигрыш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877226" y="3027983"/>
            <a:ext cx="533400" cy="4341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B46A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9372526" y="3027983"/>
            <a:ext cx="2489225" cy="4303440"/>
          </a:xfrm>
          <a:prstGeom prst="rect">
            <a:avLst/>
          </a:prstGeom>
          <a:solidFill>
            <a:srgbClr val="B46A3C">
              <a:alpha val="7000"/>
            </a:srgbClr>
          </a:solidFill>
          <a:ln w="19050">
            <a:solidFill>
              <a:srgbClr val="B46A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582076" y="3237533"/>
            <a:ext cx="2277137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9582076" y="3604245"/>
            <a:ext cx="2146325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Сигнал возврата</a:t>
            </a:r>
            <a:endParaRPr lang="en-US" sz="2175" dirty="0"/>
          </a:p>
        </p:txBody>
      </p:sp>
      <p:sp>
        <p:nvSpPr>
          <p:cNvPr id="26" name="Text 24"/>
          <p:cNvSpPr/>
          <p:nvPr/>
        </p:nvSpPr>
        <p:spPr>
          <a:xfrm>
            <a:off x="9582076" y="4413870"/>
            <a:ext cx="2146325" cy="929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645"/>
              </a:lnSpc>
              <a:buNone/>
            </a:pPr>
            <a:r>
              <a:rPr lang="en-US" sz="180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бренд напоминает о нужном действии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1823650" y="3027983"/>
            <a:ext cx="533400" cy="4341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B46A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12318950" y="3027983"/>
            <a:ext cx="2489225" cy="4303440"/>
          </a:xfrm>
          <a:prstGeom prst="rect">
            <a:avLst/>
          </a:prstGeom>
          <a:solidFill>
            <a:srgbClr val="0F766E">
              <a:alpha val="7000"/>
            </a:srgbClr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528500" y="3237533"/>
            <a:ext cx="2277137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12528500" y="3604245"/>
            <a:ext cx="2146325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0F76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Повторное действие</a:t>
            </a:r>
            <a:endParaRPr lang="en-US" sz="2175" dirty="0"/>
          </a:p>
        </p:txBody>
      </p:sp>
      <p:sp>
        <p:nvSpPr>
          <p:cNvPr id="31" name="Text 29"/>
          <p:cNvSpPr/>
          <p:nvPr/>
        </p:nvSpPr>
        <p:spPr>
          <a:xfrm>
            <a:off x="12528500" y="4413870"/>
            <a:ext cx="2146325" cy="929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645"/>
              </a:lnSpc>
              <a:buNone/>
            </a:pPr>
            <a:r>
              <a:rPr lang="en-US" sz="180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клиент возвращается в сцену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4770075" y="3027983"/>
            <a:ext cx="533400" cy="4341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B46A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2400" dirty="0"/>
          </a:p>
        </p:txBody>
      </p:sp>
      <p:sp>
        <p:nvSpPr>
          <p:cNvPr id="33" name="Shape 31"/>
          <p:cNvSpPr/>
          <p:nvPr/>
        </p:nvSpPr>
        <p:spPr>
          <a:xfrm>
            <a:off x="15265375" y="3027983"/>
            <a:ext cx="2489225" cy="4303440"/>
          </a:xfrm>
          <a:prstGeom prst="rect">
            <a:avLst/>
          </a:prstGeom>
          <a:solidFill>
            <a:srgbClr val="0F766E">
              <a:alpha val="7000"/>
            </a:srgbClr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5474925" y="3237533"/>
            <a:ext cx="2277137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15474925" y="3604245"/>
            <a:ext cx="2277137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0F76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Закрепление</a:t>
            </a:r>
            <a:endParaRPr lang="en-US" sz="2175" dirty="0"/>
          </a:p>
        </p:txBody>
      </p:sp>
      <p:sp>
        <p:nvSpPr>
          <p:cNvPr id="36" name="Text 34"/>
          <p:cNvSpPr/>
          <p:nvPr/>
        </p:nvSpPr>
        <p:spPr>
          <a:xfrm>
            <a:off x="15474925" y="4056683"/>
            <a:ext cx="2146325" cy="929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645"/>
              </a:lnSpc>
              <a:buNone/>
            </a:pPr>
            <a:r>
              <a:rPr lang="en-US" sz="180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повтор становится привычным маршрутом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8799537" y="8036272"/>
            <a:ext cx="8955063" cy="190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38" name="Shape 36"/>
          <p:cNvSpPr/>
          <p:nvPr/>
        </p:nvSpPr>
        <p:spPr>
          <a:xfrm>
            <a:off x="8799537" y="7502872"/>
            <a:ext cx="19050" cy="5524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39" name="Shape 37"/>
          <p:cNvSpPr/>
          <p:nvPr/>
        </p:nvSpPr>
        <p:spPr>
          <a:xfrm>
            <a:off x="17735550" y="7502872"/>
            <a:ext cx="19050" cy="5524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40" name="Shape 38"/>
          <p:cNvSpPr/>
          <p:nvPr/>
        </p:nvSpPr>
        <p:spPr>
          <a:xfrm>
            <a:off x="11292036" y="7912447"/>
            <a:ext cx="3970065" cy="247650"/>
          </a:xfrm>
          <a:prstGeom prst="rect">
            <a:avLst/>
          </a:prstGeom>
          <a:solidFill>
            <a:srgbClr val="F3EBDD"/>
          </a:solidFill>
          <a:ln/>
        </p:spPr>
      </p:sp>
      <p:sp>
        <p:nvSpPr>
          <p:cNvPr id="41" name="Text 39"/>
          <p:cNvSpPr/>
          <p:nvPr/>
        </p:nvSpPr>
        <p:spPr>
          <a:xfrm>
            <a:off x="11425386" y="7912447"/>
            <a:ext cx="410037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80" kern="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УСЛОВНЫЙ ВОЗВРАТ В СЦЕНАРИЙ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533400" y="8302972"/>
            <a:ext cx="988368" cy="966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171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ЛЕГЕНДА</a:t>
            </a:r>
            <a:endParaRPr lang="en-US" sz="1425" dirty="0"/>
          </a:p>
        </p:txBody>
      </p:sp>
      <p:sp>
        <p:nvSpPr>
          <p:cNvPr id="43" name="Shape 41"/>
          <p:cNvSpPr/>
          <p:nvPr/>
        </p:nvSpPr>
        <p:spPr>
          <a:xfrm>
            <a:off x="1636068" y="8331547"/>
            <a:ext cx="190500" cy="123825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44" name="Text 42"/>
          <p:cNvSpPr/>
          <p:nvPr/>
        </p:nvSpPr>
        <p:spPr>
          <a:xfrm>
            <a:off x="1921818" y="8264872"/>
            <a:ext cx="3597793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Copper — движение по сценарию</a:t>
            </a:r>
            <a:endParaRPr lang="en-US" sz="1650" dirty="0"/>
          </a:p>
        </p:txBody>
      </p:sp>
      <p:sp>
        <p:nvSpPr>
          <p:cNvPr id="45" name="Shape 43"/>
          <p:cNvSpPr/>
          <p:nvPr/>
        </p:nvSpPr>
        <p:spPr>
          <a:xfrm>
            <a:off x="1636068" y="8679210"/>
            <a:ext cx="190500" cy="123825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6" name="Text 44"/>
          <p:cNvSpPr/>
          <p:nvPr/>
        </p:nvSpPr>
        <p:spPr>
          <a:xfrm>
            <a:off x="1921818" y="8612535"/>
            <a:ext cx="2128733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Teal — закрепление</a:t>
            </a:r>
            <a:endParaRPr lang="en-US" sz="1650" dirty="0"/>
          </a:p>
        </p:txBody>
      </p:sp>
      <p:sp>
        <p:nvSpPr>
          <p:cNvPr id="47" name="Shape 45"/>
          <p:cNvSpPr/>
          <p:nvPr/>
        </p:nvSpPr>
        <p:spPr>
          <a:xfrm>
            <a:off x="1636068" y="9084022"/>
            <a:ext cx="190500" cy="28575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48" name="Text 46"/>
          <p:cNvSpPr/>
          <p:nvPr/>
        </p:nvSpPr>
        <p:spPr>
          <a:xfrm>
            <a:off x="1921818" y="8960197"/>
            <a:ext cx="3172964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Пунктир — условный возврат</a:t>
            </a:r>
            <a:endParaRPr lang="en-US" sz="1650" dirty="0"/>
          </a:p>
        </p:txBody>
      </p:sp>
      <p:sp>
        <p:nvSpPr>
          <p:cNvPr id="49" name="Shape 47"/>
          <p:cNvSpPr/>
          <p:nvPr/>
        </p:nvSpPr>
        <p:spPr>
          <a:xfrm>
            <a:off x="11468100" y="8264872"/>
            <a:ext cx="6286500" cy="1126778"/>
          </a:xfrm>
          <a:prstGeom prst="rect">
            <a:avLst/>
          </a:prstGeom>
          <a:ln w="19050">
            <a:solidFill>
              <a:srgbClr val="B91C1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1658600" y="8398222"/>
            <a:ext cx="64960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171" kern="0" dirty="0">
                <a:solidFill>
                  <a:srgbClr val="B9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ЭТО НЕ</a:t>
            </a:r>
            <a:endParaRPr lang="en-US" sz="1425" dirty="0"/>
          </a:p>
        </p:txBody>
      </p:sp>
      <p:sp>
        <p:nvSpPr>
          <p:cNvPr id="51" name="Text 49"/>
          <p:cNvSpPr/>
          <p:nvPr/>
        </p:nvSpPr>
        <p:spPr>
          <a:xfrm>
            <a:off x="11658600" y="8688735"/>
            <a:ext cx="6082665" cy="607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667"/>
              </a:lnSpc>
              <a:buNone/>
            </a:pPr>
            <a:r>
              <a:rPr lang="en-US" sz="172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Это не digital funnel, цифровая воронка, и не набор касаний ради охвата.</a:t>
            </a:r>
            <a:endParaRPr lang="en-US" sz="1725" dirty="0"/>
          </a:p>
        </p:txBody>
      </p:sp>
      <p:sp>
        <p:nvSpPr>
          <p:cNvPr id="52" name="Shape 50"/>
          <p:cNvSpPr/>
          <p:nvPr/>
        </p:nvSpPr>
        <p:spPr>
          <a:xfrm>
            <a:off x="533400" y="9544050"/>
            <a:ext cx="17221200" cy="9525"/>
          </a:xfrm>
          <a:prstGeom prst="rect">
            <a:avLst/>
          </a:prstGeom>
          <a:solidFill>
            <a:srgbClr val="0B1F33">
              <a:alpha val="35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533400" y="9667875"/>
            <a:ext cx="847195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0B1F3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Нужно проектировать не путь клика, а путь повторяемого действия.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10927035" y="9734550"/>
            <a:ext cx="751032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60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Повторяемый_Спрос_Визуализация_04_Клиентский_Сценарий_V1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B1F33">
                  <a:alpha val="5000"/>
                </a:srgbClr>
              </a:gs>
              <a:gs pos="100000">
                <a:srgbClr val="0B1F33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533400" y="804863"/>
            <a:ext cx="17221200" cy="1905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4" name="Text 2"/>
          <p:cNvSpPr/>
          <p:nvPr/>
        </p:nvSpPr>
        <p:spPr>
          <a:xfrm>
            <a:off x="533400" y="419100"/>
            <a:ext cx="5889419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15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ПОВТОРЯЕМЫЙ СПРОС / ВИЗУАЛИЗАЦИЯ 05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199561" y="419100"/>
            <a:ext cx="11610543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15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КОНСУЛЬТАНТСКИЙ СЛОЙ · MATRIX + PRODUCT LOGIC MAP · СЛОЖНОСТЬ СРЕДНЯЯ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533400" y="1071563"/>
            <a:ext cx="17737836" cy="12663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859"/>
              </a:lnSpc>
              <a:buNone/>
            </a:pPr>
            <a:r>
              <a:rPr lang="en-US" sz="4650" b="1" dirty="0">
                <a:solidFill>
                  <a:srgbClr val="0B1F3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Повторяется не бренд-идея, а конкретное действие клиента</a:t>
            </a:r>
            <a:endParaRPr lang="en-US" sz="4650" dirty="0"/>
          </a:p>
        </p:txBody>
      </p:sp>
      <p:sp>
        <p:nvSpPr>
          <p:cNvPr id="7" name="Text 5"/>
          <p:cNvSpPr/>
          <p:nvPr/>
        </p:nvSpPr>
        <p:spPr>
          <a:xfrm>
            <a:off x="533400" y="2433191"/>
            <a:ext cx="16973550" cy="3852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143"/>
              </a:lnSpc>
              <a:buNone/>
            </a:pPr>
            <a:r>
              <a:rPr lang="en-US" sz="2025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Продуктовая логика показывает, что клиент готов покупать, использовать или возвращать в жизнь снова.</a:t>
            </a:r>
            <a:endParaRPr lang="en-US" sz="2025" dirty="0"/>
          </a:p>
        </p:txBody>
      </p:sp>
      <p:sp>
        <p:nvSpPr>
          <p:cNvPr id="8" name="Shape 6"/>
          <p:cNvSpPr/>
          <p:nvPr/>
        </p:nvSpPr>
        <p:spPr>
          <a:xfrm>
            <a:off x="533400" y="3027983"/>
            <a:ext cx="5613350" cy="2418383"/>
          </a:xfrm>
          <a:prstGeom prst="rect">
            <a:avLst/>
          </a:prstGeom>
          <a:solidFill>
            <a:srgbClr val="FFFFFF">
              <a:alpha val="32000"/>
            </a:srgbClr>
          </a:solidFill>
          <a:ln w="19050">
            <a:solidFill>
              <a:srgbClr val="0B1F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2000" y="3256583"/>
            <a:ext cx="567176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80" kern="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ОБЪЕКТ ПОВТОРА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62000" y="3618533"/>
            <a:ext cx="5310835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111"/>
              </a:lnSpc>
              <a:buNone/>
            </a:pPr>
            <a:r>
              <a:rPr lang="en-US" sz="210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покупка, использование, пополнение, обслуживание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6337250" y="3027983"/>
            <a:ext cx="5613425" cy="2418383"/>
          </a:xfrm>
          <a:prstGeom prst="rect">
            <a:avLst/>
          </a:prstGeom>
          <a:solidFill>
            <a:srgbClr val="FFFFFF">
              <a:alpha val="32000"/>
            </a:srgbClr>
          </a:solidFill>
          <a:ln w="19050">
            <a:solidFill>
              <a:srgbClr val="0B1F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65850" y="3256583"/>
            <a:ext cx="567184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80" kern="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ЧАСТОТА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65850" y="3618533"/>
            <a:ext cx="5310912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111"/>
              </a:lnSpc>
              <a:buNone/>
            </a:pPr>
            <a:r>
              <a:rPr lang="en-US" sz="210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когда действие естественно повторяется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12141175" y="3027983"/>
            <a:ext cx="5613350" cy="2418383"/>
          </a:xfrm>
          <a:prstGeom prst="rect">
            <a:avLst/>
          </a:prstGeom>
          <a:solidFill>
            <a:srgbClr val="FFFFFF">
              <a:alpha val="32000"/>
            </a:srgbClr>
          </a:solidFill>
          <a:ln w="19050">
            <a:solidFill>
              <a:srgbClr val="0B1F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369775" y="3256583"/>
            <a:ext cx="567176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80" kern="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ПРИЧИНА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369775" y="3618533"/>
            <a:ext cx="5671765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111"/>
              </a:lnSpc>
              <a:buNone/>
            </a:pPr>
            <a:r>
              <a:rPr lang="en-US" sz="210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какой мотив делает повтор разумным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533400" y="5636865"/>
            <a:ext cx="5613350" cy="2418457"/>
          </a:xfrm>
          <a:prstGeom prst="rect">
            <a:avLst/>
          </a:prstGeom>
          <a:solidFill>
            <a:srgbClr val="B91C1C">
              <a:alpha val="5000"/>
            </a:srgbClr>
          </a:solidFill>
          <a:ln w="19050">
            <a:solidFill>
              <a:srgbClr val="B91C1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2000" y="5865465"/>
            <a:ext cx="567176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80" kern="0" dirty="0">
                <a:solidFill>
                  <a:srgbClr val="B9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БАРЬЕРЫ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62000" y="6227415"/>
            <a:ext cx="5671765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111"/>
              </a:lnSpc>
              <a:buNone/>
            </a:pPr>
            <a:r>
              <a:rPr lang="en-US" sz="210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что мешает повтору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6337250" y="5636865"/>
            <a:ext cx="5613425" cy="2418457"/>
          </a:xfrm>
          <a:prstGeom prst="rect">
            <a:avLst/>
          </a:prstGeom>
          <a:solidFill>
            <a:srgbClr val="0F766E">
              <a:alpha val="7000"/>
            </a:srgbClr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65850" y="5865465"/>
            <a:ext cx="567184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80" kern="0" dirty="0">
                <a:solidFill>
                  <a:srgbClr val="0F766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УСИЛИТЕЛИ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565850" y="6227415"/>
            <a:ext cx="5310912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111"/>
              </a:lnSpc>
              <a:buNone/>
            </a:pPr>
            <a:r>
              <a:rPr lang="en-US" sz="210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упаковка, формат, набор, подписка, сервис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12141175" y="5636865"/>
            <a:ext cx="5613350" cy="2418457"/>
          </a:xfrm>
          <a:prstGeom prst="rect">
            <a:avLst/>
          </a:prstGeom>
          <a:solidFill>
            <a:srgbClr val="B91C1C"/>
          </a:solidFill>
          <a:ln w="19050">
            <a:solidFill>
              <a:srgbClr val="B91C1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369775" y="5865465"/>
            <a:ext cx="567176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80" kern="0" dirty="0">
                <a:solidFill>
                  <a:srgbClr val="F3EBD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ОГРАНИЧЕНИЕ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2369775" y="6227415"/>
            <a:ext cx="5310835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111"/>
              </a:lnSpc>
              <a:buNone/>
            </a:pPr>
            <a:r>
              <a:rPr lang="en-US" sz="2100" dirty="0">
                <a:solidFill>
                  <a:srgbClr val="F3EBD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если действие не повторяемо, нужен Stop или другой маршрут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533400" y="8302972"/>
            <a:ext cx="988368" cy="293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171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ЛЕГЕНДА</a:t>
            </a:r>
            <a:endParaRPr lang="en-US" sz="1425" dirty="0"/>
          </a:p>
        </p:txBody>
      </p:sp>
      <p:sp>
        <p:nvSpPr>
          <p:cNvPr id="27" name="Text 25"/>
          <p:cNvSpPr/>
          <p:nvPr/>
        </p:nvSpPr>
        <p:spPr>
          <a:xfrm>
            <a:off x="1636068" y="8264872"/>
            <a:ext cx="8017907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70"/>
              </a:lnSpc>
              <a:buNone/>
            </a:pPr>
            <a:r>
              <a:rPr lang="en-US" sz="165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Матрица 2 x 3: объект / частота / причина / барьер / усилитель / решение.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1468100" y="8264872"/>
            <a:ext cx="6286500" cy="1126778"/>
          </a:xfrm>
          <a:prstGeom prst="rect">
            <a:avLst/>
          </a:prstGeom>
          <a:ln w="19050">
            <a:solidFill>
              <a:srgbClr val="B91C1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658600" y="8398222"/>
            <a:ext cx="64960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171" kern="0" dirty="0">
                <a:solidFill>
                  <a:srgbClr val="B9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ЭТО НЕ</a:t>
            </a:r>
            <a:endParaRPr lang="en-US" sz="1425" dirty="0"/>
          </a:p>
        </p:txBody>
      </p:sp>
      <p:sp>
        <p:nvSpPr>
          <p:cNvPr id="30" name="Text 28"/>
          <p:cNvSpPr/>
          <p:nvPr/>
        </p:nvSpPr>
        <p:spPr>
          <a:xfrm>
            <a:off x="11658600" y="8688735"/>
            <a:ext cx="6082665" cy="607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667"/>
              </a:lnSpc>
              <a:buNone/>
            </a:pPr>
            <a:r>
              <a:rPr lang="en-US" sz="172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Это не SKU-матрица ради ассортимента и не упражнение по упаковке.</a:t>
            </a:r>
            <a:endParaRPr lang="en-US" sz="1725" dirty="0"/>
          </a:p>
        </p:txBody>
      </p:sp>
      <p:sp>
        <p:nvSpPr>
          <p:cNvPr id="31" name="Shape 29"/>
          <p:cNvSpPr/>
          <p:nvPr/>
        </p:nvSpPr>
        <p:spPr>
          <a:xfrm>
            <a:off x="533400" y="9544050"/>
            <a:ext cx="17221200" cy="9525"/>
          </a:xfrm>
          <a:prstGeom prst="rect">
            <a:avLst/>
          </a:prstGeom>
          <a:solidFill>
            <a:srgbClr val="0B1F33">
              <a:alpha val="35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533400" y="9667875"/>
            <a:ext cx="1102658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0B1F3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Продукт должен поддерживать повтор, иначе коммуникация будет покупать спрос заново.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1049000" y="9734550"/>
            <a:ext cx="737616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60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Повторяемый_Спрос_Визуализация_05_Продуктовая_Логика_V1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B1F33">
                  <a:alpha val="5000"/>
                </a:srgbClr>
              </a:gs>
              <a:gs pos="100000">
                <a:srgbClr val="0B1F33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533400" y="804863"/>
            <a:ext cx="17221200" cy="1905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4" name="Text 2"/>
          <p:cNvSpPr/>
          <p:nvPr/>
        </p:nvSpPr>
        <p:spPr>
          <a:xfrm>
            <a:off x="533400" y="419100"/>
            <a:ext cx="5889419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15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ПОВТОРЯЕМЫЙ СПРОС / ВИЗУАЛИЗАЦИЯ 06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6893570" y="419100"/>
            <a:ext cx="11947133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15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КОНСУЛЬТАНТСКИЙ СЛОЙ · CHANNEL MAP + DIAGNOSTIC MAP · СЛОЖНОСТЬ СРЕДНЯЯ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533400" y="1071563"/>
            <a:ext cx="17737836" cy="1226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098"/>
              </a:lnSpc>
              <a:buNone/>
            </a:pPr>
            <a:r>
              <a:rPr lang="en-US" sz="4500" b="1" dirty="0">
                <a:solidFill>
                  <a:srgbClr val="0B1F3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Канал должен поддерживать повтор, а не только приводить первый спрос</a:t>
            </a:r>
            <a:endParaRPr lang="en-US" sz="4500" dirty="0"/>
          </a:p>
        </p:txBody>
      </p:sp>
      <p:sp>
        <p:nvSpPr>
          <p:cNvPr id="7" name="Text 5"/>
          <p:cNvSpPr/>
          <p:nvPr/>
        </p:nvSpPr>
        <p:spPr>
          <a:xfrm>
            <a:off x="533400" y="2393603"/>
            <a:ext cx="16973550" cy="3852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143"/>
              </a:lnSpc>
              <a:buNone/>
            </a:pPr>
            <a:r>
              <a:rPr lang="en-US" sz="2025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Повторяемый спрос проходит через точки, где клиент видит, выбирает, покупает, использует и возвращается.</a:t>
            </a:r>
            <a:endParaRPr lang="en-US" sz="2025" dirty="0"/>
          </a:p>
        </p:txBody>
      </p:sp>
      <p:sp>
        <p:nvSpPr>
          <p:cNvPr id="8" name="Shape 6"/>
          <p:cNvSpPr/>
          <p:nvPr/>
        </p:nvSpPr>
        <p:spPr>
          <a:xfrm>
            <a:off x="533400" y="2969344"/>
            <a:ext cx="3108945" cy="4128715"/>
          </a:xfrm>
          <a:prstGeom prst="rect">
            <a:avLst/>
          </a:prstGeom>
          <a:solidFill>
            <a:srgbClr val="0F766E">
              <a:alpha val="6000"/>
            </a:srgbClr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2950" y="3178894"/>
            <a:ext cx="295883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575" dirty="0"/>
          </a:p>
        </p:txBody>
      </p:sp>
      <p:sp>
        <p:nvSpPr>
          <p:cNvPr id="10" name="Text 8"/>
          <p:cNvSpPr/>
          <p:nvPr/>
        </p:nvSpPr>
        <p:spPr>
          <a:xfrm>
            <a:off x="742950" y="3536082"/>
            <a:ext cx="295883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Создание спроса</a:t>
            </a:r>
            <a:endParaRPr lang="en-US" sz="2175" dirty="0"/>
          </a:p>
        </p:txBody>
      </p:sp>
      <p:sp>
        <p:nvSpPr>
          <p:cNvPr id="11" name="Text 9"/>
          <p:cNvSpPr/>
          <p:nvPr/>
        </p:nvSpPr>
        <p:spPr>
          <a:xfrm>
            <a:off x="742950" y="3988519"/>
            <a:ext cx="2770540" cy="63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645"/>
              </a:lnSpc>
              <a:buNone/>
            </a:pPr>
            <a:r>
              <a:rPr lang="en-US" sz="180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где клиент впервые замечает решение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604245" y="2969344"/>
            <a:ext cx="495300" cy="4166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B46A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4061445" y="2969344"/>
            <a:ext cx="3109020" cy="4128715"/>
          </a:xfrm>
          <a:prstGeom prst="rect">
            <a:avLst/>
          </a:prstGeom>
          <a:solidFill>
            <a:srgbClr val="0F766E">
              <a:alpha val="6000"/>
            </a:srgbClr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70995" y="3178894"/>
            <a:ext cx="295891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575" dirty="0"/>
          </a:p>
        </p:txBody>
      </p:sp>
      <p:sp>
        <p:nvSpPr>
          <p:cNvPr id="15" name="Text 13"/>
          <p:cNvSpPr/>
          <p:nvPr/>
        </p:nvSpPr>
        <p:spPr>
          <a:xfrm>
            <a:off x="4270995" y="3536082"/>
            <a:ext cx="2958911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Подтверждение</a:t>
            </a:r>
            <a:endParaRPr lang="en-US" sz="2175" dirty="0"/>
          </a:p>
        </p:txBody>
      </p:sp>
      <p:sp>
        <p:nvSpPr>
          <p:cNvPr id="16" name="Text 14"/>
          <p:cNvSpPr/>
          <p:nvPr/>
        </p:nvSpPr>
        <p:spPr>
          <a:xfrm>
            <a:off x="4270995" y="3988519"/>
            <a:ext cx="2770617" cy="63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645"/>
              </a:lnSpc>
              <a:buNone/>
            </a:pPr>
            <a:r>
              <a:rPr lang="en-US" sz="180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где он понимает ценность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132365" y="2969344"/>
            <a:ext cx="495300" cy="4166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B46A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7589565" y="2969344"/>
            <a:ext cx="3108945" cy="4128715"/>
          </a:xfrm>
          <a:prstGeom prst="rect">
            <a:avLst/>
          </a:prstGeom>
          <a:solidFill>
            <a:srgbClr val="0F766E">
              <a:alpha val="6000"/>
            </a:srgbClr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99115" y="3178894"/>
            <a:ext cx="295883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575" dirty="0"/>
          </a:p>
        </p:txBody>
      </p:sp>
      <p:sp>
        <p:nvSpPr>
          <p:cNvPr id="20" name="Text 18"/>
          <p:cNvSpPr/>
          <p:nvPr/>
        </p:nvSpPr>
        <p:spPr>
          <a:xfrm>
            <a:off x="7799115" y="3536082"/>
            <a:ext cx="295883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Покупка</a:t>
            </a:r>
            <a:endParaRPr lang="en-US" sz="2175" dirty="0"/>
          </a:p>
        </p:txBody>
      </p:sp>
      <p:sp>
        <p:nvSpPr>
          <p:cNvPr id="21" name="Text 19"/>
          <p:cNvSpPr/>
          <p:nvPr/>
        </p:nvSpPr>
        <p:spPr>
          <a:xfrm>
            <a:off x="7799115" y="3988519"/>
            <a:ext cx="2770540" cy="63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645"/>
              </a:lnSpc>
              <a:buNone/>
            </a:pPr>
            <a:r>
              <a:rPr lang="en-US" sz="180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где действие становится продажей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660410" y="2969344"/>
            <a:ext cx="495300" cy="4166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B46A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11117610" y="2969344"/>
            <a:ext cx="3108945" cy="4128715"/>
          </a:xfrm>
          <a:prstGeom prst="rect">
            <a:avLst/>
          </a:prstGeom>
          <a:solidFill>
            <a:srgbClr val="0F766E">
              <a:alpha val="6000"/>
            </a:srgbClr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327160" y="3178894"/>
            <a:ext cx="295883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575" dirty="0"/>
          </a:p>
        </p:txBody>
      </p:sp>
      <p:sp>
        <p:nvSpPr>
          <p:cNvPr id="25" name="Text 23"/>
          <p:cNvSpPr/>
          <p:nvPr/>
        </p:nvSpPr>
        <p:spPr>
          <a:xfrm>
            <a:off x="11327160" y="3536082"/>
            <a:ext cx="295883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Использование</a:t>
            </a:r>
            <a:endParaRPr lang="en-US" sz="2175" dirty="0"/>
          </a:p>
        </p:txBody>
      </p:sp>
      <p:sp>
        <p:nvSpPr>
          <p:cNvPr id="26" name="Text 24"/>
          <p:cNvSpPr/>
          <p:nvPr/>
        </p:nvSpPr>
        <p:spPr>
          <a:xfrm>
            <a:off x="11327160" y="3988519"/>
            <a:ext cx="2958830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645"/>
              </a:lnSpc>
              <a:buNone/>
            </a:pPr>
            <a:r>
              <a:rPr lang="en-US" sz="180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где появляется опыт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4188455" y="2969344"/>
            <a:ext cx="495300" cy="4166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B46A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14645655" y="2969344"/>
            <a:ext cx="3108945" cy="4128715"/>
          </a:xfrm>
          <a:prstGeom prst="rect">
            <a:avLst/>
          </a:prstGeom>
          <a:solidFill>
            <a:srgbClr val="0F766E">
              <a:alpha val="6000"/>
            </a:srgbClr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4855205" y="3178894"/>
            <a:ext cx="295883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1575" dirty="0"/>
          </a:p>
        </p:txBody>
      </p:sp>
      <p:sp>
        <p:nvSpPr>
          <p:cNvPr id="30" name="Text 28"/>
          <p:cNvSpPr/>
          <p:nvPr/>
        </p:nvSpPr>
        <p:spPr>
          <a:xfrm>
            <a:off x="14855205" y="3536082"/>
            <a:ext cx="295883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Возврат</a:t>
            </a:r>
            <a:endParaRPr lang="en-US" sz="2175" dirty="0"/>
          </a:p>
        </p:txBody>
      </p:sp>
      <p:sp>
        <p:nvSpPr>
          <p:cNvPr id="31" name="Text 29"/>
          <p:cNvSpPr/>
          <p:nvPr/>
        </p:nvSpPr>
        <p:spPr>
          <a:xfrm>
            <a:off x="14855205" y="3988519"/>
            <a:ext cx="2770540" cy="63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645"/>
              </a:lnSpc>
              <a:buNone/>
            </a:pPr>
            <a:r>
              <a:rPr lang="en-US" sz="180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где возникает следующий сигнал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533400" y="7307610"/>
            <a:ext cx="10351443" cy="747713"/>
          </a:xfrm>
          <a:prstGeom prst="rect">
            <a:avLst/>
          </a:prstGeom>
          <a:solidFill>
            <a:srgbClr val="B91C1C">
              <a:alpha val="5000"/>
            </a:srgbClr>
          </a:solidFill>
          <a:ln w="19050">
            <a:solidFill>
              <a:srgbClr val="B91C1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2000" y="7498110"/>
            <a:ext cx="1066800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B91C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Потеря</a:t>
            </a:r>
            <a:endParaRPr lang="en-US" sz="2250" dirty="0"/>
          </a:p>
        </p:txBody>
      </p:sp>
      <p:sp>
        <p:nvSpPr>
          <p:cNvPr id="34" name="Text 32"/>
          <p:cNvSpPr/>
          <p:nvPr/>
        </p:nvSpPr>
        <p:spPr>
          <a:xfrm>
            <a:off x="1943100" y="7536210"/>
            <a:ext cx="3632418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где канал разрушает повтор</a:t>
            </a:r>
            <a:endParaRPr lang="en-US" sz="1950" dirty="0"/>
          </a:p>
        </p:txBody>
      </p:sp>
      <p:sp>
        <p:nvSpPr>
          <p:cNvPr id="35" name="Shape 33"/>
          <p:cNvSpPr/>
          <p:nvPr/>
        </p:nvSpPr>
        <p:spPr>
          <a:xfrm>
            <a:off x="11113443" y="7307610"/>
            <a:ext cx="6641157" cy="747713"/>
          </a:xfrm>
          <a:prstGeom prst="rect">
            <a:avLst/>
          </a:prstGeom>
          <a:ln w="19050">
            <a:solidFill>
              <a:srgbClr val="B46A3C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1342043" y="7557641"/>
            <a:ext cx="331932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80" kern="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МАРШРУТ ВОССТАНОВЛЕНИЯ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14531057" y="7498110"/>
            <a:ext cx="361950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B46A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2250" dirty="0"/>
          </a:p>
        </p:txBody>
      </p:sp>
      <p:sp>
        <p:nvSpPr>
          <p:cNvPr id="38" name="Text 36"/>
          <p:cNvSpPr/>
          <p:nvPr/>
        </p:nvSpPr>
        <p:spPr>
          <a:xfrm>
            <a:off x="533400" y="8302972"/>
            <a:ext cx="988368" cy="966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171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ЛЕГЕНДА</a:t>
            </a:r>
            <a:endParaRPr lang="en-US" sz="1425" dirty="0"/>
          </a:p>
        </p:txBody>
      </p:sp>
      <p:sp>
        <p:nvSpPr>
          <p:cNvPr id="39" name="Shape 37"/>
          <p:cNvSpPr/>
          <p:nvPr/>
        </p:nvSpPr>
        <p:spPr>
          <a:xfrm>
            <a:off x="1636068" y="8331547"/>
            <a:ext cx="190500" cy="123825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0" name="Text 38"/>
          <p:cNvSpPr/>
          <p:nvPr/>
        </p:nvSpPr>
        <p:spPr>
          <a:xfrm>
            <a:off x="1921818" y="8264872"/>
            <a:ext cx="3154955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Teal — подтвержденный путь</a:t>
            </a:r>
            <a:endParaRPr lang="en-US" sz="1650" dirty="0"/>
          </a:p>
        </p:txBody>
      </p:sp>
      <p:sp>
        <p:nvSpPr>
          <p:cNvPr id="41" name="Shape 39"/>
          <p:cNvSpPr/>
          <p:nvPr/>
        </p:nvSpPr>
        <p:spPr>
          <a:xfrm>
            <a:off x="1636068" y="8679210"/>
            <a:ext cx="190500" cy="123825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42" name="Text 40"/>
          <p:cNvSpPr/>
          <p:nvPr/>
        </p:nvSpPr>
        <p:spPr>
          <a:xfrm>
            <a:off x="1921818" y="8612535"/>
            <a:ext cx="2145841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Red — место потери</a:t>
            </a:r>
            <a:endParaRPr lang="en-US" sz="1650" dirty="0"/>
          </a:p>
        </p:txBody>
      </p:sp>
      <p:sp>
        <p:nvSpPr>
          <p:cNvPr id="43" name="Shape 41"/>
          <p:cNvSpPr/>
          <p:nvPr/>
        </p:nvSpPr>
        <p:spPr>
          <a:xfrm>
            <a:off x="1636068" y="9026872"/>
            <a:ext cx="190500" cy="123825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44" name="Text 42"/>
          <p:cNvSpPr/>
          <p:nvPr/>
        </p:nvSpPr>
        <p:spPr>
          <a:xfrm>
            <a:off x="1921818" y="8960197"/>
            <a:ext cx="3814219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Copper — маршрут восстановления</a:t>
            </a:r>
            <a:endParaRPr lang="en-US" sz="1650" dirty="0"/>
          </a:p>
        </p:txBody>
      </p:sp>
      <p:sp>
        <p:nvSpPr>
          <p:cNvPr id="45" name="Shape 43"/>
          <p:cNvSpPr/>
          <p:nvPr/>
        </p:nvSpPr>
        <p:spPr>
          <a:xfrm>
            <a:off x="11468100" y="8264872"/>
            <a:ext cx="6286500" cy="1126778"/>
          </a:xfrm>
          <a:prstGeom prst="rect">
            <a:avLst/>
          </a:prstGeom>
          <a:ln w="19050">
            <a:solidFill>
              <a:srgbClr val="B91C1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1658600" y="8398222"/>
            <a:ext cx="64960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171" kern="0" dirty="0">
                <a:solidFill>
                  <a:srgbClr val="B9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ЭТО НЕ</a:t>
            </a:r>
            <a:endParaRPr lang="en-US" sz="1425" dirty="0"/>
          </a:p>
        </p:txBody>
      </p:sp>
      <p:sp>
        <p:nvSpPr>
          <p:cNvPr id="47" name="Text 45"/>
          <p:cNvSpPr/>
          <p:nvPr/>
        </p:nvSpPr>
        <p:spPr>
          <a:xfrm>
            <a:off x="11658600" y="8688735"/>
            <a:ext cx="6082665" cy="607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667"/>
              </a:lnSpc>
              <a:buNone/>
            </a:pPr>
            <a:r>
              <a:rPr lang="en-US" sz="172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Это не медиаплан, не контент-календарь и не CRM-внедрение.</a:t>
            </a:r>
            <a:endParaRPr lang="en-US" sz="1725" dirty="0"/>
          </a:p>
        </p:txBody>
      </p:sp>
      <p:sp>
        <p:nvSpPr>
          <p:cNvPr id="48" name="Shape 46"/>
          <p:cNvSpPr/>
          <p:nvPr/>
        </p:nvSpPr>
        <p:spPr>
          <a:xfrm>
            <a:off x="533400" y="9544050"/>
            <a:ext cx="17221200" cy="9525"/>
          </a:xfrm>
          <a:prstGeom prst="rect">
            <a:avLst/>
          </a:prstGeom>
          <a:solidFill>
            <a:srgbClr val="0B1F33">
              <a:alpha val="35000"/>
            </a:srgbClr>
          </a:solidFill>
          <a:ln/>
        </p:spPr>
      </p:sp>
      <p:sp>
        <p:nvSpPr>
          <p:cNvPr id="49" name="Text 47"/>
          <p:cNvSpPr/>
          <p:nvPr/>
        </p:nvSpPr>
        <p:spPr>
          <a:xfrm>
            <a:off x="533400" y="9667875"/>
            <a:ext cx="971771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0B1F3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Канал важен только там, где он помогает повторяемому действию состояться.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11414745" y="9734550"/>
            <a:ext cx="697384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60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Повторяемый_Спрос_Визуализация_06_Канал_И_Касания_V1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B1F33">
                  <a:alpha val="5000"/>
                </a:srgbClr>
              </a:gs>
              <a:gs pos="100000">
                <a:srgbClr val="0B1F33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533400" y="804863"/>
            <a:ext cx="17221200" cy="1905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4" name="Text 2"/>
          <p:cNvSpPr/>
          <p:nvPr/>
        </p:nvSpPr>
        <p:spPr>
          <a:xfrm>
            <a:off x="533400" y="419100"/>
            <a:ext cx="5889419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15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ПОВТОРЯЕМЫЙ СПРОС / ВИЗУАЛИЗАЦИЯ 07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964388" y="419100"/>
            <a:ext cx="10769233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15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КЛИЕНТСКИЙ СЛОЙ · DEMAND LOOP / ПЕТЛЯ СПРОСА · СЛОЖНОСТЬ ПРОСТАЯ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533400" y="1071563"/>
            <a:ext cx="17737836" cy="12663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859"/>
              </a:lnSpc>
              <a:buNone/>
            </a:pPr>
            <a:r>
              <a:rPr lang="en-US" sz="4650" b="1" dirty="0">
                <a:solidFill>
                  <a:srgbClr val="0B1F3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Возврат появляется, когда сигнал попадает в правильную сцену</a:t>
            </a:r>
            <a:endParaRPr lang="en-US" sz="4650" dirty="0"/>
          </a:p>
        </p:txBody>
      </p:sp>
      <p:sp>
        <p:nvSpPr>
          <p:cNvPr id="7" name="Text 5"/>
          <p:cNvSpPr/>
          <p:nvPr/>
        </p:nvSpPr>
        <p:spPr>
          <a:xfrm>
            <a:off x="533400" y="2433191"/>
            <a:ext cx="16973550" cy="3852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143"/>
              </a:lnSpc>
              <a:buNone/>
            </a:pPr>
            <a:r>
              <a:rPr lang="en-US" sz="2025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Удержание строится не на обещании лояльности, а на повторяемой сцене, понятном мотиве и точном сигнале.</a:t>
            </a:r>
            <a:endParaRPr lang="en-US" sz="2025" dirty="0"/>
          </a:p>
        </p:txBody>
      </p:sp>
      <p:sp>
        <p:nvSpPr>
          <p:cNvPr id="8" name="Shape 6"/>
          <p:cNvSpPr/>
          <p:nvPr/>
        </p:nvSpPr>
        <p:spPr>
          <a:xfrm>
            <a:off x="533400" y="3027983"/>
            <a:ext cx="3048000" cy="3893865"/>
          </a:xfrm>
          <a:prstGeom prst="rect">
            <a:avLst/>
          </a:prstGeom>
          <a:solidFill>
            <a:srgbClr val="FFFFFF">
              <a:alpha val="32000"/>
            </a:srgbClr>
          </a:solidFill>
          <a:ln w="19050">
            <a:solidFill>
              <a:srgbClr val="0B1F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2000" y="3256583"/>
            <a:ext cx="284988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575" dirty="0"/>
          </a:p>
        </p:txBody>
      </p:sp>
      <p:sp>
        <p:nvSpPr>
          <p:cNvPr id="10" name="Text 8"/>
          <p:cNvSpPr/>
          <p:nvPr/>
        </p:nvSpPr>
        <p:spPr>
          <a:xfrm>
            <a:off x="762000" y="3632820"/>
            <a:ext cx="284988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Опыт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62000" y="4147170"/>
            <a:ext cx="2668524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7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клиент получил ценность</a:t>
            </a:r>
            <a:endParaRPr lang="en-US" sz="1875" dirty="0"/>
          </a:p>
        </p:txBody>
      </p:sp>
      <p:sp>
        <p:nvSpPr>
          <p:cNvPr id="12" name="Text 10"/>
          <p:cNvSpPr/>
          <p:nvPr/>
        </p:nvSpPr>
        <p:spPr>
          <a:xfrm>
            <a:off x="3543300" y="3027983"/>
            <a:ext cx="571500" cy="3931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550" dirty="0">
                <a:solidFill>
                  <a:srgbClr val="B46A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4076700" y="3027983"/>
            <a:ext cx="3048000" cy="3893865"/>
          </a:xfrm>
          <a:prstGeom prst="rect">
            <a:avLst/>
          </a:prstGeom>
          <a:solidFill>
            <a:srgbClr val="FFFFFF">
              <a:alpha val="32000"/>
            </a:srgbClr>
          </a:solidFill>
          <a:ln w="19050">
            <a:solidFill>
              <a:srgbClr val="0B1F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05300" y="3256583"/>
            <a:ext cx="284988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575" dirty="0"/>
          </a:p>
        </p:txBody>
      </p:sp>
      <p:sp>
        <p:nvSpPr>
          <p:cNvPr id="15" name="Text 13"/>
          <p:cNvSpPr/>
          <p:nvPr/>
        </p:nvSpPr>
        <p:spPr>
          <a:xfrm>
            <a:off x="4305300" y="3632820"/>
            <a:ext cx="284988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Память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305300" y="4147170"/>
            <a:ext cx="2668524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7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ценность связалась со сценой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7086600" y="3027983"/>
            <a:ext cx="571500" cy="3931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550" dirty="0">
                <a:solidFill>
                  <a:srgbClr val="B46A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7620000" y="3027983"/>
            <a:ext cx="3048000" cy="3893865"/>
          </a:xfrm>
          <a:prstGeom prst="rect">
            <a:avLst/>
          </a:prstGeom>
          <a:solidFill>
            <a:srgbClr val="B46A3C">
              <a:alpha val="7000"/>
            </a:srgbClr>
          </a:solidFill>
          <a:ln w="19050">
            <a:solidFill>
              <a:srgbClr val="B46A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48600" y="3256583"/>
            <a:ext cx="284988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575" dirty="0"/>
          </a:p>
        </p:txBody>
      </p:sp>
      <p:sp>
        <p:nvSpPr>
          <p:cNvPr id="20" name="Text 18"/>
          <p:cNvSpPr/>
          <p:nvPr/>
        </p:nvSpPr>
        <p:spPr>
          <a:xfrm>
            <a:off x="7848600" y="3632820"/>
            <a:ext cx="284988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Сигнал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7848600" y="4147170"/>
            <a:ext cx="2668524" cy="966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7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бренд возвращает клиента в нужный момент</a:t>
            </a:r>
            <a:endParaRPr lang="en-US" sz="1875" dirty="0"/>
          </a:p>
        </p:txBody>
      </p:sp>
      <p:sp>
        <p:nvSpPr>
          <p:cNvPr id="22" name="Text 20"/>
          <p:cNvSpPr/>
          <p:nvPr/>
        </p:nvSpPr>
        <p:spPr>
          <a:xfrm>
            <a:off x="10629900" y="3027983"/>
            <a:ext cx="571500" cy="3931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550" dirty="0">
                <a:solidFill>
                  <a:srgbClr val="B46A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2550" dirty="0"/>
          </a:p>
        </p:txBody>
      </p:sp>
      <p:sp>
        <p:nvSpPr>
          <p:cNvPr id="23" name="Shape 21"/>
          <p:cNvSpPr/>
          <p:nvPr/>
        </p:nvSpPr>
        <p:spPr>
          <a:xfrm>
            <a:off x="11163300" y="3027983"/>
            <a:ext cx="3048000" cy="3893865"/>
          </a:xfrm>
          <a:prstGeom prst="rect">
            <a:avLst/>
          </a:prstGeom>
          <a:solidFill>
            <a:srgbClr val="0F766E">
              <a:alpha val="7000"/>
            </a:srgbClr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391900" y="3256583"/>
            <a:ext cx="284988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575" dirty="0"/>
          </a:p>
        </p:txBody>
      </p:sp>
      <p:sp>
        <p:nvSpPr>
          <p:cNvPr id="25" name="Text 23"/>
          <p:cNvSpPr/>
          <p:nvPr/>
        </p:nvSpPr>
        <p:spPr>
          <a:xfrm>
            <a:off x="11391900" y="3632820"/>
            <a:ext cx="284988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76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Повтор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11391900" y="4147170"/>
            <a:ext cx="2668524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7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клиент снова совершает действие</a:t>
            </a:r>
            <a:endParaRPr lang="en-US" sz="1875" dirty="0"/>
          </a:p>
        </p:txBody>
      </p:sp>
      <p:sp>
        <p:nvSpPr>
          <p:cNvPr id="27" name="Text 25"/>
          <p:cNvSpPr/>
          <p:nvPr/>
        </p:nvSpPr>
        <p:spPr>
          <a:xfrm>
            <a:off x="14173200" y="3027983"/>
            <a:ext cx="571500" cy="39319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550" dirty="0">
                <a:solidFill>
                  <a:srgbClr val="B46A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2550" dirty="0"/>
          </a:p>
        </p:txBody>
      </p:sp>
      <p:sp>
        <p:nvSpPr>
          <p:cNvPr id="28" name="Shape 26"/>
          <p:cNvSpPr/>
          <p:nvPr/>
        </p:nvSpPr>
        <p:spPr>
          <a:xfrm>
            <a:off x="14706600" y="3027983"/>
            <a:ext cx="3048000" cy="3893865"/>
          </a:xfrm>
          <a:prstGeom prst="rect">
            <a:avLst/>
          </a:prstGeom>
          <a:solidFill>
            <a:srgbClr val="0F766E">
              <a:alpha val="7000"/>
            </a:srgbClr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4935200" y="3256583"/>
            <a:ext cx="284988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1575" dirty="0"/>
          </a:p>
        </p:txBody>
      </p:sp>
      <p:sp>
        <p:nvSpPr>
          <p:cNvPr id="30" name="Text 28"/>
          <p:cNvSpPr/>
          <p:nvPr/>
        </p:nvSpPr>
        <p:spPr>
          <a:xfrm>
            <a:off x="14935200" y="3632820"/>
            <a:ext cx="284988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76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Данные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14935200" y="4147170"/>
            <a:ext cx="2668524" cy="966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7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компания видит частоту, разрыв и следующий шаг</a:t>
            </a:r>
            <a:endParaRPr lang="en-US" sz="1875" dirty="0"/>
          </a:p>
        </p:txBody>
      </p:sp>
      <p:sp>
        <p:nvSpPr>
          <p:cNvPr id="32" name="Shape 30"/>
          <p:cNvSpPr/>
          <p:nvPr/>
        </p:nvSpPr>
        <p:spPr>
          <a:xfrm>
            <a:off x="533400" y="7721947"/>
            <a:ext cx="17221200" cy="190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33" name="Shape 31"/>
          <p:cNvSpPr/>
          <p:nvPr/>
        </p:nvSpPr>
        <p:spPr>
          <a:xfrm>
            <a:off x="533400" y="7112347"/>
            <a:ext cx="19050" cy="6286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34" name="Shape 32"/>
          <p:cNvSpPr/>
          <p:nvPr/>
        </p:nvSpPr>
        <p:spPr>
          <a:xfrm>
            <a:off x="17735550" y="7112347"/>
            <a:ext cx="19050" cy="6286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35" name="Shape 33"/>
          <p:cNvSpPr/>
          <p:nvPr/>
        </p:nvSpPr>
        <p:spPr>
          <a:xfrm>
            <a:off x="6903318" y="7590979"/>
            <a:ext cx="4481364" cy="261937"/>
          </a:xfrm>
          <a:prstGeom prst="rect">
            <a:avLst/>
          </a:prstGeom>
          <a:solidFill>
            <a:srgbClr val="F3EBDD"/>
          </a:solidFill>
          <a:ln/>
        </p:spPr>
      </p:sp>
      <p:sp>
        <p:nvSpPr>
          <p:cNvPr id="36" name="Text 34"/>
          <p:cNvSpPr/>
          <p:nvPr/>
        </p:nvSpPr>
        <p:spPr>
          <a:xfrm>
            <a:off x="7055718" y="7590979"/>
            <a:ext cx="46247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189" kern="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ДОНАСТРОЙКА — КРУГОВОЙ КОНТУР</a:t>
            </a:r>
            <a:endParaRPr lang="en-US" sz="1575" dirty="0"/>
          </a:p>
        </p:txBody>
      </p:sp>
      <p:sp>
        <p:nvSpPr>
          <p:cNvPr id="37" name="Text 35"/>
          <p:cNvSpPr/>
          <p:nvPr/>
        </p:nvSpPr>
        <p:spPr>
          <a:xfrm>
            <a:off x="533400" y="7988647"/>
            <a:ext cx="988368" cy="293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171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ЛЕГЕНДА</a:t>
            </a:r>
            <a:endParaRPr lang="en-US" sz="1425" dirty="0"/>
          </a:p>
        </p:txBody>
      </p:sp>
      <p:sp>
        <p:nvSpPr>
          <p:cNvPr id="38" name="Text 36"/>
          <p:cNvSpPr/>
          <p:nvPr/>
        </p:nvSpPr>
        <p:spPr>
          <a:xfrm>
            <a:off x="1636068" y="7950547"/>
            <a:ext cx="8724893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70"/>
              </a:lnSpc>
              <a:buNone/>
            </a:pPr>
            <a:r>
              <a:rPr lang="en-US" sz="165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Круговой контур: опыт -&gt; память -&gt; сигнал -&gt; повтор -&gt; данные -&gt; донастройка.</a:t>
            </a:r>
            <a:endParaRPr lang="en-US" sz="1650" dirty="0"/>
          </a:p>
        </p:txBody>
      </p:sp>
      <p:sp>
        <p:nvSpPr>
          <p:cNvPr id="39" name="Shape 37"/>
          <p:cNvSpPr/>
          <p:nvPr/>
        </p:nvSpPr>
        <p:spPr>
          <a:xfrm>
            <a:off x="11468100" y="7950547"/>
            <a:ext cx="6286500" cy="1126778"/>
          </a:xfrm>
          <a:prstGeom prst="rect">
            <a:avLst/>
          </a:prstGeom>
          <a:ln w="19050">
            <a:solidFill>
              <a:srgbClr val="B91C1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1658600" y="8083897"/>
            <a:ext cx="64960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171" kern="0" dirty="0">
                <a:solidFill>
                  <a:srgbClr val="B9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ЭТО НЕ</a:t>
            </a:r>
            <a:endParaRPr lang="en-US" sz="1425" dirty="0"/>
          </a:p>
        </p:txBody>
      </p:sp>
      <p:sp>
        <p:nvSpPr>
          <p:cNvPr id="41" name="Text 39"/>
          <p:cNvSpPr/>
          <p:nvPr/>
        </p:nvSpPr>
        <p:spPr>
          <a:xfrm>
            <a:off x="11658600" y="8374410"/>
            <a:ext cx="6082665" cy="607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667"/>
              </a:lnSpc>
              <a:buNone/>
            </a:pPr>
            <a:r>
              <a:rPr lang="en-US" sz="172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Это не программа лояльности и не рассылка сама по себе.</a:t>
            </a:r>
            <a:endParaRPr lang="en-US" sz="1725" dirty="0"/>
          </a:p>
        </p:txBody>
      </p:sp>
      <p:sp>
        <p:nvSpPr>
          <p:cNvPr id="42" name="Shape 40"/>
          <p:cNvSpPr/>
          <p:nvPr/>
        </p:nvSpPr>
        <p:spPr>
          <a:xfrm>
            <a:off x="533400" y="9229725"/>
            <a:ext cx="17221200" cy="9525"/>
          </a:xfrm>
          <a:prstGeom prst="rect">
            <a:avLst/>
          </a:prstGeom>
          <a:solidFill>
            <a:srgbClr val="0B1F33">
              <a:alpha val="35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533400" y="9353550"/>
            <a:ext cx="9308409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0B1F3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Удержание начинается с механизма поведения, а инструменты только обслуживают его.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9951690" y="9734550"/>
            <a:ext cx="858320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60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Повторяемый_Спрос_Визуализация_07_Контур_Удержания_И_Возврата_V1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B1F33">
                  <a:alpha val="5000"/>
                </a:srgbClr>
              </a:gs>
              <a:gs pos="100000">
                <a:srgbClr val="0B1F33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533400" y="804863"/>
            <a:ext cx="17221200" cy="1905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4" name="Text 2"/>
          <p:cNvSpPr/>
          <p:nvPr/>
        </p:nvSpPr>
        <p:spPr>
          <a:xfrm>
            <a:off x="533400" y="419100"/>
            <a:ext cx="5889419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15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ПОВТОРЯЕМЫЙ СПРОС / ВИЗУАЛИЗАЦИЯ 08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8882211" y="419100"/>
            <a:ext cx="9759628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15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КОММЕРЧЕСКИЙ СЛОЙ · UNIT-ECONOMICS MAP · СЛОЖНОСТЬ СРЕДНЯЯ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533400" y="1071563"/>
            <a:ext cx="17737836" cy="12663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859"/>
              </a:lnSpc>
              <a:buNone/>
            </a:pPr>
            <a:r>
              <a:rPr lang="en-US" sz="4650" b="1" dirty="0">
                <a:solidFill>
                  <a:srgbClr val="0B1F3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Повторяемость проверяется в деньгах, а не в красивой идее</a:t>
            </a:r>
            <a:endParaRPr lang="en-US" sz="4650" dirty="0"/>
          </a:p>
        </p:txBody>
      </p:sp>
      <p:sp>
        <p:nvSpPr>
          <p:cNvPr id="7" name="Text 5"/>
          <p:cNvSpPr/>
          <p:nvPr/>
        </p:nvSpPr>
        <p:spPr>
          <a:xfrm>
            <a:off x="533400" y="2433191"/>
            <a:ext cx="16973550" cy="3852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143"/>
              </a:lnSpc>
              <a:buNone/>
            </a:pPr>
            <a:r>
              <a:rPr lang="en-US" sz="2025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Финансовый эффект не обещается заранее: он проверяется через данные Диагностики и внедрения.</a:t>
            </a:r>
            <a:endParaRPr lang="en-US" sz="2025" dirty="0"/>
          </a:p>
        </p:txBody>
      </p:sp>
      <p:sp>
        <p:nvSpPr>
          <p:cNvPr id="8" name="Shape 6"/>
          <p:cNvSpPr/>
          <p:nvPr/>
        </p:nvSpPr>
        <p:spPr>
          <a:xfrm>
            <a:off x="533400" y="3027983"/>
            <a:ext cx="5613350" cy="2560811"/>
          </a:xfrm>
          <a:prstGeom prst="rect">
            <a:avLst/>
          </a:prstGeom>
          <a:solidFill>
            <a:srgbClr val="FFFFFF">
              <a:alpha val="32000"/>
            </a:srgbClr>
          </a:solidFill>
          <a:ln w="19050">
            <a:solidFill>
              <a:srgbClr val="0B1F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2000" y="3256583"/>
            <a:ext cx="5671765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171" kern="0" dirty="0">
                <a:solidFill>
                  <a:srgbClr val="0F766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ЗОНА ПРОВЕРКИ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762000" y="3585195"/>
            <a:ext cx="5671765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Повторная покупка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762000" y="4047158"/>
            <a:ext cx="567176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7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что должно случиться снова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6337250" y="3027983"/>
            <a:ext cx="5613425" cy="2560811"/>
          </a:xfrm>
          <a:prstGeom prst="rect">
            <a:avLst/>
          </a:prstGeom>
          <a:solidFill>
            <a:srgbClr val="FFFFFF">
              <a:alpha val="32000"/>
            </a:srgbClr>
          </a:solidFill>
          <a:ln w="19050">
            <a:solidFill>
              <a:srgbClr val="0B1F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65850" y="3256583"/>
            <a:ext cx="5671847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171" kern="0" dirty="0">
                <a:solidFill>
                  <a:srgbClr val="0F766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ЗОНА ПРОВЕРКИ</a:t>
            </a:r>
            <a:endParaRPr lang="en-US" sz="1425" dirty="0"/>
          </a:p>
        </p:txBody>
      </p:sp>
      <p:sp>
        <p:nvSpPr>
          <p:cNvPr id="14" name="Text 12"/>
          <p:cNvSpPr/>
          <p:nvPr/>
        </p:nvSpPr>
        <p:spPr>
          <a:xfrm>
            <a:off x="6565850" y="3585195"/>
            <a:ext cx="5671847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LTV, пожизненная ценность клиента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6565850" y="4047158"/>
            <a:ext cx="5671847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7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как раскрывается ценность</a:t>
            </a:r>
            <a:endParaRPr lang="en-US" sz="1875" dirty="0"/>
          </a:p>
        </p:txBody>
      </p:sp>
      <p:sp>
        <p:nvSpPr>
          <p:cNvPr id="16" name="Shape 14"/>
          <p:cNvSpPr/>
          <p:nvPr/>
        </p:nvSpPr>
        <p:spPr>
          <a:xfrm>
            <a:off x="12141175" y="3027983"/>
            <a:ext cx="5613350" cy="2560811"/>
          </a:xfrm>
          <a:prstGeom prst="rect">
            <a:avLst/>
          </a:prstGeom>
          <a:solidFill>
            <a:srgbClr val="FFFFFF">
              <a:alpha val="32000"/>
            </a:srgbClr>
          </a:solidFill>
          <a:ln w="19050">
            <a:solidFill>
              <a:srgbClr val="0B1F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369775" y="3256583"/>
            <a:ext cx="5671765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171" kern="0" dirty="0">
                <a:solidFill>
                  <a:srgbClr val="0F766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ЗОНА ПРОВЕРКИ</a:t>
            </a:r>
            <a:endParaRPr lang="en-US" sz="1425" dirty="0"/>
          </a:p>
        </p:txBody>
      </p:sp>
      <p:sp>
        <p:nvSpPr>
          <p:cNvPr id="18" name="Text 16"/>
          <p:cNvSpPr/>
          <p:nvPr/>
        </p:nvSpPr>
        <p:spPr>
          <a:xfrm>
            <a:off x="12369775" y="3585195"/>
            <a:ext cx="5310835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CAC, стоимость привлечения клиента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2369775" y="4413870"/>
            <a:ext cx="5310835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7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где снижается зависимость от нового привлечения</a:t>
            </a:r>
            <a:endParaRPr lang="en-US" sz="1875" dirty="0"/>
          </a:p>
        </p:txBody>
      </p:sp>
      <p:sp>
        <p:nvSpPr>
          <p:cNvPr id="20" name="Shape 18"/>
          <p:cNvSpPr/>
          <p:nvPr/>
        </p:nvSpPr>
        <p:spPr>
          <a:xfrm>
            <a:off x="533400" y="5779294"/>
            <a:ext cx="5613350" cy="2560811"/>
          </a:xfrm>
          <a:prstGeom prst="rect">
            <a:avLst/>
          </a:prstGeom>
          <a:solidFill>
            <a:srgbClr val="FFFFFF">
              <a:alpha val="32000"/>
            </a:srgbClr>
          </a:solidFill>
          <a:ln w="19050">
            <a:solidFill>
              <a:srgbClr val="0B1F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2000" y="6007894"/>
            <a:ext cx="5671765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171" kern="0" dirty="0">
                <a:solidFill>
                  <a:srgbClr val="0F766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ЗОНА ПРОВЕРКИ</a:t>
            </a:r>
            <a:endParaRPr lang="en-US" sz="1425" dirty="0"/>
          </a:p>
        </p:txBody>
      </p:sp>
      <p:sp>
        <p:nvSpPr>
          <p:cNvPr id="22" name="Text 20"/>
          <p:cNvSpPr/>
          <p:nvPr/>
        </p:nvSpPr>
        <p:spPr>
          <a:xfrm>
            <a:off x="762000" y="6336506"/>
            <a:ext cx="5310835" cy="771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ROMI, окупаемость маркетинговых инвестиций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762000" y="7165181"/>
            <a:ext cx="567176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7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что проверяется после данных</a:t>
            </a:r>
            <a:endParaRPr lang="en-US" sz="1875" dirty="0"/>
          </a:p>
        </p:txBody>
      </p:sp>
      <p:sp>
        <p:nvSpPr>
          <p:cNvPr id="24" name="Shape 22"/>
          <p:cNvSpPr/>
          <p:nvPr/>
        </p:nvSpPr>
        <p:spPr>
          <a:xfrm>
            <a:off x="6337250" y="5779294"/>
            <a:ext cx="5613425" cy="2560811"/>
          </a:xfrm>
          <a:prstGeom prst="rect">
            <a:avLst/>
          </a:prstGeom>
          <a:solidFill>
            <a:srgbClr val="FFFFFF">
              <a:alpha val="32000"/>
            </a:srgbClr>
          </a:solidFill>
          <a:ln w="19050">
            <a:solidFill>
              <a:srgbClr val="0B1F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65850" y="6007894"/>
            <a:ext cx="5671847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171" kern="0" dirty="0">
                <a:solidFill>
                  <a:srgbClr val="0F766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ЗОНА ПРОВЕРКИ</a:t>
            </a:r>
            <a:endParaRPr lang="en-US" sz="1425" dirty="0"/>
          </a:p>
        </p:txBody>
      </p:sp>
      <p:sp>
        <p:nvSpPr>
          <p:cNvPr id="26" name="Text 24"/>
          <p:cNvSpPr/>
          <p:nvPr/>
        </p:nvSpPr>
        <p:spPr>
          <a:xfrm>
            <a:off x="6565850" y="6336506"/>
            <a:ext cx="5671847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Маржа</a:t>
            </a:r>
            <a:endParaRPr lang="en-US" sz="2250" dirty="0"/>
          </a:p>
        </p:txBody>
      </p:sp>
      <p:sp>
        <p:nvSpPr>
          <p:cNvPr id="27" name="Text 25"/>
          <p:cNvSpPr/>
          <p:nvPr/>
        </p:nvSpPr>
        <p:spPr>
          <a:xfrm>
            <a:off x="6565850" y="6798469"/>
            <a:ext cx="5310912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7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где скидка перестает быть главным стимулом</a:t>
            </a:r>
            <a:endParaRPr lang="en-US" sz="1875" dirty="0"/>
          </a:p>
        </p:txBody>
      </p:sp>
      <p:sp>
        <p:nvSpPr>
          <p:cNvPr id="28" name="Shape 26"/>
          <p:cNvSpPr/>
          <p:nvPr/>
        </p:nvSpPr>
        <p:spPr>
          <a:xfrm>
            <a:off x="12141175" y="5779294"/>
            <a:ext cx="5613350" cy="2560811"/>
          </a:xfrm>
          <a:prstGeom prst="rect">
            <a:avLst/>
          </a:prstGeom>
          <a:solidFill>
            <a:srgbClr val="0F766E">
              <a:alpha val="7000"/>
            </a:srgbClr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369775" y="6007894"/>
            <a:ext cx="5671765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171" kern="0" dirty="0">
                <a:solidFill>
                  <a:srgbClr val="0F766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ЗОНА ПРОВЕРКИ</a:t>
            </a:r>
            <a:endParaRPr lang="en-US" sz="1425" dirty="0"/>
          </a:p>
        </p:txBody>
      </p:sp>
      <p:sp>
        <p:nvSpPr>
          <p:cNvPr id="30" name="Text 28"/>
          <p:cNvSpPr/>
          <p:nvPr/>
        </p:nvSpPr>
        <p:spPr>
          <a:xfrm>
            <a:off x="12369775" y="6336506"/>
            <a:ext cx="5671765" cy="404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F766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Прогнозируемость</a:t>
            </a:r>
            <a:endParaRPr lang="en-US" sz="2250" dirty="0"/>
          </a:p>
        </p:txBody>
      </p:sp>
      <p:sp>
        <p:nvSpPr>
          <p:cNvPr id="31" name="Text 29"/>
          <p:cNvSpPr/>
          <p:nvPr/>
        </p:nvSpPr>
        <p:spPr>
          <a:xfrm>
            <a:off x="12369775" y="6798469"/>
            <a:ext cx="567176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7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что становится управляемым</a:t>
            </a:r>
            <a:endParaRPr lang="en-US" sz="1875" dirty="0"/>
          </a:p>
        </p:txBody>
      </p:sp>
      <p:sp>
        <p:nvSpPr>
          <p:cNvPr id="32" name="Text 30"/>
          <p:cNvSpPr/>
          <p:nvPr/>
        </p:nvSpPr>
        <p:spPr>
          <a:xfrm>
            <a:off x="533400" y="8587755"/>
            <a:ext cx="988368" cy="293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171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ЛЕГЕНДА</a:t>
            </a:r>
            <a:endParaRPr lang="en-US" sz="1425" dirty="0"/>
          </a:p>
        </p:txBody>
      </p:sp>
      <p:sp>
        <p:nvSpPr>
          <p:cNvPr id="33" name="Text 31"/>
          <p:cNvSpPr/>
          <p:nvPr/>
        </p:nvSpPr>
        <p:spPr>
          <a:xfrm>
            <a:off x="1636068" y="8549655"/>
            <a:ext cx="7910512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70"/>
              </a:lnSpc>
              <a:buNone/>
            </a:pPr>
            <a:r>
              <a:rPr lang="en-US" sz="165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Метрики стоят как зоны проверки, без стрелок гарантированного роста.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11468100" y="8549655"/>
            <a:ext cx="6286500" cy="841995"/>
          </a:xfrm>
          <a:prstGeom prst="rect">
            <a:avLst/>
          </a:prstGeom>
          <a:ln w="19050">
            <a:solidFill>
              <a:srgbClr val="B91C1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1658600" y="8683005"/>
            <a:ext cx="64960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171" kern="0" dirty="0">
                <a:solidFill>
                  <a:srgbClr val="B9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ЭТО НЕ</a:t>
            </a:r>
            <a:endParaRPr lang="en-US" sz="1425" dirty="0"/>
          </a:p>
        </p:txBody>
      </p:sp>
      <p:sp>
        <p:nvSpPr>
          <p:cNvPr id="36" name="Text 34"/>
          <p:cNvSpPr/>
          <p:nvPr/>
        </p:nvSpPr>
        <p:spPr>
          <a:xfrm>
            <a:off x="11658600" y="8973517"/>
            <a:ext cx="6496050" cy="322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667"/>
              </a:lnSpc>
              <a:buNone/>
            </a:pPr>
            <a:r>
              <a:rPr lang="en-US" sz="172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Это не обещание роста и не финансовая гарантия.</a:t>
            </a:r>
            <a:endParaRPr lang="en-US" sz="1725" dirty="0"/>
          </a:p>
        </p:txBody>
      </p:sp>
      <p:sp>
        <p:nvSpPr>
          <p:cNvPr id="37" name="Shape 35"/>
          <p:cNvSpPr/>
          <p:nvPr/>
        </p:nvSpPr>
        <p:spPr>
          <a:xfrm>
            <a:off x="533400" y="9544050"/>
            <a:ext cx="17221200" cy="9525"/>
          </a:xfrm>
          <a:prstGeom prst="rect">
            <a:avLst/>
          </a:prstGeom>
          <a:solidFill>
            <a:srgbClr val="0B1F33">
              <a:alpha val="35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533400" y="9667875"/>
            <a:ext cx="949916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0B1F3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Сначала данные и вердикт, затем финансовая гипотеза и маршрут внедрения.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9707835" y="9734550"/>
            <a:ext cx="885144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60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Повторяемый_Спрос_Визуализация_08_Экономика_Повторяемого_Спроса_V1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B1F33">
                  <a:alpha val="5000"/>
                </a:srgbClr>
              </a:gs>
              <a:gs pos="100000">
                <a:srgbClr val="0B1F33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533400" y="804863"/>
            <a:ext cx="17221200" cy="1905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4" name="Text 2"/>
          <p:cNvSpPr/>
          <p:nvPr/>
        </p:nvSpPr>
        <p:spPr>
          <a:xfrm>
            <a:off x="533400" y="419100"/>
            <a:ext cx="5889419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15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ПОВТОРЯЕМЫЙ СПРОС / ВИЗУАЛИЗАЦИЯ 09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9494118" y="419100"/>
            <a:ext cx="908653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15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КОММЕРЧЕСКИЙ СЛОЙ · PRODUCT LADDER · СЛОЖНОСТЬ ПРОСТАЯ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533400" y="1071563"/>
            <a:ext cx="18943320" cy="6522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859"/>
              </a:lnSpc>
              <a:buNone/>
            </a:pPr>
            <a:r>
              <a:rPr lang="en-US" sz="4650" b="1" dirty="0">
                <a:solidFill>
                  <a:srgbClr val="0B1F3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Повторяемый Спрос проходит через 4 платных этапа</a:t>
            </a:r>
            <a:endParaRPr lang="en-US" sz="4650" dirty="0"/>
          </a:p>
        </p:txBody>
      </p:sp>
      <p:sp>
        <p:nvSpPr>
          <p:cNvPr id="7" name="Text 5"/>
          <p:cNvSpPr/>
          <p:nvPr/>
        </p:nvSpPr>
        <p:spPr>
          <a:xfrm>
            <a:off x="533400" y="1819052"/>
            <a:ext cx="16973550" cy="3852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143"/>
              </a:lnSpc>
              <a:buNone/>
            </a:pPr>
            <a:r>
              <a:rPr lang="en-US" sz="2025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Каждый этап имеет свой результат, gate-переход и право остановки.</a:t>
            </a:r>
            <a:endParaRPr lang="en-US" sz="2025" dirty="0"/>
          </a:p>
        </p:txBody>
      </p:sp>
      <p:sp>
        <p:nvSpPr>
          <p:cNvPr id="8" name="Shape 6"/>
          <p:cNvSpPr/>
          <p:nvPr/>
        </p:nvSpPr>
        <p:spPr>
          <a:xfrm>
            <a:off x="533400" y="2356693"/>
            <a:ext cx="17221200" cy="576263"/>
          </a:xfrm>
          <a:prstGeom prst="rect">
            <a:avLst/>
          </a:prstGeom>
          <a:ln w="19050">
            <a:solidFill>
              <a:srgbClr val="0B1F33">
                <a:alpha val="45000"/>
              </a:srgbClr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742950" y="2537668"/>
            <a:ext cx="165970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80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ДО ПРОДУКТА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442270" y="2490043"/>
            <a:ext cx="3992992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первичный разговор не продукт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533400" y="3715048"/>
            <a:ext cx="3990975" cy="3349675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12" name="Text 10"/>
          <p:cNvSpPr/>
          <p:nvPr/>
        </p:nvSpPr>
        <p:spPr>
          <a:xfrm>
            <a:off x="742950" y="3924598"/>
            <a:ext cx="392906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575" dirty="0"/>
          </a:p>
        </p:txBody>
      </p:sp>
      <p:sp>
        <p:nvSpPr>
          <p:cNvPr id="13" name="Text 11"/>
          <p:cNvSpPr/>
          <p:nvPr/>
        </p:nvSpPr>
        <p:spPr>
          <a:xfrm>
            <a:off x="742950" y="4281785"/>
            <a:ext cx="3929063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3EBD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Диагностика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742950" y="4819948"/>
            <a:ext cx="3679031" cy="929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645"/>
              </a:lnSpc>
              <a:buNone/>
            </a:pPr>
            <a:r>
              <a:rPr lang="en-US" sz="1800" dirty="0">
                <a:solidFill>
                  <a:srgbClr val="F3EBD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применимость, ограничения, финансовая исходная точка, вердикт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486275" y="6093172"/>
            <a:ext cx="4953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B46A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4943475" y="3398193"/>
            <a:ext cx="3990975" cy="366653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17" name="Text 15"/>
          <p:cNvSpPr/>
          <p:nvPr/>
        </p:nvSpPr>
        <p:spPr>
          <a:xfrm>
            <a:off x="5153025" y="3607743"/>
            <a:ext cx="392906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575" dirty="0"/>
          </a:p>
        </p:txBody>
      </p:sp>
      <p:sp>
        <p:nvSpPr>
          <p:cNvPr id="18" name="Text 16"/>
          <p:cNvSpPr/>
          <p:nvPr/>
        </p:nvSpPr>
        <p:spPr>
          <a:xfrm>
            <a:off x="5153025" y="3964930"/>
            <a:ext cx="3929063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3EBD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Сессия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5153025" y="4503093"/>
            <a:ext cx="3679031" cy="9295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645"/>
              </a:lnSpc>
              <a:buNone/>
            </a:pPr>
            <a:r>
              <a:rPr lang="en-US" sz="1800" dirty="0">
                <a:solidFill>
                  <a:srgbClr val="F3EBD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мотив-ядро, запрещенные территории, архитектура решения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896350" y="6093172"/>
            <a:ext cx="4953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B46A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9353550" y="3081338"/>
            <a:ext cx="3990975" cy="3983385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22" name="Text 20"/>
          <p:cNvSpPr/>
          <p:nvPr/>
        </p:nvSpPr>
        <p:spPr>
          <a:xfrm>
            <a:off x="9563100" y="3290888"/>
            <a:ext cx="392906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575" dirty="0"/>
          </a:p>
        </p:txBody>
      </p:sp>
      <p:sp>
        <p:nvSpPr>
          <p:cNvPr id="23" name="Text 21"/>
          <p:cNvSpPr/>
          <p:nvPr/>
        </p:nvSpPr>
        <p:spPr>
          <a:xfrm>
            <a:off x="9563100" y="3648075"/>
            <a:ext cx="3929063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3EBD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Спринт</a:t>
            </a:r>
            <a:endParaRPr lang="en-US" sz="2550" dirty="0"/>
          </a:p>
        </p:txBody>
      </p:sp>
      <p:sp>
        <p:nvSpPr>
          <p:cNvPr id="24" name="Text 22"/>
          <p:cNvSpPr/>
          <p:nvPr/>
        </p:nvSpPr>
        <p:spPr>
          <a:xfrm>
            <a:off x="9563100" y="4186238"/>
            <a:ext cx="3679031" cy="63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645"/>
              </a:lnSpc>
              <a:buNone/>
            </a:pPr>
            <a:r>
              <a:rPr lang="en-US" sz="1800" dirty="0">
                <a:solidFill>
                  <a:srgbClr val="F3EBD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пилот 30-60-90, роли, метрики, закрепление повтора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3306425" y="6093172"/>
            <a:ext cx="4953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B46A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2400" dirty="0"/>
          </a:p>
        </p:txBody>
      </p:sp>
      <p:sp>
        <p:nvSpPr>
          <p:cNvPr id="26" name="Shape 24"/>
          <p:cNvSpPr/>
          <p:nvPr/>
        </p:nvSpPr>
        <p:spPr>
          <a:xfrm>
            <a:off x="13763625" y="2764557"/>
            <a:ext cx="3990975" cy="4300165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27" name="Text 25"/>
          <p:cNvSpPr/>
          <p:nvPr/>
        </p:nvSpPr>
        <p:spPr>
          <a:xfrm>
            <a:off x="13973175" y="2974107"/>
            <a:ext cx="392906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575" dirty="0"/>
          </a:p>
        </p:txBody>
      </p:sp>
      <p:sp>
        <p:nvSpPr>
          <p:cNvPr id="28" name="Text 26"/>
          <p:cNvSpPr/>
          <p:nvPr/>
        </p:nvSpPr>
        <p:spPr>
          <a:xfrm>
            <a:off x="13973175" y="3331294"/>
            <a:ext cx="3929063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3EBD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Сопровождение</a:t>
            </a:r>
            <a:endParaRPr lang="en-US" sz="2550" dirty="0"/>
          </a:p>
        </p:txBody>
      </p:sp>
      <p:sp>
        <p:nvSpPr>
          <p:cNvPr id="29" name="Text 27"/>
          <p:cNvSpPr/>
          <p:nvPr/>
        </p:nvSpPr>
        <p:spPr>
          <a:xfrm>
            <a:off x="13973175" y="3869457"/>
            <a:ext cx="3679031" cy="632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645"/>
              </a:lnSpc>
              <a:buNone/>
            </a:pPr>
            <a:r>
              <a:rPr lang="en-US" sz="1800" dirty="0">
                <a:solidFill>
                  <a:srgbClr val="F3EBD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review-ритм, донастройка, защита от отката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533400" y="7236172"/>
            <a:ext cx="17221200" cy="561975"/>
          </a:xfrm>
          <a:prstGeom prst="rect">
            <a:avLst/>
          </a:prstGeom>
          <a:ln w="19050">
            <a:solidFill>
              <a:srgbClr val="B46A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2950" y="7393335"/>
            <a:ext cx="62485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80" kern="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GATE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1501155" y="7431435"/>
            <a:ext cx="171450" cy="1714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3" name="Text 31"/>
          <p:cNvSpPr/>
          <p:nvPr/>
        </p:nvSpPr>
        <p:spPr>
          <a:xfrm>
            <a:off x="1767855" y="7369522"/>
            <a:ext cx="363141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Go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2264346" y="7431435"/>
            <a:ext cx="171450" cy="171450"/>
          </a:xfrm>
          <a:prstGeom prst="rect">
            <a:avLst/>
          </a:prstGeom>
          <a:solidFill>
            <a:srgbClr val="B46A3C"/>
          </a:solidFill>
          <a:ln/>
        </p:spPr>
      </p:sp>
      <p:sp>
        <p:nvSpPr>
          <p:cNvPr id="35" name="Text 33"/>
          <p:cNvSpPr/>
          <p:nvPr/>
        </p:nvSpPr>
        <p:spPr>
          <a:xfrm>
            <a:off x="2531046" y="7369522"/>
            <a:ext cx="1852017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Go при условиях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4516413" y="7431435"/>
            <a:ext cx="171450" cy="17145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37" name="Text 35"/>
          <p:cNvSpPr/>
          <p:nvPr/>
        </p:nvSpPr>
        <p:spPr>
          <a:xfrm>
            <a:off x="4783113" y="7369522"/>
            <a:ext cx="560636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Hold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5477098" y="7431435"/>
            <a:ext cx="171450" cy="17145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9" name="Text 37"/>
          <p:cNvSpPr/>
          <p:nvPr/>
        </p:nvSpPr>
        <p:spPr>
          <a:xfrm>
            <a:off x="5743798" y="7369522"/>
            <a:ext cx="548953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Stop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6426101" y="7431435"/>
            <a:ext cx="171450" cy="171450"/>
          </a:xfrm>
          <a:prstGeom prst="rect">
            <a:avLst/>
          </a:prstGeom>
          <a:solidFill>
            <a:srgbClr val="111827"/>
          </a:solidFill>
          <a:ln/>
        </p:spPr>
      </p:sp>
      <p:sp>
        <p:nvSpPr>
          <p:cNvPr id="41" name="Text 39"/>
          <p:cNvSpPr/>
          <p:nvPr/>
        </p:nvSpPr>
        <p:spPr>
          <a:xfrm>
            <a:off x="6692801" y="7369522"/>
            <a:ext cx="684981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Fit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533400" y="8007697"/>
            <a:ext cx="988368" cy="293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171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ЛЕГЕНДА</a:t>
            </a:r>
            <a:endParaRPr lang="en-US" sz="1425" dirty="0"/>
          </a:p>
        </p:txBody>
      </p:sp>
      <p:sp>
        <p:nvSpPr>
          <p:cNvPr id="43" name="Text 41"/>
          <p:cNvSpPr/>
          <p:nvPr/>
        </p:nvSpPr>
        <p:spPr>
          <a:xfrm>
            <a:off x="1636068" y="7969597"/>
            <a:ext cx="9552615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70"/>
              </a:lnSpc>
              <a:buNone/>
            </a:pPr>
            <a:r>
              <a:rPr lang="en-US" sz="165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Лестница из 4 платных продуктов; перед ней отметка: первичный разговор не продукт.</a:t>
            </a:r>
            <a:endParaRPr lang="en-US" sz="1650" dirty="0"/>
          </a:p>
        </p:txBody>
      </p:sp>
      <p:sp>
        <p:nvSpPr>
          <p:cNvPr id="44" name="Shape 42"/>
          <p:cNvSpPr/>
          <p:nvPr/>
        </p:nvSpPr>
        <p:spPr>
          <a:xfrm>
            <a:off x="11468100" y="7969597"/>
            <a:ext cx="6286500" cy="1126778"/>
          </a:xfrm>
          <a:prstGeom prst="rect">
            <a:avLst/>
          </a:prstGeom>
          <a:ln w="19050">
            <a:solidFill>
              <a:srgbClr val="B91C1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1658600" y="8102947"/>
            <a:ext cx="64960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171" kern="0" dirty="0">
                <a:solidFill>
                  <a:srgbClr val="B9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ЭТО НЕ</a:t>
            </a:r>
            <a:endParaRPr lang="en-US" sz="1425" dirty="0"/>
          </a:p>
        </p:txBody>
      </p:sp>
      <p:sp>
        <p:nvSpPr>
          <p:cNvPr id="46" name="Text 44"/>
          <p:cNvSpPr/>
          <p:nvPr/>
        </p:nvSpPr>
        <p:spPr>
          <a:xfrm>
            <a:off x="11658600" y="8393460"/>
            <a:ext cx="6082665" cy="607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667"/>
              </a:lnSpc>
              <a:buNone/>
            </a:pPr>
            <a:r>
              <a:rPr lang="en-US" sz="172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Это не бесплатная консультация и не продажа большого проекта с первого контакта.</a:t>
            </a:r>
            <a:endParaRPr lang="en-US" sz="1725" dirty="0"/>
          </a:p>
        </p:txBody>
      </p:sp>
      <p:sp>
        <p:nvSpPr>
          <p:cNvPr id="47" name="Shape 45"/>
          <p:cNvSpPr/>
          <p:nvPr/>
        </p:nvSpPr>
        <p:spPr>
          <a:xfrm>
            <a:off x="533400" y="9229725"/>
            <a:ext cx="17221200" cy="9525"/>
          </a:xfrm>
          <a:prstGeom prst="rect">
            <a:avLst/>
          </a:prstGeom>
          <a:solidFill>
            <a:srgbClr val="0B1F33">
              <a:alpha val="35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533400" y="9353550"/>
            <a:ext cx="9433956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0B1F3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Диагностика — первый платный вход; следующий этап появляется только после вердикта.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10073580" y="9734550"/>
            <a:ext cx="844912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60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Повторяемый_Спрос_Визуализация_09_Клиентский_Путь_4_Продукта_V1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B1F33">
                  <a:alpha val="5000"/>
                </a:srgbClr>
              </a:gs>
              <a:gs pos="100000">
                <a:srgbClr val="0B1F33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533400" y="804863"/>
            <a:ext cx="17221200" cy="1905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4" name="Text 2"/>
          <p:cNvSpPr/>
          <p:nvPr/>
        </p:nvSpPr>
        <p:spPr>
          <a:xfrm>
            <a:off x="533400" y="419100"/>
            <a:ext cx="5889419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15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ПОВТОРЯЕМЫЙ СПРОС / ВИЗУАЛИЗАЦИЯ 10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8729216" y="419100"/>
            <a:ext cx="9927922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15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КОНСУЛЬТАНТСКИЙ СЛОЙ · ARCHITECTURE MAP · СЛОЖНОСТЬ СРЕДНЯЯ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533400" y="1071563"/>
            <a:ext cx="17737836" cy="12663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859"/>
              </a:lnSpc>
              <a:buNone/>
            </a:pPr>
            <a:r>
              <a:rPr lang="en-US" sz="4650" b="1" dirty="0">
                <a:solidFill>
                  <a:srgbClr val="0B1F3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Сессия собирает мотив-ядро и архитектуру следующего действия</a:t>
            </a:r>
            <a:endParaRPr lang="en-US" sz="4650" dirty="0"/>
          </a:p>
        </p:txBody>
      </p:sp>
      <p:sp>
        <p:nvSpPr>
          <p:cNvPr id="7" name="Text 5"/>
          <p:cNvSpPr/>
          <p:nvPr/>
        </p:nvSpPr>
        <p:spPr>
          <a:xfrm>
            <a:off x="533400" y="2433191"/>
            <a:ext cx="16973550" cy="3852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143"/>
              </a:lnSpc>
              <a:buNone/>
            </a:pPr>
            <a:r>
              <a:rPr lang="en-US" sz="2025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После Диагностики Сессия выбирает, что именно будет проектироваться и проверяться в Спринте.</a:t>
            </a:r>
            <a:endParaRPr lang="en-US" sz="2025" dirty="0"/>
          </a:p>
        </p:txBody>
      </p:sp>
      <p:sp>
        <p:nvSpPr>
          <p:cNvPr id="8" name="Shape 6"/>
          <p:cNvSpPr/>
          <p:nvPr/>
        </p:nvSpPr>
        <p:spPr>
          <a:xfrm>
            <a:off x="533400" y="3008933"/>
            <a:ext cx="5128394" cy="1580480"/>
          </a:xfrm>
          <a:prstGeom prst="rect">
            <a:avLst/>
          </a:prstGeom>
          <a:solidFill>
            <a:srgbClr val="FFFFFF">
              <a:alpha val="32000"/>
            </a:srgbClr>
          </a:solidFill>
          <a:ln w="19050">
            <a:solidFill>
              <a:srgbClr val="0B1F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2950" y="3199433"/>
            <a:ext cx="518022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80" kern="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ВХОД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42950" y="3523283"/>
            <a:ext cx="5180223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896"/>
              </a:lnSpc>
              <a:buNone/>
            </a:pPr>
            <a:r>
              <a:rPr lang="en-US" sz="195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данные Диагностики и gate-условия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533400" y="4741813"/>
            <a:ext cx="5128394" cy="1580555"/>
          </a:xfrm>
          <a:prstGeom prst="rect">
            <a:avLst/>
          </a:prstGeom>
          <a:solidFill>
            <a:srgbClr val="B91C1C">
              <a:alpha val="5000"/>
            </a:srgbClr>
          </a:solidFill>
          <a:ln w="19050">
            <a:solidFill>
              <a:srgbClr val="B91C1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2950" y="4932313"/>
            <a:ext cx="518022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80" kern="0" dirty="0">
                <a:solidFill>
                  <a:srgbClr val="B9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ЗАПРЕТЫ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42950" y="5256163"/>
            <a:ext cx="4850573" cy="681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896"/>
              </a:lnSpc>
              <a:buNone/>
            </a:pPr>
            <a:r>
              <a:rPr lang="en-US" sz="195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какие мотивы и сценарии не использовать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533400" y="6474768"/>
            <a:ext cx="5128394" cy="1580555"/>
          </a:xfrm>
          <a:prstGeom prst="rect">
            <a:avLst/>
          </a:prstGeom>
          <a:solidFill>
            <a:srgbClr val="FFFFFF">
              <a:alpha val="32000"/>
            </a:srgbClr>
          </a:solidFill>
          <a:ln w="19050">
            <a:solidFill>
              <a:srgbClr val="0B1F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2950" y="6665268"/>
            <a:ext cx="518022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80" kern="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СЦЕНЫ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42950" y="6989118"/>
            <a:ext cx="5180223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896"/>
              </a:lnSpc>
              <a:buNone/>
            </a:pPr>
            <a:r>
              <a:rPr lang="en-US" sz="195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где возникает повторяемое действие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5909444" y="3008933"/>
            <a:ext cx="6469112" cy="504639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18" name="Text 16"/>
          <p:cNvSpPr/>
          <p:nvPr/>
        </p:nvSpPr>
        <p:spPr>
          <a:xfrm>
            <a:off x="5900313" y="5105846"/>
            <a:ext cx="648737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75" spc="205" kern="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МОТИВ-ЯДРО</a:t>
            </a:r>
            <a:endParaRPr lang="en-US" sz="1575" dirty="0"/>
          </a:p>
        </p:txBody>
      </p:sp>
      <p:sp>
        <p:nvSpPr>
          <p:cNvPr id="19" name="Text 17"/>
          <p:cNvSpPr/>
          <p:nvPr/>
        </p:nvSpPr>
        <p:spPr>
          <a:xfrm>
            <a:off x="5900313" y="5520184"/>
            <a:ext cx="6487373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3636"/>
              </a:lnSpc>
              <a:buNone/>
            </a:pPr>
            <a:r>
              <a:rPr lang="en-US" sz="3000" b="1" dirty="0">
                <a:solidFill>
                  <a:srgbClr val="F3EBD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что бренд имеет право занять</a:t>
            </a: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12626206" y="3008933"/>
            <a:ext cx="5128394" cy="1580480"/>
          </a:xfrm>
          <a:prstGeom prst="rect">
            <a:avLst/>
          </a:prstGeom>
          <a:solidFill>
            <a:srgbClr val="FFFFFF">
              <a:alpha val="32000"/>
            </a:srgbClr>
          </a:solidFill>
          <a:ln w="19050">
            <a:solidFill>
              <a:srgbClr val="0B1F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835756" y="3199433"/>
            <a:ext cx="518022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80" kern="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РИТУАЛЫ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835756" y="3523283"/>
            <a:ext cx="5180223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896"/>
              </a:lnSpc>
              <a:buNone/>
            </a:pPr>
            <a:r>
              <a:rPr lang="en-US" sz="195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какие действия закрепляются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12626206" y="4741813"/>
            <a:ext cx="5128394" cy="1580555"/>
          </a:xfrm>
          <a:prstGeom prst="rect">
            <a:avLst/>
          </a:prstGeom>
          <a:solidFill>
            <a:srgbClr val="FFFFFF">
              <a:alpha val="32000"/>
            </a:srgbClr>
          </a:solidFill>
          <a:ln w="19050">
            <a:solidFill>
              <a:srgbClr val="0B1F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835756" y="4932313"/>
            <a:ext cx="518022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80" kern="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СИГНАЛЫ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2835756" y="5256163"/>
            <a:ext cx="5180223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896"/>
              </a:lnSpc>
              <a:buNone/>
            </a:pPr>
            <a:r>
              <a:rPr lang="en-US" sz="195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что запускает возврат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12626206" y="6474768"/>
            <a:ext cx="5128394" cy="1580555"/>
          </a:xfrm>
          <a:prstGeom prst="rect">
            <a:avLst/>
          </a:prstGeom>
          <a:solidFill>
            <a:srgbClr val="0F766E">
              <a:alpha val="7000"/>
            </a:srgbClr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835756" y="6665268"/>
            <a:ext cx="518022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80" kern="0" dirty="0">
                <a:solidFill>
                  <a:srgbClr val="0F766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ВЫХОД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2835756" y="6989118"/>
            <a:ext cx="5180223" cy="360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896"/>
              </a:lnSpc>
              <a:buNone/>
            </a:pPr>
            <a:r>
              <a:rPr lang="en-US" sz="195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задача Спринта и критерии проверки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533400" y="8302972"/>
            <a:ext cx="988368" cy="293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171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ЛЕГЕНДА</a:t>
            </a:r>
            <a:endParaRPr lang="en-US" sz="1425" dirty="0"/>
          </a:p>
        </p:txBody>
      </p:sp>
      <p:sp>
        <p:nvSpPr>
          <p:cNvPr id="30" name="Text 28"/>
          <p:cNvSpPr/>
          <p:nvPr/>
        </p:nvSpPr>
        <p:spPr>
          <a:xfrm>
            <a:off x="1636068" y="8264872"/>
            <a:ext cx="9315398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70"/>
              </a:lnSpc>
              <a:buNone/>
            </a:pPr>
            <a:r>
              <a:rPr lang="en-US" sz="165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Центр — мотив-ядро; вокруг — сцены, ритуалы, сигналы, запреты, критерии Спринта.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11468100" y="8264872"/>
            <a:ext cx="6286500" cy="1126778"/>
          </a:xfrm>
          <a:prstGeom prst="rect">
            <a:avLst/>
          </a:prstGeom>
          <a:ln w="19050">
            <a:solidFill>
              <a:srgbClr val="B91C1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658600" y="8398222"/>
            <a:ext cx="64960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171" kern="0" dirty="0">
                <a:solidFill>
                  <a:srgbClr val="B9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ЭТО НЕ</a:t>
            </a:r>
            <a:endParaRPr lang="en-US" sz="1425" dirty="0"/>
          </a:p>
        </p:txBody>
      </p:sp>
      <p:sp>
        <p:nvSpPr>
          <p:cNvPr id="33" name="Text 31"/>
          <p:cNvSpPr/>
          <p:nvPr/>
        </p:nvSpPr>
        <p:spPr>
          <a:xfrm>
            <a:off x="11658600" y="8688735"/>
            <a:ext cx="6082665" cy="607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667"/>
              </a:lnSpc>
              <a:buNone/>
            </a:pPr>
            <a:r>
              <a:rPr lang="en-US" sz="172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Это не бренд-сессия, не креативный штурм и не выбор слогана.</a:t>
            </a:r>
            <a:endParaRPr lang="en-US" sz="1725" dirty="0"/>
          </a:p>
        </p:txBody>
      </p:sp>
      <p:sp>
        <p:nvSpPr>
          <p:cNvPr id="34" name="Shape 32"/>
          <p:cNvSpPr/>
          <p:nvPr/>
        </p:nvSpPr>
        <p:spPr>
          <a:xfrm>
            <a:off x="533400" y="9544050"/>
            <a:ext cx="17221200" cy="9525"/>
          </a:xfrm>
          <a:prstGeom prst="rect">
            <a:avLst/>
          </a:prstGeom>
          <a:solidFill>
            <a:srgbClr val="0B1F33">
              <a:alpha val="35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533400" y="9667875"/>
            <a:ext cx="818382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0B1F3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Сессия переводит диагноз в архитектуру решения, а не в набор идей.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0439400" y="9734550"/>
            <a:ext cx="804672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60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Повторяемый_Спрос_Визуализация_10_Сессия_Решение_И_Спринт_V1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B1F33">
                  <a:alpha val="5000"/>
                </a:srgbClr>
              </a:gs>
              <a:gs pos="100000">
                <a:srgbClr val="0B1F33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533400" y="804863"/>
            <a:ext cx="17221200" cy="1905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4" name="Text 2"/>
          <p:cNvSpPr/>
          <p:nvPr/>
        </p:nvSpPr>
        <p:spPr>
          <a:xfrm>
            <a:off x="533400" y="419100"/>
            <a:ext cx="5889419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15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ПОВТОРЯЕМЫЙ СПРОС / ВИЗУАЛИЗАЦИЯ 11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9494118" y="419100"/>
            <a:ext cx="908653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15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КОНСУЛЬТАНТСКИЙ СЛОЙ · SPRINT FLOW · СЛОЖНОСТЬ СРЕДНЯЯ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533400" y="1071563"/>
            <a:ext cx="17737836" cy="1226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098"/>
              </a:lnSpc>
              <a:buNone/>
            </a:pPr>
            <a:r>
              <a:rPr lang="en-US" sz="4500" b="1" dirty="0">
                <a:solidFill>
                  <a:srgbClr val="0B1F3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Спринт проверяет, может ли повторяемость стать операционной практикой</a:t>
            </a:r>
            <a:endParaRPr lang="en-US" sz="4500" dirty="0"/>
          </a:p>
        </p:txBody>
      </p:sp>
      <p:sp>
        <p:nvSpPr>
          <p:cNvPr id="7" name="Text 5"/>
          <p:cNvSpPr/>
          <p:nvPr/>
        </p:nvSpPr>
        <p:spPr>
          <a:xfrm>
            <a:off x="533400" y="2393603"/>
            <a:ext cx="16973550" cy="3852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143"/>
              </a:lnSpc>
              <a:buNone/>
            </a:pPr>
            <a:r>
              <a:rPr lang="en-US" sz="2025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За 30-60-90 дней команда проверяет сцену, ритуал, сигнал, канал, данные и финансовые гипотезы.</a:t>
            </a:r>
            <a:endParaRPr lang="en-US" sz="2025" dirty="0"/>
          </a:p>
        </p:txBody>
      </p:sp>
      <p:sp>
        <p:nvSpPr>
          <p:cNvPr id="8" name="Shape 6"/>
          <p:cNvSpPr/>
          <p:nvPr/>
        </p:nvSpPr>
        <p:spPr>
          <a:xfrm>
            <a:off x="533400" y="2969344"/>
            <a:ext cx="5384750" cy="4151561"/>
          </a:xfrm>
          <a:prstGeom prst="rect">
            <a:avLst/>
          </a:prstGeom>
          <a:solidFill>
            <a:srgbClr val="FFFFFF">
              <a:alpha val="32000"/>
            </a:srgbClr>
          </a:solidFill>
          <a:ln w="19050">
            <a:solidFill>
              <a:srgbClr val="0B1F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1050" y="3216994"/>
            <a:ext cx="537839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2727"/>
              </a:lnSpc>
              <a:buNone/>
            </a:pPr>
            <a:r>
              <a:rPr lang="en-US" sz="4200" b="1" dirty="0">
                <a:solidFill>
                  <a:srgbClr val="0B1F3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30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781050" y="3883744"/>
            <a:ext cx="5378395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дней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781050" y="4336182"/>
            <a:ext cx="5036134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776"/>
              </a:lnSpc>
              <a:buNone/>
            </a:pPr>
            <a:r>
              <a:rPr lang="en-US" sz="195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дизайн гипотезы, владельцы, данные, сценарий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5880050" y="2969344"/>
            <a:ext cx="609600" cy="4189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700" dirty="0">
                <a:solidFill>
                  <a:srgbClr val="B46A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6451550" y="2969344"/>
            <a:ext cx="5384825" cy="4151561"/>
          </a:xfrm>
          <a:prstGeom prst="rect">
            <a:avLst/>
          </a:prstGeom>
          <a:solidFill>
            <a:srgbClr val="FFFFFF">
              <a:alpha val="32000"/>
            </a:srgbClr>
          </a:solidFill>
          <a:ln w="19050">
            <a:solidFill>
              <a:srgbClr val="0B1F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99200" y="3216994"/>
            <a:ext cx="5378477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2727"/>
              </a:lnSpc>
              <a:buNone/>
            </a:pPr>
            <a:r>
              <a:rPr lang="en-US" sz="4200" b="1" dirty="0">
                <a:solidFill>
                  <a:srgbClr val="0B1F3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60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6699200" y="3883744"/>
            <a:ext cx="5378477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дней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6699200" y="4336182"/>
            <a:ext cx="5036211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776"/>
              </a:lnSpc>
              <a:buNone/>
            </a:pPr>
            <a:r>
              <a:rPr lang="en-US" sz="195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пилот на выбранном контуре, проверка сигнала и канала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1798275" y="2969344"/>
            <a:ext cx="609600" cy="4189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700" dirty="0">
                <a:solidFill>
                  <a:srgbClr val="B46A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2700" dirty="0"/>
          </a:p>
        </p:txBody>
      </p:sp>
      <p:sp>
        <p:nvSpPr>
          <p:cNvPr id="18" name="Shape 16"/>
          <p:cNvSpPr/>
          <p:nvPr/>
        </p:nvSpPr>
        <p:spPr>
          <a:xfrm>
            <a:off x="12369775" y="2969344"/>
            <a:ext cx="5384825" cy="4151561"/>
          </a:xfrm>
          <a:prstGeom prst="rect">
            <a:avLst/>
          </a:prstGeom>
          <a:solidFill>
            <a:srgbClr val="FFFFFF">
              <a:alpha val="32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2369775" y="7044705"/>
            <a:ext cx="5384825" cy="762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0" name="Shape 18"/>
          <p:cNvSpPr/>
          <p:nvPr/>
        </p:nvSpPr>
        <p:spPr>
          <a:xfrm>
            <a:off x="12369775" y="2969344"/>
            <a:ext cx="5384825" cy="1905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21" name="Shape 19"/>
          <p:cNvSpPr/>
          <p:nvPr/>
        </p:nvSpPr>
        <p:spPr>
          <a:xfrm>
            <a:off x="12369775" y="2969344"/>
            <a:ext cx="19050" cy="4151561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22" name="Shape 20"/>
          <p:cNvSpPr/>
          <p:nvPr/>
        </p:nvSpPr>
        <p:spPr>
          <a:xfrm>
            <a:off x="17735550" y="2969344"/>
            <a:ext cx="19050" cy="4151561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23" name="Text 21"/>
          <p:cNvSpPr/>
          <p:nvPr/>
        </p:nvSpPr>
        <p:spPr>
          <a:xfrm>
            <a:off x="12617425" y="3216994"/>
            <a:ext cx="5378477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2727"/>
              </a:lnSpc>
              <a:buNone/>
            </a:pPr>
            <a:r>
              <a:rPr lang="en-US" sz="4200" b="1" dirty="0">
                <a:solidFill>
                  <a:srgbClr val="0B1F3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90</a:t>
            </a:r>
            <a:endParaRPr lang="en-US" sz="4200" dirty="0"/>
          </a:p>
        </p:txBody>
      </p:sp>
      <p:sp>
        <p:nvSpPr>
          <p:cNvPr id="24" name="Text 22"/>
          <p:cNvSpPr/>
          <p:nvPr/>
        </p:nvSpPr>
        <p:spPr>
          <a:xfrm>
            <a:off x="12617425" y="3883744"/>
            <a:ext cx="5378477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дней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12617425" y="4336182"/>
            <a:ext cx="5036211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776"/>
              </a:lnSpc>
              <a:buNone/>
            </a:pPr>
            <a:r>
              <a:rPr lang="en-US" sz="195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закрепление, метрики, риск-карта, итоговый вердикт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533400" y="7311405"/>
            <a:ext cx="10261625" cy="1066800"/>
          </a:xfrm>
          <a:prstGeom prst="rect">
            <a:avLst/>
          </a:prstGeom>
          <a:ln w="19050">
            <a:solidFill>
              <a:srgbClr val="0B1F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2950" y="7487617"/>
            <a:ext cx="62485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80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РОЛИ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463055" y="7463805"/>
            <a:ext cx="223301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владелец эффекта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3664521" y="7511430"/>
            <a:ext cx="12590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·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885679" y="7463805"/>
            <a:ext cx="203083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владелец канала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903342" y="7511430"/>
            <a:ext cx="12590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·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124501" y="7463805"/>
            <a:ext cx="208944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владелец данных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8195444" y="7511430"/>
            <a:ext cx="12590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·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42950" y="7930530"/>
            <a:ext cx="261626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владелец исполнения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10985525" y="7311405"/>
            <a:ext cx="6769075" cy="1066800"/>
          </a:xfrm>
          <a:prstGeom prst="rect">
            <a:avLst/>
          </a:prstGeom>
          <a:solidFill>
            <a:srgbClr val="0F766E">
              <a:alpha val="7000"/>
            </a:srgbClr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1195075" y="7720980"/>
            <a:ext cx="7620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80" kern="0" dirty="0">
                <a:solidFill>
                  <a:srgbClr val="0F766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ВЫХОД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12052325" y="7690024"/>
            <a:ext cx="5088382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продолжать / донастроить / остановить</a:t>
            </a:r>
            <a:endParaRPr lang="en-US" sz="1875" dirty="0"/>
          </a:p>
        </p:txBody>
      </p:sp>
      <p:sp>
        <p:nvSpPr>
          <p:cNvPr id="38" name="Text 36"/>
          <p:cNvSpPr/>
          <p:nvPr/>
        </p:nvSpPr>
        <p:spPr>
          <a:xfrm>
            <a:off x="533400" y="8606805"/>
            <a:ext cx="988368" cy="293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171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ЛЕГЕНДА</a:t>
            </a:r>
            <a:endParaRPr lang="en-US" sz="1425" dirty="0"/>
          </a:p>
        </p:txBody>
      </p:sp>
      <p:sp>
        <p:nvSpPr>
          <p:cNvPr id="39" name="Text 37"/>
          <p:cNvSpPr/>
          <p:nvPr/>
        </p:nvSpPr>
        <p:spPr>
          <a:xfrm>
            <a:off x="1636068" y="8568705"/>
            <a:ext cx="9175752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70"/>
              </a:lnSpc>
              <a:buNone/>
            </a:pPr>
            <a:r>
              <a:rPr lang="en-US" sz="165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Три этапа 30-60-90 с copper-переходами; Teal на итоговом вердикте; Red на рисках.</a:t>
            </a:r>
            <a:endParaRPr lang="en-US" sz="1650" dirty="0"/>
          </a:p>
        </p:txBody>
      </p:sp>
      <p:sp>
        <p:nvSpPr>
          <p:cNvPr id="40" name="Shape 38"/>
          <p:cNvSpPr/>
          <p:nvPr/>
        </p:nvSpPr>
        <p:spPr>
          <a:xfrm>
            <a:off x="11468100" y="8568705"/>
            <a:ext cx="6286500" cy="841995"/>
          </a:xfrm>
          <a:prstGeom prst="rect">
            <a:avLst/>
          </a:prstGeom>
          <a:ln w="19050">
            <a:solidFill>
              <a:srgbClr val="B91C1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1658600" y="8702055"/>
            <a:ext cx="64960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171" kern="0" dirty="0">
                <a:solidFill>
                  <a:srgbClr val="B9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ЭТО НЕ</a:t>
            </a:r>
            <a:endParaRPr lang="en-US" sz="1425" dirty="0"/>
          </a:p>
        </p:txBody>
      </p:sp>
      <p:sp>
        <p:nvSpPr>
          <p:cNvPr id="42" name="Text 40"/>
          <p:cNvSpPr/>
          <p:nvPr/>
        </p:nvSpPr>
        <p:spPr>
          <a:xfrm>
            <a:off x="11658600" y="8992567"/>
            <a:ext cx="6496050" cy="3228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667"/>
              </a:lnSpc>
              <a:buNone/>
            </a:pPr>
            <a:r>
              <a:rPr lang="en-US" sz="172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Это не контент-спринт и не рекламная кампания.</a:t>
            </a:r>
            <a:endParaRPr lang="en-US" sz="1725" dirty="0"/>
          </a:p>
        </p:txBody>
      </p:sp>
      <p:sp>
        <p:nvSpPr>
          <p:cNvPr id="43" name="Shape 41"/>
          <p:cNvSpPr/>
          <p:nvPr/>
        </p:nvSpPr>
        <p:spPr>
          <a:xfrm>
            <a:off x="533400" y="9544050"/>
            <a:ext cx="17221200" cy="9525"/>
          </a:xfrm>
          <a:prstGeom prst="rect">
            <a:avLst/>
          </a:prstGeom>
          <a:solidFill>
            <a:srgbClr val="0B1F33">
              <a:alpha val="35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533400" y="9667875"/>
            <a:ext cx="955196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0B1F3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Спринт нужен, чтобы проверить поведение в реальном операционном контуре.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11414745" y="9734550"/>
            <a:ext cx="697384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60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Повторяемый_Спрос_Визуализация_11_Спринт_30_60_90_V1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B1F33">
                  <a:alpha val="5000"/>
                </a:srgbClr>
              </a:gs>
              <a:gs pos="100000">
                <a:srgbClr val="0B1F33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533400" y="804863"/>
            <a:ext cx="17221200" cy="1905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4" name="Text 2"/>
          <p:cNvSpPr/>
          <p:nvPr/>
        </p:nvSpPr>
        <p:spPr>
          <a:xfrm>
            <a:off x="533400" y="419100"/>
            <a:ext cx="5889419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15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ПОВТОРЯЕМЫЙ СПРОС / ВИЗУАЛИЗАЦИЯ 12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0870853" y="419100"/>
            <a:ext cx="7572122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15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КЕЙСОВЫЙ СЛОЙ · CASE FLOW · СЛОЖНОСТЬ СРЕДНЯЯ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533400" y="1071563"/>
            <a:ext cx="17737836" cy="126637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859"/>
              </a:lnSpc>
              <a:buNone/>
            </a:pPr>
            <a:r>
              <a:rPr lang="en-US" sz="4650" b="1" dirty="0">
                <a:solidFill>
                  <a:srgbClr val="0B1F3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Кейс показывает маршрут от хаотичных продаж к повторяемому контуру</a:t>
            </a:r>
            <a:endParaRPr lang="en-US" sz="4650" dirty="0"/>
          </a:p>
        </p:txBody>
      </p:sp>
      <p:sp>
        <p:nvSpPr>
          <p:cNvPr id="7" name="Text 5"/>
          <p:cNvSpPr/>
          <p:nvPr/>
        </p:nvSpPr>
        <p:spPr>
          <a:xfrm>
            <a:off x="533400" y="2433191"/>
            <a:ext cx="16973550" cy="3852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143"/>
              </a:lnSpc>
              <a:buNone/>
            </a:pPr>
            <a:r>
              <a:rPr lang="en-US" sz="2025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Кейс нужен для узнавания боли и объяснения пути, а не для обещания одинакового результата.</a:t>
            </a:r>
            <a:endParaRPr lang="en-US" sz="2025" dirty="0"/>
          </a:p>
        </p:txBody>
      </p:sp>
      <p:sp>
        <p:nvSpPr>
          <p:cNvPr id="8" name="Shape 6"/>
          <p:cNvSpPr/>
          <p:nvPr/>
        </p:nvSpPr>
        <p:spPr>
          <a:xfrm>
            <a:off x="533400" y="3008933"/>
            <a:ext cx="4024685" cy="4255815"/>
          </a:xfrm>
          <a:prstGeom prst="rect">
            <a:avLst/>
          </a:prstGeom>
          <a:solidFill>
            <a:srgbClr val="B91C1C">
              <a:alpha val="5000"/>
            </a:srgbClr>
          </a:solidFill>
          <a:ln w="19050">
            <a:solidFill>
              <a:srgbClr val="B91C1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2950" y="4454426"/>
            <a:ext cx="396614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80" kern="0" dirty="0">
                <a:solidFill>
                  <a:srgbClr val="B9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БОЛЬ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42950" y="4816376"/>
            <a:ext cx="3713752" cy="10409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776"/>
              </a:lnSpc>
              <a:buNone/>
            </a:pPr>
            <a:r>
              <a:rPr lang="en-US" sz="195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продажи зависят от промо, сезона, канала или разового интереса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4729535" y="3008933"/>
            <a:ext cx="457200" cy="4293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B46A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5358185" y="3008933"/>
            <a:ext cx="3709615" cy="2194099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13" name="Text 11"/>
          <p:cNvSpPr/>
          <p:nvPr/>
        </p:nvSpPr>
        <p:spPr>
          <a:xfrm>
            <a:off x="5548685" y="3180383"/>
            <a:ext cx="3661477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3EBD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Диагностика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5548685" y="3647108"/>
            <a:ext cx="3428474" cy="8924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667"/>
              </a:lnSpc>
              <a:buNone/>
            </a:pPr>
            <a:r>
              <a:rPr lang="en-US" sz="1725" dirty="0">
                <a:solidFill>
                  <a:srgbClr val="F3EBD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найден разрыв мотива, сцены, ритуала, сигнала или экономики</a:t>
            </a:r>
            <a:endParaRPr lang="en-US" sz="1725" dirty="0"/>
          </a:p>
        </p:txBody>
      </p:sp>
      <p:sp>
        <p:nvSpPr>
          <p:cNvPr id="15" name="Shape 13"/>
          <p:cNvSpPr/>
          <p:nvPr/>
        </p:nvSpPr>
        <p:spPr>
          <a:xfrm>
            <a:off x="9220200" y="3008933"/>
            <a:ext cx="3709615" cy="2194099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16" name="Text 14"/>
          <p:cNvSpPr/>
          <p:nvPr/>
        </p:nvSpPr>
        <p:spPr>
          <a:xfrm>
            <a:off x="9410700" y="3180383"/>
            <a:ext cx="3661477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3EBD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Сессия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9410700" y="3647108"/>
            <a:ext cx="3428474" cy="8924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667"/>
              </a:lnSpc>
              <a:buNone/>
            </a:pPr>
            <a:r>
              <a:rPr lang="en-US" sz="1725" dirty="0">
                <a:solidFill>
                  <a:srgbClr val="F3EBD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выбран мотив-ядро и запрещенные ложные территории</a:t>
            </a:r>
            <a:endParaRPr lang="en-US" sz="1725" dirty="0"/>
          </a:p>
        </p:txBody>
      </p:sp>
      <p:sp>
        <p:nvSpPr>
          <p:cNvPr id="18" name="Shape 16"/>
          <p:cNvSpPr/>
          <p:nvPr/>
        </p:nvSpPr>
        <p:spPr>
          <a:xfrm>
            <a:off x="5358185" y="5355431"/>
            <a:ext cx="3709615" cy="1909316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19" name="Text 17"/>
          <p:cNvSpPr/>
          <p:nvPr/>
        </p:nvSpPr>
        <p:spPr>
          <a:xfrm>
            <a:off x="5548685" y="5526881"/>
            <a:ext cx="3661477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3EBD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Спринт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5548685" y="5993606"/>
            <a:ext cx="3428474" cy="607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667"/>
              </a:lnSpc>
              <a:buNone/>
            </a:pPr>
            <a:r>
              <a:rPr lang="en-US" sz="1725" dirty="0">
                <a:solidFill>
                  <a:srgbClr val="F3EBD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проверен сценарий повторяемого действия</a:t>
            </a:r>
            <a:endParaRPr lang="en-US" sz="1725" dirty="0"/>
          </a:p>
        </p:txBody>
      </p:sp>
      <p:sp>
        <p:nvSpPr>
          <p:cNvPr id="21" name="Shape 19"/>
          <p:cNvSpPr/>
          <p:nvPr/>
        </p:nvSpPr>
        <p:spPr>
          <a:xfrm>
            <a:off x="9220200" y="5355431"/>
            <a:ext cx="3709615" cy="1909316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22" name="Text 20"/>
          <p:cNvSpPr/>
          <p:nvPr/>
        </p:nvSpPr>
        <p:spPr>
          <a:xfrm>
            <a:off x="9410700" y="5526881"/>
            <a:ext cx="3661477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3EBD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Сопровождение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9410700" y="5993606"/>
            <a:ext cx="3428474" cy="607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667"/>
              </a:lnSpc>
              <a:buNone/>
            </a:pPr>
            <a:r>
              <a:rPr lang="en-US" sz="1725" dirty="0">
                <a:solidFill>
                  <a:srgbClr val="F3EBD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закреплен управленческий ритм</a:t>
            </a:r>
            <a:endParaRPr lang="en-US" sz="1725" dirty="0"/>
          </a:p>
        </p:txBody>
      </p:sp>
      <p:sp>
        <p:nvSpPr>
          <p:cNvPr id="24" name="Text 22"/>
          <p:cNvSpPr/>
          <p:nvPr/>
        </p:nvSpPr>
        <p:spPr>
          <a:xfrm>
            <a:off x="13101265" y="3008933"/>
            <a:ext cx="457200" cy="42939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B46A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13729915" y="3008933"/>
            <a:ext cx="4024685" cy="4255815"/>
          </a:xfrm>
          <a:prstGeom prst="rect">
            <a:avLst/>
          </a:prstGeom>
          <a:solidFill>
            <a:srgbClr val="0F766E">
              <a:alpha val="7000"/>
            </a:srgbClr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3939465" y="4595813"/>
            <a:ext cx="396614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80" kern="0" dirty="0">
                <a:solidFill>
                  <a:srgbClr val="0F766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ИТОГ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3939465" y="4957763"/>
            <a:ext cx="3713752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повторяемость стала предметом управления</a:t>
            </a:r>
            <a:endParaRPr lang="en-US" sz="2100" dirty="0"/>
          </a:p>
        </p:txBody>
      </p:sp>
      <p:sp>
        <p:nvSpPr>
          <p:cNvPr id="28" name="Shape 26"/>
          <p:cNvSpPr/>
          <p:nvPr/>
        </p:nvSpPr>
        <p:spPr>
          <a:xfrm>
            <a:off x="533400" y="7455247"/>
            <a:ext cx="17221200" cy="638175"/>
          </a:xfrm>
          <a:prstGeom prst="rect">
            <a:avLst/>
          </a:prstGeom>
          <a:ln w="19050">
            <a:solidFill>
              <a:srgbClr val="B46A3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2950" y="7674322"/>
            <a:ext cx="211228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180" kern="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ВОПРОС КЛИЕНТУ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2853705" y="7607647"/>
            <a:ext cx="644014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где у вас спрос каждый раз покупается заново</a:t>
            </a:r>
            <a:endParaRPr lang="en-US" sz="2025" dirty="0"/>
          </a:p>
        </p:txBody>
      </p:sp>
      <p:sp>
        <p:nvSpPr>
          <p:cNvPr id="31" name="Text 29"/>
          <p:cNvSpPr/>
          <p:nvPr/>
        </p:nvSpPr>
        <p:spPr>
          <a:xfrm>
            <a:off x="533400" y="8322022"/>
            <a:ext cx="988368" cy="293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171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ЛЕГЕНДА</a:t>
            </a:r>
            <a:endParaRPr lang="en-US" sz="1425" dirty="0"/>
          </a:p>
        </p:txBody>
      </p:sp>
      <p:sp>
        <p:nvSpPr>
          <p:cNvPr id="32" name="Text 30"/>
          <p:cNvSpPr/>
          <p:nvPr/>
        </p:nvSpPr>
        <p:spPr>
          <a:xfrm>
            <a:off x="1636068" y="8283922"/>
            <a:ext cx="9292151" cy="331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70"/>
              </a:lnSpc>
              <a:buNone/>
            </a:pPr>
            <a:r>
              <a:rPr lang="en-US" sz="165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Слева боль, в центре 4 продукта, справа управляемый контур; снизу вопрос клиенту.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11468100" y="8283922"/>
            <a:ext cx="6286500" cy="1126778"/>
          </a:xfrm>
          <a:prstGeom prst="rect">
            <a:avLst/>
          </a:prstGeom>
          <a:ln w="19050">
            <a:solidFill>
              <a:srgbClr val="B91C1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1658600" y="8417272"/>
            <a:ext cx="64960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171" kern="0" dirty="0">
                <a:solidFill>
                  <a:srgbClr val="B9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ЭТО НЕ</a:t>
            </a:r>
            <a:endParaRPr lang="en-US" sz="1425" dirty="0"/>
          </a:p>
        </p:txBody>
      </p:sp>
      <p:sp>
        <p:nvSpPr>
          <p:cNvPr id="35" name="Text 33"/>
          <p:cNvSpPr/>
          <p:nvPr/>
        </p:nvSpPr>
        <p:spPr>
          <a:xfrm>
            <a:off x="11658600" y="8707785"/>
            <a:ext cx="6082665" cy="607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667"/>
              </a:lnSpc>
              <a:buNone/>
            </a:pPr>
            <a:r>
              <a:rPr lang="en-US" sz="172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Это не success story, история успеха с гарантией результата.</a:t>
            </a:r>
            <a:endParaRPr lang="en-US" sz="1725" dirty="0"/>
          </a:p>
        </p:txBody>
      </p:sp>
      <p:sp>
        <p:nvSpPr>
          <p:cNvPr id="36" name="Shape 34"/>
          <p:cNvSpPr/>
          <p:nvPr/>
        </p:nvSpPr>
        <p:spPr>
          <a:xfrm>
            <a:off x="533400" y="9544050"/>
            <a:ext cx="17221200" cy="9525"/>
          </a:xfrm>
          <a:prstGeom prst="rect">
            <a:avLst/>
          </a:prstGeom>
          <a:solidFill>
            <a:srgbClr val="0B1F33">
              <a:alpha val="35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533400" y="9667875"/>
            <a:ext cx="966443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0B1F3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Кейсы помогают выбрать вопрос для Диагностики, а не заменить Диагностику.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1536635" y="9734550"/>
            <a:ext cx="683976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60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Повторяемый_Спрос_Визуализация_12_Кейсовая_Схема_V1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EB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B1F33">
                  <a:alpha val="5000"/>
                </a:srgbClr>
              </a:gs>
              <a:gs pos="100000">
                <a:srgbClr val="0B1F33">
                  <a:alpha val="0"/>
                </a:srgbClr>
              </a:gs>
            </a:gsLst>
            <a:lin ang="5400000" scaled="0"/>
          </a:gradFill>
          <a:ln/>
        </p:spPr>
      </p:sp>
      <p:sp>
        <p:nvSpPr>
          <p:cNvPr id="3" name="Shape 1"/>
          <p:cNvSpPr/>
          <p:nvPr/>
        </p:nvSpPr>
        <p:spPr>
          <a:xfrm>
            <a:off x="533400" y="804863"/>
            <a:ext cx="17221200" cy="19050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4" name="Text 2"/>
          <p:cNvSpPr/>
          <p:nvPr/>
        </p:nvSpPr>
        <p:spPr>
          <a:xfrm>
            <a:off x="533400" y="419100"/>
            <a:ext cx="5889419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15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ПОВТОРЯЕМЫЙ СПРОС / ВИЗУАЛИЗАЦИЯ 13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8729216" y="419100"/>
            <a:ext cx="9927922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15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КЛИЕНТСКИЙ + КОММЕРЧЕСКИЙ СЛОЙ · MATRIX · СЛОЖНОСТЬ ПРОСТАЯ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533400" y="1014413"/>
            <a:ext cx="17737836" cy="1068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636"/>
              </a:lnSpc>
              <a:buNone/>
            </a:pPr>
            <a:r>
              <a:rPr lang="en-US" sz="3900" b="1" dirty="0">
                <a:solidFill>
                  <a:srgbClr val="0B1F3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Повторяемый Спрос — это не лидогенерация и не маркетинговая услуга общего типа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533400" y="2177951"/>
            <a:ext cx="15893415" cy="7323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143"/>
              </a:lnSpc>
              <a:buNone/>
            </a:pPr>
            <a:r>
              <a:rPr lang="en-US" sz="2025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Технология проектирует управляемое повторяемое поведение, а привычные инструменты могут быть только частью внедрения.</a:t>
            </a:r>
            <a:endParaRPr lang="en-US" sz="2025" dirty="0"/>
          </a:p>
        </p:txBody>
      </p:sp>
      <p:sp>
        <p:nvSpPr>
          <p:cNvPr id="8" name="Shape 6"/>
          <p:cNvSpPr/>
          <p:nvPr/>
        </p:nvSpPr>
        <p:spPr>
          <a:xfrm>
            <a:off x="533400" y="3043684"/>
            <a:ext cx="8995618" cy="762000"/>
          </a:xfrm>
          <a:prstGeom prst="rect">
            <a:avLst/>
          </a:prstGeom>
          <a:solidFill>
            <a:srgbClr val="FFFFFF">
              <a:alpha val="3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533400" y="3043684"/>
            <a:ext cx="76200" cy="7620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0" name="Text 8"/>
          <p:cNvSpPr/>
          <p:nvPr/>
        </p:nvSpPr>
        <p:spPr>
          <a:xfrm>
            <a:off x="781050" y="3100834"/>
            <a:ext cx="943417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B91C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Не лидогенерация</a:t>
            </a:r>
            <a:endParaRPr lang="en-US" sz="2025" dirty="0"/>
          </a:p>
        </p:txBody>
      </p:sp>
      <p:sp>
        <p:nvSpPr>
          <p:cNvPr id="11" name="Text 9"/>
          <p:cNvSpPr/>
          <p:nvPr/>
        </p:nvSpPr>
        <p:spPr>
          <a:xfrm>
            <a:off x="781050" y="3453259"/>
            <a:ext cx="943417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лид не доказывает повтор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33400" y="3862834"/>
            <a:ext cx="8995618" cy="762000"/>
          </a:xfrm>
          <a:prstGeom prst="rect">
            <a:avLst/>
          </a:prstGeom>
          <a:solidFill>
            <a:srgbClr val="FFFFFF">
              <a:alpha val="3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533400" y="3862834"/>
            <a:ext cx="76200" cy="7620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4" name="Text 12"/>
          <p:cNvSpPr/>
          <p:nvPr/>
        </p:nvSpPr>
        <p:spPr>
          <a:xfrm>
            <a:off x="781050" y="3919984"/>
            <a:ext cx="943417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B91C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Не SMM, продвижение в социальных сетях</a:t>
            </a:r>
            <a:endParaRPr lang="en-US" sz="2025" dirty="0"/>
          </a:p>
        </p:txBody>
      </p:sp>
      <p:sp>
        <p:nvSpPr>
          <p:cNvPr id="15" name="Text 13"/>
          <p:cNvSpPr/>
          <p:nvPr/>
        </p:nvSpPr>
        <p:spPr>
          <a:xfrm>
            <a:off x="781050" y="4272409"/>
            <a:ext cx="943417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посты не равны поведению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33400" y="4681984"/>
            <a:ext cx="8995618" cy="762000"/>
          </a:xfrm>
          <a:prstGeom prst="rect">
            <a:avLst/>
          </a:prstGeom>
          <a:solidFill>
            <a:srgbClr val="FFFFFF">
              <a:alpha val="32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533400" y="4681984"/>
            <a:ext cx="76200" cy="7620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18" name="Text 16"/>
          <p:cNvSpPr/>
          <p:nvPr/>
        </p:nvSpPr>
        <p:spPr>
          <a:xfrm>
            <a:off x="781050" y="4739134"/>
            <a:ext cx="943417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B91C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Не community, сообщество</a:t>
            </a:r>
            <a:endParaRPr lang="en-US" sz="2025" dirty="0"/>
          </a:p>
        </p:txBody>
      </p:sp>
      <p:sp>
        <p:nvSpPr>
          <p:cNvPr id="19" name="Text 17"/>
          <p:cNvSpPr/>
          <p:nvPr/>
        </p:nvSpPr>
        <p:spPr>
          <a:xfrm>
            <a:off x="781050" y="5091559"/>
            <a:ext cx="943417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принадлежность не равна покупке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33400" y="5501134"/>
            <a:ext cx="8995618" cy="762000"/>
          </a:xfrm>
          <a:prstGeom prst="rect">
            <a:avLst/>
          </a:prstGeom>
          <a:solidFill>
            <a:srgbClr val="FFFFFF">
              <a:alpha val="32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533400" y="5501134"/>
            <a:ext cx="76200" cy="7620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22" name="Text 20"/>
          <p:cNvSpPr/>
          <p:nvPr/>
        </p:nvSpPr>
        <p:spPr>
          <a:xfrm>
            <a:off x="781050" y="5558284"/>
            <a:ext cx="943417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B91C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Не рекламная кампания</a:t>
            </a:r>
            <a:endParaRPr lang="en-US" sz="2025" dirty="0"/>
          </a:p>
        </p:txBody>
      </p:sp>
      <p:sp>
        <p:nvSpPr>
          <p:cNvPr id="23" name="Text 21"/>
          <p:cNvSpPr/>
          <p:nvPr/>
        </p:nvSpPr>
        <p:spPr>
          <a:xfrm>
            <a:off x="781050" y="5910709"/>
            <a:ext cx="943417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всплеск не равен закреплению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533400" y="6320284"/>
            <a:ext cx="8995618" cy="762000"/>
          </a:xfrm>
          <a:prstGeom prst="rect">
            <a:avLst/>
          </a:prstGeom>
          <a:solidFill>
            <a:srgbClr val="FFFFFF">
              <a:alpha val="32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533400" y="6320284"/>
            <a:ext cx="76200" cy="7620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26" name="Text 24"/>
          <p:cNvSpPr/>
          <p:nvPr/>
        </p:nvSpPr>
        <p:spPr>
          <a:xfrm>
            <a:off x="781050" y="6377434"/>
            <a:ext cx="943417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B91C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Не CRM, система управления клиентскими данными</a:t>
            </a:r>
            <a:endParaRPr lang="en-US" sz="2025" dirty="0"/>
          </a:p>
        </p:txBody>
      </p:sp>
      <p:sp>
        <p:nvSpPr>
          <p:cNvPr id="27" name="Text 25"/>
          <p:cNvSpPr/>
          <p:nvPr/>
        </p:nvSpPr>
        <p:spPr>
          <a:xfrm>
            <a:off x="781050" y="6729859"/>
            <a:ext cx="943417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база не возвращает сама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533400" y="7139434"/>
            <a:ext cx="8995618" cy="762000"/>
          </a:xfrm>
          <a:prstGeom prst="rect">
            <a:avLst/>
          </a:prstGeom>
          <a:solidFill>
            <a:srgbClr val="FFFFFF">
              <a:alpha val="32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533400" y="7139434"/>
            <a:ext cx="76200" cy="76200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0" name="Text 28"/>
          <p:cNvSpPr/>
          <p:nvPr/>
        </p:nvSpPr>
        <p:spPr>
          <a:xfrm>
            <a:off x="781050" y="7196584"/>
            <a:ext cx="943417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B91C1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Не придумать оффер</a:t>
            </a:r>
            <a:endParaRPr lang="en-US" sz="2025" dirty="0"/>
          </a:p>
        </p:txBody>
      </p:sp>
      <p:sp>
        <p:nvSpPr>
          <p:cNvPr id="31" name="Text 29"/>
          <p:cNvSpPr/>
          <p:nvPr/>
        </p:nvSpPr>
        <p:spPr>
          <a:xfrm>
            <a:off x="781050" y="7549009"/>
            <a:ext cx="943417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предложение должно держать сценарий и экономику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9738568" y="3043684"/>
            <a:ext cx="571500" cy="5087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700" dirty="0">
                <a:solidFill>
                  <a:srgbClr val="B46A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2700" dirty="0"/>
          </a:p>
        </p:txBody>
      </p:sp>
      <p:sp>
        <p:nvSpPr>
          <p:cNvPr id="33" name="Shape 31"/>
          <p:cNvSpPr/>
          <p:nvPr/>
        </p:nvSpPr>
        <p:spPr>
          <a:xfrm>
            <a:off x="10519618" y="3043684"/>
            <a:ext cx="7234982" cy="5049738"/>
          </a:xfrm>
          <a:prstGeom prst="rect">
            <a:avLst/>
          </a:prstGeom>
          <a:solidFill>
            <a:srgbClr val="0B1F33"/>
          </a:solidFill>
          <a:ln/>
        </p:spPr>
      </p:sp>
      <p:sp>
        <p:nvSpPr>
          <p:cNvPr id="34" name="Text 32"/>
          <p:cNvSpPr/>
          <p:nvPr/>
        </p:nvSpPr>
        <p:spPr>
          <a:xfrm>
            <a:off x="10805368" y="4700439"/>
            <a:ext cx="732983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spc="205" kern="0" dirty="0">
                <a:solidFill>
                  <a:srgbClr val="B46A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ЧТО ЭТО</a:t>
            </a:r>
            <a:endParaRPr lang="en-US" sz="1575" dirty="0"/>
          </a:p>
        </p:txBody>
      </p:sp>
      <p:sp>
        <p:nvSpPr>
          <p:cNvPr id="35" name="Text 33"/>
          <p:cNvSpPr/>
          <p:nvPr/>
        </p:nvSpPr>
        <p:spPr>
          <a:xfrm>
            <a:off x="10805368" y="5133826"/>
            <a:ext cx="6863386" cy="1340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692"/>
              </a:lnSpc>
              <a:buNone/>
            </a:pPr>
            <a:r>
              <a:rPr lang="en-US" sz="2850" b="1" dirty="0">
                <a:solidFill>
                  <a:srgbClr val="F3EBDD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технология управления повторяемым потребительским поведением</a:t>
            </a:r>
            <a:endParaRPr lang="en-US" sz="2850" dirty="0"/>
          </a:p>
        </p:txBody>
      </p:sp>
      <p:sp>
        <p:nvSpPr>
          <p:cNvPr id="36" name="Text 34"/>
          <p:cNvSpPr/>
          <p:nvPr/>
        </p:nvSpPr>
        <p:spPr>
          <a:xfrm>
            <a:off x="533400" y="8322022"/>
            <a:ext cx="988368" cy="5399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171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ЛЕГЕНДА</a:t>
            </a:r>
            <a:endParaRPr lang="en-US" sz="1425" dirty="0"/>
          </a:p>
        </p:txBody>
      </p:sp>
      <p:sp>
        <p:nvSpPr>
          <p:cNvPr id="37" name="Text 35"/>
          <p:cNvSpPr/>
          <p:nvPr/>
        </p:nvSpPr>
        <p:spPr>
          <a:xfrm>
            <a:off x="1636068" y="8283922"/>
            <a:ext cx="8633460" cy="578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091"/>
              </a:lnSpc>
              <a:buNone/>
            </a:pPr>
            <a:r>
              <a:rPr lang="en-US" sz="157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Слева красная колонка «ЭТО НЕ»; справа Deep Navy-панель «ЧТО ЭТО»; между ними copper-переход.</a:t>
            </a:r>
            <a:endParaRPr lang="en-US" sz="1575" dirty="0"/>
          </a:p>
        </p:txBody>
      </p:sp>
      <p:sp>
        <p:nvSpPr>
          <p:cNvPr id="38" name="Shape 36"/>
          <p:cNvSpPr/>
          <p:nvPr/>
        </p:nvSpPr>
        <p:spPr>
          <a:xfrm>
            <a:off x="11468100" y="8283922"/>
            <a:ext cx="6286500" cy="1126778"/>
          </a:xfrm>
          <a:prstGeom prst="rect">
            <a:avLst/>
          </a:prstGeom>
          <a:ln w="19050">
            <a:solidFill>
              <a:srgbClr val="B91C1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1658600" y="8417272"/>
            <a:ext cx="6496050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171" kern="0" dirty="0">
                <a:solidFill>
                  <a:srgbClr val="B91C1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ЭТО НЕ</a:t>
            </a:r>
            <a:endParaRPr lang="en-US" sz="1425" dirty="0"/>
          </a:p>
        </p:txBody>
      </p:sp>
      <p:sp>
        <p:nvSpPr>
          <p:cNvPr id="40" name="Text 38"/>
          <p:cNvSpPr/>
          <p:nvPr/>
        </p:nvSpPr>
        <p:spPr>
          <a:xfrm>
            <a:off x="11658600" y="8707785"/>
            <a:ext cx="6082665" cy="607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667"/>
              </a:lnSpc>
              <a:buNone/>
            </a:pPr>
            <a:r>
              <a:rPr lang="en-US" sz="1725" dirty="0">
                <a:solidFill>
                  <a:srgbClr val="0B1F3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Это не лидогенерация, не SMM, не рекламная кампания, не CRM-внедрение и не придумать оффер.</a:t>
            </a:r>
            <a:endParaRPr lang="en-US" sz="1725" dirty="0"/>
          </a:p>
        </p:txBody>
      </p:sp>
      <p:sp>
        <p:nvSpPr>
          <p:cNvPr id="41" name="Shape 39"/>
          <p:cNvSpPr/>
          <p:nvPr/>
        </p:nvSpPr>
        <p:spPr>
          <a:xfrm>
            <a:off x="533400" y="9544050"/>
            <a:ext cx="17221200" cy="9525"/>
          </a:xfrm>
          <a:prstGeom prst="rect">
            <a:avLst/>
          </a:prstGeom>
          <a:solidFill>
            <a:srgbClr val="0B1F33">
              <a:alpha val="35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533400" y="9667875"/>
            <a:ext cx="883736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0B1F3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Правильная категория: управленческая технология повторяемого спроса.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10805145" y="9734550"/>
            <a:ext cx="76444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spc="60" kern="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Повторяемый_Спрос_Визуализация_13_Антипозиционирование_V1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2026-07-30T17:17:00Z</dcterms:created>
  <dcterms:modified xsi:type="dcterms:W3CDTF">2026-07-30T17:17:00Z</dcterms:modified>
</cp:coreProperties>
</file>