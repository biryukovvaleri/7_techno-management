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14" d="100"/>
          <a:sy n="114" d="100"/>
        </p:scale>
        <p:origin x="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Открыть не с истории технологии, а с управленческой цены разового спроса.</a:t>
            </a:r>
          </a:p>
          <a:p>
            <a:endParaRPr/>
          </a:p>
          <a:p>
            <a:r>
              <a:t>[Sources] Internal source: Повторяемый_Спрос_Коммерция_Презентация_Сценарий_v2.docx; Повторяемый_Спрос_Релиз_v2_SSOT_Языковой_Стандарт.docx; C-Level Insight brand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Показать, что технология не спорит с рекламой и промо; она отвечает на другой вопрос: почему покупатель должен возвращаться.</a:t>
            </a:r>
          </a:p>
          <a:p>
            <a:endParaRPr/>
          </a:p>
          <a:p>
            <a:r>
              <a:t>[Sources] Internal source: Повторяемый_Спрос_Коммерция_Презентация_Сценарий_v2.docx; Повторяемый_Спрос_Релиз_v2_SSOT_Языковой_Стандарт.docx; C-Level Insight brand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Слова LTV и CAC оставлены с русскими аналогами: это устойчивые деловые метрики.</a:t>
            </a:r>
          </a:p>
          <a:p>
            <a:endParaRPr/>
          </a:p>
          <a:p>
            <a:r>
              <a:t>[Sources] Internal source: Повторяемый_Спрос_Коммерция_Презентация_Сценарий_v2.docx; Повторяемый_Спрос_Релиз_v2_SSOT_Языковой_Стандарт.docx; C-Level Insight brand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 центральный слайд презентации. Не уходить здесь в 12 методических блоков, оставить простую управленческую цепочку.</a:t>
            </a:r>
          </a:p>
          <a:p>
            <a:endParaRPr/>
          </a:p>
          <a:p>
            <a:r>
              <a:t>[Sources] Internal source: Повторяемый_Спрос_Коммерция_Презентация_Сценарий_v2.docx; Повторяемый_Спрос_Релиз_v2_SSOT_Языковой_Стандарт.docx; C-Level Insight brand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Диагностика продается как самостоятельный платный продукт, а не как бесплатная предпродажа.</a:t>
            </a:r>
          </a:p>
          <a:p>
            <a:endParaRPr/>
          </a:p>
          <a:p>
            <a:r>
              <a:t>[Sources] Internal source: Повторяемый_Спрос_Коммерция_Презентация_Сценарий_v2.docx; Повторяемый_Спрос_Релиз_v2_SSOT_Языковой_Стандарт.docx; C-Level Insight brand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важен для доверия: технология не обещает результат всем подряд.</a:t>
            </a:r>
          </a:p>
          <a:p>
            <a:endParaRPr/>
          </a:p>
          <a:p>
            <a:r>
              <a:t>[Sources] Internal source: Повторяемый_Спрос_Коммерция_Презентация_Сценарий_v2.docx; Повторяемый_Спрос_Релиз_v2_SSOT_Языковой_Стандарт.docx; C-Level Insight brand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Зафиксировать коммерческую дисциплину: все этапы платные, но следующий этап появляется только после предыдущего вердикта.</a:t>
            </a:r>
          </a:p>
          <a:p>
            <a:endParaRPr/>
          </a:p>
          <a:p>
            <a:r>
              <a:t>[Sources] Internal source: Повторяемый_Спрос_Коммерция_Презентация_Сценарий_v2.docx; Повторяемый_Спрос_Релиз_v2_SSOT_Языковой_Стандарт.docx; C-Level Insight brand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Подбирать кейсы под категорию клиента из навигатора 12 кейсов.</a:t>
            </a:r>
          </a:p>
          <a:p>
            <a:endParaRPr/>
          </a:p>
          <a:p>
            <a:r>
              <a:t>[Sources] Internal source: Повторяемый_Спрос_Коммерция_Презентация_Сценарий_v2.docx; Повторяемый_Спрос_Релиз_v2_SSOT_Языковой_Стандарт.docx; C-Level Insight brand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Анти-позиционирование защищает маржинальность продукта и снижает риск неверного ожидания.</a:t>
            </a:r>
          </a:p>
          <a:p>
            <a:endParaRPr/>
          </a:p>
          <a:p>
            <a:r>
              <a:t>[Sources] Internal source: Повторяемый_Спрос_Коммерция_Презентация_Сценарий_v2.docx; Повторяемый_Спрос_Релиз_v2_SSOT_Языковой_Стандарт.docx; C-Level Insight brand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Завершить конкретным действием: Диагностика. Не продавать сразу весь маршрут.</a:t>
            </a:r>
          </a:p>
          <a:p>
            <a:endParaRPr/>
          </a:p>
          <a:p>
            <a:r>
              <a:t>[Sources] Internal source: Повторяемый_Спрос_Коммерция_Презентация_Сценарий_v2.docx; Повторяемый_Спрос_Релиз_v2_SSOT_Языковой_Стандарт.docx; C-Level Insight brand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4C6A6F6-93D5-4CA9-84F9-AC9A7272EB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3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3273E4B-0F46-4D72-A078-0D72BADF3C62}"/>
              </a:ext>
            </a:extLst>
          </p:cNvPr>
          <p:cNvSpPr>
            <a:spLocks noGrp="1"/>
          </p:cNvSpPr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rgbClr val="F3EBDD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55E9BAB-2C34-4686-BBAE-6DAF2459F432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3EBDD"/>
                </a:solidFill>
              </a:defRPr>
            </a:pPr>
            <a:r>
              <a:rPr sz="1275" b="1">
                <a:solidFill>
                  <a:srgbClr val="F3EBDD"/>
                </a:solidFill>
              </a:rPr>
              <a:t>C-Level Insight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0DF23DC-C1F8-4A53-A7CA-42FDE24FC9A3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Повторяемый спрос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4702CCD-CBB3-406D-8878-1401E0EC8030}"/>
              </a:ext>
            </a:extLst>
          </p:cNvPr>
          <p:cNvSpPr>
            <a:spLocks noGrp="1"/>
          </p:cNvSpPr>
          <p:nvPr/>
        </p:nvSpPr>
        <p:spPr>
          <a:xfrm>
            <a:off x="704850" y="2781300"/>
            <a:ext cx="1485900" cy="47625"/>
          </a:xfrm>
          <a:prstGeom prst="rect">
            <a:avLst/>
          </a:prstGeom>
          <a:solidFill>
            <a:srgbClr val="B46A3C"/>
          </a:solidFill>
          <a:ln w="0">
            <a:solidFill>
              <a:srgbClr val="B46A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1212C61-C1A6-4DC3-9F01-CA1304FA9236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6953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F3EBDD"/>
                </a:solidFill>
              </a:defRPr>
            </a:pPr>
            <a:r>
              <a:rPr sz="1950" b="0">
                <a:solidFill>
                  <a:srgbClr val="F3EBDD"/>
                </a:solidFill>
              </a:rPr>
              <a:t>Технология управленческого перехода от разовой активности к повторяемому потребительскому поведению.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6F71EB7-761A-4E15-886B-C3E745C5A609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мотив -&gt; сцена -&gt; ритуал -&gt; сигнал -&gt; повторяемость -&gt; финансовый эффект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2D3B44C-7B73-46D2-9335-5BDC3D3402FC}"/>
              </a:ext>
            </a:extLst>
          </p:cNvPr>
          <p:cNvSpPr>
            <a:spLocks noGrp="1"/>
          </p:cNvSpPr>
          <p:nvPr/>
        </p:nvSpPr>
        <p:spPr>
          <a:xfrm>
            <a:off x="8839200" y="59626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Коммерческая презентация v2</a:t>
            </a:r>
          </a:p>
        </p:txBody>
      </p:sp>
    </p:spTree>
    <p:extLst>
      <p:ext uri="{BB962C8B-B14F-4D97-AF65-F5344CB8AC3E}">
        <p14:creationId xmlns:p14="http://schemas.microsoft.com/office/powerpoint/2010/main" val="1267650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3B14F95-2205-4D1F-B845-B730EA922D4F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781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B1F33"/>
                </a:solidFill>
              </a:defRPr>
            </a:pPr>
            <a:r>
              <a:rPr sz="2925" b="1">
                <a:solidFill>
                  <a:srgbClr val="0B1F33"/>
                </a:solidFill>
              </a:rPr>
              <a:t>Компания покупает спрос заново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6A468C7-FEB2-40E0-8FC8-F2F1D07ED091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752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Промо, реклама и контент дают всплески активности, но не всегда создают привычку возвращаться.</a:t>
            </a: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B66BB14-CB99-470E-8F64-02D492BB20C1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23812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A7857B0-5CE0-4A5E-B600-DD9A278076B5}"/>
              </a:ext>
            </a:extLst>
          </p:cNvPr>
          <p:cNvSpPr>
            <a:spLocks noGrp="1"/>
          </p:cNvSpPr>
          <p:nvPr/>
        </p:nvSpPr>
        <p:spPr>
          <a:xfrm>
            <a:off x="914400" y="24193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B46A3C"/>
                </a:solidFill>
              </a:defRPr>
            </a:pPr>
            <a:r>
              <a:rPr sz="1875" b="1">
                <a:solidFill>
                  <a:srgbClr val="B46A3C"/>
                </a:solidFill>
              </a:rPr>
              <a:t>Промо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C591AA1E-6361-42AE-A3CD-05C81E79D715}"/>
              </a:ext>
            </a:extLst>
          </p:cNvPr>
          <p:cNvSpPr>
            <a:spLocks noGrp="1"/>
          </p:cNvSpPr>
          <p:nvPr/>
        </p:nvSpPr>
        <p:spPr>
          <a:xfrm>
            <a:off x="3333750" y="2209800"/>
            <a:ext cx="3143250" cy="876300"/>
          </a:xfrm>
          <a:prstGeom prst="roundRect">
            <a:avLst>
              <a:gd name="adj" fmla="val 6522"/>
            </a:avLst>
          </a:prstGeom>
          <a:solidFill>
            <a:srgbClr val="FAF7F1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B17C450-EC4A-45BF-9A15-1CED968B1E79}"/>
              </a:ext>
            </a:extLst>
          </p:cNvPr>
          <p:cNvSpPr>
            <a:spLocks noGrp="1"/>
          </p:cNvSpPr>
          <p:nvPr/>
        </p:nvSpPr>
        <p:spPr>
          <a:xfrm>
            <a:off x="3562350" y="241935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краткий всплеск продаж</a:t>
            </a: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E1D36344-04E7-4FF7-BEE6-84B5699A3B37}"/>
              </a:ext>
            </a:extLst>
          </p:cNvPr>
          <p:cNvSpPr>
            <a:spLocks noGrp="1"/>
          </p:cNvSpPr>
          <p:nvPr/>
        </p:nvSpPr>
        <p:spPr>
          <a:xfrm>
            <a:off x="6743700" y="2209800"/>
            <a:ext cx="4095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AEBD8DD-9E85-4757-8842-6793D21A6389}"/>
              </a:ext>
            </a:extLst>
          </p:cNvPr>
          <p:cNvSpPr>
            <a:spLocks noGrp="1"/>
          </p:cNvSpPr>
          <p:nvPr/>
        </p:nvSpPr>
        <p:spPr>
          <a:xfrm>
            <a:off x="6972300" y="241935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маржа съедается скидкой</a:t>
            </a: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9AF218DF-1429-4F94-BC11-EE6E4FD90F96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23812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5451E34-86FC-456C-9860-67E3E6700AAD}"/>
              </a:ext>
            </a:extLst>
          </p:cNvPr>
          <p:cNvSpPr>
            <a:spLocks noGrp="1"/>
          </p:cNvSpPr>
          <p:nvPr/>
        </p:nvSpPr>
        <p:spPr>
          <a:xfrm>
            <a:off x="914400" y="35242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B46A3C"/>
                </a:solidFill>
              </a:defRPr>
            </a:pPr>
            <a:r>
              <a:rPr sz="1875" b="1">
                <a:solidFill>
                  <a:srgbClr val="B46A3C"/>
                </a:solidFill>
              </a:rPr>
              <a:t>Реклама</a:t>
            </a: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0C1552C-BA68-4010-9BB3-AFA3F24EA22E}"/>
              </a:ext>
            </a:extLst>
          </p:cNvPr>
          <p:cNvSpPr>
            <a:spLocks noGrp="1"/>
          </p:cNvSpPr>
          <p:nvPr/>
        </p:nvSpPr>
        <p:spPr>
          <a:xfrm>
            <a:off x="3333750" y="3314700"/>
            <a:ext cx="3143250" cy="876300"/>
          </a:xfrm>
          <a:prstGeom prst="roundRect">
            <a:avLst>
              <a:gd name="adj" fmla="val 6522"/>
            </a:avLst>
          </a:prstGeom>
          <a:solidFill>
            <a:srgbClr val="FAF7F1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61E9288-601F-4127-AE66-7C637712BAD7}"/>
              </a:ext>
            </a:extLst>
          </p:cNvPr>
          <p:cNvSpPr>
            <a:spLocks noGrp="1"/>
          </p:cNvSpPr>
          <p:nvPr/>
        </p:nvSpPr>
        <p:spPr>
          <a:xfrm>
            <a:off x="3562350" y="352425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рост охвата и трафика</a:t>
            </a: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B1C406C9-FFBA-4A0F-91A3-455D16DE4624}"/>
              </a:ext>
            </a:extLst>
          </p:cNvPr>
          <p:cNvSpPr>
            <a:spLocks noGrp="1"/>
          </p:cNvSpPr>
          <p:nvPr/>
        </p:nvSpPr>
        <p:spPr>
          <a:xfrm>
            <a:off x="6743700" y="3314700"/>
            <a:ext cx="4095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1A90E91-D0E3-449B-8F9A-12C730DD44CD}"/>
              </a:ext>
            </a:extLst>
          </p:cNvPr>
          <p:cNvSpPr>
            <a:spLocks noGrp="1"/>
          </p:cNvSpPr>
          <p:nvPr/>
        </p:nvSpPr>
        <p:spPr>
          <a:xfrm>
            <a:off x="6972300" y="352425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следующая продажа снова требует бюджета</a:t>
            </a: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2373DCA0-DD77-4DA0-8BCB-C4D8F77AE48C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23812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6D4C246-C5B6-4B2D-A288-91D0A007C47A}"/>
              </a:ext>
            </a:extLst>
          </p:cNvPr>
          <p:cNvSpPr>
            <a:spLocks noGrp="1"/>
          </p:cNvSpPr>
          <p:nvPr/>
        </p:nvSpPr>
        <p:spPr>
          <a:xfrm>
            <a:off x="914400" y="46291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B46A3C"/>
                </a:solidFill>
              </a:defRPr>
            </a:pPr>
            <a:r>
              <a:rPr sz="1875" b="1">
                <a:solidFill>
                  <a:srgbClr val="B46A3C"/>
                </a:solidFill>
              </a:rPr>
              <a:t>Контент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D81F76F4-F766-4529-8268-B633D099BE2E}"/>
              </a:ext>
            </a:extLst>
          </p:cNvPr>
          <p:cNvSpPr>
            <a:spLocks noGrp="1"/>
          </p:cNvSpPr>
          <p:nvPr/>
        </p:nvSpPr>
        <p:spPr>
          <a:xfrm>
            <a:off x="3333750" y="4419600"/>
            <a:ext cx="3143250" cy="876300"/>
          </a:xfrm>
          <a:prstGeom prst="roundRect">
            <a:avLst>
              <a:gd name="adj" fmla="val 6522"/>
            </a:avLst>
          </a:prstGeom>
          <a:solidFill>
            <a:srgbClr val="FAF7F1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9ECAAB6-5BC5-4DF7-A93C-53DA33A8B169}"/>
              </a:ext>
            </a:extLst>
          </p:cNvPr>
          <p:cNvSpPr>
            <a:spLocks noGrp="1"/>
          </p:cNvSpPr>
          <p:nvPr/>
        </p:nvSpPr>
        <p:spPr>
          <a:xfrm>
            <a:off x="3562350" y="462915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внимание и вовлечение</a:t>
            </a: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F848C87C-CA07-4F13-87BF-ADF2FB1A58D1}"/>
              </a:ext>
            </a:extLst>
          </p:cNvPr>
          <p:cNvSpPr>
            <a:spLocks noGrp="1"/>
          </p:cNvSpPr>
          <p:nvPr/>
        </p:nvSpPr>
        <p:spPr>
          <a:xfrm>
            <a:off x="6743700" y="4419600"/>
            <a:ext cx="4095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E695537-9038-4C91-8C02-4BB20753F0AB}"/>
              </a:ext>
            </a:extLst>
          </p:cNvPr>
          <p:cNvSpPr>
            <a:spLocks noGrp="1"/>
          </p:cNvSpPr>
          <p:nvPr/>
        </p:nvSpPr>
        <p:spPr>
          <a:xfrm>
            <a:off x="6972300" y="462915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поведение не закрепляется в покупке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86E754A-6427-4B13-AA08-B0B628CB1F81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Диагноз: проблема часто не в слабом маркетинге, а в отсутствии механизма повторения.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45E78F2-6B93-4C24-B514-E93C0A187951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F835A1A-52AA-4C9C-A917-E19D7C9A15AF}"/>
              </a:ext>
            </a:extLst>
          </p:cNvPr>
          <p:cNvSpPr>
            <a:spLocks noGrp="1"/>
          </p:cNvSpPr>
          <p:nvPr/>
        </p:nvSpPr>
        <p:spPr>
          <a:xfrm>
            <a:off x="109918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818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2794304-537E-4584-9C2E-DA88E5B23CDD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819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B1F33"/>
                </a:solidFill>
              </a:defRPr>
            </a:pPr>
            <a:r>
              <a:rPr sz="2925" b="1">
                <a:solidFill>
                  <a:srgbClr val="0B1F33"/>
                </a:solidFill>
              </a:rPr>
              <a:t>Слабая повторяемость бьет по деньгам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D4AC05-CB8D-478C-A778-9CD377FA5EBA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Когда повторная покупка не встроена в поведение, компания платит трижды: скидкой, рекламой и потерянной маржей.</a:t>
            </a: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00A6F242-63DE-4E5F-8624-0F9E23E5B88B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2381250" cy="24193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7153217-D19B-4F88-9856-FE5EC0643E5D}"/>
              </a:ext>
            </a:extLst>
          </p:cNvPr>
          <p:cNvSpPr>
            <a:spLocks noGrp="1"/>
          </p:cNvSpPr>
          <p:nvPr/>
        </p:nvSpPr>
        <p:spPr>
          <a:xfrm>
            <a:off x="914400" y="2647950"/>
            <a:ext cx="190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Маржа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CBD2372-AEA8-4F21-A636-DDAB725686BB}"/>
              </a:ext>
            </a:extLst>
          </p:cNvPr>
          <p:cNvSpPr>
            <a:spLocks noGrp="1"/>
          </p:cNvSpPr>
          <p:nvPr/>
        </p:nvSpPr>
        <p:spPr>
          <a:xfrm>
            <a:off x="914400" y="3486150"/>
            <a:ext cx="7239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2B7D77E-6479-4E96-AF80-36234E0D374A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1857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скидка становится главным стимулом</a:t>
            </a: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77059DE3-98B5-43A2-996C-450AFCC94308}"/>
              </a:ext>
            </a:extLst>
          </p:cNvPr>
          <p:cNvSpPr>
            <a:spLocks noGrp="1"/>
          </p:cNvSpPr>
          <p:nvPr/>
        </p:nvSpPr>
        <p:spPr>
          <a:xfrm>
            <a:off x="3333750" y="2362200"/>
            <a:ext cx="2381250" cy="2419350"/>
          </a:xfrm>
          <a:prstGeom prst="roundRect">
            <a:avLst>
              <a:gd name="adj" fmla="val 2400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C54B983-DE01-45FC-A170-71FBF9468174}"/>
              </a:ext>
            </a:extLst>
          </p:cNvPr>
          <p:cNvSpPr>
            <a:spLocks noGrp="1"/>
          </p:cNvSpPr>
          <p:nvPr/>
        </p:nvSpPr>
        <p:spPr>
          <a:xfrm>
            <a:off x="3562350" y="2647950"/>
            <a:ext cx="190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LTV, ценность клиента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3E37CE4-3188-40E9-9FC5-7C74373D0F89}"/>
              </a:ext>
            </a:extLst>
          </p:cNvPr>
          <p:cNvSpPr>
            <a:spLocks noGrp="1"/>
          </p:cNvSpPr>
          <p:nvPr/>
        </p:nvSpPr>
        <p:spPr>
          <a:xfrm>
            <a:off x="3562350" y="3486150"/>
            <a:ext cx="723900" cy="38100"/>
          </a:xfrm>
          <a:prstGeom prst="rect">
            <a:avLst/>
          </a:prstGeom>
          <a:solidFill>
            <a:srgbClr val="B46A3C"/>
          </a:solidFill>
          <a:ln w="0">
            <a:solidFill>
              <a:srgbClr val="B46A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B3256B3-49F2-419D-BA15-A79258B458D2}"/>
              </a:ext>
            </a:extLst>
          </p:cNvPr>
          <p:cNvSpPr>
            <a:spLocks noGrp="1"/>
          </p:cNvSpPr>
          <p:nvPr/>
        </p:nvSpPr>
        <p:spPr>
          <a:xfrm>
            <a:off x="3562350" y="3733800"/>
            <a:ext cx="1857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F3EBDD"/>
                </a:solidFill>
              </a:defRPr>
            </a:pPr>
            <a:r>
              <a:rPr sz="1425" b="0">
                <a:solidFill>
                  <a:srgbClr val="F3EBDD"/>
                </a:solidFill>
              </a:rPr>
              <a:t>клиент не успевает стать активом</a:t>
            </a: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D735C47-5E15-4EC4-9610-1F11279F1C36}"/>
              </a:ext>
            </a:extLst>
          </p:cNvPr>
          <p:cNvSpPr>
            <a:spLocks noGrp="1"/>
          </p:cNvSpPr>
          <p:nvPr/>
        </p:nvSpPr>
        <p:spPr>
          <a:xfrm>
            <a:off x="5981700" y="2362200"/>
            <a:ext cx="2381250" cy="24193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D8C59A4-F2FA-400C-BD21-D183F590C70C}"/>
              </a:ext>
            </a:extLst>
          </p:cNvPr>
          <p:cNvSpPr>
            <a:spLocks noGrp="1"/>
          </p:cNvSpPr>
          <p:nvPr/>
        </p:nvSpPr>
        <p:spPr>
          <a:xfrm>
            <a:off x="6210300" y="2647950"/>
            <a:ext cx="190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CAC, стоимость привлечения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821E30D-0716-435B-9F25-646642CDDA24}"/>
              </a:ext>
            </a:extLst>
          </p:cNvPr>
          <p:cNvSpPr>
            <a:spLocks noGrp="1"/>
          </p:cNvSpPr>
          <p:nvPr/>
        </p:nvSpPr>
        <p:spPr>
          <a:xfrm>
            <a:off x="6210300" y="3486150"/>
            <a:ext cx="7239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867C559-A851-4185-8741-550958BF9C00}"/>
              </a:ext>
            </a:extLst>
          </p:cNvPr>
          <p:cNvSpPr>
            <a:spLocks noGrp="1"/>
          </p:cNvSpPr>
          <p:nvPr/>
        </p:nvSpPr>
        <p:spPr>
          <a:xfrm>
            <a:off x="6210300" y="3733800"/>
            <a:ext cx="1857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каждый цикл продаж начинается почти с нуля</a:t>
            </a: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639D7CB-1A6F-4D79-82CF-683285D8766E}"/>
              </a:ext>
            </a:extLst>
          </p:cNvPr>
          <p:cNvSpPr>
            <a:spLocks noGrp="1"/>
          </p:cNvSpPr>
          <p:nvPr/>
        </p:nvSpPr>
        <p:spPr>
          <a:xfrm>
            <a:off x="8629650" y="2362200"/>
            <a:ext cx="2381250" cy="24193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F69E652-9770-49ED-B5E4-B6E0D35E6572}"/>
              </a:ext>
            </a:extLst>
          </p:cNvPr>
          <p:cNvSpPr>
            <a:spLocks noGrp="1"/>
          </p:cNvSpPr>
          <p:nvPr/>
        </p:nvSpPr>
        <p:spPr>
          <a:xfrm>
            <a:off x="8858250" y="2647950"/>
            <a:ext cx="190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Ритм управления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416D7C6-FB97-4948-B717-F694A05CC3D2}"/>
              </a:ext>
            </a:extLst>
          </p:cNvPr>
          <p:cNvSpPr>
            <a:spLocks noGrp="1"/>
          </p:cNvSpPr>
          <p:nvPr/>
        </p:nvSpPr>
        <p:spPr>
          <a:xfrm>
            <a:off x="8858250" y="3486150"/>
            <a:ext cx="7239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A999A42-07A2-45E4-8CD2-A4860198CD14}"/>
              </a:ext>
            </a:extLst>
          </p:cNvPr>
          <p:cNvSpPr>
            <a:spLocks noGrp="1"/>
          </p:cNvSpPr>
          <p:nvPr/>
        </p:nvSpPr>
        <p:spPr>
          <a:xfrm>
            <a:off x="8858250" y="3733800"/>
            <a:ext cx="1857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решения принимаются по всплескам, а не по поведению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7114A08-BCCF-4D74-8D23-09B7095E2AF4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Поэтому первый коммерческий шаг - не обещать рост, а проверить, можно ли создать управляемую повторяемость в конкретной категории.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B9DE09C-E0A3-42BD-99F1-F1CF73D4A100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6247946-95BB-47DF-A046-7EF0DF6DF098}"/>
              </a:ext>
            </a:extLst>
          </p:cNvPr>
          <p:cNvSpPr>
            <a:spLocks noGrp="1"/>
          </p:cNvSpPr>
          <p:nvPr/>
        </p:nvSpPr>
        <p:spPr>
          <a:xfrm>
            <a:off x="109918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21086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FD69F55F-69D5-404A-9080-C9E0716B9F2C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3"/>
                </a:solidFill>
              </a:defRPr>
            </a:pPr>
            <a:r>
              <a:rPr sz="2850" b="1">
                <a:solidFill>
                  <a:srgbClr val="0B1F33"/>
                </a:solidFill>
              </a:rPr>
              <a:t>Механизм повторяемого спроса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E3BD798-51B4-46D1-81A9-40CF7C6D3695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Технология собирает не кампанию, а цепочку поведения, которую можно проверить, внедрить и удерживать.</a:t>
            </a: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93AA528F-3EC4-4A76-B63E-7D6559E03883}"/>
              </a:ext>
            </a:extLst>
          </p:cNvPr>
          <p:cNvSpPr>
            <a:spLocks noGrp="1"/>
          </p:cNvSpPr>
          <p:nvPr/>
        </p:nvSpPr>
        <p:spPr>
          <a:xfrm>
            <a:off x="628650" y="2724150"/>
            <a:ext cx="1638300" cy="1524000"/>
          </a:xfrm>
          <a:prstGeom prst="roundRect">
            <a:avLst>
              <a:gd name="adj" fmla="val 3750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19EB6DF-3F9B-43DF-9304-65874EF49F48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1352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Мотив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A3B4CDF-8D3A-41A2-8D5E-7C1A35A18B4D}"/>
              </a:ext>
            </a:extLst>
          </p:cNvPr>
          <p:cNvSpPr>
            <a:spLocks noGrp="1"/>
          </p:cNvSpPr>
          <p:nvPr/>
        </p:nvSpPr>
        <p:spPr>
          <a:xfrm>
            <a:off x="790575" y="3562350"/>
            <a:ext cx="1295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F3EBDD"/>
                </a:solidFill>
              </a:defRPr>
            </a:pPr>
            <a:r>
              <a:rPr sz="1125" b="0">
                <a:solidFill>
                  <a:srgbClr val="F3EBDD"/>
                </a:solidFill>
              </a:rPr>
              <a:t>что человеку действительно нужно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0D7E04B-587F-4512-9C0D-4014481455DD}"/>
              </a:ext>
            </a:extLst>
          </p:cNvPr>
          <p:cNvSpPr>
            <a:spLocks noGrp="1"/>
          </p:cNvSpPr>
          <p:nvPr/>
        </p:nvSpPr>
        <p:spPr>
          <a:xfrm>
            <a:off x="2305050" y="3276600"/>
            <a:ext cx="40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B46A3C"/>
                </a:solidFill>
              </a:defRPr>
            </a:pPr>
            <a:r>
              <a:rPr sz="2250" b="1">
                <a:solidFill>
                  <a:srgbClr val="B46A3C"/>
                </a:solidFill>
              </a:rPr>
              <a:t>-&gt;</a:t>
            </a: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C20C74E8-65C1-48C3-BA53-E816730FFF26}"/>
              </a:ext>
            </a:extLst>
          </p:cNvPr>
          <p:cNvSpPr>
            <a:spLocks noGrp="1"/>
          </p:cNvSpPr>
          <p:nvPr/>
        </p:nvSpPr>
        <p:spPr>
          <a:xfrm>
            <a:off x="2438400" y="2724150"/>
            <a:ext cx="1638300" cy="1524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F5572DF-AA17-4C00-BF57-3B0D342F112F}"/>
              </a:ext>
            </a:extLst>
          </p:cNvPr>
          <p:cNvSpPr>
            <a:spLocks noGrp="1"/>
          </p:cNvSpPr>
          <p:nvPr/>
        </p:nvSpPr>
        <p:spPr>
          <a:xfrm>
            <a:off x="2571750" y="2914650"/>
            <a:ext cx="1352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Сцена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431C4D5-D4CB-4205-8899-18792F47D052}"/>
              </a:ext>
            </a:extLst>
          </p:cNvPr>
          <p:cNvSpPr>
            <a:spLocks noGrp="1"/>
          </p:cNvSpPr>
          <p:nvPr/>
        </p:nvSpPr>
        <p:spPr>
          <a:xfrm>
            <a:off x="2600325" y="3562350"/>
            <a:ext cx="1295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где возникает ситуация потребления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6EBD8B3-0D29-4135-A127-97BC6DA40E93}"/>
              </a:ext>
            </a:extLst>
          </p:cNvPr>
          <p:cNvSpPr>
            <a:spLocks noGrp="1"/>
          </p:cNvSpPr>
          <p:nvPr/>
        </p:nvSpPr>
        <p:spPr>
          <a:xfrm>
            <a:off x="4114800" y="3276600"/>
            <a:ext cx="40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B46A3C"/>
                </a:solidFill>
              </a:defRPr>
            </a:pPr>
            <a:r>
              <a:rPr sz="2250" b="1">
                <a:solidFill>
                  <a:srgbClr val="B46A3C"/>
                </a:solidFill>
              </a:rPr>
              <a:t>-&gt;</a:t>
            </a: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5A0252F4-3659-4299-8FE7-E11E80910064}"/>
              </a:ext>
            </a:extLst>
          </p:cNvPr>
          <p:cNvSpPr>
            <a:spLocks noGrp="1"/>
          </p:cNvSpPr>
          <p:nvPr/>
        </p:nvSpPr>
        <p:spPr>
          <a:xfrm>
            <a:off x="4248150" y="2724150"/>
            <a:ext cx="1638300" cy="1524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701ED6A-C433-4684-818E-00257096A41F}"/>
              </a:ext>
            </a:extLst>
          </p:cNvPr>
          <p:cNvSpPr>
            <a:spLocks noGrp="1"/>
          </p:cNvSpPr>
          <p:nvPr/>
        </p:nvSpPr>
        <p:spPr>
          <a:xfrm>
            <a:off x="4381500" y="2914650"/>
            <a:ext cx="1352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Ритуал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FD16F59-3832-4784-9EDF-236A24645035}"/>
              </a:ext>
            </a:extLst>
          </p:cNvPr>
          <p:cNvSpPr>
            <a:spLocks noGrp="1"/>
          </p:cNvSpPr>
          <p:nvPr/>
        </p:nvSpPr>
        <p:spPr>
          <a:xfrm>
            <a:off x="4410075" y="3562350"/>
            <a:ext cx="1295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какое действие повторяется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BF637A0-4E30-4FAE-8664-FB3FCE7A726F}"/>
              </a:ext>
            </a:extLst>
          </p:cNvPr>
          <p:cNvSpPr>
            <a:spLocks noGrp="1"/>
          </p:cNvSpPr>
          <p:nvPr/>
        </p:nvSpPr>
        <p:spPr>
          <a:xfrm>
            <a:off x="5924550" y="3276600"/>
            <a:ext cx="40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B46A3C"/>
                </a:solidFill>
              </a:defRPr>
            </a:pPr>
            <a:r>
              <a:rPr sz="2250" b="1">
                <a:solidFill>
                  <a:srgbClr val="B46A3C"/>
                </a:solidFill>
              </a:rPr>
              <a:t>-&gt;</a:t>
            </a: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18EB1FFC-CE48-4296-878F-BD5FC052B153}"/>
              </a:ext>
            </a:extLst>
          </p:cNvPr>
          <p:cNvSpPr>
            <a:spLocks noGrp="1"/>
          </p:cNvSpPr>
          <p:nvPr/>
        </p:nvSpPr>
        <p:spPr>
          <a:xfrm>
            <a:off x="6057900" y="2724150"/>
            <a:ext cx="1638300" cy="1524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713B46A-6ABC-4CC8-80C4-CBD71EA9A130}"/>
              </a:ext>
            </a:extLst>
          </p:cNvPr>
          <p:cNvSpPr>
            <a:spLocks noGrp="1"/>
          </p:cNvSpPr>
          <p:nvPr/>
        </p:nvSpPr>
        <p:spPr>
          <a:xfrm>
            <a:off x="6191250" y="2914650"/>
            <a:ext cx="1352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Сигнал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4061638-2D1A-4D1D-83FE-5C4458734AC3}"/>
              </a:ext>
            </a:extLst>
          </p:cNvPr>
          <p:cNvSpPr>
            <a:spLocks noGrp="1"/>
          </p:cNvSpPr>
          <p:nvPr/>
        </p:nvSpPr>
        <p:spPr>
          <a:xfrm>
            <a:off x="6219825" y="3562350"/>
            <a:ext cx="1295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что запускает выбор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78EBAD5-3CCE-489D-B907-BD0C608C1FC2}"/>
              </a:ext>
            </a:extLst>
          </p:cNvPr>
          <p:cNvSpPr>
            <a:spLocks noGrp="1"/>
          </p:cNvSpPr>
          <p:nvPr/>
        </p:nvSpPr>
        <p:spPr>
          <a:xfrm>
            <a:off x="7734300" y="3276600"/>
            <a:ext cx="40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B46A3C"/>
                </a:solidFill>
              </a:defRPr>
            </a:pPr>
            <a:r>
              <a:rPr sz="2250" b="1">
                <a:solidFill>
                  <a:srgbClr val="B46A3C"/>
                </a:solidFill>
              </a:rPr>
              <a:t>-&gt;</a:t>
            </a: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989E7179-FCDA-4A9D-8F94-1A105AF64819}"/>
              </a:ext>
            </a:extLst>
          </p:cNvPr>
          <p:cNvSpPr>
            <a:spLocks noGrp="1"/>
          </p:cNvSpPr>
          <p:nvPr/>
        </p:nvSpPr>
        <p:spPr>
          <a:xfrm>
            <a:off x="7867650" y="2724150"/>
            <a:ext cx="1638300" cy="1524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7B7427C-3DC4-481A-B4E1-BD9BAD589B6B}"/>
              </a:ext>
            </a:extLst>
          </p:cNvPr>
          <p:cNvSpPr>
            <a:spLocks noGrp="1"/>
          </p:cNvSpPr>
          <p:nvPr/>
        </p:nvSpPr>
        <p:spPr>
          <a:xfrm>
            <a:off x="8001000" y="2914650"/>
            <a:ext cx="1352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Повтор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8CD9D2D-D149-4FB7-872B-D6058D697C55}"/>
              </a:ext>
            </a:extLst>
          </p:cNvPr>
          <p:cNvSpPr>
            <a:spLocks noGrp="1"/>
          </p:cNvSpPr>
          <p:nvPr/>
        </p:nvSpPr>
        <p:spPr>
          <a:xfrm>
            <a:off x="8029575" y="3562350"/>
            <a:ext cx="1295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как поведение закрепляется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E37192A-5EBD-4365-9B43-1CFE33FF1CAC}"/>
              </a:ext>
            </a:extLst>
          </p:cNvPr>
          <p:cNvSpPr>
            <a:spLocks noGrp="1"/>
          </p:cNvSpPr>
          <p:nvPr/>
        </p:nvSpPr>
        <p:spPr>
          <a:xfrm>
            <a:off x="9544050" y="3276600"/>
            <a:ext cx="40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B46A3C"/>
                </a:solidFill>
              </a:defRPr>
            </a:pPr>
            <a:r>
              <a:rPr sz="2250" b="1">
                <a:solidFill>
                  <a:srgbClr val="B46A3C"/>
                </a:solidFill>
              </a:rPr>
              <a:t>-&gt;</a:t>
            </a: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6FC895B-AA34-4E30-8C49-43C984CD88A5}"/>
              </a:ext>
            </a:extLst>
          </p:cNvPr>
          <p:cNvSpPr>
            <a:spLocks noGrp="1"/>
          </p:cNvSpPr>
          <p:nvPr/>
        </p:nvSpPr>
        <p:spPr>
          <a:xfrm>
            <a:off x="9677400" y="2724150"/>
            <a:ext cx="1638300" cy="1524000"/>
          </a:xfrm>
          <a:prstGeom prst="roundRect">
            <a:avLst>
              <a:gd name="adj" fmla="val 3750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C765484-5674-4454-8E4C-E02B0F489ABA}"/>
              </a:ext>
            </a:extLst>
          </p:cNvPr>
          <p:cNvSpPr>
            <a:spLocks noGrp="1"/>
          </p:cNvSpPr>
          <p:nvPr/>
        </p:nvSpPr>
        <p:spPr>
          <a:xfrm>
            <a:off x="9810750" y="2914650"/>
            <a:ext cx="1352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Деньги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9C65FE7-3F69-4572-BFEA-B9353645911B}"/>
              </a:ext>
            </a:extLst>
          </p:cNvPr>
          <p:cNvSpPr>
            <a:spLocks noGrp="1"/>
          </p:cNvSpPr>
          <p:nvPr/>
        </p:nvSpPr>
        <p:spPr>
          <a:xfrm>
            <a:off x="9839325" y="3562350"/>
            <a:ext cx="1295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F3EBDD"/>
                </a:solidFill>
              </a:defRPr>
            </a:pPr>
            <a:r>
              <a:rPr sz="1125" b="0">
                <a:solidFill>
                  <a:srgbClr val="F3EBDD"/>
                </a:solidFill>
              </a:rPr>
              <a:t>финансовый эффект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976AC07-7F20-4BA8-981A-0763ACBE9602}"/>
              </a:ext>
            </a:extLst>
          </p:cNvPr>
          <p:cNvSpPr>
            <a:spLocks noGrp="1"/>
          </p:cNvSpPr>
          <p:nvPr/>
        </p:nvSpPr>
        <p:spPr>
          <a:xfrm>
            <a:off x="1219200" y="512445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Смысл метода: найти точку, где мотив клиента превращается в повторяемое действие, а не остается абстрактной лояльностью.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7118393-318A-4D3A-96AE-D6A2B1E7DCB6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EDB0AAD-9791-4255-9570-401EB5CFFDBD}"/>
              </a:ext>
            </a:extLst>
          </p:cNvPr>
          <p:cNvSpPr>
            <a:spLocks noGrp="1"/>
          </p:cNvSpPr>
          <p:nvPr/>
        </p:nvSpPr>
        <p:spPr>
          <a:xfrm>
            <a:off x="109918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76119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466329E-5990-4FA7-9451-65663231C8E8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9334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3"/>
                </a:solidFill>
              </a:defRPr>
            </a:pPr>
            <a:r>
              <a:rPr sz="2850" b="1">
                <a:solidFill>
                  <a:srgbClr val="0B1F33"/>
                </a:solidFill>
              </a:rPr>
              <a:t>Первый шаг - платная Диагностика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C4EA9AB-0FE5-470A-A2F0-ED4EB2F99CC9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858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Мы проверяем применимость технологии до того, как предлагаем сессию, спринт или сопровождение.</a:t>
            </a: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A5D1BE4B-2523-4CEC-AE72-068FFB13CDB4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514350" cy="514350"/>
          </a:xfrm>
          <a:prstGeom prst="roundRect">
            <a:avLst>
              <a:gd name="adj" fmla="val 11111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CDD53B7-6450-4D75-B3EF-8E12BFE830A3}"/>
              </a:ext>
            </a:extLst>
          </p:cNvPr>
          <p:cNvSpPr>
            <a:spLocks noGrp="1"/>
          </p:cNvSpPr>
          <p:nvPr/>
        </p:nvSpPr>
        <p:spPr>
          <a:xfrm>
            <a:off x="1047750" y="235267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0E465FC-19D1-4166-A18F-711D238C2CCD}"/>
              </a:ext>
            </a:extLst>
          </p:cNvPr>
          <p:cNvSpPr>
            <a:spLocks noGrp="1"/>
          </p:cNvSpPr>
          <p:nvPr/>
        </p:nvSpPr>
        <p:spPr>
          <a:xfrm>
            <a:off x="1638300" y="2333625"/>
            <a:ext cx="590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Разобрать категорию, продукт и текущую механику спроса</a:t>
            </a: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E464A2CA-2E3A-406A-A21E-9F9BCA302ACE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514350" cy="514350"/>
          </a:xfrm>
          <a:prstGeom prst="roundRect">
            <a:avLst>
              <a:gd name="adj" fmla="val 11111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4533BD3-D5ED-4648-8A31-762FBE197B8A}"/>
              </a:ext>
            </a:extLst>
          </p:cNvPr>
          <p:cNvSpPr>
            <a:spLocks noGrp="1"/>
          </p:cNvSpPr>
          <p:nvPr/>
        </p:nvSpPr>
        <p:spPr>
          <a:xfrm>
            <a:off x="1047750" y="322897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44B8943-4744-4EB2-A4BB-4B35C64C7D76}"/>
              </a:ext>
            </a:extLst>
          </p:cNvPr>
          <p:cNvSpPr>
            <a:spLocks noGrp="1"/>
          </p:cNvSpPr>
          <p:nvPr/>
        </p:nvSpPr>
        <p:spPr>
          <a:xfrm>
            <a:off x="1638300" y="3209925"/>
            <a:ext cx="590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Найти мотивы, сцены, сигналы и разрывы повторения</a:t>
            </a: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C29D0A09-D87B-4100-BF11-C4BEB586D156}"/>
              </a:ext>
            </a:extLst>
          </p:cNvPr>
          <p:cNvSpPr>
            <a:spLocks noGrp="1"/>
          </p:cNvSpPr>
          <p:nvPr/>
        </p:nvSpPr>
        <p:spPr>
          <a:xfrm>
            <a:off x="876300" y="4019550"/>
            <a:ext cx="514350" cy="514350"/>
          </a:xfrm>
          <a:prstGeom prst="roundRect">
            <a:avLst>
              <a:gd name="adj" fmla="val 11111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AA61E72-8637-4504-8C4F-9CD60BFD9A4A}"/>
              </a:ext>
            </a:extLst>
          </p:cNvPr>
          <p:cNvSpPr>
            <a:spLocks noGrp="1"/>
          </p:cNvSpPr>
          <p:nvPr/>
        </p:nvSpPr>
        <p:spPr>
          <a:xfrm>
            <a:off x="1047750" y="410527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0E58A30-A5D6-4700-8FC6-FF851B54A060}"/>
              </a:ext>
            </a:extLst>
          </p:cNvPr>
          <p:cNvSpPr>
            <a:spLocks noGrp="1"/>
          </p:cNvSpPr>
          <p:nvPr/>
        </p:nvSpPr>
        <p:spPr>
          <a:xfrm>
            <a:off x="1638300" y="4086225"/>
            <a:ext cx="590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Оценить, можно ли связать поведение с финансовым эффектом</a:t>
            </a: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B0DC87D1-B0CF-470A-97AE-63A158D8E808}"/>
              </a:ext>
            </a:extLst>
          </p:cNvPr>
          <p:cNvSpPr>
            <a:spLocks noGrp="1"/>
          </p:cNvSpPr>
          <p:nvPr/>
        </p:nvSpPr>
        <p:spPr>
          <a:xfrm>
            <a:off x="7753350" y="2247900"/>
            <a:ext cx="3238500" cy="2571750"/>
          </a:xfrm>
          <a:prstGeom prst="roundRect">
            <a:avLst>
              <a:gd name="adj" fmla="val 2222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C7B2A53-5440-41D9-B252-78F41C728E00}"/>
              </a:ext>
            </a:extLst>
          </p:cNvPr>
          <p:cNvSpPr>
            <a:spLocks noGrp="1"/>
          </p:cNvSpPr>
          <p:nvPr/>
        </p:nvSpPr>
        <p:spPr>
          <a:xfrm>
            <a:off x="8058150" y="25527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Результат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A7D3AF7-5F6E-4C19-80DF-A7C24AC7264E}"/>
              </a:ext>
            </a:extLst>
          </p:cNvPr>
          <p:cNvSpPr>
            <a:spLocks noGrp="1"/>
          </p:cNvSpPr>
          <p:nvPr/>
        </p:nvSpPr>
        <p:spPr>
          <a:xfrm>
            <a:off x="8058150" y="3048000"/>
            <a:ext cx="781050" cy="38100"/>
          </a:xfrm>
          <a:prstGeom prst="rect">
            <a:avLst/>
          </a:prstGeom>
          <a:solidFill>
            <a:srgbClr val="B46A3C"/>
          </a:solidFill>
          <a:ln w="0">
            <a:solidFill>
              <a:srgbClr val="B46A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568BF73-5904-42AF-8375-F473D050DA05}"/>
              </a:ext>
            </a:extLst>
          </p:cNvPr>
          <p:cNvSpPr>
            <a:spLocks noGrp="1"/>
          </p:cNvSpPr>
          <p:nvPr/>
        </p:nvSpPr>
        <p:spPr>
          <a:xfrm>
            <a:off x="8058150" y="3352800"/>
            <a:ext cx="2381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3EBDD"/>
                </a:solidFill>
              </a:defRPr>
            </a:pPr>
            <a:r>
              <a:rPr sz="1500" b="0">
                <a:solidFill>
                  <a:srgbClr val="F3EBDD"/>
                </a:solidFill>
              </a:rPr>
              <a:t>Карта применимости.</a:t>
            </a:r>
          </a:p>
          <a:p>
            <a:pPr algn="l">
              <a:defRPr sz="1500" b="0">
                <a:solidFill>
                  <a:srgbClr val="F3EBDD"/>
                </a:solidFill>
              </a:defRPr>
            </a:pPr>
            <a:r>
              <a:rPr sz="1500" b="0">
                <a:solidFill>
                  <a:srgbClr val="F3EBDD"/>
                </a:solidFill>
              </a:rPr>
              <a:t>Ключевые ограничения.</a:t>
            </a:r>
          </a:p>
          <a:p>
            <a:pPr algn="l">
              <a:defRPr sz="1500" b="0">
                <a:solidFill>
                  <a:srgbClr val="F3EBDD"/>
                </a:solidFill>
              </a:defRPr>
            </a:pPr>
            <a:r>
              <a:rPr sz="1500" b="0">
                <a:solidFill>
                  <a:srgbClr val="F3EBDD"/>
                </a:solidFill>
              </a:rPr>
              <a:t>Предварительный маршрут.</a:t>
            </a:r>
          </a:p>
          <a:p>
            <a:pPr algn="l">
              <a:defRPr sz="1500" b="0">
                <a:solidFill>
                  <a:srgbClr val="F3EBDD"/>
                </a:solidFill>
              </a:defRPr>
            </a:pPr>
            <a:r>
              <a:rPr sz="1500" b="0">
                <a:solidFill>
                  <a:srgbClr val="F3EBDD"/>
                </a:solidFill>
              </a:rPr>
              <a:t>Gate-вердикт.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59D4CD5-30F3-44AA-8BD3-C8C3BCF0FEDC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B617930-DCE5-469A-952C-D2B37EDA24D2}"/>
              </a:ext>
            </a:extLst>
          </p:cNvPr>
          <p:cNvSpPr>
            <a:spLocks noGrp="1"/>
          </p:cNvSpPr>
          <p:nvPr/>
        </p:nvSpPr>
        <p:spPr>
          <a:xfrm>
            <a:off x="109918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4684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725C4D6-5CCE-464B-A25F-0AF8E9D19A7A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9334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3"/>
                </a:solidFill>
              </a:defRPr>
            </a:pPr>
            <a:r>
              <a:rPr sz="2850" b="1">
                <a:solidFill>
                  <a:srgbClr val="0B1F33"/>
                </a:solidFill>
              </a:rPr>
              <a:t>Gate-вердикт защищает от лишнего проекта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DB883B0-5122-438C-BA9B-0DE933BC6BF3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8858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После Диагностики решение не подгоняется под продажу. Оно проходит через три управленческих исхода.</a:t>
            </a: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C8917527-E6B2-4315-B2C6-600DF403D339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3143250" cy="2438400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CCC5AA4-FA70-4849-86E6-A3FAA6207CAB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3143250" cy="13335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ABFF57D-AF12-4074-8451-4F195AC22E40}"/>
              </a:ext>
            </a:extLst>
          </p:cNvPr>
          <p:cNvSpPr>
            <a:spLocks noGrp="1"/>
          </p:cNvSpPr>
          <p:nvPr/>
        </p:nvSpPr>
        <p:spPr>
          <a:xfrm>
            <a:off x="1200150" y="2971800"/>
            <a:ext cx="2571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Go, запускать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B2E2FF5-1297-45D0-B32C-E40020AD2944}"/>
              </a:ext>
            </a:extLst>
          </p:cNvPr>
          <p:cNvSpPr>
            <a:spLocks noGrp="1"/>
          </p:cNvSpPr>
          <p:nvPr/>
        </p:nvSpPr>
        <p:spPr>
          <a:xfrm>
            <a:off x="1200150" y="3848100"/>
            <a:ext cx="2476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есть продукт, мотив, сцена и измеримый контур повторения</a:t>
            </a: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9947DD3F-8547-45DD-A281-120386AD75A0}"/>
              </a:ext>
            </a:extLst>
          </p:cNvPr>
          <p:cNvSpPr>
            <a:spLocks noGrp="1"/>
          </p:cNvSpPr>
          <p:nvPr/>
        </p:nvSpPr>
        <p:spPr>
          <a:xfrm>
            <a:off x="4381500" y="2571750"/>
            <a:ext cx="3143250" cy="2438400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C1468AE-C4CA-4BDF-BCA4-498C816EEA57}"/>
              </a:ext>
            </a:extLst>
          </p:cNvPr>
          <p:cNvSpPr>
            <a:spLocks noGrp="1"/>
          </p:cNvSpPr>
          <p:nvPr/>
        </p:nvSpPr>
        <p:spPr>
          <a:xfrm>
            <a:off x="4381500" y="2571750"/>
            <a:ext cx="3143250" cy="133350"/>
          </a:xfrm>
          <a:prstGeom prst="rect">
            <a:avLst/>
          </a:prstGeom>
          <a:solidFill>
            <a:srgbClr val="B46A3C"/>
          </a:solidFill>
          <a:ln w="9525">
            <a:solidFill>
              <a:srgbClr val="B46A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F066DB3-CB92-481E-AA24-F661C9340268}"/>
              </a:ext>
            </a:extLst>
          </p:cNvPr>
          <p:cNvSpPr>
            <a:spLocks noGrp="1"/>
          </p:cNvSpPr>
          <p:nvPr/>
        </p:nvSpPr>
        <p:spPr>
          <a:xfrm>
            <a:off x="4629150" y="2971800"/>
            <a:ext cx="2571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B46A3C"/>
                </a:solidFill>
              </a:defRPr>
            </a:pPr>
            <a:r>
              <a:rPr sz="1800" b="1">
                <a:solidFill>
                  <a:srgbClr val="B46A3C"/>
                </a:solidFill>
              </a:rPr>
              <a:t>Conditional, запускать при условиях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53A5E06-A23E-4BB2-9E0C-3E9FA6780BFC}"/>
              </a:ext>
            </a:extLst>
          </p:cNvPr>
          <p:cNvSpPr>
            <a:spLocks noGrp="1"/>
          </p:cNvSpPr>
          <p:nvPr/>
        </p:nvSpPr>
        <p:spPr>
          <a:xfrm>
            <a:off x="4629150" y="3848100"/>
            <a:ext cx="2476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потенциал есть, но нужны условия, данные или корректировка предложения</a:t>
            </a: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7D784647-E52C-4CCE-84CA-06B647DDFEED}"/>
              </a:ext>
            </a:extLst>
          </p:cNvPr>
          <p:cNvSpPr>
            <a:spLocks noGrp="1"/>
          </p:cNvSpPr>
          <p:nvPr/>
        </p:nvSpPr>
        <p:spPr>
          <a:xfrm>
            <a:off x="7810500" y="2571750"/>
            <a:ext cx="3143250" cy="2438400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43D6AD2-1714-4890-87B1-132B87E1FC66}"/>
              </a:ext>
            </a:extLst>
          </p:cNvPr>
          <p:cNvSpPr>
            <a:spLocks noGrp="1"/>
          </p:cNvSpPr>
          <p:nvPr/>
        </p:nvSpPr>
        <p:spPr>
          <a:xfrm>
            <a:off x="7810500" y="2571750"/>
            <a:ext cx="3143250" cy="133350"/>
          </a:xfrm>
          <a:prstGeom prst="rect">
            <a:avLst/>
          </a:prstGeom>
          <a:solidFill>
            <a:srgbClr val="B91C1C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90DE2DD-6F4C-4FA3-988B-1DDDC454987E}"/>
              </a:ext>
            </a:extLst>
          </p:cNvPr>
          <p:cNvSpPr>
            <a:spLocks noGrp="1"/>
          </p:cNvSpPr>
          <p:nvPr/>
        </p:nvSpPr>
        <p:spPr>
          <a:xfrm>
            <a:off x="8058150" y="2971800"/>
            <a:ext cx="2571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B91C1C"/>
                </a:solidFill>
              </a:defRPr>
            </a:pPr>
            <a:r>
              <a:rPr sz="1800" b="1">
                <a:solidFill>
                  <a:srgbClr val="B91C1C"/>
                </a:solidFill>
              </a:rPr>
              <a:t>Stop, остановить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323EDFA-4704-46D4-8BFD-020C06764EA5}"/>
              </a:ext>
            </a:extLst>
          </p:cNvPr>
          <p:cNvSpPr>
            <a:spLocks noGrp="1"/>
          </p:cNvSpPr>
          <p:nvPr/>
        </p:nvSpPr>
        <p:spPr>
          <a:xfrm>
            <a:off x="8058150" y="3848100"/>
            <a:ext cx="2476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товар, экономика или поведение не подходят для технологии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9F85021-F69F-467B-9D9E-3382850ED09A}"/>
              </a:ext>
            </a:extLst>
          </p:cNvPr>
          <p:cNvSpPr>
            <a:spLocks noGrp="1"/>
          </p:cNvSpPr>
          <p:nvPr/>
        </p:nvSpPr>
        <p:spPr>
          <a:xfrm>
            <a:off x="1162050" y="5572125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Сильный консалтинговый продукт имеет право отказать клиенту после диагностики.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F61B6DF-39CD-4382-8AFE-C97687F650B5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A4009B9-C81A-4A5A-9944-AA01DFFE1D6F}"/>
              </a:ext>
            </a:extLst>
          </p:cNvPr>
          <p:cNvSpPr>
            <a:spLocks noGrp="1"/>
          </p:cNvSpPr>
          <p:nvPr/>
        </p:nvSpPr>
        <p:spPr>
          <a:xfrm>
            <a:off x="109918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20557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461ADE6-C36C-44A4-80F9-704BB9C80C8D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B1F33"/>
                </a:solidFill>
              </a:defRPr>
            </a:pPr>
            <a:r>
              <a:rPr sz="2925" b="1">
                <a:solidFill>
                  <a:srgbClr val="0B1F33"/>
                </a:solidFill>
              </a:rPr>
              <a:t>Коммерческий маршрут состоит из 4 платных этапов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1F74295-0973-49CF-9A3C-F36BE8B2E607}"/>
              </a:ext>
            </a:extLst>
          </p:cNvPr>
          <p:cNvSpPr>
            <a:spLocks noGrp="1"/>
          </p:cNvSpPr>
          <p:nvPr/>
        </p:nvSpPr>
        <p:spPr>
          <a:xfrm>
            <a:off x="857250" y="194310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46A3C"/>
                </a:solidFill>
              </a:defRPr>
            </a:pPr>
            <a:r>
              <a:rPr sz="2100" b="1">
                <a:solidFill>
                  <a:srgbClr val="B46A3C"/>
                </a:solidFill>
              </a:rPr>
              <a:t>01</a:t>
            </a: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ABA5A2AD-C5AB-4C35-992E-F4424953A732}"/>
              </a:ext>
            </a:extLst>
          </p:cNvPr>
          <p:cNvSpPr>
            <a:spLocks noGrp="1"/>
          </p:cNvSpPr>
          <p:nvPr/>
        </p:nvSpPr>
        <p:spPr>
          <a:xfrm>
            <a:off x="1562100" y="1809750"/>
            <a:ext cx="7810500" cy="742950"/>
          </a:xfrm>
          <a:prstGeom prst="roundRect">
            <a:avLst>
              <a:gd name="adj" fmla="val 7692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943E04C-13B8-49E4-B7BA-68C9B4411F3E}"/>
              </a:ext>
            </a:extLst>
          </p:cNvPr>
          <p:cNvSpPr>
            <a:spLocks noGrp="1"/>
          </p:cNvSpPr>
          <p:nvPr/>
        </p:nvSpPr>
        <p:spPr>
          <a:xfrm>
            <a:off x="1866900" y="1962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Диагностика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BC28FD6-1BA9-41E2-9BE1-CC1611C6E6DC}"/>
              </a:ext>
            </a:extLst>
          </p:cNvPr>
          <p:cNvSpPr>
            <a:spLocks noGrp="1"/>
          </p:cNvSpPr>
          <p:nvPr/>
        </p:nvSpPr>
        <p:spPr>
          <a:xfrm>
            <a:off x="4648200" y="20097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F3EBDD"/>
                </a:solidFill>
              </a:defRPr>
            </a:pPr>
            <a:r>
              <a:rPr sz="1575" b="0">
                <a:solidFill>
                  <a:srgbClr val="F3EBDD"/>
                </a:solidFill>
              </a:rPr>
              <a:t>применимость и ограничения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C09138B-974D-4989-9EBC-036719E0B1C7}"/>
              </a:ext>
            </a:extLst>
          </p:cNvPr>
          <p:cNvSpPr>
            <a:spLocks noGrp="1"/>
          </p:cNvSpPr>
          <p:nvPr/>
        </p:nvSpPr>
        <p:spPr>
          <a:xfrm>
            <a:off x="5448300" y="2609850"/>
            <a:ext cx="47625" cy="342900"/>
          </a:xfrm>
          <a:prstGeom prst="rect">
            <a:avLst/>
          </a:prstGeom>
          <a:solidFill>
            <a:srgbClr val="B46A3C"/>
          </a:solidFill>
          <a:ln w="0">
            <a:solidFill>
              <a:srgbClr val="B46A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1BAD04E-2584-41B2-BC6B-E7568EDF60E2}"/>
              </a:ext>
            </a:extLst>
          </p:cNvPr>
          <p:cNvSpPr>
            <a:spLocks noGrp="1"/>
          </p:cNvSpPr>
          <p:nvPr/>
        </p:nvSpPr>
        <p:spPr>
          <a:xfrm>
            <a:off x="857250" y="293370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46A3C"/>
                </a:solidFill>
              </a:defRPr>
            </a:pPr>
            <a:r>
              <a:rPr sz="2100" b="1">
                <a:solidFill>
                  <a:srgbClr val="B46A3C"/>
                </a:solidFill>
              </a:rPr>
              <a:t>02</a:t>
            </a: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52594844-8785-4BEB-A799-9E54382677DF}"/>
              </a:ext>
            </a:extLst>
          </p:cNvPr>
          <p:cNvSpPr>
            <a:spLocks noGrp="1"/>
          </p:cNvSpPr>
          <p:nvPr/>
        </p:nvSpPr>
        <p:spPr>
          <a:xfrm>
            <a:off x="1562100" y="2800350"/>
            <a:ext cx="7810500" cy="7429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9897777-632C-4684-9344-EB0157A21355}"/>
              </a:ext>
            </a:extLst>
          </p:cNvPr>
          <p:cNvSpPr>
            <a:spLocks noGrp="1"/>
          </p:cNvSpPr>
          <p:nvPr/>
        </p:nvSpPr>
        <p:spPr>
          <a:xfrm>
            <a:off x="1866900" y="29527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Сессия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727CF6A-B3C7-4FDE-A5FF-A635ADB68CFC}"/>
              </a:ext>
            </a:extLst>
          </p:cNvPr>
          <p:cNvSpPr>
            <a:spLocks noGrp="1"/>
          </p:cNvSpPr>
          <p:nvPr/>
        </p:nvSpPr>
        <p:spPr>
          <a:xfrm>
            <a:off x="4648200" y="30003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архитектура решения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35BFD7F-5498-4A32-AE37-896B4C84594F}"/>
              </a:ext>
            </a:extLst>
          </p:cNvPr>
          <p:cNvSpPr>
            <a:spLocks noGrp="1"/>
          </p:cNvSpPr>
          <p:nvPr/>
        </p:nvSpPr>
        <p:spPr>
          <a:xfrm>
            <a:off x="5448300" y="3600450"/>
            <a:ext cx="47625" cy="342900"/>
          </a:xfrm>
          <a:prstGeom prst="rect">
            <a:avLst/>
          </a:prstGeom>
          <a:solidFill>
            <a:srgbClr val="B46A3C"/>
          </a:solidFill>
          <a:ln w="0">
            <a:solidFill>
              <a:srgbClr val="B46A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32317C5-AAAA-4E6B-8D14-7AA979BDA097}"/>
              </a:ext>
            </a:extLst>
          </p:cNvPr>
          <p:cNvSpPr>
            <a:spLocks noGrp="1"/>
          </p:cNvSpPr>
          <p:nvPr/>
        </p:nvSpPr>
        <p:spPr>
          <a:xfrm>
            <a:off x="857250" y="392430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46A3C"/>
                </a:solidFill>
              </a:defRPr>
            </a:pPr>
            <a:r>
              <a:rPr sz="2100" b="1">
                <a:solidFill>
                  <a:srgbClr val="B46A3C"/>
                </a:solidFill>
              </a:rPr>
              <a:t>03</a:t>
            </a: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D947A40-9ED1-4A42-98F3-3135C4231A99}"/>
              </a:ext>
            </a:extLst>
          </p:cNvPr>
          <p:cNvSpPr>
            <a:spLocks noGrp="1"/>
          </p:cNvSpPr>
          <p:nvPr/>
        </p:nvSpPr>
        <p:spPr>
          <a:xfrm>
            <a:off x="1562100" y="3790950"/>
            <a:ext cx="7810500" cy="7429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E1A60B1-C64F-48AB-8A91-C9393F9ED45F}"/>
              </a:ext>
            </a:extLst>
          </p:cNvPr>
          <p:cNvSpPr>
            <a:spLocks noGrp="1"/>
          </p:cNvSpPr>
          <p:nvPr/>
        </p:nvSpPr>
        <p:spPr>
          <a:xfrm>
            <a:off x="1866900" y="39433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Спринт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1434572-1A9A-48E6-8EE5-E286D075D83A}"/>
              </a:ext>
            </a:extLst>
          </p:cNvPr>
          <p:cNvSpPr>
            <a:spLocks noGrp="1"/>
          </p:cNvSpPr>
          <p:nvPr/>
        </p:nvSpPr>
        <p:spPr>
          <a:xfrm>
            <a:off x="4648200" y="39909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внедрение на выбранном контуре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4BFB557-4C26-4CDB-83DF-586A93B86682}"/>
              </a:ext>
            </a:extLst>
          </p:cNvPr>
          <p:cNvSpPr>
            <a:spLocks noGrp="1"/>
          </p:cNvSpPr>
          <p:nvPr/>
        </p:nvSpPr>
        <p:spPr>
          <a:xfrm>
            <a:off x="5448300" y="4591050"/>
            <a:ext cx="47625" cy="342900"/>
          </a:xfrm>
          <a:prstGeom prst="rect">
            <a:avLst/>
          </a:prstGeom>
          <a:solidFill>
            <a:srgbClr val="B46A3C"/>
          </a:solidFill>
          <a:ln w="0">
            <a:solidFill>
              <a:srgbClr val="B46A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5960B79-54C0-4181-8586-1FD726172C1F}"/>
              </a:ext>
            </a:extLst>
          </p:cNvPr>
          <p:cNvSpPr>
            <a:spLocks noGrp="1"/>
          </p:cNvSpPr>
          <p:nvPr/>
        </p:nvSpPr>
        <p:spPr>
          <a:xfrm>
            <a:off x="857250" y="491490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46A3C"/>
                </a:solidFill>
              </a:defRPr>
            </a:pPr>
            <a:r>
              <a:rPr sz="2100" b="1">
                <a:solidFill>
                  <a:srgbClr val="B46A3C"/>
                </a:solidFill>
              </a:rPr>
              <a:t>04</a:t>
            </a: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AFA60C32-C913-4749-85CF-B0979BC879A5}"/>
              </a:ext>
            </a:extLst>
          </p:cNvPr>
          <p:cNvSpPr>
            <a:spLocks noGrp="1"/>
          </p:cNvSpPr>
          <p:nvPr/>
        </p:nvSpPr>
        <p:spPr>
          <a:xfrm>
            <a:off x="1562100" y="4781550"/>
            <a:ext cx="7810500" cy="7429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FF03080-FA8A-4E47-84B9-A6A5629B4E61}"/>
              </a:ext>
            </a:extLst>
          </p:cNvPr>
          <p:cNvSpPr>
            <a:spLocks noGrp="1"/>
          </p:cNvSpPr>
          <p:nvPr/>
        </p:nvSpPr>
        <p:spPr>
          <a:xfrm>
            <a:off x="1866900" y="49339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Сопровождение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57A351D-6463-457F-83AA-626EF5322652}"/>
              </a:ext>
            </a:extLst>
          </p:cNvPr>
          <p:cNvSpPr>
            <a:spLocks noGrp="1"/>
          </p:cNvSpPr>
          <p:nvPr/>
        </p:nvSpPr>
        <p:spPr>
          <a:xfrm>
            <a:off x="4648200" y="49815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ритм управления и донастройка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03A3946-68A5-48E5-A02B-CC7AB1193CC5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На первом разговоре продается вход в проверку, а не весь проект сразу.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24FF5A6-884B-4F2A-B917-3ED3C4496FC8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5C62403-BA38-4FF8-AFB0-E3B164041C74}"/>
              </a:ext>
            </a:extLst>
          </p:cNvPr>
          <p:cNvSpPr>
            <a:spLocks noGrp="1"/>
          </p:cNvSpPr>
          <p:nvPr/>
        </p:nvSpPr>
        <p:spPr>
          <a:xfrm>
            <a:off x="109918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35765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122B842-E7BB-491D-B523-9DD4B21805AD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9334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F33"/>
                </a:solidFill>
              </a:defRPr>
            </a:pPr>
            <a:r>
              <a:rPr sz="2850" b="1">
                <a:solidFill>
                  <a:srgbClr val="0B1F33"/>
                </a:solidFill>
              </a:rPr>
              <a:t>Кейсы нужны для узнавания боли, а не для обещаний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C869782-C201-4235-B2D0-C96CF03DA64E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8858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В первом контакте показываются 2-3 похожие ситуации, чтобы клиент увидел свой тип проблемы.</a:t>
            </a: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8BD316AB-C512-4E67-8FC6-71EDFD48B58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3143250" cy="2305050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0295E94-7764-4B5F-84B0-2F1DE1B37836}"/>
              </a:ext>
            </a:extLst>
          </p:cNvPr>
          <p:cNvSpPr>
            <a:spLocks noGrp="1"/>
          </p:cNvSpPr>
          <p:nvPr/>
        </p:nvSpPr>
        <p:spPr>
          <a:xfrm>
            <a:off x="1143000" y="28384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Бытовая химия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EFCE844-4F60-487B-B783-33A345175882}"/>
              </a:ext>
            </a:extLst>
          </p:cNvPr>
          <p:cNvSpPr>
            <a:spLocks noGrp="1"/>
          </p:cNvSpPr>
          <p:nvPr/>
        </p:nvSpPr>
        <p:spPr>
          <a:xfrm>
            <a:off x="1143000" y="3371850"/>
            <a:ext cx="74295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A019D59-73A2-4ED9-9029-D2B8B5C14502}"/>
              </a:ext>
            </a:extLst>
          </p:cNvPr>
          <p:cNvSpPr>
            <a:spLocks noGrp="1"/>
          </p:cNvSpPr>
          <p:nvPr/>
        </p:nvSpPr>
        <p:spPr>
          <a:xfrm>
            <a:off x="1143000" y="3676650"/>
            <a:ext cx="2381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промо продает объем, но не формирует привычку покупки</a:t>
            </a: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0F640436-CDDB-443B-AF12-F7F52FC9E4BD}"/>
              </a:ext>
            </a:extLst>
          </p:cNvPr>
          <p:cNvSpPr>
            <a:spLocks noGrp="1"/>
          </p:cNvSpPr>
          <p:nvPr/>
        </p:nvSpPr>
        <p:spPr>
          <a:xfrm>
            <a:off x="4343400" y="2495550"/>
            <a:ext cx="3143250" cy="2305050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277F5D3-5413-4539-9409-DC640AAA272D}"/>
              </a:ext>
            </a:extLst>
          </p:cNvPr>
          <p:cNvSpPr>
            <a:spLocks noGrp="1"/>
          </p:cNvSpPr>
          <p:nvPr/>
        </p:nvSpPr>
        <p:spPr>
          <a:xfrm>
            <a:off x="4610100" y="28384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Косметика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DFECFFF-1911-4210-8758-C7E3B3ABAFF2}"/>
              </a:ext>
            </a:extLst>
          </p:cNvPr>
          <p:cNvSpPr>
            <a:spLocks noGrp="1"/>
          </p:cNvSpPr>
          <p:nvPr/>
        </p:nvSpPr>
        <p:spPr>
          <a:xfrm>
            <a:off x="4610100" y="3371850"/>
            <a:ext cx="74295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C39A37D-6CBB-4BC4-B059-3E889B71D1B0}"/>
              </a:ext>
            </a:extLst>
          </p:cNvPr>
          <p:cNvSpPr>
            <a:spLocks noGrp="1"/>
          </p:cNvSpPr>
          <p:nvPr/>
        </p:nvSpPr>
        <p:spPr>
          <a:xfrm>
            <a:off x="4610100" y="3676650"/>
            <a:ext cx="2381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комьюнити есть, повторяемого потребления нет</a:t>
            </a: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3609ADE7-6FA2-410F-A301-14C2DC9FAE04}"/>
              </a:ext>
            </a:extLst>
          </p:cNvPr>
          <p:cNvSpPr>
            <a:spLocks noGrp="1"/>
          </p:cNvSpPr>
          <p:nvPr/>
        </p:nvSpPr>
        <p:spPr>
          <a:xfrm>
            <a:off x="7810500" y="2495550"/>
            <a:ext cx="3143250" cy="2305050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2F6ED46-6088-45AB-A54A-DE7FA6E4D1DB}"/>
              </a:ext>
            </a:extLst>
          </p:cNvPr>
          <p:cNvSpPr>
            <a:spLocks noGrp="1"/>
          </p:cNvSpPr>
          <p:nvPr/>
        </p:nvSpPr>
        <p:spPr>
          <a:xfrm>
            <a:off x="8077200" y="28384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Сад и дом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321DE46-A067-4EDB-AB16-C236DE309BA2}"/>
              </a:ext>
            </a:extLst>
          </p:cNvPr>
          <p:cNvSpPr>
            <a:spLocks noGrp="1"/>
          </p:cNvSpPr>
          <p:nvPr/>
        </p:nvSpPr>
        <p:spPr>
          <a:xfrm>
            <a:off x="8077200" y="3371850"/>
            <a:ext cx="74295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0498F72-D8D5-40B5-BBC7-30F9A6AE7935}"/>
              </a:ext>
            </a:extLst>
          </p:cNvPr>
          <p:cNvSpPr>
            <a:spLocks noGrp="1"/>
          </p:cNvSpPr>
          <p:nvPr/>
        </p:nvSpPr>
        <p:spPr>
          <a:xfrm>
            <a:off x="8077200" y="3676650"/>
            <a:ext cx="2381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сезонность маскирует слабый сценарий возврата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0D3F0AC-AF69-4DDE-92BF-C35CE1FC33AE}"/>
              </a:ext>
            </a:extLst>
          </p:cNvPr>
          <p:cNvSpPr>
            <a:spLocks noGrp="1"/>
          </p:cNvSpPr>
          <p:nvPr/>
        </p:nvSpPr>
        <p:spPr>
          <a:xfrm>
            <a:off x="1104900" y="5448300"/>
            <a:ext cx="971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Формула разговора: “Похоже ли это на вашу ситуацию?” вместо “У нас есть универсальный рецепт”.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B6D64A8-AC13-4364-B7FA-37A0EF1FE483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3BB04A8-66E7-4335-B02C-ECD5E3C3653D}"/>
              </a:ext>
            </a:extLst>
          </p:cNvPr>
          <p:cNvSpPr>
            <a:spLocks noGrp="1"/>
          </p:cNvSpPr>
          <p:nvPr/>
        </p:nvSpPr>
        <p:spPr>
          <a:xfrm>
            <a:off x="109918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84796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0A3EB53-880F-4A5C-8692-391BCEA28183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B1F33"/>
                </a:solidFill>
              </a:defRPr>
            </a:pPr>
            <a:r>
              <a:rPr sz="2925" b="1">
                <a:solidFill>
                  <a:srgbClr val="0B1F33"/>
                </a:solidFill>
              </a:rPr>
              <a:t>Чем технология не является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FDC41F2-62B8-4554-B3A9-A0108CF2D693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Это важно проговорить до продажи: иначе клиент будет ждать SMM, креативную кампанию или бренд-сессию.</a:t>
            </a: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F43C1FF4-BAC3-4798-AC36-D5A74CEB59FF}"/>
              </a:ext>
            </a:extLst>
          </p:cNvPr>
          <p:cNvSpPr>
            <a:spLocks noGrp="1"/>
          </p:cNvSpPr>
          <p:nvPr/>
        </p:nvSpPr>
        <p:spPr>
          <a:xfrm>
            <a:off x="1219200" y="2362200"/>
            <a:ext cx="723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1EC724D-AE30-4302-94DA-0E900B5A94B3}"/>
              </a:ext>
            </a:extLst>
          </p:cNvPr>
          <p:cNvSpPr>
            <a:spLocks noGrp="1"/>
          </p:cNvSpPr>
          <p:nvPr/>
        </p:nvSpPr>
        <p:spPr>
          <a:xfrm>
            <a:off x="1466850" y="248602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B91C1C"/>
                </a:solidFill>
              </a:defRPr>
            </a:pPr>
            <a:r>
              <a:rPr sz="1650" b="1">
                <a:solidFill>
                  <a:srgbClr val="B91C1C"/>
                </a:solidFill>
              </a:rPr>
              <a:t>не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0C30122-2DFB-4496-B698-CFE31BDBF561}"/>
              </a:ext>
            </a:extLst>
          </p:cNvPr>
          <p:cNvSpPr>
            <a:spLocks noGrp="1"/>
          </p:cNvSpPr>
          <p:nvPr/>
        </p:nvSpPr>
        <p:spPr>
          <a:xfrm>
            <a:off x="2190750" y="2466975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SMM, продвижение в социальных сетях</a:t>
            </a: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EB906827-9A80-4DFC-9504-AAD0C7A5B5FC}"/>
              </a:ext>
            </a:extLst>
          </p:cNvPr>
          <p:cNvSpPr>
            <a:spLocks noGrp="1"/>
          </p:cNvSpPr>
          <p:nvPr/>
        </p:nvSpPr>
        <p:spPr>
          <a:xfrm>
            <a:off x="1219200" y="3086100"/>
            <a:ext cx="723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5BEE329-01F2-43B8-ACBB-663B078EEFAC}"/>
              </a:ext>
            </a:extLst>
          </p:cNvPr>
          <p:cNvSpPr>
            <a:spLocks noGrp="1"/>
          </p:cNvSpPr>
          <p:nvPr/>
        </p:nvSpPr>
        <p:spPr>
          <a:xfrm>
            <a:off x="1466850" y="320992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B91C1C"/>
                </a:solidFill>
              </a:defRPr>
            </a:pPr>
            <a:r>
              <a:rPr sz="1650" b="1">
                <a:solidFill>
                  <a:srgbClr val="B91C1C"/>
                </a:solidFill>
              </a:rPr>
              <a:t>не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BE7E9EE-9825-4789-B08E-EA7A93FC757A}"/>
              </a:ext>
            </a:extLst>
          </p:cNvPr>
          <p:cNvSpPr>
            <a:spLocks noGrp="1"/>
          </p:cNvSpPr>
          <p:nvPr/>
        </p:nvSpPr>
        <p:spPr>
          <a:xfrm>
            <a:off x="2190750" y="3190875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Community, управление сообществом</a:t>
            </a: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34F3A308-CBE6-43BA-8461-973762CD251B}"/>
              </a:ext>
            </a:extLst>
          </p:cNvPr>
          <p:cNvSpPr>
            <a:spLocks noGrp="1"/>
          </p:cNvSpPr>
          <p:nvPr/>
        </p:nvSpPr>
        <p:spPr>
          <a:xfrm>
            <a:off x="1219200" y="3810000"/>
            <a:ext cx="723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BD0FB58-6280-4C1A-832B-993D843F1C36}"/>
              </a:ext>
            </a:extLst>
          </p:cNvPr>
          <p:cNvSpPr>
            <a:spLocks noGrp="1"/>
          </p:cNvSpPr>
          <p:nvPr/>
        </p:nvSpPr>
        <p:spPr>
          <a:xfrm>
            <a:off x="1466850" y="393382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B91C1C"/>
                </a:solidFill>
              </a:defRPr>
            </a:pPr>
            <a:r>
              <a:rPr sz="1650" b="1">
                <a:solidFill>
                  <a:srgbClr val="B91C1C"/>
                </a:solidFill>
              </a:rPr>
              <a:t>не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43A34B3-4D3A-4ACC-94D5-6ED99F73FBDA}"/>
              </a:ext>
            </a:extLst>
          </p:cNvPr>
          <p:cNvSpPr>
            <a:spLocks noGrp="1"/>
          </p:cNvSpPr>
          <p:nvPr/>
        </p:nvSpPr>
        <p:spPr>
          <a:xfrm>
            <a:off x="2190750" y="3914775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Бренд-сессия</a:t>
            </a: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6FF883A0-6FE9-4C4A-AE42-7388C5028A14}"/>
              </a:ext>
            </a:extLst>
          </p:cNvPr>
          <p:cNvSpPr>
            <a:spLocks noGrp="1"/>
          </p:cNvSpPr>
          <p:nvPr/>
        </p:nvSpPr>
        <p:spPr>
          <a:xfrm>
            <a:off x="1219200" y="4533900"/>
            <a:ext cx="723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814E3BA-D986-43AE-93CA-468445BDF25A}"/>
              </a:ext>
            </a:extLst>
          </p:cNvPr>
          <p:cNvSpPr>
            <a:spLocks noGrp="1"/>
          </p:cNvSpPr>
          <p:nvPr/>
        </p:nvSpPr>
        <p:spPr>
          <a:xfrm>
            <a:off x="1466850" y="465772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B91C1C"/>
                </a:solidFill>
              </a:defRPr>
            </a:pPr>
            <a:r>
              <a:rPr sz="1650" b="1">
                <a:solidFill>
                  <a:srgbClr val="B91C1C"/>
                </a:solidFill>
              </a:rPr>
              <a:t>не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4EEE85B-5A90-46F3-A3BE-93C9FB1825DC}"/>
              </a:ext>
            </a:extLst>
          </p:cNvPr>
          <p:cNvSpPr>
            <a:spLocks noGrp="1"/>
          </p:cNvSpPr>
          <p:nvPr/>
        </p:nvSpPr>
        <p:spPr>
          <a:xfrm>
            <a:off x="2190750" y="4638675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Performance marketing, результативный маркетинг</a:t>
            </a: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1303133D-E4C2-4B32-AF8D-F9871AAF20BA}"/>
              </a:ext>
            </a:extLst>
          </p:cNvPr>
          <p:cNvSpPr>
            <a:spLocks noGrp="1"/>
          </p:cNvSpPr>
          <p:nvPr/>
        </p:nvSpPr>
        <p:spPr>
          <a:xfrm>
            <a:off x="8763000" y="2400300"/>
            <a:ext cx="2095500" cy="2000250"/>
          </a:xfrm>
          <a:prstGeom prst="roundRect">
            <a:avLst>
              <a:gd name="adj" fmla="val 2857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9AF1BE9-0C67-48F4-8F7A-2223BC7BFE25}"/>
              </a:ext>
            </a:extLst>
          </p:cNvPr>
          <p:cNvSpPr>
            <a:spLocks noGrp="1"/>
          </p:cNvSpPr>
          <p:nvPr/>
        </p:nvSpPr>
        <p:spPr>
          <a:xfrm>
            <a:off x="9029700" y="2724150"/>
            <a:ext cx="1600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Что продается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95DF651-B080-4BA6-9827-B84D922F4C57}"/>
              </a:ext>
            </a:extLst>
          </p:cNvPr>
          <p:cNvSpPr>
            <a:spLocks noGrp="1"/>
          </p:cNvSpPr>
          <p:nvPr/>
        </p:nvSpPr>
        <p:spPr>
          <a:xfrm>
            <a:off x="9029700" y="3295650"/>
            <a:ext cx="1600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F3EBDD"/>
                </a:solidFill>
              </a:defRPr>
            </a:pPr>
            <a:r>
              <a:rPr sz="1500" b="0">
                <a:solidFill>
                  <a:srgbClr val="F3EBDD"/>
                </a:solidFill>
              </a:rPr>
              <a:t>управленческий переход к повторяемому поведению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EB39F1E-9DF6-40A0-A16D-974E01FEA2A3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0D5DE19-58C8-4348-96C6-12EE202EFD72}"/>
              </a:ext>
            </a:extLst>
          </p:cNvPr>
          <p:cNvSpPr>
            <a:spLocks noGrp="1"/>
          </p:cNvSpPr>
          <p:nvPr/>
        </p:nvSpPr>
        <p:spPr>
          <a:xfrm>
            <a:off x="109918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34066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8CAD12D-51F9-4B3F-B067-AD8479D3B9B1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F3EBDD"/>
                </a:solidFill>
              </a:defRPr>
            </a:pPr>
            <a:r>
              <a:rPr sz="2925" b="1">
                <a:solidFill>
                  <a:srgbClr val="F3EBDD"/>
                </a:solidFill>
              </a:rPr>
              <a:t>Следующий шаг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496994A-E18A-4884-9F61-CB33ED80AF52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7620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Запустить Диагностику применимости Повторяемого спроса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864B137-AE7A-488E-81F7-94FA3FF78945}"/>
              </a:ext>
            </a:extLst>
          </p:cNvPr>
          <p:cNvSpPr>
            <a:spLocks noGrp="1"/>
          </p:cNvSpPr>
          <p:nvPr/>
        </p:nvSpPr>
        <p:spPr>
          <a:xfrm>
            <a:off x="704850" y="2876550"/>
            <a:ext cx="1485900" cy="47625"/>
          </a:xfrm>
          <a:prstGeom prst="rect">
            <a:avLst/>
          </a:prstGeom>
          <a:solidFill>
            <a:srgbClr val="B46A3C"/>
          </a:solidFill>
          <a:ln w="0">
            <a:solidFill>
              <a:srgbClr val="B46A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7E41792-7321-4DCA-AF9A-365392A9B42F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723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F3EBDD"/>
                </a:solidFill>
              </a:defRPr>
            </a:pPr>
            <a:r>
              <a:rPr sz="1875" b="0">
                <a:solidFill>
                  <a:srgbClr val="F3EBDD"/>
                </a:solidFill>
              </a:rPr>
              <a:t>На выходе: карта применимости, ограничения, gate-вердикт и рекомендация по маршруту.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18502152-B747-4506-AB8C-EE4048157BA7}"/>
              </a:ext>
            </a:extLst>
          </p:cNvPr>
          <p:cNvSpPr>
            <a:spLocks noGrp="1"/>
          </p:cNvSpPr>
          <p:nvPr/>
        </p:nvSpPr>
        <p:spPr>
          <a:xfrm>
            <a:off x="8096250" y="1219200"/>
            <a:ext cx="2762250" cy="3429000"/>
          </a:xfrm>
          <a:prstGeom prst="roundRect">
            <a:avLst>
              <a:gd name="adj" fmla="val 2069"/>
            </a:avLst>
          </a:prstGeom>
          <a:solidFill>
            <a:srgbClr val="F3EBDD"/>
          </a:solidFill>
          <a:ln w="9525">
            <a:solidFill>
              <a:srgbClr val="F3EBD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C2C3B4B-3FB9-46B7-A890-EBD12F39D903}"/>
              </a:ext>
            </a:extLst>
          </p:cNvPr>
          <p:cNvSpPr>
            <a:spLocks noGrp="1"/>
          </p:cNvSpPr>
          <p:nvPr/>
        </p:nvSpPr>
        <p:spPr>
          <a:xfrm>
            <a:off x="8420100" y="15811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Решение для клиента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28B821F-FBB0-4AE4-98D5-9FCC3E753625}"/>
              </a:ext>
            </a:extLst>
          </p:cNvPr>
          <p:cNvSpPr>
            <a:spLocks noGrp="1"/>
          </p:cNvSpPr>
          <p:nvPr/>
        </p:nvSpPr>
        <p:spPr>
          <a:xfrm>
            <a:off x="8420100" y="224790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не покупать большой проект заранее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B11B5D3-AAD1-47E6-A5A1-6CC334E42EA7}"/>
              </a:ext>
            </a:extLst>
          </p:cNvPr>
          <p:cNvSpPr>
            <a:spLocks noGrp="1"/>
          </p:cNvSpPr>
          <p:nvPr/>
        </p:nvSpPr>
        <p:spPr>
          <a:xfrm>
            <a:off x="8420100" y="3105150"/>
            <a:ext cx="2095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проверить, можно ли создать повторяемое поведение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E713B8D-B7AC-4718-8872-4E581DCD2E46}"/>
              </a:ext>
            </a:extLst>
          </p:cNvPr>
          <p:cNvSpPr>
            <a:spLocks noGrp="1"/>
          </p:cNvSpPr>
          <p:nvPr/>
        </p:nvSpPr>
        <p:spPr>
          <a:xfrm>
            <a:off x="685800" y="61341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3EBDD"/>
                </a:solidFill>
              </a:defRPr>
            </a:pPr>
            <a:r>
              <a:rPr sz="1275" b="1">
                <a:solidFill>
                  <a:srgbClr val="F3EBDD"/>
                </a:solidFill>
              </a:rPr>
              <a:t>C-Level Insight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CA8DABB-1520-4E1E-BAB7-A91FD97FC940}"/>
              </a:ext>
            </a:extLst>
          </p:cNvPr>
          <p:cNvSpPr>
            <a:spLocks noGrp="1"/>
          </p:cNvSpPr>
          <p:nvPr/>
        </p:nvSpPr>
        <p:spPr>
          <a:xfrm>
            <a:off x="10991850" y="61341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F3EBDD"/>
                </a:solidFill>
              </a:defRPr>
            </a:pPr>
            <a:r>
              <a:rPr sz="1050" b="0">
                <a:solidFill>
                  <a:srgbClr val="F3EBDD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551826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1148</Words>
  <Application>Microsoft Macintosh PowerPoint</Application>
  <DocSecurity>0</DocSecurity>
  <PresentationFormat>Широкоэкранный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Valeri Biryukov</cp:lastModifiedBy>
  <cp:revision>1</cp:revision>
  <dcterms:created xsi:type="dcterms:W3CDTF">2026-07-28T05:59:11Z</dcterms:created>
  <dcterms:modified xsi:type="dcterms:W3CDTF">2026-07-28T06:07:09Z</dcterms:modified>
</cp:coreProperties>
</file>