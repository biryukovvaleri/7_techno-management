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7cfd734c3844da" /><Relationship Type="http://schemas.openxmlformats.org/officeDocument/2006/relationships/extended-properties" Target="/docProps/app.xml" Id="Rd31158b177a94e49" /><Relationship Type="http://schemas.openxmlformats.org/officeDocument/2006/relationships/officeDocument" Target="/ppt/presentation.xml" Id="R547349d4cfe046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924b46479446cd"/>
  </p:sldMasterIdLst>
  <p:notesMasterIdLst>
    <p:notesMasterId xmlns:r="http://schemas.openxmlformats.org/officeDocument/2006/relationships" r:id="Rd2fbb94fc34b4fbb"/>
  </p:notesMasterIdLst>
  <p:sldIdLst>
    <p:sldId xmlns:r="http://schemas.openxmlformats.org/officeDocument/2006/relationships" id="256" r:id="R3713f52979ba489c"/>
    <p:sldId xmlns:r="http://schemas.openxmlformats.org/officeDocument/2006/relationships" id="257" r:id="R76bc8fb4ee8e4ac8"/>
    <p:sldId xmlns:r="http://schemas.openxmlformats.org/officeDocument/2006/relationships" id="258" r:id="R54101d9080404336"/>
    <p:sldId xmlns:r="http://schemas.openxmlformats.org/officeDocument/2006/relationships" id="259" r:id="R9b4dfec757244985"/>
    <p:sldId xmlns:r="http://schemas.openxmlformats.org/officeDocument/2006/relationships" id="260" r:id="R30d45746e6b44ee4"/>
    <p:sldId xmlns:r="http://schemas.openxmlformats.org/officeDocument/2006/relationships" id="261" r:id="Rf4c675b2612e4f9b"/>
    <p:sldId xmlns:r="http://schemas.openxmlformats.org/officeDocument/2006/relationships" id="262" r:id="R6d7968ac588645f0"/>
    <p:sldId xmlns:r="http://schemas.openxmlformats.org/officeDocument/2006/relationships" id="263" r:id="Rec7b4b6734b04e96"/>
    <p:sldId xmlns:r="http://schemas.openxmlformats.org/officeDocument/2006/relationships" id="264" r:id="R292b0aa1ec334a32"/>
    <p:sldId xmlns:r="http://schemas.openxmlformats.org/officeDocument/2006/relationships" id="265" r:id="Raf76a3d0f1b94584"/>
    <p:sldId xmlns:r="http://schemas.openxmlformats.org/officeDocument/2006/relationships" id="266" r:id="R9aeff01692284874"/>
    <p:sldId xmlns:r="http://schemas.openxmlformats.org/officeDocument/2006/relationships" id="267" r:id="R1ddc9b01add643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e1ea651bec49b3" /><Relationship Type="http://schemas.openxmlformats.org/officeDocument/2006/relationships/slideMaster" Target="/ppt/slideMasters/slideMaster1.xml" Id="R32924b46479446cd" /><Relationship Type="http://schemas.openxmlformats.org/officeDocument/2006/relationships/notesMaster" Target="/ppt/notesMasters/notesMaster1.xml" Id="Rd2fbb94fc34b4fbb" /><Relationship Type="http://schemas.openxmlformats.org/officeDocument/2006/relationships/presProps" Target="/ppt/presProps.xml" Id="Rf718d145dd0c45ec" /><Relationship Type="http://schemas.openxmlformats.org/officeDocument/2006/relationships/tableStyles" Target="/ppt/tableStyles.xml" Id="Rbc0f25d5dde54a15" /><Relationship Type="http://schemas.openxmlformats.org/officeDocument/2006/relationships/slide" Target="/ppt/slides/slide1.xml" Id="R3713f52979ba489c" /><Relationship Type="http://schemas.openxmlformats.org/officeDocument/2006/relationships/slide" Target="/ppt/slides/slide2.xml" Id="R76bc8fb4ee8e4ac8" /><Relationship Type="http://schemas.openxmlformats.org/officeDocument/2006/relationships/slide" Target="/ppt/slides/slide3.xml" Id="R54101d9080404336" /><Relationship Type="http://schemas.openxmlformats.org/officeDocument/2006/relationships/slide" Target="/ppt/slides/slide4.xml" Id="R9b4dfec757244985" /><Relationship Type="http://schemas.openxmlformats.org/officeDocument/2006/relationships/slide" Target="/ppt/slides/slide5.xml" Id="R30d45746e6b44ee4" /><Relationship Type="http://schemas.openxmlformats.org/officeDocument/2006/relationships/slide" Target="/ppt/slides/slide6.xml" Id="Rf4c675b2612e4f9b" /><Relationship Type="http://schemas.openxmlformats.org/officeDocument/2006/relationships/slide" Target="/ppt/slides/slide7.xml" Id="R6d7968ac588645f0" /><Relationship Type="http://schemas.openxmlformats.org/officeDocument/2006/relationships/slide" Target="/ppt/slides/slide8.xml" Id="Rec7b4b6734b04e96" /><Relationship Type="http://schemas.openxmlformats.org/officeDocument/2006/relationships/slide" Target="/ppt/slides/slide9.xml" Id="R292b0aa1ec334a32" /><Relationship Type="http://schemas.openxmlformats.org/officeDocument/2006/relationships/slide" Target="/ppt/slides/slide10.xml" Id="Raf76a3d0f1b94584" /><Relationship Type="http://schemas.openxmlformats.org/officeDocument/2006/relationships/slide" Target="/ppt/slides/slide11.xml" Id="R9aeff01692284874" /><Relationship Type="http://schemas.openxmlformats.org/officeDocument/2006/relationships/slide" Target="/ppt/slides/slide12.xml" Id="R1ddc9b01add643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a6817f4a1649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efde5712c04c0b" /><Relationship Type="http://schemas.openxmlformats.org/officeDocument/2006/relationships/notesMaster" Target="/ppt/notesMasters/notesMaster1.xml" Id="R097fa6e988bb4c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aeb0e42f5a4d4c" /><Relationship Type="http://schemas.openxmlformats.org/officeDocument/2006/relationships/notesMaster" Target="/ppt/notesMasters/notesMaster1.xml" Id="R6cd07dc694194f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0a77f73be94744" /><Relationship Type="http://schemas.openxmlformats.org/officeDocument/2006/relationships/notesMaster" Target="/ppt/notesMasters/notesMaster1.xml" Id="R468c6bfd2c8a41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f173db05c64244" /><Relationship Type="http://schemas.openxmlformats.org/officeDocument/2006/relationships/notesMaster" Target="/ppt/notesMasters/notesMaster1.xml" Id="R9efb0a19b34548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996266247744fa" /><Relationship Type="http://schemas.openxmlformats.org/officeDocument/2006/relationships/notesMaster" Target="/ppt/notesMasters/notesMaster1.xml" Id="Re153edb94f2a40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99ea40c40f432a" /><Relationship Type="http://schemas.openxmlformats.org/officeDocument/2006/relationships/notesMaster" Target="/ppt/notesMasters/notesMaster1.xml" Id="R2849d77195c342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32ee7ec8e641f2" /><Relationship Type="http://schemas.openxmlformats.org/officeDocument/2006/relationships/notesMaster" Target="/ppt/notesMasters/notesMaster1.xml" Id="R474562d9e6a84f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2b99fe853743cc" /><Relationship Type="http://schemas.openxmlformats.org/officeDocument/2006/relationships/notesMaster" Target="/ppt/notesMasters/notesMaster1.xml" Id="R21395a12a17a41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ad3938249d4fa1" /><Relationship Type="http://schemas.openxmlformats.org/officeDocument/2006/relationships/notesMaster" Target="/ppt/notesMasters/notesMaster1.xml" Id="R1476e6020e3746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277f79870b40c0" /><Relationship Type="http://schemas.openxmlformats.org/officeDocument/2006/relationships/notesMaster" Target="/ppt/notesMasters/notesMaster1.xml" Id="R1c44d7aba39b4b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ee8b2214834f4b" /><Relationship Type="http://schemas.openxmlformats.org/officeDocument/2006/relationships/notesMaster" Target="/ppt/notesMasters/notesMaster1.xml" Id="Rbad26e6ce9bd42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80b58b00e84efa" /><Relationship Type="http://schemas.openxmlformats.org/officeDocument/2006/relationships/notesMaster" Target="/ppt/notesMasters/notesMaster1.xml" Id="R388cec2d5bd249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bac25edd6844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c46f9b3b3240fc" /><Relationship Type="http://schemas.openxmlformats.org/officeDocument/2006/relationships/slideLayout" Target="/ppt/slideLayouts/slideLayout1.xml" Id="Rb2234a5caa214d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234a5caa214d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2b39e9eb34b8f" /><Relationship Type="http://schemas.openxmlformats.org/officeDocument/2006/relationships/notesSlide" Target="/ppt/notesSlides/notesSlide1.xml" Id="Rf4a31ca0b0f54e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0fc5cd7f44399" /><Relationship Type="http://schemas.openxmlformats.org/officeDocument/2006/relationships/notesSlide" Target="/ppt/notesSlides/notesSlide2.xml" Id="Rf32b3d2058d747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dc17802c94776" /><Relationship Type="http://schemas.openxmlformats.org/officeDocument/2006/relationships/notesSlide" Target="/ppt/notesSlides/notesSlide3.xml" Id="Rb0090ea190054d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3ee711e6449b2" /><Relationship Type="http://schemas.openxmlformats.org/officeDocument/2006/relationships/notesSlide" Target="/ppt/notesSlides/notesSlide4.xml" Id="R89beba3d24364a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c1025f8974506" /><Relationship Type="http://schemas.openxmlformats.org/officeDocument/2006/relationships/notesSlide" Target="/ppt/notesSlides/notesSlide5.xml" Id="R0a4565dcb31a49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958fd366e461b" /><Relationship Type="http://schemas.openxmlformats.org/officeDocument/2006/relationships/notesSlide" Target="/ppt/notesSlides/notesSlide6.xml" Id="R60b68ffca50440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cec6233f04469" /><Relationship Type="http://schemas.openxmlformats.org/officeDocument/2006/relationships/notesSlide" Target="/ppt/notesSlides/notesSlide7.xml" Id="Rc8673513b97d42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cd6b861c04a29" /><Relationship Type="http://schemas.openxmlformats.org/officeDocument/2006/relationships/notesSlide" Target="/ppt/notesSlides/notesSlide8.xml" Id="R89f6597d70ca46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2126a6bc042b7" /><Relationship Type="http://schemas.openxmlformats.org/officeDocument/2006/relationships/notesSlide" Target="/ppt/notesSlides/notesSlide9.xml" Id="R983bc2c9acb642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5dba9824e4d4e" /><Relationship Type="http://schemas.openxmlformats.org/officeDocument/2006/relationships/notesSlide" Target="/ppt/notesSlides/notesSlide10.xml" Id="R1cc4370caaec41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b828659b74acf" /><Relationship Type="http://schemas.openxmlformats.org/officeDocument/2006/relationships/notesSlide" Target="/ppt/notesSlides/notesSlide11.xml" Id="R2e2dd0ad591f4e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e1d265d024587" /><Relationship Type="http://schemas.openxmlformats.org/officeDocument/2006/relationships/notesSlide" Target="/ppt/notesSlides/notesSlide12.xml" Id="Rc6c914a141324b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E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0AC18-FF1F-4D7E-97FD-E41663F7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C-Level Insight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94B68-EA00-4100-B2A0-187E259A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AI переход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2EDE3-9890-4A98-A618-5333C6CC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7E0EA"/>
                </a:solidFill>
              </a:defRPr>
            </a:pPr>
            <a:r>
              <a:rPr sz="1950" b="0">
                <a:solidFill>
                  <a:srgbClr val="D7E0EA"/>
                </a:solidFill>
              </a:rPr>
              <a:t>Сначала управляемость, потом искусственный интеллект, ИИ.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C453D6-BB50-4A57-A823-4546587B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6096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2344F"/>
          </a:solidFill>
          <a:ln xmlns:a="http://schemas.openxmlformats.org/drawingml/2006/main" w="9525">
            <a:solidFill>
              <a:srgbClr val="1234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85914-05CC-4628-8252-3EF9CB67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DD0"/>
                </a:solidFill>
              </a:defRPr>
            </a:pPr>
            <a:r>
              <a:rPr sz="1200" b="1">
                <a:solidFill>
                  <a:srgbClr val="A9BDD0"/>
                </a:solidFill>
              </a:rPr>
              <a:t>Путь покупки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71883-2FB2-45A1-A69E-8AC12076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Диагностика -&gt; Сессия решений -&gt; Спринт реализации -&gt; Сопровождение контроля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2A3D6-629C-4638-B116-3BF077FA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DD0"/>
                </a:solidFill>
              </a:defRPr>
            </a:pPr>
            <a:r>
              <a:rPr sz="1125" b="0">
                <a:solidFill>
                  <a:srgbClr val="A9BDD0"/>
                </a:solidFill>
              </a:rPr>
              <a:t>Итоговая презентация технологии v1.0</a:t>
            </a:r>
          </a:p>
        </p:txBody>
      </p:sp>
    </p:spTree>
    <p:extLst>
      <p:ext uri="{BB962C8B-B14F-4D97-AF65-F5344CB8AC3E}">
        <p14:creationId xmlns:p14="http://schemas.microsoft.com/office/powerpoint/2010/main" val="11306753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8F57A9-8B82-448E-B60F-8DAB0EB7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B78"/>
                </a:solidFill>
              </a:defRPr>
            </a:pPr>
            <a:r>
              <a:rPr sz="975" b="1">
                <a:solidFill>
                  <a:srgbClr val="5E6B78"/>
                </a:solidFill>
              </a:rPr>
              <a:t>C-Level Insight | AI переход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353F0-F1CC-497E-B4F7-12EF608F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8"/>
                </a:solidFill>
              </a:defRPr>
            </a:pPr>
            <a:r>
              <a:rPr sz="975" b="0">
                <a:solidFill>
                  <a:srgbClr val="5E6B78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70331-98B0-4CBD-A0D1-A823E6C8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52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638"/>
                </a:solidFill>
              </a:defRPr>
            </a:pPr>
            <a:r>
              <a:rPr sz="2850" b="1">
                <a:solidFill>
                  <a:srgbClr val="132638"/>
                </a:solidFill>
              </a:rPr>
              <a:t>ИИ-активность растет быстрее управляемости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D7E4A-F4A2-4060-8B81-CA43BF6D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5"/>
          </a:solidFill>
          <a:ln xmlns:a="http://schemas.openxmlformats.org/drawingml/2006/main" w="0">
            <a:solidFill>
              <a:srgbClr val="C66A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0C231-E19F-4735-B5B6-CC940485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B78"/>
                </a:solidFill>
              </a:defRPr>
            </a:pPr>
            <a:r>
              <a:rPr sz="1725" b="0">
                <a:solidFill>
                  <a:srgbClr val="5E6B78"/>
                </a:solidFill>
              </a:rPr>
              <a:t>Проблема не в отсутствии интереса к ИИ, а в слабой связи между инициативами, данными, владельцами, деньгами и управленческим решением.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42366-B64F-4E57-BBFE-75EC2868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492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03F44-69DF-4712-B379-04E28B39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307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6A35"/>
                </a:solidFill>
              </a:defRPr>
            </a:pPr>
            <a:r>
              <a:rPr sz="1050" b="1">
                <a:solidFill>
                  <a:srgbClr val="C66A35"/>
                </a:solidFill>
              </a:rPr>
              <a:t>Симптом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E81E2-E697-4173-A702-7EC18D19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307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Пилоты без владельца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10C11-D483-4005-A112-D525572E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3073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</a:defRPr>
            </a:pPr>
            <a:r>
              <a:rPr sz="1275" b="0">
                <a:solidFill>
                  <a:srgbClr val="5E6B78"/>
                </a:solidFill>
              </a:rPr>
              <a:t>Инициатива есть, но никто не отвечает за эффект, риск и остановку.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A1883-AE2A-4FA9-BF3A-80FBD36F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857500"/>
            <a:ext cx="3492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03B130-5286-401F-92C0-44F02FB3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3067050"/>
            <a:ext cx="307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6A35"/>
                </a:solidFill>
              </a:defRPr>
            </a:pPr>
            <a:r>
              <a:rPr sz="1050" b="1">
                <a:solidFill>
                  <a:srgbClr val="C66A35"/>
                </a:solidFill>
              </a:rPr>
              <a:t>Симптом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9E377C-76F7-4742-A08B-73957CF3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3371850"/>
            <a:ext cx="307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Данные без решения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FE1C8-F46D-4EB1-AC24-8BF7F549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3924300"/>
            <a:ext cx="3073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</a:defRPr>
            </a:pPr>
            <a:r>
              <a:rPr sz="1275" b="0">
                <a:solidFill>
                  <a:srgbClr val="5E6B78"/>
                </a:solidFill>
              </a:rPr>
              <a:t>Отчеты и витрины есть, но непонятно, какое управленческое действие стало лучше.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C9E7C-5F9D-41DE-8065-D3E1339B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857500"/>
            <a:ext cx="3492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26442E-D297-40F7-9CE7-2B7E1C52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3067050"/>
            <a:ext cx="307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6A35"/>
                </a:solidFill>
              </a:defRPr>
            </a:pPr>
            <a:r>
              <a:rPr sz="1050" b="1">
                <a:solidFill>
                  <a:srgbClr val="C66A35"/>
                </a:solidFill>
              </a:rPr>
              <a:t>Симптом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E14230-EE54-49AD-BCC4-CD60F070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3371850"/>
            <a:ext cx="307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Много идей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2F53C-B792-4D14-B2E9-42BED4C7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3924300"/>
            <a:ext cx="3073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</a:defRPr>
            </a:pPr>
            <a:r>
              <a:rPr sz="1275" b="0">
                <a:solidFill>
                  <a:srgbClr val="5E6B78"/>
                </a:solidFill>
              </a:rPr>
              <a:t>Команды предлагают десятки вариантов, а руководству нужен ограниченный управляемый набор.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294F92-E140-4EA6-8043-A32376D2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4EEE7"/>
          </a:solidFill>
          <a:ln xmlns:a="http://schemas.openxmlformats.org/drawingml/2006/main" w="9525">
            <a:solidFill>
              <a:srgbClr val="E8D8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952768-EECB-43C7-B80E-BF51A3B3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638"/>
                </a:solidFill>
              </a:defRPr>
            </a:pPr>
            <a:r>
              <a:rPr sz="1500" b="1">
                <a:solidFill>
                  <a:srgbClr val="132638"/>
                </a:solidFill>
              </a:rPr>
              <a:t>Цена ошибки: деньги и внимание уходят в инициативы без владельца, данных, экономики или условий остановки.</a:t>
            </a:r>
          </a:p>
        </p:txBody>
      </p:sp>
    </p:spTree>
    <p:extLst>
      <p:ext uri="{BB962C8B-B14F-4D97-AF65-F5344CB8AC3E}">
        <p14:creationId xmlns:p14="http://schemas.microsoft.com/office/powerpoint/2010/main" val="11997685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01B89-CC17-43E3-B02C-2BDEEF7A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B78"/>
                </a:solidFill>
              </a:defRPr>
            </a:pPr>
            <a:r>
              <a:rPr sz="975" b="1">
                <a:solidFill>
                  <a:srgbClr val="5E6B78"/>
                </a:solidFill>
              </a:rPr>
              <a:t>C-Level Insight | AI переход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62571-82D8-4A40-AD92-16AE56F7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8"/>
                </a:solidFill>
              </a:defRPr>
            </a:pPr>
            <a:r>
              <a:rPr sz="975" b="0">
                <a:solidFill>
                  <a:srgbClr val="5E6B78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5ADAA-87AC-4F00-9563-B06FCF49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52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638"/>
                </a:solidFill>
              </a:defRPr>
            </a:pPr>
            <a:r>
              <a:rPr sz="2850" b="1">
                <a:solidFill>
                  <a:srgbClr val="132638"/>
                </a:solidFill>
              </a:rPr>
              <a:t>Обычные подходы закрывают только часть задачи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9BE3B-6036-41F9-8FCC-1E462F5B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5"/>
          </a:solidFill>
          <a:ln xmlns:a="http://schemas.openxmlformats.org/drawingml/2006/main" w="0">
            <a:solidFill>
              <a:srgbClr val="C66A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37757-ADF5-4EA6-8730-02AFC789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1054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79D55-2889-4F01-ACDB-4E0524CD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Что часто продает рынок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0634A-335F-4771-B70F-8256FA1C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438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B78"/>
                </a:solidFill>
              </a:defRPr>
            </a:pPr>
            <a:r>
              <a:rPr sz="1425" b="0">
                <a:solidFill>
                  <a:srgbClr val="5E6B78"/>
                </a:solidFill>
              </a:rPr>
              <a:t>ИИ-консалтинг, обучение генеративному ИИ, внедрение инструментов, автоматизация, аналитика, проектирование запросов.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070F0-99CA-4112-945C-DF715650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51054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012F1-397E-4B07-898C-1FDF98B1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Что остается незакрытым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76307-F8B8-454E-B85B-474D7D11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14650"/>
            <a:ext cx="438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B78"/>
                </a:solidFill>
              </a:defRPr>
            </a:pPr>
            <a:r>
              <a:rPr sz="1425" b="0">
                <a:solidFill>
                  <a:srgbClr val="5E6B78"/>
                </a:solidFill>
              </a:rPr>
              <a:t>Мандат, владелец эффекта, право остановки, финансовая логика, принятие людьми и контроль после запуска.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C4B26-E306-4E09-9230-09434A87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990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E2F"/>
          </a:solidFill>
          <a:ln xmlns:a="http://schemas.openxmlformats.org/drawingml/2006/main" w="9525">
            <a:solidFill>
              <a:srgbClr val="071E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4A4E8-9180-4340-AA28-3F224BD9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6007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AI переход продает не инструмент, а управленческий допуск к применению ИИ.</a:t>
            </a:r>
          </a:p>
        </p:txBody>
      </p:sp>
    </p:spTree>
    <p:extLst>
      <p:ext uri="{BB962C8B-B14F-4D97-AF65-F5344CB8AC3E}">
        <p14:creationId xmlns:p14="http://schemas.microsoft.com/office/powerpoint/2010/main" val="19850337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D37C56-F9E5-491E-92A3-7EA7164D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B78"/>
                </a:solidFill>
              </a:defRPr>
            </a:pPr>
            <a:r>
              <a:rPr sz="975" b="1">
                <a:solidFill>
                  <a:srgbClr val="5E6B78"/>
                </a:solidFill>
              </a:rPr>
              <a:t>C-Level Insight | AI переход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36AF4-0469-4FCD-9428-8EAD6563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8"/>
                </a:solidFill>
              </a:defRPr>
            </a:pPr>
            <a:r>
              <a:rPr sz="975" b="0">
                <a:solidFill>
                  <a:srgbClr val="5E6B78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025CD-2C2E-4C97-92EB-543A8A0B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52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638"/>
                </a:solidFill>
              </a:defRPr>
            </a:pPr>
            <a:r>
              <a:rPr sz="2850" b="1">
                <a:solidFill>
                  <a:srgbClr val="132638"/>
                </a:solidFill>
              </a:rPr>
              <a:t>Ядро технологии: сначала управляемость, потом 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A496E-92A2-400B-949A-9E7C6527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5"/>
          </a:solidFill>
          <a:ln xmlns:a="http://schemas.openxmlformats.org/drawingml/2006/main" w="0">
            <a:solidFill>
              <a:srgbClr val="C66A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1B799-5F80-472E-86ED-CDAD957A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676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6BE7E-6A0B-4801-AE25-2354B904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638"/>
                </a:solidFill>
              </a:defRPr>
            </a:pPr>
            <a:r>
              <a:rPr sz="1500" b="1">
                <a:solidFill>
                  <a:srgbClr val="132638"/>
                </a:solidFill>
              </a:rPr>
              <a:t>запрос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0BF26-6A05-4F91-A3CA-F8E12709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66950"/>
            <a:ext cx="1676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2B24F-FD01-4AB1-98BB-C59CCE5C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193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638"/>
                </a:solidFill>
              </a:defRPr>
            </a:pPr>
            <a:r>
              <a:rPr sz="1500" b="1">
                <a:solidFill>
                  <a:srgbClr val="132638"/>
                </a:solidFill>
              </a:rPr>
              <a:t>мандат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601A0-A236-476E-A0C9-3212530E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66950"/>
            <a:ext cx="1676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2AA40-C16A-4CAE-BDB3-D1CDF68C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193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638"/>
                </a:solidFill>
              </a:defRPr>
            </a:pPr>
            <a:r>
              <a:rPr sz="1500" b="1">
                <a:solidFill>
                  <a:srgbClr val="132638"/>
                </a:solidFill>
              </a:rPr>
              <a:t>готовность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89F24-BF5D-424C-90A2-B46FE23A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66950"/>
            <a:ext cx="1676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668-A148-45E2-884A-8204DA94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193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638"/>
                </a:solidFill>
              </a:defRPr>
            </a:pPr>
            <a:r>
              <a:rPr sz="1500" b="1">
                <a:solidFill>
                  <a:srgbClr val="132638"/>
                </a:solidFill>
              </a:rPr>
              <a:t>данные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54471F-D7E6-45A3-A6FC-F06DA14A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676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95E97-EC46-45FB-B04D-E59AF916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638"/>
                </a:solidFill>
              </a:defRPr>
            </a:pPr>
            <a:r>
              <a:rPr sz="1500" b="1">
                <a:solidFill>
                  <a:srgbClr val="132638"/>
                </a:solidFill>
              </a:rPr>
              <a:t>владельцы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AAA6F7-3E06-41BC-9703-2EC9E55D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62300"/>
            <a:ext cx="1676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465FD9-3D5F-4E72-91CB-49C0DA3C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147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638"/>
                </a:solidFill>
              </a:defRPr>
            </a:pPr>
            <a:r>
              <a:rPr sz="1500" b="1">
                <a:solidFill>
                  <a:srgbClr val="132638"/>
                </a:solidFill>
              </a:rPr>
              <a:t>риски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2D1A4C-C7B0-4A31-B24D-98F27DD3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62300"/>
            <a:ext cx="1676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B9713F-2FF5-4DD0-ABD3-951DDE80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147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638"/>
                </a:solidFill>
              </a:defRPr>
            </a:pPr>
            <a:r>
              <a:rPr sz="1500" b="1">
                <a:solidFill>
                  <a:srgbClr val="132638"/>
                </a:solidFill>
              </a:rPr>
              <a:t>экономика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73408A-2A66-4A39-9078-91688E27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62300"/>
            <a:ext cx="1676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01F641-C6BA-4E61-8F23-F665CF33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638"/>
                </a:solidFill>
              </a:defRPr>
            </a:pPr>
            <a:r>
              <a:rPr sz="1500" b="1">
                <a:solidFill>
                  <a:srgbClr val="132638"/>
                </a:solidFill>
              </a:rPr>
              <a:t>вердикт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427F27-2676-478B-B60E-FDEDEB47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676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EEE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1998AC-CF9C-4880-B977-EA8377B5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638"/>
                </a:solidFill>
              </a:defRPr>
            </a:pPr>
            <a:r>
              <a:rPr sz="1500" b="1">
                <a:solidFill>
                  <a:srgbClr val="132638"/>
                </a:solidFill>
              </a:rPr>
              <a:t>набор до 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D1E3CA-E3D5-4017-BC3D-405482EC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57650"/>
            <a:ext cx="1676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9BEE01-E49D-444C-8023-8CD92D21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100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638"/>
                </a:solidFill>
              </a:defRPr>
            </a:pPr>
            <a:r>
              <a:rPr sz="1500" b="1">
                <a:solidFill>
                  <a:srgbClr val="132638"/>
                </a:solidFill>
              </a:rPr>
              <a:t>Спринт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A65235-D610-4981-BCA7-C1E91F12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1676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860515-EC75-4527-9FB7-E9542818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2100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638"/>
                </a:solidFill>
              </a:defRPr>
            </a:pPr>
            <a:r>
              <a:rPr sz="1500" b="1">
                <a:solidFill>
                  <a:srgbClr val="132638"/>
                </a:solidFill>
              </a:rPr>
              <a:t>контроль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7830E2-4269-421D-83E7-AB30A942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66950"/>
            <a:ext cx="28384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71E2F"/>
          </a:solidFill>
          <a:ln xmlns:a="http://schemas.openxmlformats.org/drawingml/2006/main" w="9525">
            <a:solidFill>
              <a:srgbClr val="071E2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419FE4-9176-4C60-BFD7-E249CF99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Вердикт важнее энтузиазма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6D93D0-D508-4F13-9F99-40D71BEC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528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0EA"/>
                </a:solidFill>
              </a:defRPr>
            </a:pPr>
            <a:r>
              <a:rPr sz="1500" b="0">
                <a:solidFill>
                  <a:srgbClr val="D7E0EA"/>
                </a:solidFill>
              </a:rPr>
              <a:t>Компания должна получить право запускать, запускать при условиях, отложить или остановить.</a:t>
            </a:r>
          </a:p>
        </p:txBody>
      </p:sp>
    </p:spTree>
    <p:extLst>
      <p:ext uri="{BB962C8B-B14F-4D97-AF65-F5344CB8AC3E}">
        <p14:creationId xmlns:p14="http://schemas.microsoft.com/office/powerpoint/2010/main" val="2365610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5C617A-6171-4522-83BC-A3F03A41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B78"/>
                </a:solidFill>
              </a:defRPr>
            </a:pPr>
            <a:r>
              <a:rPr sz="975" b="1">
                <a:solidFill>
                  <a:srgbClr val="5E6B78"/>
                </a:solidFill>
              </a:rPr>
              <a:t>C-Level Insight | AI переход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7CB01-2F32-4DF9-8955-846415A4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8"/>
                </a:solidFill>
              </a:defRPr>
            </a:pPr>
            <a:r>
              <a:rPr sz="975" b="0">
                <a:solidFill>
                  <a:srgbClr val="5E6B78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3E82A-CAFF-4AEC-93CB-01C3FCF5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52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638"/>
                </a:solidFill>
              </a:defRPr>
            </a:pPr>
            <a:r>
              <a:rPr sz="2850" b="1">
                <a:solidFill>
                  <a:srgbClr val="132638"/>
                </a:solidFill>
              </a:rPr>
              <a:t>Технология обязана уметь говорить Стоп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81E62-D15B-4916-AB0F-E1A2FB31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5"/>
          </a:solidFill>
          <a:ln xmlns:a="http://schemas.openxmlformats.org/drawingml/2006/main" w="0">
            <a:solidFill>
              <a:srgbClr val="C66A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7C006-06AB-4248-9CDD-DB6CE219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576513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C8AB7-7E7E-4178-91A4-BB022377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21574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3D35"/>
                </a:solidFill>
              </a:defRPr>
            </a:pPr>
            <a:r>
              <a:rPr sz="1050" b="1">
                <a:solidFill>
                  <a:srgbClr val="9B3D35"/>
                </a:solidFill>
              </a:rPr>
              <a:t>Стоп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5E9AC-7EDA-4E29-B756-4B65F6D9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1574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Нет владельца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38D9F-F215-409D-A179-212B890C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2157413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</a:defRPr>
            </a:pPr>
            <a:r>
              <a:rPr sz="1275" b="0">
                <a:solidFill>
                  <a:srgbClr val="5E6B78"/>
                </a:solidFill>
              </a:rPr>
              <a:t>Никто не отвечает за результат, риск и остановку.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41969E-AFF9-444E-9B74-C2F4619F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133600"/>
            <a:ext cx="2576513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0FF414-78E9-4B06-B377-7045AAEE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2343150"/>
            <a:ext cx="21574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3D35"/>
                </a:solidFill>
              </a:defRPr>
            </a:pPr>
            <a:r>
              <a:rPr sz="1050" b="1">
                <a:solidFill>
                  <a:srgbClr val="9B3D35"/>
                </a:solidFill>
              </a:rPr>
              <a:t>Стоп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F8D5A8-D4AC-4D80-B542-39A56B16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2647950"/>
            <a:ext cx="21574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Нет данных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593A0-396F-431B-AA85-51A866E2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3200400"/>
            <a:ext cx="2157413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</a:defRPr>
            </a:pPr>
            <a:r>
              <a:rPr sz="1275" b="0">
                <a:solidFill>
                  <a:srgbClr val="5E6B78"/>
                </a:solidFill>
              </a:rPr>
              <a:t>Невозможно проверить исходные факты и качество основы.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824BDC-0685-4EE7-9D98-1F5D8CE5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33600"/>
            <a:ext cx="2576513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CA1D1-1C39-446B-A4E3-D0333593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43150"/>
            <a:ext cx="21574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3D35"/>
                </a:solidFill>
              </a:defRPr>
            </a:pPr>
            <a:r>
              <a:rPr sz="1050" b="1">
                <a:solidFill>
                  <a:srgbClr val="9B3D35"/>
                </a:solidFill>
              </a:rPr>
              <a:t>Стоп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2EDD0-2D3F-4FE4-B93B-F80603B5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47950"/>
            <a:ext cx="21574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Нет экономики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B6CAA3-A9DF-4CF6-9801-3B1C3223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00400"/>
            <a:ext cx="2157413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</a:defRPr>
            </a:pPr>
            <a:r>
              <a:rPr sz="1275" b="0">
                <a:solidFill>
                  <a:srgbClr val="5E6B78"/>
                </a:solidFill>
              </a:rPr>
              <a:t>Не ясно, что должно измениться в деньгах, сроках, качестве или риске.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159815-DD43-49F4-A0CA-CE331E8B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2133600"/>
            <a:ext cx="2576513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03C4B-2A48-44C5-B38D-661C88DA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343150"/>
            <a:ext cx="21574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3D35"/>
                </a:solidFill>
              </a:defRPr>
            </a:pPr>
            <a:r>
              <a:rPr sz="1050" b="1">
                <a:solidFill>
                  <a:srgbClr val="9B3D35"/>
                </a:solidFill>
              </a:rPr>
              <a:t>Стоп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BCFCB0-2D7D-47BD-BEF1-5BDD84F5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647950"/>
            <a:ext cx="21574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Нет принятия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FCE9BD-5C51-4BA6-9C3D-9778CE36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200400"/>
            <a:ext cx="2157413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</a:defRPr>
            </a:pPr>
            <a:r>
              <a:rPr sz="1275" b="0">
                <a:solidFill>
                  <a:srgbClr val="5E6B78"/>
                </a:solidFill>
              </a:rPr>
              <a:t>Решение формально внедряется, но фактически не используется.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FEA09A-620D-4999-A671-82EA9A9C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95850"/>
            <a:ext cx="8343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71E2F"/>
          </a:solidFill>
          <a:ln xmlns:a="http://schemas.openxmlformats.org/drawingml/2006/main" w="9525">
            <a:solidFill>
              <a:srgbClr val="071E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833663-6F41-4482-B3BD-CCD92058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105400"/>
            <a:ext cx="758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Больше 5 активных вариантов = потеря управляемости.</a:t>
            </a:r>
          </a:p>
        </p:txBody>
      </p:sp>
    </p:spTree>
    <p:extLst>
      <p:ext uri="{BB962C8B-B14F-4D97-AF65-F5344CB8AC3E}">
        <p14:creationId xmlns:p14="http://schemas.microsoft.com/office/powerpoint/2010/main" val="505663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70E9A2-C471-4F8E-B2BA-B5BEB42A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B78"/>
                </a:solidFill>
              </a:defRPr>
            </a:pPr>
            <a:r>
              <a:rPr sz="975" b="1">
                <a:solidFill>
                  <a:srgbClr val="5E6B78"/>
                </a:solidFill>
              </a:rPr>
              <a:t>C-Level Insight | AI переход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14CE8-9CCF-4A3D-896D-0EF18828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8"/>
                </a:solidFill>
              </a:defRPr>
            </a:pPr>
            <a:r>
              <a:rPr sz="975" b="0">
                <a:solidFill>
                  <a:srgbClr val="5E6B78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02534-0C1E-403A-B0EF-A47C39E1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52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638"/>
                </a:solidFill>
              </a:defRPr>
            </a:pPr>
            <a:r>
              <a:rPr sz="2850" b="1">
                <a:solidFill>
                  <a:srgbClr val="132638"/>
                </a:solidFill>
              </a:rPr>
              <a:t>Коммерческая лестница ведет от допуска к контролю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B1980-A0B0-497C-9BB6-524D3A24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5"/>
          </a:solidFill>
          <a:ln xmlns:a="http://schemas.openxmlformats.org/drawingml/2006/main" w="0">
            <a:solidFill>
              <a:srgbClr val="C66A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A31F7-2017-42F3-AEF9-7AE0E398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576513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ED55B-130A-4780-B9BD-F9897778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21574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6A35"/>
                </a:solidFill>
              </a:defRPr>
            </a:pPr>
            <a:r>
              <a:rPr sz="1050" b="1">
                <a:solidFill>
                  <a:srgbClr val="C66A35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D0CA9-E2DD-43ED-B66C-6342D86D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1574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Диагностика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DEE4C-25EE-4C2D-8772-708C4AF3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2157413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</a:defRPr>
            </a:pPr>
            <a:r>
              <a:rPr sz="1275" b="0">
                <a:solidFill>
                  <a:srgbClr val="5E6B78"/>
                </a:solidFill>
              </a:rPr>
              <a:t>Проверить готовность, ограничения и право начинать.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47F3C-1351-44D6-9B05-3EDB2645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133600"/>
            <a:ext cx="2576513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32661-204D-45B8-866D-4176F8FF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2343150"/>
            <a:ext cx="21574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6A35"/>
                </a:solidFill>
              </a:defRPr>
            </a:pPr>
            <a:r>
              <a:rPr sz="1050" b="1">
                <a:solidFill>
                  <a:srgbClr val="C66A35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F7ED22-EE9C-431F-A1DD-3896399D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2647950"/>
            <a:ext cx="21574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Сессия решений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FDF7D-BCDF-427C-99EE-962F2540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3200400"/>
            <a:ext cx="2157413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</a:defRPr>
            </a:pPr>
            <a:r>
              <a:rPr sz="1275" b="0">
                <a:solidFill>
                  <a:srgbClr val="5E6B78"/>
                </a:solidFill>
              </a:rPr>
              <a:t>Выбрать активный набор до 5 вариантов применения ИИ.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441BE-A6FE-46BE-B76D-427ABC1B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33600"/>
            <a:ext cx="2576513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CAC2C-DA4D-4C3B-8B4D-5E70B0B9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43150"/>
            <a:ext cx="21574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6A35"/>
                </a:solidFill>
              </a:defRPr>
            </a:pPr>
            <a:r>
              <a:rPr sz="1050" b="1">
                <a:solidFill>
                  <a:srgbClr val="C66A35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F89C46-C743-4D50-8966-AA626E2D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47950"/>
            <a:ext cx="21574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Спринт реализации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E7792E-E400-4BF1-AE20-431CBC30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00400"/>
            <a:ext cx="2157413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</a:defRPr>
            </a:pPr>
            <a:r>
              <a:rPr sz="1275" b="0">
                <a:solidFill>
                  <a:srgbClr val="5E6B78"/>
                </a:solidFill>
              </a:rPr>
              <a:t>Проверить решения на ограниченном контуре действий.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32B269-B4C8-4FAD-8623-EFD40F56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2133600"/>
            <a:ext cx="2576513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F1C11C-C71F-4F80-A840-F0BB44BF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343150"/>
            <a:ext cx="21574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6A35"/>
                </a:solidFill>
              </a:defRPr>
            </a:pPr>
            <a:r>
              <a:rPr sz="1050" b="1">
                <a:solidFill>
                  <a:srgbClr val="C66A35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3CC875-B968-4EB4-B9AA-97739EB3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647950"/>
            <a:ext cx="21574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Сопровождение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7FA6B1-3A1A-4E10-B554-D643FE28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200400"/>
            <a:ext cx="2157413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</a:defRPr>
            </a:pPr>
            <a:r>
              <a:rPr sz="1275" b="0">
                <a:solidFill>
                  <a:srgbClr val="5E6B78"/>
                </a:solidFill>
              </a:rPr>
              <a:t>Контролировать результат, риски, корректировки и следующий шаг.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B975F3-8094-45F0-BB31-D548EE0F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530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32638"/>
                </a:solidFill>
              </a:defRPr>
            </a:pPr>
            <a:r>
              <a:rPr sz="1725" b="0">
                <a:solidFill>
                  <a:srgbClr val="132638"/>
                </a:solidFill>
              </a:rPr>
              <a:t>Переход между этапами возможен только при документальном следе: вердикт, владельцы, данные, условия запуска и остановки.</a:t>
            </a:r>
          </a:p>
        </p:txBody>
      </p:sp>
    </p:spTree>
    <p:extLst>
      <p:ext uri="{BB962C8B-B14F-4D97-AF65-F5344CB8AC3E}">
        <p14:creationId xmlns:p14="http://schemas.microsoft.com/office/powerpoint/2010/main" val="7073260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9D379-4C79-4107-B340-6E2726B1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B78"/>
                </a:solidFill>
              </a:defRPr>
            </a:pPr>
            <a:r>
              <a:rPr sz="975" b="1">
                <a:solidFill>
                  <a:srgbClr val="5E6B78"/>
                </a:solidFill>
              </a:rPr>
              <a:t>C-Level Insight | AI переход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4134A-2112-4230-8C6A-2EE4D54C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8"/>
                </a:solidFill>
              </a:defRPr>
            </a:pPr>
            <a:r>
              <a:rPr sz="975" b="0">
                <a:solidFill>
                  <a:srgbClr val="5E6B78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42EC5-6154-49F4-9DEE-239B23A4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52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638"/>
                </a:solidFill>
              </a:defRPr>
            </a:pPr>
            <a:r>
              <a:rPr sz="2850" b="1">
                <a:solidFill>
                  <a:srgbClr val="132638"/>
                </a:solidFill>
              </a:rPr>
              <a:t>Диагностика - безопасный платный вход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C7632-789C-47F0-9DB5-4EE09D03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5"/>
          </a:solidFill>
          <a:ln xmlns:a="http://schemas.openxmlformats.org/drawingml/2006/main" w="0">
            <a:solidFill>
              <a:srgbClr val="C66A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91806-DB74-4000-8E00-58C35A5F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1054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77EFF-BB42-431D-9B0D-A94572CE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Что проверяем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56037-62AF-4891-A603-09D1632F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438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B78"/>
                </a:solidFill>
              </a:defRPr>
            </a:pPr>
            <a:r>
              <a:rPr sz="1425" b="0">
                <a:solidFill>
                  <a:srgbClr val="5E6B78"/>
                </a:solidFill>
              </a:rPr>
              <a:t>Запрос, мандат, доступ к руководителям, текущие ИИ-активности, данные, владельцев, риски, стоп-факторы и право на честный вывод.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0A154-116B-47E7-AEAF-8C030DBE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51054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66912-9224-4DE5-9907-BC51E31B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Что получает клиент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3573A-43B8-4192-B1D2-FB5568C1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14650"/>
            <a:ext cx="438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B78"/>
                </a:solidFill>
              </a:defRPr>
            </a:pPr>
            <a:r>
              <a:rPr sz="1425" b="0">
                <a:solidFill>
                  <a:srgbClr val="5E6B78"/>
                </a:solidFill>
              </a:rPr>
              <a:t>Вердикт: идти, идти при условиях, отложить или не запускать. Также рекомендацию следующего формата работы.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8DED2-AEDB-4EF5-B305-E0BD42F8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467350"/>
            <a:ext cx="902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66A35"/>
                </a:solidFill>
              </a:defRPr>
            </a:pPr>
            <a:r>
              <a:rPr sz="1725" b="1">
                <a:solidFill>
                  <a:srgbClr val="C66A35"/>
                </a:solidFill>
              </a:rPr>
              <a:t>Диагностика не является бесплатным пресейлом большой трансформации.</a:t>
            </a:r>
          </a:p>
        </p:txBody>
      </p:sp>
    </p:spTree>
    <p:extLst>
      <p:ext uri="{BB962C8B-B14F-4D97-AF65-F5344CB8AC3E}">
        <p14:creationId xmlns:p14="http://schemas.microsoft.com/office/powerpoint/2010/main" val="11842418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6E60F8-39B3-4427-A251-F335F49D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B78"/>
                </a:solidFill>
              </a:defRPr>
            </a:pPr>
            <a:r>
              <a:rPr sz="975" b="1">
                <a:solidFill>
                  <a:srgbClr val="5E6B78"/>
                </a:solidFill>
              </a:rPr>
              <a:t>C-Level Insight | AI переход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E1583-52C3-48CD-954A-C105C94F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8"/>
                </a:solidFill>
              </a:defRPr>
            </a:pPr>
            <a:r>
              <a:rPr sz="975" b="0">
                <a:solidFill>
                  <a:srgbClr val="5E6B78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6EC5B-86E8-4406-8A00-DC192C0C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52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638"/>
                </a:solidFill>
              </a:defRPr>
            </a:pPr>
            <a:r>
              <a:rPr sz="2850" b="1">
                <a:solidFill>
                  <a:srgbClr val="132638"/>
                </a:solidFill>
              </a:rPr>
              <a:t>Сессия решений ограничивает портфель до управляемого набора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32DC7-2FF8-43D0-B5A0-5417FFFB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5"/>
          </a:solidFill>
          <a:ln xmlns:a="http://schemas.openxmlformats.org/drawingml/2006/main" w="0">
            <a:solidFill>
              <a:srgbClr val="C66A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588F7-C5E9-461E-93ED-734C0DF2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333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71E2F"/>
          </a:solidFill>
          <a:ln xmlns:a="http://schemas.openxmlformats.org/drawingml/2006/main" w="9525">
            <a:solidFill>
              <a:srgbClr val="071E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178E9-63EA-44EB-A576-3E92A5D8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Не более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E24E3-72ED-437A-BC51-8C986821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7E0EA"/>
                </a:solidFill>
              </a:defRPr>
            </a:pPr>
            <a:r>
              <a:rPr sz="1650" b="0">
                <a:solidFill>
                  <a:srgbClr val="D7E0EA"/>
                </a:solidFill>
              </a:rPr>
              <a:t>активных вариантов применения ИИ одновременно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6C37C-8536-4A0C-8D76-AD155811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28850"/>
            <a:ext cx="22288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B6C39-D87B-4171-8975-ABDD8975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38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9F042C-14C0-4A34-98F5-18CC8994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432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Владелец эффекта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1BA284-4F60-459D-8626-A88CB0FB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956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</a:defRPr>
            </a:pPr>
            <a:r>
              <a:rPr sz="1275" b="0">
                <a:solidFill>
                  <a:srgbClr val="5E6B78"/>
                </a:solidFill>
              </a:rPr>
              <a:t>Кто отвечает за управленческий результат.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9013F-F188-47BF-8715-2D647505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28850"/>
            <a:ext cx="22288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41F33-07F8-4DB8-9853-EB0BA87E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38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80488-1CA5-4DE8-99B8-4792799A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432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Владелец данных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7AAE7D-3060-4EFC-BA0F-05576683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956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</a:defRPr>
            </a:pPr>
            <a:r>
              <a:rPr sz="1275" b="0">
                <a:solidFill>
                  <a:srgbClr val="5E6B78"/>
                </a:solidFill>
              </a:rPr>
              <a:t>На каких фактах держится решение.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3A3FBF-929C-4C4C-A1E0-A1FE3A6E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28850"/>
            <a:ext cx="22288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DFBC5-9752-499F-A212-CE2D018C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38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33C58C-9B70-42A1-8838-ABF48862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432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Условия остановки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C2F587-73E0-446A-932B-B21F8A50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956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</a:defRPr>
            </a:pPr>
            <a:r>
              <a:rPr sz="1275" b="0">
                <a:solidFill>
                  <a:srgbClr val="5E6B78"/>
                </a:solidFill>
              </a:rPr>
              <a:t>Когда вариант нужно изменить или прекратить.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718F8B-5CB3-4955-8CAD-6A5A48AE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953000"/>
            <a:ext cx="842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Сессия не должна превращаться в генерацию идей про ИИ.</a:t>
            </a:r>
          </a:p>
        </p:txBody>
      </p:sp>
    </p:spTree>
    <p:extLst>
      <p:ext uri="{BB962C8B-B14F-4D97-AF65-F5344CB8AC3E}">
        <p14:creationId xmlns:p14="http://schemas.microsoft.com/office/powerpoint/2010/main" val="7564908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8144DA-B1E1-4C69-87EC-A4B4434E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B78"/>
                </a:solidFill>
              </a:defRPr>
            </a:pPr>
            <a:r>
              <a:rPr sz="975" b="1">
                <a:solidFill>
                  <a:srgbClr val="5E6B78"/>
                </a:solidFill>
              </a:rPr>
              <a:t>C-Level Insight | AI переход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71828-719D-48A3-9F7C-CA3637FD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8"/>
                </a:solidFill>
              </a:defRPr>
            </a:pPr>
            <a:r>
              <a:rPr sz="975" b="0">
                <a:solidFill>
                  <a:srgbClr val="5E6B78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471D7-3DEC-4D34-A13F-ED19F538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52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638"/>
                </a:solidFill>
              </a:defRPr>
            </a:pPr>
            <a:r>
              <a:rPr sz="2850" b="1">
                <a:solidFill>
                  <a:srgbClr val="132638"/>
                </a:solidFill>
              </a:rPr>
              <a:t>Спринт реализации проверяет выбранные решения на ограниченном контуре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25E07-62B3-46E0-87BC-DC5EE18B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5"/>
          </a:solidFill>
          <a:ln xmlns:a="http://schemas.openxmlformats.org/drawingml/2006/main" w="0">
            <a:solidFill>
              <a:srgbClr val="C66A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32509-1BA3-4AA4-A8E6-764DDDEA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4925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73339-79DB-482D-8908-07BD94CF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307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6A35"/>
                </a:solidFill>
              </a:defRPr>
            </a:pPr>
            <a:r>
              <a:rPr sz="1050" b="1">
                <a:solidFill>
                  <a:srgbClr val="C66A35"/>
                </a:solidFill>
              </a:rPr>
              <a:t>Вход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FD5FC-5894-45C6-815B-EAD20A97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307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Только из активного набора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6A40F-DB7B-4C6B-BE98-38FB27D8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3073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</a:defRPr>
            </a:pPr>
            <a:r>
              <a:rPr sz="1275" b="0">
                <a:solidFill>
                  <a:srgbClr val="5E6B78"/>
                </a:solidFill>
              </a:rPr>
              <a:t>Новые идеи не добавляются по ходу Спринта без отдельного решения.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160C2-8A37-4809-ADFE-5C976FF7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209800"/>
            <a:ext cx="34925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813D9-8C76-4F71-9F7E-E01A11C3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2419350"/>
            <a:ext cx="307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6A35"/>
                </a:solidFill>
              </a:defRPr>
            </a:pPr>
            <a:r>
              <a:rPr sz="1050" b="1">
                <a:solidFill>
                  <a:srgbClr val="C66A35"/>
                </a:solidFill>
              </a:rPr>
              <a:t>Работа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86C8A-158F-4BED-A926-FF7A66AD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2724150"/>
            <a:ext cx="307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Факты и отклонения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803818-2DBD-4870-B6FE-E0B13151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3276600"/>
            <a:ext cx="3073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</a:defRPr>
            </a:pPr>
            <a:r>
              <a:rPr sz="1275" b="0">
                <a:solidFill>
                  <a:srgbClr val="5E6B78"/>
                </a:solidFill>
              </a:rPr>
              <a:t>Фиксируются действия, зависимости, изменения, риски и управленческие решения.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9ADB6-D2C2-47C5-8ABF-3F3B20C2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209800"/>
            <a:ext cx="34925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E1A6A-EB7F-418A-A944-983DD4A8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419350"/>
            <a:ext cx="307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6A35"/>
                </a:solidFill>
              </a:defRPr>
            </a:pPr>
            <a:r>
              <a:rPr sz="1050" b="1">
                <a:solidFill>
                  <a:srgbClr val="C66A35"/>
                </a:solidFill>
              </a:rPr>
              <a:t>Выход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B50ECE-BD52-47A4-B3CD-5C1741B9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724150"/>
            <a:ext cx="307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Решение дальше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007CAA-F38F-48BE-A52A-384456E1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3276600"/>
            <a:ext cx="3073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</a:defRPr>
            </a:pPr>
            <a:r>
              <a:rPr sz="1275" b="0">
                <a:solidFill>
                  <a:srgbClr val="5E6B78"/>
                </a:solidFill>
              </a:rPr>
              <a:t>Продолжить, изменить, остановить, масштабировать или вернуть на предыдущий этап.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F05E3-3A45-446F-A8F4-15BB63E3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86350"/>
            <a:ext cx="9334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EEE7"/>
          </a:solidFill>
          <a:ln xmlns:a="http://schemas.openxmlformats.org/drawingml/2006/main" w="9525">
            <a:solidFill>
              <a:srgbClr val="E8D8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817E7-E139-45BD-9598-ADBB74B2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387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638"/>
                </a:solidFill>
              </a:defRPr>
            </a:pPr>
            <a:r>
              <a:rPr sz="1650" b="1">
                <a:solidFill>
                  <a:srgbClr val="132638"/>
                </a:solidFill>
              </a:rPr>
              <a:t>Спринт не является техническим внедрением ИИ-системы под ключ.</a:t>
            </a:r>
          </a:p>
        </p:txBody>
      </p:sp>
    </p:spTree>
    <p:extLst>
      <p:ext uri="{BB962C8B-B14F-4D97-AF65-F5344CB8AC3E}">
        <p14:creationId xmlns:p14="http://schemas.microsoft.com/office/powerpoint/2010/main" val="6581357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E4E4C-3D8C-4256-A379-8A0C7E84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B78"/>
                </a:solidFill>
              </a:defRPr>
            </a:pPr>
            <a:r>
              <a:rPr sz="975" b="1">
                <a:solidFill>
                  <a:srgbClr val="5E6B78"/>
                </a:solidFill>
              </a:rPr>
              <a:t>C-Level Insight | AI переход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AC160-98EF-4FB0-903F-774BD20C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8"/>
                </a:solidFill>
              </a:defRPr>
            </a:pPr>
            <a:r>
              <a:rPr sz="975" b="0">
                <a:solidFill>
                  <a:srgbClr val="5E6B78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F0493-5773-44E9-8E0A-B5C399EB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52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638"/>
                </a:solidFill>
              </a:defRPr>
            </a:pPr>
            <a:r>
              <a:rPr sz="2850" b="1">
                <a:solidFill>
                  <a:srgbClr val="132638"/>
                </a:solidFill>
              </a:rPr>
              <a:t>Сопровождение удерживает решение от отката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52DB7-3018-472E-88EB-27754270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5"/>
          </a:solidFill>
          <a:ln xmlns:a="http://schemas.openxmlformats.org/drawingml/2006/main" w="0">
            <a:solidFill>
              <a:srgbClr val="C66A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527A1-9B2B-4FB6-8AEF-9E43014F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4925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3C220-9F65-440D-A2CA-A3DBF558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307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E9365-6665-4449-B142-6B4841DF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307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Контроль результата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A68B1-4A22-4D3D-8D36-16E90410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3073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</a:defRPr>
            </a:pPr>
            <a:r>
              <a:rPr sz="1275" b="0">
                <a:solidFill>
                  <a:srgbClr val="5E6B78"/>
                </a:solidFill>
              </a:rPr>
              <a:t>Проверяются факты, отклонения и изменение управленческого поведения.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C4B9C-CD22-43DA-A693-F299B845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209800"/>
            <a:ext cx="34925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D0C1C-9AD1-4E96-853C-F163F784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2419350"/>
            <a:ext cx="307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60280-F5F2-4A17-85F3-6208F16F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2724150"/>
            <a:ext cx="307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Контроль рисков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0B2964-9CE6-46D2-9F2B-9D18AD5B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3276600"/>
            <a:ext cx="3073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</a:defRPr>
            </a:pPr>
            <a:r>
              <a:rPr sz="1275" b="0">
                <a:solidFill>
                  <a:srgbClr val="5E6B78"/>
                </a:solidFill>
              </a:rPr>
              <a:t>Обновляются риски, владельцы, условия остановки и ограничения.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4B2E96-8C26-4CAC-B3DC-D173DE8D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209800"/>
            <a:ext cx="34925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EE6BE-DCDA-4DAA-8394-7DA9581E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419350"/>
            <a:ext cx="307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9E038-829F-4F72-AA83-C51AE86A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724150"/>
            <a:ext cx="307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Контроль следующего шага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15E46-B332-423B-AC73-8DB1EF0F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3276600"/>
            <a:ext cx="3073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</a:defRPr>
            </a:pPr>
            <a:r>
              <a:rPr sz="1275" b="0">
                <a:solidFill>
                  <a:srgbClr val="5E6B78"/>
                </a:solidFill>
              </a:rPr>
              <a:t>Решение фиксируется: продолжить, изменить, остановить или масштабировать.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865B8-B64F-4B87-BAC6-8905EDAB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86350"/>
            <a:ext cx="937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2638"/>
                </a:solidFill>
              </a:defRPr>
            </a:pPr>
            <a:r>
              <a:rPr sz="1725" b="1">
                <a:solidFill>
                  <a:srgbClr val="132638"/>
                </a:solidFill>
              </a:rPr>
              <a:t>Сопровождение продается только там, где есть предмет контроля после Диагностики, Сессии или Спринта.</a:t>
            </a:r>
          </a:p>
        </p:txBody>
      </p:sp>
    </p:spTree>
    <p:extLst>
      <p:ext uri="{BB962C8B-B14F-4D97-AF65-F5344CB8AC3E}">
        <p14:creationId xmlns:p14="http://schemas.microsoft.com/office/powerpoint/2010/main" val="5823278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9BC86E-81F1-40FE-930F-FB812E70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B78"/>
                </a:solidFill>
              </a:defRPr>
            </a:pPr>
            <a:r>
              <a:rPr sz="975" b="1">
                <a:solidFill>
                  <a:srgbClr val="5E6B78"/>
                </a:solidFill>
              </a:rPr>
              <a:t>C-Level Insight | AI переход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42B33-A49C-41F3-A678-643B22FD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8"/>
                </a:solidFill>
              </a:defRPr>
            </a:pPr>
            <a:r>
              <a:rPr sz="975" b="0">
                <a:solidFill>
                  <a:srgbClr val="5E6B78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62C01-4DC4-4F56-9E73-1ACCC7A5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52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638"/>
                </a:solidFill>
              </a:defRPr>
            </a:pPr>
            <a:r>
              <a:rPr sz="2850" b="1">
                <a:solidFill>
                  <a:srgbClr val="132638"/>
                </a:solidFill>
              </a:rPr>
              <a:t>У клиента остается не обещание, а доказательный след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B75F7-652C-4E10-9B0A-4B529A53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5"/>
          </a:solidFill>
          <a:ln xmlns:a="http://schemas.openxmlformats.org/drawingml/2006/main" w="0">
            <a:solidFill>
              <a:srgbClr val="C66A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065A7-F319-4FEB-962D-A96866C9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4925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7DFA8-AC8C-47FA-A987-96FF5F58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307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A7F47-A99B-4DAA-87E4-47322881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307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Рабочие книги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2A145-78FB-4A9E-9F2C-1C62176B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3073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</a:defRPr>
            </a:pPr>
            <a:r>
              <a:rPr sz="1275" b="0">
                <a:solidFill>
                  <a:srgbClr val="5E6B78"/>
                </a:solidFill>
              </a:rPr>
              <a:t>Реестры вариантов, владельцев, данных, рисков, статусов и решений.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5A56E3-122F-4551-B103-94F06072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209800"/>
            <a:ext cx="34925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8E4E2-968B-4599-B492-B2978A10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2419350"/>
            <a:ext cx="307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23A3A-B1F2-4938-8894-6B2B9F87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2724150"/>
            <a:ext cx="307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Протоколы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1C3CA-13B6-4769-9E4E-42E4C77A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3276600"/>
            <a:ext cx="3073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</a:defRPr>
            </a:pPr>
            <a:r>
              <a:rPr sz="1275" b="0">
                <a:solidFill>
                  <a:srgbClr val="5E6B78"/>
                </a:solidFill>
              </a:rPr>
              <a:t>Вердикты, допуски, условия запуска, условия остановки и решения gate.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BACFCE-DDCC-4BC6-996D-69D55408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209800"/>
            <a:ext cx="34925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72BBEB-ADF2-4530-98ED-15771E42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419350"/>
            <a:ext cx="307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137C0-B550-4F09-86E5-A181ADE8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724150"/>
            <a:ext cx="307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Claims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DFE510-5F13-4390-8444-0D1CBF0E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3276600"/>
            <a:ext cx="3073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</a:defRPr>
            </a:pPr>
            <a:r>
              <a:rPr sz="1275" b="0">
                <a:solidFill>
                  <a:srgbClr val="5E6B78"/>
                </a:solidFill>
              </a:rPr>
              <a:t>Утверждения разделяются на факты комплекта, гипотезы и запрещенные обещания.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0A2005-FCA4-435C-8E41-3CA7CA2B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10058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71E2F"/>
          </a:solidFill>
          <a:ln xmlns:a="http://schemas.openxmlformats.org/drawingml/2006/main" w="9525">
            <a:solidFill>
              <a:srgbClr val="071E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661920-1B57-4EAF-B402-049BB63B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197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Финансовый эффект нельзя обещать до данных, владельца и контрольного контура.</a:t>
            </a:r>
          </a:p>
        </p:txBody>
      </p:sp>
    </p:spTree>
    <p:extLst>
      <p:ext uri="{BB962C8B-B14F-4D97-AF65-F5344CB8AC3E}">
        <p14:creationId xmlns:p14="http://schemas.microsoft.com/office/powerpoint/2010/main" val="7931008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80DF99-D593-4021-9C42-0B9CA053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B78"/>
                </a:solidFill>
              </a:defRPr>
            </a:pPr>
            <a:r>
              <a:rPr sz="975" b="1">
                <a:solidFill>
                  <a:srgbClr val="5E6B78"/>
                </a:solidFill>
              </a:rPr>
              <a:t>C-Level Insight | AI переход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A5F2E-8C41-4CBB-96A5-B0455FCC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8"/>
                </a:solidFill>
              </a:defRPr>
            </a:pPr>
            <a:r>
              <a:rPr sz="975" b="0">
                <a:solidFill>
                  <a:srgbClr val="5E6B78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194AB-4E2B-487C-B6A1-F48934B1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52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638"/>
                </a:solidFill>
              </a:defRPr>
            </a:pPr>
            <a:r>
              <a:rPr sz="2850" b="1">
                <a:solidFill>
                  <a:srgbClr val="132638"/>
                </a:solidFill>
              </a:rPr>
              <a:t>Кейсы показывают управленческие ситуации, а не подтвержденные внедрения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65B99-2AED-4DDD-BB8F-F816E17E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5"/>
          </a:solidFill>
          <a:ln xmlns:a="http://schemas.openxmlformats.org/drawingml/2006/main" w="0">
            <a:solidFill>
              <a:srgbClr val="C66A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12B9B-8D4B-4219-BCFC-E40DC88D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4925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B9B34-3874-4535-832C-F4DEB0A4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307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6A35"/>
                </a:solidFill>
              </a:defRPr>
            </a:pPr>
            <a:r>
              <a:rPr sz="1050" b="1">
                <a:solidFill>
                  <a:srgbClr val="C66A35"/>
                </a:solidFill>
              </a:rPr>
              <a:t>Пример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4E4E8-5226-41E0-9CD5-9F70A4DC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307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Не запускать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D5F84-ABCD-42A0-9EC9-505B4D81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307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</a:defRPr>
            </a:pPr>
            <a:r>
              <a:rPr sz="1275" b="0">
                <a:solidFill>
                  <a:srgbClr val="5E6B78"/>
                </a:solidFill>
              </a:rPr>
              <a:t>Диагностика показывает отсутствие мандата, данных или владельца эффекта.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95E2F-39BC-4915-8BFD-3766B232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038350"/>
            <a:ext cx="34925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64B7E8-4B5C-49E0-88E3-B3134412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2247900"/>
            <a:ext cx="307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6A35"/>
                </a:solidFill>
              </a:defRPr>
            </a:pPr>
            <a:r>
              <a:rPr sz="1050" b="1">
                <a:solidFill>
                  <a:srgbClr val="C66A35"/>
                </a:solidFill>
              </a:rPr>
              <a:t>Пример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C05FB-A9DE-4E4D-BA08-EF40CE30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2552700"/>
            <a:ext cx="307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Идти с условиями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0C3D7-15DE-4F03-B0B1-1F56C4A6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3105150"/>
            <a:ext cx="307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</a:defRPr>
            </a:pPr>
            <a:r>
              <a:rPr sz="1275" b="0">
                <a:solidFill>
                  <a:srgbClr val="5E6B78"/>
                </a:solidFill>
              </a:rPr>
              <a:t>Компания выбирает малый набор вариантов и запускает управляемый Спринт.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1A69F-BDA1-43B0-8A51-46F37833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38350"/>
            <a:ext cx="34925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A58150-A298-4220-8A47-904E0B4A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247900"/>
            <a:ext cx="307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6A35"/>
                </a:solidFill>
              </a:defRPr>
            </a:pPr>
            <a:r>
              <a:rPr sz="1050" b="1">
                <a:solidFill>
                  <a:srgbClr val="C66A35"/>
                </a:solidFill>
              </a:rPr>
              <a:t>Пример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B6D314-2A9C-4948-AFDF-A3C0E936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552700"/>
            <a:ext cx="307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638"/>
                </a:solidFill>
              </a:defRPr>
            </a:pPr>
            <a:r>
              <a:rPr sz="1800" b="1">
                <a:solidFill>
                  <a:srgbClr val="132638"/>
                </a:solidFill>
              </a:rPr>
              <a:t>Контроль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D6DAB5-A941-42FB-AEF0-3695AE2A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3105150"/>
            <a:ext cx="307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</a:defRPr>
            </a:pPr>
            <a:r>
              <a:rPr sz="1275" b="0">
                <a:solidFill>
                  <a:srgbClr val="5E6B78"/>
                </a:solidFill>
              </a:rPr>
              <a:t>Сопровождение помогает принять решение продолжать, менять или останавливать.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D1B29D-E0AD-4CFF-91BC-0331D784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5105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937131-D77B-4EA4-8A7C-CFF8009A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434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7A5A"/>
                </a:solidFill>
              </a:defRPr>
            </a:pPr>
            <a:r>
              <a:rPr sz="1800" b="1">
                <a:solidFill>
                  <a:srgbClr val="4E7A5A"/>
                </a:solidFill>
              </a:rPr>
              <a:t>Кому подходит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5BFAE6-5700-49BA-A3F6-EAF26138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244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8"/>
                </a:solidFill>
              </a:defRPr>
            </a:pPr>
            <a:r>
              <a:rPr sz="1350" b="0">
                <a:solidFill>
                  <a:srgbClr val="5E6B78"/>
                </a:solidFill>
              </a:rPr>
              <a:t>Собственнику, CEO, генеральному директору, и C-level, руководителям высшего уровня, которым нужен управляемый допуск к ИИ.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69053D-3EA5-43F0-8C83-330E6177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14850"/>
            <a:ext cx="5105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6C7C52-7E5D-4C10-8BCA-0C7861EE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434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66A35"/>
                </a:solidFill>
              </a:defRPr>
            </a:pPr>
            <a:r>
              <a:rPr sz="1800" b="1">
                <a:solidFill>
                  <a:srgbClr val="C66A35"/>
                </a:solidFill>
              </a:rPr>
              <a:t>Следующий шаг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F35A99-F21D-4038-8480-F1858CD4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244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638"/>
                </a:solidFill>
              </a:defRPr>
            </a:pPr>
            <a:r>
              <a:rPr sz="1350" b="1">
                <a:solidFill>
                  <a:srgbClr val="132638"/>
                </a:solidFill>
              </a:rPr>
              <a:t>Начать с платной Диагностики: от 450 000 руб., 7-10 рабочих дней.</a:t>
            </a:r>
          </a:p>
        </p:txBody>
      </p:sp>
    </p:spTree>
    <p:extLst>
      <p:ext uri="{BB962C8B-B14F-4D97-AF65-F5344CB8AC3E}">
        <p14:creationId xmlns:p14="http://schemas.microsoft.com/office/powerpoint/2010/main" val="994154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2026-07-28T09:24:21.5500000Z</dcterms:created>
  <dcterms:modified xsi:type="dcterms:W3CDTF">2026-07-28T09:24:21.5500000Z</dcterms:modified>
</coreProperties>
</file>