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технологии за 30 секунд: сначала проверяется управляемость, затем допускается ограниченное применение 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Интерес к ИИ без управленческого контура превращается в пилоты без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Диагностика проверяет готовность компании до продажи Сессии, Спринта или сопровождения.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от множества ИИ-идей к ограниченному активному набору.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Ограничение до 5 вариантов защищает управляемость.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Кто отвечает за результат, данные, процесс, риск и контроль в каждом варианте применения 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технология покупается и проводится: Диагностика, Сессия, Спринт, Сопровождение.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Сессия выбирает допустимый активный набор, а не генерирует идеи про 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Выбранный вариант проверяется в ограниченном управленческом контуре.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 от ИИ-пилотов без владельца к управляемому допуску и контролю.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Типовая управленческая боль проходит через Диагностику, активный набор, контроль и вердикт.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технологии от неправильной категории: ChatGPT, промпты, автоматизация, внедрение инструмента, AI-шоу.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ПЕРЕХОД / ВИЗУАЛИЗАЦИЯ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52384" y="381000"/>
            <a:ext cx="90224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КЛИЕНТСКИЙ СЛОЙ · READINESS GATE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47737"/>
            <a:ext cx="18943320" cy="59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29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переход начинается не с инструмента, а с управляемости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533400" y="1617464"/>
            <a:ext cx="1589341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Компания получает право запускать ИИ только после проверки мандата, данных, владельца эффекта, экономики, риска и контроля.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33400" y="2558504"/>
            <a:ext cx="12439650" cy="697185"/>
          </a:xfrm>
          <a:prstGeom prst="rect">
            <a:avLst/>
          </a:prstGeom>
          <a:solidFill>
            <a:srgbClr val="FFFFFF">
              <a:alpha val="34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8188" y="2747516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46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25897" y="2747516"/>
            <a:ext cx="28813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035772" y="2764185"/>
            <a:ext cx="53875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имеет право запускать и останавливать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533400" y="3331890"/>
            <a:ext cx="12439650" cy="697185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4014788"/>
            <a:ext cx="1243965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4" name="Shape 12"/>
          <p:cNvSpPr/>
          <p:nvPr/>
        </p:nvSpPr>
        <p:spPr>
          <a:xfrm>
            <a:off x="533400" y="3331890"/>
            <a:ext cx="1243965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33400" y="3331890"/>
            <a:ext cx="47625" cy="69718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958763" y="3331890"/>
            <a:ext cx="14288" cy="69718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771525" y="3520901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46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59235" y="3520901"/>
            <a:ext cx="28813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069110" y="3537570"/>
            <a:ext cx="44249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каких фактах держится решение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533400" y="4105275"/>
            <a:ext cx="12439650" cy="697260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33400" y="4788247"/>
            <a:ext cx="1243965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" y="4105275"/>
            <a:ext cx="1243965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3" name="Shape 21"/>
          <p:cNvSpPr/>
          <p:nvPr/>
        </p:nvSpPr>
        <p:spPr>
          <a:xfrm>
            <a:off x="533400" y="4105275"/>
            <a:ext cx="47625" cy="6972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12958763" y="4105275"/>
            <a:ext cx="14288" cy="6972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5" name="Text 23"/>
          <p:cNvSpPr/>
          <p:nvPr/>
        </p:nvSpPr>
        <p:spPr>
          <a:xfrm>
            <a:off x="771525" y="4294361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46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59235" y="4294361"/>
            <a:ext cx="28813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эффекта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4069110" y="4311030"/>
            <a:ext cx="31673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отвечает за результат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533400" y="4878735"/>
            <a:ext cx="12439650" cy="697185"/>
          </a:xfrm>
          <a:prstGeom prst="rect">
            <a:avLst/>
          </a:prstGeom>
          <a:solidFill>
            <a:srgbClr val="FFFFFF">
              <a:alpha val="34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8188" y="5067746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46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25897" y="5067746"/>
            <a:ext cx="28813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4035772" y="5084415"/>
            <a:ext cx="25931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может сломаться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533400" y="5652120"/>
            <a:ext cx="12439650" cy="697260"/>
          </a:xfrm>
          <a:prstGeom prst="rect">
            <a:avLst/>
          </a:prstGeom>
          <a:solidFill>
            <a:srgbClr val="FFFFFF">
              <a:alpha val="34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188" y="5841206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46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225897" y="5841206"/>
            <a:ext cx="28813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Экономика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4035772" y="5857875"/>
            <a:ext cx="7701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должно измениться в деньгах, сроках, качестве или риске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533400" y="6425580"/>
            <a:ext cx="12439650" cy="697185"/>
          </a:xfrm>
          <a:prstGeom prst="rect">
            <a:avLst/>
          </a:prstGeom>
          <a:solidFill>
            <a:srgbClr val="FFFFFF">
              <a:alpha val="34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188" y="6614592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46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225897" y="6614592"/>
            <a:ext cx="28813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Активный набор до 5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4035772" y="6631260"/>
            <a:ext cx="31110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допускается к работе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533400" y="7198965"/>
            <a:ext cx="12439650" cy="697260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" y="7881937"/>
            <a:ext cx="1243965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" y="7198965"/>
            <a:ext cx="1243965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3" name="Shape 41"/>
          <p:cNvSpPr/>
          <p:nvPr/>
        </p:nvSpPr>
        <p:spPr>
          <a:xfrm>
            <a:off x="533400" y="7198965"/>
            <a:ext cx="47625" cy="6972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Shape 42"/>
          <p:cNvSpPr/>
          <p:nvPr/>
        </p:nvSpPr>
        <p:spPr>
          <a:xfrm>
            <a:off x="12958763" y="7198965"/>
            <a:ext cx="14288" cy="6972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5" name="Text 43"/>
          <p:cNvSpPr/>
          <p:nvPr/>
        </p:nvSpPr>
        <p:spPr>
          <a:xfrm>
            <a:off x="771525" y="7388051"/>
            <a:ext cx="3734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46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259235" y="7388051"/>
            <a:ext cx="28813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Контроль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4069110" y="7261845"/>
            <a:ext cx="896012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принимается решение продолжить, изменить, остановить или масштабировать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3277850" y="2558504"/>
            <a:ext cx="4476750" cy="457095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9" name="Text 47"/>
          <p:cNvSpPr/>
          <p:nvPr/>
        </p:nvSpPr>
        <p:spPr>
          <a:xfrm>
            <a:off x="13563600" y="3910087"/>
            <a:ext cx="42957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46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МАРШРУТ ДОПУСКА 01—07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3563600" y="4376812"/>
            <a:ext cx="4022407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84"/>
              </a:lnSpc>
              <a:buNone/>
            </a:pPr>
            <a:r>
              <a:rPr lang="en-US" sz="3150" b="1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Управляемый допуск к ИИ</a:t>
            </a:r>
            <a:endParaRPr lang="en-US" sz="3150" dirty="0"/>
          </a:p>
        </p:txBody>
      </p:sp>
      <p:sp>
        <p:nvSpPr>
          <p:cNvPr id="51" name="Text 49"/>
          <p:cNvSpPr/>
          <p:nvPr/>
        </p:nvSpPr>
        <p:spPr>
          <a:xfrm>
            <a:off x="13563600" y="5468317"/>
            <a:ext cx="42957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ядро решения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3277850" y="7243763"/>
            <a:ext cx="4476750" cy="652463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501688" y="7474744"/>
            <a:ext cx="190500" cy="190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4" name="Text 52"/>
          <p:cNvSpPr/>
          <p:nvPr/>
        </p:nvSpPr>
        <p:spPr>
          <a:xfrm>
            <a:off x="13863638" y="7410450"/>
            <a:ext cx="74987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533400" y="8105775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33400" y="8565356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7" name="Text 55"/>
          <p:cNvSpPr/>
          <p:nvPr/>
        </p:nvSpPr>
        <p:spPr>
          <a:xfrm>
            <a:off x="800100" y="8496300"/>
            <a:ext cx="3114223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допуска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4147468" y="8565356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9" name="Text 57"/>
          <p:cNvSpPr/>
          <p:nvPr/>
        </p:nvSpPr>
        <p:spPr>
          <a:xfrm>
            <a:off x="4414168" y="8496300"/>
            <a:ext cx="4970141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данные, владелец и контроль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533400" y="8970169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1" name="Text 59"/>
          <p:cNvSpPr/>
          <p:nvPr/>
        </p:nvSpPr>
        <p:spPr>
          <a:xfrm>
            <a:off x="800100" y="8901113"/>
            <a:ext cx="2458641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Stop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3506391" y="8970169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63" name="Text 61"/>
          <p:cNvSpPr/>
          <p:nvPr/>
        </p:nvSpPr>
        <p:spPr>
          <a:xfrm>
            <a:off x="3773091" y="8901113"/>
            <a:ext cx="3128709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ядро решения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1058525" y="8105775"/>
            <a:ext cx="6696075" cy="12668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263313" y="8253412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1263313" y="8605838"/>
            <a:ext cx="647509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карта ИИ-инструментов, не дорожная карта внедрения ChatGPT и не каталог пилотов.</a:t>
            </a:r>
            <a:endParaRPr lang="en-US" sz="1875" dirty="0"/>
          </a:p>
        </p:txBody>
      </p:sp>
      <p:sp>
        <p:nvSpPr>
          <p:cNvPr id="67" name="Shape 65"/>
          <p:cNvSpPr/>
          <p:nvPr/>
        </p:nvSpPr>
        <p:spPr>
          <a:xfrm>
            <a:off x="533400" y="95440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33400" y="9691688"/>
            <a:ext cx="45587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35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Сначала управляемость, потом ИИ.</a:t>
            </a:r>
            <a:endParaRPr lang="en-US" sz="1875" dirty="0"/>
          </a:p>
        </p:txBody>
      </p:sp>
      <p:sp>
        <p:nvSpPr>
          <p:cNvPr id="69" name="Text 67"/>
          <p:cNvSpPr/>
          <p:nvPr/>
        </p:nvSpPr>
        <p:spPr>
          <a:xfrm>
            <a:off x="11024592" y="9705975"/>
            <a:ext cx="74030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AI_Переход_Визуализация_01_Ядро_AI_Перехода_V1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ПЕРЕХОД / ВИЗУАЛИЗАЦИЯ 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817346" y="381000"/>
            <a:ext cx="109309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BEFORE / AFTER · RISK MAP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85838"/>
            <a:ext cx="17737836" cy="1249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61"/>
              </a:lnSpc>
              <a:buNone/>
            </a:pPr>
            <a:r>
              <a:rPr lang="en-US" sz="4500" b="1" spc="-45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ИИ ускоряет не только решение, но и управленческий хаос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33400" y="2330648"/>
            <a:ext cx="1697355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Если нет владельца, данных, экономики и условий остановки, ИИ делает слабый контур быстрее, но не управляемее.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533400" y="2942853"/>
            <a:ext cx="6934200" cy="3834185"/>
          </a:xfrm>
          <a:prstGeom prst="rect">
            <a:avLst/>
          </a:prstGeom>
          <a:solidFill>
            <a:srgbClr val="B91C1C">
              <a:alpha val="5000"/>
            </a:srgbClr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6288" y="3166690"/>
            <a:ext cx="70932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 УПРАВЛЯЕМОСТИ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6288" y="3557215"/>
            <a:ext cx="7093268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24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ИИ-активность без контура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76288" y="4513511"/>
            <a:ext cx="64484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6288" y="4094411"/>
            <a:ext cx="66418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Энтузиазм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776288" y="5037386"/>
            <a:ext cx="64484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76288" y="4618286"/>
            <a:ext cx="66418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Пилоты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776288" y="5561261"/>
            <a:ext cx="64484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76288" y="5142161"/>
            <a:ext cx="66418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Инструменты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776288" y="6085136"/>
            <a:ext cx="64484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6288" y="5666036"/>
            <a:ext cx="66418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Ожидание эффекта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776288" y="6189911"/>
            <a:ext cx="70932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Спор функций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8663880" y="3774058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ФИЛЬТР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15250" y="4221733"/>
            <a:ext cx="2857500" cy="1076325"/>
          </a:xfrm>
          <a:prstGeom prst="rect">
            <a:avLst/>
          </a:prstGeom>
          <a:solidFill>
            <a:srgbClr val="B46A3C">
              <a:alpha val="8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58125" y="4426521"/>
            <a:ext cx="25717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7222"/>
              </a:lnSpc>
              <a:buNone/>
            </a:pPr>
            <a:r>
              <a:rPr lang="en-US" sz="2100" b="1" dirty="0">
                <a:solidFill>
                  <a:srgbClr val="8A4E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Проверить право запуска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029254" y="5450458"/>
            <a:ext cx="30561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0820400" y="2942853"/>
            <a:ext cx="6934200" cy="3834185"/>
          </a:xfrm>
          <a:prstGeom prst="rect">
            <a:avLst/>
          </a:prstGeom>
          <a:solidFill>
            <a:srgbClr val="0F766E">
              <a:alpha val="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3288" y="3166690"/>
            <a:ext cx="70932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ПОСЛЕ УПРАВЛЯЕМОСТИ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063288" y="3557215"/>
            <a:ext cx="7093268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24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ИИ после управленческой проверки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063288" y="4094411"/>
            <a:ext cx="34209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4401800" y="4094411"/>
            <a:ext cx="34209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1063288" y="4523036"/>
            <a:ext cx="34209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4401800" y="4523036"/>
            <a:ext cx="34209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Контроль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1063288" y="4951661"/>
            <a:ext cx="34209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4401800" y="4951661"/>
            <a:ext cx="34209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11063288" y="5380286"/>
            <a:ext cx="34209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Экономика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533400" y="6967538"/>
            <a:ext cx="17221200" cy="638175"/>
          </a:xfrm>
          <a:prstGeom prst="rect">
            <a:avLst/>
          </a:prstGeom>
          <a:solidFill>
            <a:srgbClr val="FFFFFF">
              <a:alpha val="34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7238" y="7138988"/>
            <a:ext cx="876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785938" y="7115175"/>
            <a:ext cx="86265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Допускать · допускать при условиях · отложить · остановить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533400" y="7796212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33400" y="8255794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9" name="Text 37"/>
          <p:cNvSpPr/>
          <p:nvPr/>
        </p:nvSpPr>
        <p:spPr>
          <a:xfrm>
            <a:off x="800100" y="8186738"/>
            <a:ext cx="546704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зона — неуправляемая ИИ-активность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6431756" y="8255794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1" name="Text 39"/>
          <p:cNvSpPr/>
          <p:nvPr/>
        </p:nvSpPr>
        <p:spPr>
          <a:xfrm>
            <a:off x="6698456" y="8186738"/>
            <a:ext cx="341000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переход к проверке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533400" y="8660606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" y="8591550"/>
            <a:ext cx="394392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управляемый контур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1058525" y="7796212"/>
            <a:ext cx="6696075" cy="157638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263313" y="7943850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1263313" y="8296275"/>
            <a:ext cx="6475095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страх перед ИИ и не отказ от технологий. Это проверка права запускать ИИ в конкретной управленческой задаче.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533400" y="95440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33400" y="9691688"/>
            <a:ext cx="84815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03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ИИ не заменяет управленческий контур. Он требует его до запуска.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8976345" y="9705975"/>
            <a:ext cx="9656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AI_Переход_Визуализация_02_Сначала_Управляемость_Потом_ИИ_V1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ПЕРЕХОД / ВИЗУАЛИЗАЦИЯ 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93593" y="381000"/>
            <a:ext cx="137071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+ DIAGNOSTIC PREMIUM · DIAGNOSTIC CARD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85838"/>
            <a:ext cx="1894332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61"/>
              </a:lnSpc>
              <a:buNone/>
            </a:pPr>
            <a:r>
              <a:rPr lang="en-US" sz="4500" b="1" spc="-45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отвечает: можно ли честно идти дальше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33400" y="1724918"/>
            <a:ext cx="1697355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Проверяются мандат, данные, владельцы, риски, экономика и право остановить работу.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533400" y="2337122"/>
            <a:ext cx="6162675" cy="1764134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3400" y="4086969"/>
            <a:ext cx="616267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" y="2337122"/>
            <a:ext cx="6162675" cy="476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2337122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681788" y="2337122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738188" y="2698849"/>
            <a:ext cx="63284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ПРОВЕРКА 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8188" y="3051274"/>
            <a:ext cx="632841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38188" y="3475137"/>
            <a:ext cx="632841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заказчик и кто принимает вердикт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6829425" y="2337122"/>
            <a:ext cx="6162675" cy="1764134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29425" y="4086969"/>
            <a:ext cx="616267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8" name="Shape 16"/>
          <p:cNvSpPr/>
          <p:nvPr/>
        </p:nvSpPr>
        <p:spPr>
          <a:xfrm>
            <a:off x="6829425" y="2337122"/>
            <a:ext cx="6162675" cy="476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6829425" y="2337122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977813" y="2337122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1" name="Text 19"/>
          <p:cNvSpPr/>
          <p:nvPr/>
        </p:nvSpPr>
        <p:spPr>
          <a:xfrm>
            <a:off x="7034213" y="2698849"/>
            <a:ext cx="63284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ПРОВЕРКА 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34213" y="3051274"/>
            <a:ext cx="632841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034213" y="3475137"/>
            <a:ext cx="632841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факты доступны и кто за них отвечает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533400" y="4234607"/>
            <a:ext cx="6162675" cy="1764134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33400" y="5984453"/>
            <a:ext cx="616267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6" name="Shape 24"/>
          <p:cNvSpPr/>
          <p:nvPr/>
        </p:nvSpPr>
        <p:spPr>
          <a:xfrm>
            <a:off x="533400" y="4234607"/>
            <a:ext cx="6162675" cy="476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Shape 25"/>
          <p:cNvSpPr/>
          <p:nvPr/>
        </p:nvSpPr>
        <p:spPr>
          <a:xfrm>
            <a:off x="533400" y="4234607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8" name="Shape 26"/>
          <p:cNvSpPr/>
          <p:nvPr/>
        </p:nvSpPr>
        <p:spPr>
          <a:xfrm>
            <a:off x="6681788" y="4234607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9" name="Text 27"/>
          <p:cNvSpPr/>
          <p:nvPr/>
        </p:nvSpPr>
        <p:spPr>
          <a:xfrm>
            <a:off x="738188" y="4447505"/>
            <a:ext cx="63284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ПРОВЕРКА 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8188" y="4799930"/>
            <a:ext cx="632841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Владельцы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738188" y="5223793"/>
            <a:ext cx="5925693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владеет эффектом, процессом, риском и решением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6829425" y="4234607"/>
            <a:ext cx="6162675" cy="1764134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829425" y="5984453"/>
            <a:ext cx="616267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4" name="Shape 32"/>
          <p:cNvSpPr/>
          <p:nvPr/>
        </p:nvSpPr>
        <p:spPr>
          <a:xfrm>
            <a:off x="6829425" y="4234607"/>
            <a:ext cx="6162675" cy="476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5" name="Shape 33"/>
          <p:cNvSpPr/>
          <p:nvPr/>
        </p:nvSpPr>
        <p:spPr>
          <a:xfrm>
            <a:off x="6829425" y="4234607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6" name="Shape 34"/>
          <p:cNvSpPr/>
          <p:nvPr/>
        </p:nvSpPr>
        <p:spPr>
          <a:xfrm>
            <a:off x="12977813" y="4234607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7" name="Text 35"/>
          <p:cNvSpPr/>
          <p:nvPr/>
        </p:nvSpPr>
        <p:spPr>
          <a:xfrm>
            <a:off x="7034213" y="4447505"/>
            <a:ext cx="63284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ПРОВЕРКА 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034213" y="4799930"/>
            <a:ext cx="632841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Экономика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7034213" y="5223793"/>
            <a:ext cx="5925693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ожидается изменение и чем оно будет подтверждаться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533400" y="6132091"/>
            <a:ext cx="6162675" cy="1764134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" y="7881937"/>
            <a:ext cx="616267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" y="6132091"/>
            <a:ext cx="6162675" cy="476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3" name="Shape 41"/>
          <p:cNvSpPr/>
          <p:nvPr/>
        </p:nvSpPr>
        <p:spPr>
          <a:xfrm>
            <a:off x="533400" y="6132091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4" name="Shape 42"/>
          <p:cNvSpPr/>
          <p:nvPr/>
        </p:nvSpPr>
        <p:spPr>
          <a:xfrm>
            <a:off x="6681788" y="6132091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5" name="Text 43"/>
          <p:cNvSpPr/>
          <p:nvPr/>
        </p:nvSpPr>
        <p:spPr>
          <a:xfrm>
            <a:off x="738188" y="6493818"/>
            <a:ext cx="63284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ПРОВЕРКА 5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38188" y="6846243"/>
            <a:ext cx="632841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Риски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738188" y="7270105"/>
            <a:ext cx="632841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может сломаться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6829425" y="6132091"/>
            <a:ext cx="6162675" cy="1764134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29425" y="7881937"/>
            <a:ext cx="616267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0" name="Shape 48"/>
          <p:cNvSpPr/>
          <p:nvPr/>
        </p:nvSpPr>
        <p:spPr>
          <a:xfrm>
            <a:off x="6829425" y="6132091"/>
            <a:ext cx="6162675" cy="47625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1" name="Shape 49"/>
          <p:cNvSpPr/>
          <p:nvPr/>
        </p:nvSpPr>
        <p:spPr>
          <a:xfrm>
            <a:off x="6829425" y="6132091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2" name="Shape 50"/>
          <p:cNvSpPr/>
          <p:nvPr/>
        </p:nvSpPr>
        <p:spPr>
          <a:xfrm>
            <a:off x="12977813" y="6132091"/>
            <a:ext cx="14288" cy="176413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3" name="Text 51"/>
          <p:cNvSpPr/>
          <p:nvPr/>
        </p:nvSpPr>
        <p:spPr>
          <a:xfrm>
            <a:off x="7034213" y="6493818"/>
            <a:ext cx="63284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ПРОВЕРКА 6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034213" y="6846243"/>
            <a:ext cx="632841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Принятие</a:t>
            </a:r>
            <a:endParaRPr lang="en-US" sz="2250" dirty="0"/>
          </a:p>
        </p:txBody>
      </p:sp>
      <p:sp>
        <p:nvSpPr>
          <p:cNvPr id="55" name="Text 53"/>
          <p:cNvSpPr/>
          <p:nvPr/>
        </p:nvSpPr>
        <p:spPr>
          <a:xfrm>
            <a:off x="7034213" y="7270105"/>
            <a:ext cx="632841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будет использовать решение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3277850" y="2337122"/>
            <a:ext cx="4476750" cy="555910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7" name="Text 55"/>
          <p:cNvSpPr/>
          <p:nvPr/>
        </p:nvSpPr>
        <p:spPr>
          <a:xfrm>
            <a:off x="13544550" y="2565722"/>
            <a:ext cx="43376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ВЕРДИКТ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3544550" y="3068166"/>
            <a:ext cx="152400" cy="3238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9" name="Text 57"/>
          <p:cNvSpPr/>
          <p:nvPr/>
        </p:nvSpPr>
        <p:spPr>
          <a:xfrm>
            <a:off x="13849350" y="3051497"/>
            <a:ext cx="143604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Запускать</a:t>
            </a:r>
            <a:endParaRPr lang="en-US" sz="2175" dirty="0"/>
          </a:p>
        </p:txBody>
      </p:sp>
      <p:sp>
        <p:nvSpPr>
          <p:cNvPr id="60" name="Shape 58"/>
          <p:cNvSpPr/>
          <p:nvPr/>
        </p:nvSpPr>
        <p:spPr>
          <a:xfrm>
            <a:off x="13544550" y="3539654"/>
            <a:ext cx="152400" cy="3238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61" name="Text 59"/>
          <p:cNvSpPr/>
          <p:nvPr/>
        </p:nvSpPr>
        <p:spPr>
          <a:xfrm>
            <a:off x="13849350" y="3522985"/>
            <a:ext cx="331925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Запускать при условиях</a:t>
            </a:r>
            <a:endParaRPr lang="en-US" sz="2175" dirty="0"/>
          </a:p>
        </p:txBody>
      </p:sp>
      <p:sp>
        <p:nvSpPr>
          <p:cNvPr id="62" name="Shape 60"/>
          <p:cNvSpPr/>
          <p:nvPr/>
        </p:nvSpPr>
        <p:spPr>
          <a:xfrm>
            <a:off x="13544550" y="4011141"/>
            <a:ext cx="152400" cy="3238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3" name="Text 61"/>
          <p:cNvSpPr/>
          <p:nvPr/>
        </p:nvSpPr>
        <p:spPr>
          <a:xfrm>
            <a:off x="13849350" y="3994472"/>
            <a:ext cx="1400621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Отложить</a:t>
            </a:r>
            <a:endParaRPr lang="en-US" sz="2175" dirty="0"/>
          </a:p>
        </p:txBody>
      </p:sp>
      <p:sp>
        <p:nvSpPr>
          <p:cNvPr id="64" name="Shape 62"/>
          <p:cNvSpPr/>
          <p:nvPr/>
        </p:nvSpPr>
        <p:spPr>
          <a:xfrm>
            <a:off x="13544550" y="4482629"/>
            <a:ext cx="152400" cy="3238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5" name="Text 63"/>
          <p:cNvSpPr/>
          <p:nvPr/>
        </p:nvSpPr>
        <p:spPr>
          <a:xfrm>
            <a:off x="13849350" y="4465960"/>
            <a:ext cx="1636291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Остановить</a:t>
            </a:r>
            <a:endParaRPr lang="en-US" sz="2175" dirty="0"/>
          </a:p>
        </p:txBody>
      </p:sp>
      <p:sp>
        <p:nvSpPr>
          <p:cNvPr id="66" name="Shape 64"/>
          <p:cNvSpPr/>
          <p:nvPr/>
        </p:nvSpPr>
        <p:spPr>
          <a:xfrm>
            <a:off x="13544550" y="4954116"/>
            <a:ext cx="152400" cy="323850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67" name="Text 65"/>
          <p:cNvSpPr/>
          <p:nvPr/>
        </p:nvSpPr>
        <p:spPr>
          <a:xfrm>
            <a:off x="13849350" y="4937447"/>
            <a:ext cx="1767036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подходит</a:t>
            </a:r>
            <a:endParaRPr lang="en-US" sz="2175" dirty="0"/>
          </a:p>
        </p:txBody>
      </p:sp>
      <p:sp>
        <p:nvSpPr>
          <p:cNvPr id="68" name="Text 66"/>
          <p:cNvSpPr/>
          <p:nvPr/>
        </p:nvSpPr>
        <p:spPr>
          <a:xfrm>
            <a:off x="533400" y="8105775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33400" y="8565356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0" name="Text 68"/>
          <p:cNvSpPr/>
          <p:nvPr/>
        </p:nvSpPr>
        <p:spPr>
          <a:xfrm>
            <a:off x="800100" y="8496300"/>
            <a:ext cx="3516464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Stop / разрыв</a:t>
            </a:r>
            <a:endParaRPr lang="en-US" sz="1875" dirty="0"/>
          </a:p>
        </p:txBody>
      </p:sp>
      <p:sp>
        <p:nvSpPr>
          <p:cNvPr id="71" name="Shape 69"/>
          <p:cNvSpPr/>
          <p:nvPr/>
        </p:nvSpPr>
        <p:spPr>
          <a:xfrm>
            <a:off x="4537993" y="8565356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72" name="Text 70"/>
          <p:cNvSpPr/>
          <p:nvPr/>
        </p:nvSpPr>
        <p:spPr>
          <a:xfrm>
            <a:off x="4804693" y="8496300"/>
            <a:ext cx="3086017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условный допуск</a:t>
            </a:r>
            <a:endParaRPr lang="en-US" sz="1875" dirty="0"/>
          </a:p>
        </p:txBody>
      </p:sp>
      <p:sp>
        <p:nvSpPr>
          <p:cNvPr id="73" name="Shape 71"/>
          <p:cNvSpPr/>
          <p:nvPr/>
        </p:nvSpPr>
        <p:spPr>
          <a:xfrm>
            <a:off x="533400" y="8970169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4" name="Text 72"/>
          <p:cNvSpPr/>
          <p:nvPr/>
        </p:nvSpPr>
        <p:spPr>
          <a:xfrm>
            <a:off x="800100" y="8901113"/>
            <a:ext cx="2794378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готовность</a:t>
            </a:r>
            <a:endParaRPr lang="en-US" sz="1875" dirty="0"/>
          </a:p>
        </p:txBody>
      </p:sp>
      <p:sp>
        <p:nvSpPr>
          <p:cNvPr id="75" name="Shape 73"/>
          <p:cNvSpPr/>
          <p:nvPr/>
        </p:nvSpPr>
        <p:spPr>
          <a:xfrm>
            <a:off x="3836938" y="8970169"/>
            <a:ext cx="171450" cy="1714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6" name="Text 74"/>
          <p:cNvSpPr/>
          <p:nvPr/>
        </p:nvSpPr>
        <p:spPr>
          <a:xfrm>
            <a:off x="4103638" y="8901113"/>
            <a:ext cx="197837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Slate — отложить</a:t>
            </a:r>
            <a:endParaRPr lang="en-US" sz="1875" dirty="0"/>
          </a:p>
        </p:txBody>
      </p:sp>
      <p:sp>
        <p:nvSpPr>
          <p:cNvPr id="77" name="Shape 75"/>
          <p:cNvSpPr/>
          <p:nvPr/>
        </p:nvSpPr>
        <p:spPr>
          <a:xfrm>
            <a:off x="11058525" y="8105775"/>
            <a:ext cx="6696075" cy="12668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263313" y="8253412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1263313" y="8605838"/>
            <a:ext cx="647509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бесплатный пресейл и не сбор пожеланий по ИИ.</a:t>
            </a:r>
            <a:endParaRPr lang="en-US" sz="1875" dirty="0"/>
          </a:p>
        </p:txBody>
      </p:sp>
      <p:sp>
        <p:nvSpPr>
          <p:cNvPr id="80" name="Shape 78"/>
          <p:cNvSpPr/>
          <p:nvPr/>
        </p:nvSpPr>
        <p:spPr>
          <a:xfrm>
            <a:off x="533400" y="95440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533400" y="9691688"/>
            <a:ext cx="93249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03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Платная Диагностика защищает клиента от большого проекта вслепую.</a:t>
            </a:r>
            <a:endParaRPr lang="en-US" sz="1875" dirty="0"/>
          </a:p>
        </p:txBody>
      </p:sp>
      <p:sp>
        <p:nvSpPr>
          <p:cNvPr id="82" name="Text 80"/>
          <p:cNvSpPr/>
          <p:nvPr/>
        </p:nvSpPr>
        <p:spPr>
          <a:xfrm>
            <a:off x="10146729" y="9705975"/>
            <a:ext cx="83686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AI_Переход_Визуализация_03_Диагностика_Готовности_V1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ПЕРЕХОД / ВИЗУАЛИЗАЦИЯ 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48229" y="381000"/>
            <a:ext cx="102370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КОММЕРЧЕСКИЙ СЛОЙ · FUNNEL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85838"/>
            <a:ext cx="1894332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61"/>
              </a:lnSpc>
              <a:buNone/>
            </a:pPr>
            <a:r>
              <a:rPr lang="en-US" sz="4500" b="1" spc="-45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Не все идеи про ИИ должны попасть в работу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33400" y="1724918"/>
            <a:ext cx="1697355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переход отсекает идеи без мандата, данных, владельца эффекта, экономики и условий остановки.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533400" y="2337122"/>
            <a:ext cx="12839700" cy="700088"/>
          </a:xfrm>
          <a:prstGeom prst="rect">
            <a:avLst/>
          </a:prstGeom>
          <a:solidFill>
            <a:srgbClr val="FFFFFF">
              <a:alpha val="34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6288" y="2539529"/>
            <a:ext cx="7163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ВХОД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64047" y="2503810"/>
            <a:ext cx="6803581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20—40 идей, пилотов, запросов и инициатив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533400" y="3189610"/>
            <a:ext cx="12839700" cy="1876425"/>
          </a:xfrm>
          <a:prstGeom prst="rect">
            <a:avLst/>
          </a:prstGeom>
          <a:solidFill>
            <a:srgbClr val="B46A3C">
              <a:alpha val="6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6288" y="3356297"/>
            <a:ext cx="26403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ФИЛЬТРЫ ДОПУСКА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6288" y="3784922"/>
            <a:ext cx="1262063" cy="500063"/>
          </a:xfrm>
          <a:prstGeom prst="rect">
            <a:avLst/>
          </a:prstGeom>
          <a:ln w="14288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2025" y="3875410"/>
            <a:ext cx="96678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2152650" y="3784922"/>
            <a:ext cx="1317873" cy="500063"/>
          </a:xfrm>
          <a:prstGeom prst="rect">
            <a:avLst/>
          </a:prstGeom>
          <a:ln w="14288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8388" y="3875410"/>
            <a:ext cx="102259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584823" y="3784922"/>
            <a:ext cx="2647057" cy="500063"/>
          </a:xfrm>
          <a:prstGeom prst="rect">
            <a:avLst/>
          </a:prstGeom>
          <a:ln w="14288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0561" y="3875410"/>
            <a:ext cx="235499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эффекта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346180" y="3784922"/>
            <a:ext cx="1693069" cy="500063"/>
          </a:xfrm>
          <a:prstGeom prst="rect">
            <a:avLst/>
          </a:prstGeom>
          <a:ln w="14288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1918" y="3875410"/>
            <a:ext cx="139779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Экономика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153549" y="3784922"/>
            <a:ext cx="941636" cy="500063"/>
          </a:xfrm>
          <a:prstGeom prst="rect">
            <a:avLst/>
          </a:prstGeom>
          <a:ln w="14288">
            <a:solidFill>
              <a:srgbClr val="0B1F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286" y="3875410"/>
            <a:ext cx="64636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209484" y="3784922"/>
            <a:ext cx="1530028" cy="500063"/>
          </a:xfrm>
          <a:prstGeom prst="rect">
            <a:avLst/>
          </a:prstGeom>
          <a:ln w="14288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95222" y="3875410"/>
            <a:ext cx="123475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Принятие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776288" y="4399285"/>
            <a:ext cx="2632770" cy="500063"/>
          </a:xfrm>
          <a:prstGeom prst="rect">
            <a:avLst/>
          </a:prstGeom>
          <a:ln w="14288">
            <a:solidFill>
              <a:srgbClr val="0B1F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2025" y="4489772"/>
            <a:ext cx="234027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Условие остановки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533400" y="5218435"/>
            <a:ext cx="12839700" cy="2473003"/>
          </a:xfrm>
          <a:prstGeom prst="rect">
            <a:avLst/>
          </a:prstGeom>
          <a:solidFill>
            <a:srgbClr val="0F766E">
              <a:alpha val="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6288" y="5385122"/>
            <a:ext cx="135893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6288" y="5756597"/>
            <a:ext cx="1358931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Активный набор до 5 вариантов применения ИИ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76288" y="6289997"/>
            <a:ext cx="2379315" cy="123475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1" name="Shape 29"/>
          <p:cNvSpPr/>
          <p:nvPr/>
        </p:nvSpPr>
        <p:spPr>
          <a:xfrm>
            <a:off x="3269903" y="6289997"/>
            <a:ext cx="2379315" cy="123475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2" name="Shape 30"/>
          <p:cNvSpPr/>
          <p:nvPr/>
        </p:nvSpPr>
        <p:spPr>
          <a:xfrm>
            <a:off x="5763518" y="6289997"/>
            <a:ext cx="2379390" cy="123475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3" name="Shape 31"/>
          <p:cNvSpPr/>
          <p:nvPr/>
        </p:nvSpPr>
        <p:spPr>
          <a:xfrm>
            <a:off x="8257208" y="6289997"/>
            <a:ext cx="2379315" cy="123475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50823" y="6289997"/>
            <a:ext cx="2379390" cy="1234753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5" name="Shape 33"/>
          <p:cNvSpPr/>
          <p:nvPr/>
        </p:nvSpPr>
        <p:spPr>
          <a:xfrm>
            <a:off x="13658850" y="2337122"/>
            <a:ext cx="4095750" cy="5354315"/>
          </a:xfrm>
          <a:prstGeom prst="rect">
            <a:avLst/>
          </a:prstGeom>
          <a:solidFill>
            <a:srgbClr val="B91C1C">
              <a:alpha val="5000"/>
            </a:srgbClr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882688" y="2522860"/>
            <a:ext cx="40128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ОТСЕЧЕНО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3882688" y="3437260"/>
            <a:ext cx="364807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3882688" y="2989585"/>
            <a:ext cx="37575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Нет владельца</a:t>
            </a:r>
            <a:endParaRPr lang="en-US" sz="2025" dirty="0"/>
          </a:p>
        </p:txBody>
      </p:sp>
      <p:sp>
        <p:nvSpPr>
          <p:cNvPr id="39" name="Shape 37"/>
          <p:cNvSpPr/>
          <p:nvPr/>
        </p:nvSpPr>
        <p:spPr>
          <a:xfrm>
            <a:off x="13882688" y="4027810"/>
            <a:ext cx="364807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3882688" y="3580135"/>
            <a:ext cx="37575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Нет данных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13882688" y="4618360"/>
            <a:ext cx="364807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3882688" y="4170685"/>
            <a:ext cx="37575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Нет экономики</a:t>
            </a:r>
            <a:endParaRPr lang="en-US" sz="2025" dirty="0"/>
          </a:p>
        </p:txBody>
      </p:sp>
      <p:sp>
        <p:nvSpPr>
          <p:cNvPr id="43" name="Shape 41"/>
          <p:cNvSpPr/>
          <p:nvPr/>
        </p:nvSpPr>
        <p:spPr>
          <a:xfrm>
            <a:off x="13882688" y="5208910"/>
            <a:ext cx="364807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3882688" y="4761235"/>
            <a:ext cx="37575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Нет права остановить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13882688" y="5351785"/>
            <a:ext cx="40128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готова команда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533400" y="7900988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33400" y="8291513"/>
            <a:ext cx="111585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Широкий вход — идеи</a:t>
            </a:r>
            <a:endParaRPr lang="en-US" sz="1875" dirty="0"/>
          </a:p>
        </p:txBody>
      </p:sp>
      <p:sp>
        <p:nvSpPr>
          <p:cNvPr id="48" name="Text 46"/>
          <p:cNvSpPr/>
          <p:nvPr/>
        </p:nvSpPr>
        <p:spPr>
          <a:xfrm>
            <a:off x="533400" y="8677275"/>
            <a:ext cx="111585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Фильтры — критерии допуска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533400" y="9063038"/>
            <a:ext cx="111585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Узкий выход — управляемый активный набор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1058525" y="7900988"/>
            <a:ext cx="6696075" cy="957263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63313" y="8048625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1263313" y="8401050"/>
            <a:ext cx="69151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генерация идей и не конкурс ИИ-пилотов.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533400" y="95440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33400" y="9691688"/>
            <a:ext cx="75136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03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Сила технологии не в количестве идей, а в качестве допуска.</a:t>
            </a:r>
            <a:endParaRPr lang="en-US" sz="1875" dirty="0"/>
          </a:p>
        </p:txBody>
      </p:sp>
      <p:sp>
        <p:nvSpPr>
          <p:cNvPr id="55" name="Text 53"/>
          <p:cNvSpPr/>
          <p:nvPr/>
        </p:nvSpPr>
        <p:spPr>
          <a:xfrm>
            <a:off x="11317188" y="9705975"/>
            <a:ext cx="70811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AI_Переход_Визуализация_04_Отсев_AI_Хаоса_V1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ПЕРЕХОД / ВИЗУАЛИЗАЦИЯ 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66792" y="381000"/>
            <a:ext cx="13186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КОНСУЛЬТАНТСКИЙ СЛОЙ · ACTIVE PORTFOLIO MAP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85838"/>
            <a:ext cx="1894332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61"/>
              </a:lnSpc>
              <a:buNone/>
            </a:pPr>
            <a:r>
              <a:rPr lang="en-US" sz="4500" b="1" spc="-45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Больше 5 активных вариантов — потеря управляемости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33400" y="1724918"/>
            <a:ext cx="15893415" cy="76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Активный набор — это не список идей, а ограниченный контур решений с владельцами, данными, рисками и условиями остановки.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533400" y="2701677"/>
            <a:ext cx="4191000" cy="3337173"/>
          </a:xfrm>
          <a:prstGeom prst="rect">
            <a:avLst/>
          </a:prstGeom>
          <a:solidFill>
            <a:srgbClr val="475569">
              <a:alpha val="5000"/>
            </a:srgbClr>
          </a:solidFill>
          <a:ln w="14288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8188" y="2868364"/>
            <a:ext cx="4159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BACKLOG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8188" y="3239839"/>
            <a:ext cx="41595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Отложенные идеи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38188" y="3677989"/>
            <a:ext cx="41595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в работе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4876800" y="2701677"/>
            <a:ext cx="4191000" cy="3337173"/>
          </a:xfrm>
          <a:prstGeom prst="rect">
            <a:avLst/>
          </a:prstGeom>
          <a:solidFill>
            <a:srgbClr val="0F766E">
              <a:alpha val="6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1588" y="2868364"/>
            <a:ext cx="4159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ACTIVE · ЛИМИТ 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81588" y="3239839"/>
            <a:ext cx="41595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Активный набор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081588" y="3677989"/>
            <a:ext cx="41595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Спринте или подготовке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5081588" y="4519613"/>
            <a:ext cx="3781425" cy="2095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5081588" y="4805363"/>
            <a:ext cx="3781425" cy="2095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081588" y="5091113"/>
            <a:ext cx="3781425" cy="2095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9" name="Shape 17"/>
          <p:cNvSpPr/>
          <p:nvPr/>
        </p:nvSpPr>
        <p:spPr>
          <a:xfrm>
            <a:off x="5081588" y="5376863"/>
            <a:ext cx="3781425" cy="2095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Shape 18"/>
          <p:cNvSpPr/>
          <p:nvPr/>
        </p:nvSpPr>
        <p:spPr>
          <a:xfrm>
            <a:off x="5081588" y="5662613"/>
            <a:ext cx="3781425" cy="2095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1" name="Shape 19"/>
          <p:cNvSpPr/>
          <p:nvPr/>
        </p:nvSpPr>
        <p:spPr>
          <a:xfrm>
            <a:off x="9220200" y="2701677"/>
            <a:ext cx="4191000" cy="3337173"/>
          </a:xfrm>
          <a:prstGeom prst="rect">
            <a:avLst/>
          </a:prstGeom>
          <a:solidFill>
            <a:srgbClr val="B91C1C">
              <a:alpha val="5000"/>
            </a:srgbClr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24988" y="2868364"/>
            <a:ext cx="4159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24988" y="3239839"/>
            <a:ext cx="41595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запускать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424988" y="3677989"/>
            <a:ext cx="41595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Остановлено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3563600" y="2701677"/>
            <a:ext cx="4191000" cy="3337173"/>
          </a:xfrm>
          <a:prstGeom prst="rect">
            <a:avLst/>
          </a:prstGeom>
          <a:solidFill>
            <a:srgbClr val="B46A3C">
              <a:alpha val="6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68388" y="2868364"/>
            <a:ext cx="4159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CONTROL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68388" y="3239839"/>
            <a:ext cx="41595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 дальше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3768388" y="3677989"/>
            <a:ext cx="41595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Требует решения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533400" y="6210300"/>
            <a:ext cx="17221200" cy="1724025"/>
          </a:xfrm>
          <a:prstGeom prst="rect">
            <a:avLst/>
          </a:prstGeom>
          <a:solidFill>
            <a:srgbClr val="FFFFFF">
              <a:alpha val="34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238" y="6376988"/>
            <a:ext cx="29923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КАРТОЧКА ВАРИАНТА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57238" y="6786563"/>
            <a:ext cx="2947988" cy="442913"/>
          </a:xfrm>
          <a:prstGeom prst="rect">
            <a:avLst/>
          </a:prstGeom>
          <a:ln w="9525">
            <a:solidFill>
              <a:srgbClr val="0B1F33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0113" y="6853238"/>
            <a:ext cx="27506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Управленческая задача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3838575" y="6786563"/>
            <a:ext cx="2423666" cy="442913"/>
          </a:xfrm>
          <a:prstGeom prst="rect">
            <a:avLst/>
          </a:prstGeom>
          <a:ln w="9525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81450" y="6853238"/>
            <a:ext cx="221411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эффекта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6395591" y="6786563"/>
            <a:ext cx="2287712" cy="442913"/>
          </a:xfrm>
          <a:prstGeom prst="rect">
            <a:avLst/>
          </a:prstGeom>
          <a:ln w="9525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8466" y="6853238"/>
            <a:ext cx="207816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данных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8816653" y="6786563"/>
            <a:ext cx="1234008" cy="442913"/>
          </a:xfrm>
          <a:prstGeom prst="rect">
            <a:avLst/>
          </a:prstGeom>
          <a:ln w="9525">
            <a:solidFill>
              <a:srgbClr val="0B1F33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59528" y="6853238"/>
            <a:ext cx="102445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Процесс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10184011" y="6786563"/>
            <a:ext cx="820862" cy="442913"/>
          </a:xfrm>
          <a:prstGeom prst="rect">
            <a:avLst/>
          </a:prstGeom>
          <a:ln w="9525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26886" y="6853238"/>
            <a:ext cx="61131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1138222" y="6786563"/>
            <a:ext cx="2897981" cy="442913"/>
          </a:xfrm>
          <a:prstGeom prst="rect">
            <a:avLst/>
          </a:prstGeom>
          <a:ln w="9525">
            <a:solidFill>
              <a:srgbClr val="0B1F33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81097" y="6853238"/>
            <a:ext cx="269917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Ожидаемое изменение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14169554" y="6786563"/>
            <a:ext cx="2129582" cy="442913"/>
          </a:xfrm>
          <a:prstGeom prst="rect">
            <a:avLst/>
          </a:prstGeom>
          <a:ln w="9525">
            <a:solidFill>
              <a:srgbClr val="B46A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312429" y="6853238"/>
            <a:ext cx="192003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Условие запуска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757238" y="7324725"/>
            <a:ext cx="2424857" cy="442913"/>
          </a:xfrm>
          <a:prstGeom prst="rect">
            <a:avLst/>
          </a:prstGeom>
          <a:ln w="9525">
            <a:solidFill>
              <a:srgbClr val="B46A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0113" y="7391400"/>
            <a:ext cx="221530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Условие остановки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3315444" y="7324725"/>
            <a:ext cx="1015157" cy="442913"/>
          </a:xfrm>
          <a:prstGeom prst="rect">
            <a:avLst/>
          </a:prstGeom>
          <a:ln w="9525">
            <a:solidFill>
              <a:srgbClr val="0B1F33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58319" y="7391400"/>
            <a:ext cx="80560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Статус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533400" y="8124825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33400" y="8584406"/>
            <a:ext cx="171450" cy="1714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1" name="Text 49"/>
          <p:cNvSpPr/>
          <p:nvPr/>
        </p:nvSpPr>
        <p:spPr>
          <a:xfrm>
            <a:off x="800100" y="8515350"/>
            <a:ext cx="2513186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Backlog — не в работе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3522836" y="8584406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3" name="Text 51"/>
          <p:cNvSpPr/>
          <p:nvPr/>
        </p:nvSpPr>
        <p:spPr>
          <a:xfrm>
            <a:off x="3789536" y="8515350"/>
            <a:ext cx="4009224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Active — в Спринте или подготовке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7967737" y="8584406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5" name="Text 53"/>
          <p:cNvSpPr/>
          <p:nvPr/>
        </p:nvSpPr>
        <p:spPr>
          <a:xfrm>
            <a:off x="8234437" y="8515350"/>
            <a:ext cx="230103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— остановлено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533400" y="8970169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7" name="Text 55"/>
          <p:cNvSpPr/>
          <p:nvPr/>
        </p:nvSpPr>
        <p:spPr>
          <a:xfrm>
            <a:off x="800100" y="8901113"/>
            <a:ext cx="3096825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 — требует решения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11058525" y="8124825"/>
            <a:ext cx="6696075" cy="12668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263313" y="8272463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1263313" y="8624888"/>
            <a:ext cx="647509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backlog инноваций и не очередь технических задач.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533400" y="95440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33400" y="9691688"/>
            <a:ext cx="792336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03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Лимит 5 — не ограничение амбиций, а защита управляемости.</a:t>
            </a:r>
            <a:endParaRPr lang="en-US" sz="1875" dirty="0"/>
          </a:p>
        </p:txBody>
      </p:sp>
      <p:sp>
        <p:nvSpPr>
          <p:cNvPr id="63" name="Text 61"/>
          <p:cNvSpPr/>
          <p:nvPr/>
        </p:nvSpPr>
        <p:spPr>
          <a:xfrm>
            <a:off x="10585698" y="9705975"/>
            <a:ext cx="78857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AI_Переход_Визуализация_05_Активный_Набор_До_5_V1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ПЕРЕХОД / ВИЗУАЛИЗАЦИЯ 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52384" y="381000"/>
            <a:ext cx="90224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OWNER MAP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85838"/>
            <a:ext cx="17737836" cy="1249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61"/>
              </a:lnSpc>
              <a:buNone/>
            </a:pPr>
            <a:r>
              <a:rPr lang="en-US" sz="4500" b="1" spc="-45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ИИ-вариант без владельца эффекта не допускается к работе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33400" y="2330648"/>
            <a:ext cx="1697355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 каждого варианта должны быть владельцы эффекта, данных, процесса, риска и решения.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533400" y="2942853"/>
            <a:ext cx="6143625" cy="2481411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3400" y="5409977"/>
            <a:ext cx="61436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" y="2942853"/>
            <a:ext cx="61436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2942853"/>
            <a:ext cx="47625" cy="248141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62738" y="2942853"/>
            <a:ext cx="14288" cy="248141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771525" y="3803600"/>
            <a:ext cx="627078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эффекта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71525" y="4246513"/>
            <a:ext cx="6270784" cy="355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3"/>
              </a:lnSpc>
              <a:buNone/>
            </a:pPr>
            <a:r>
              <a:rPr lang="en-US" sz="1950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отвечает за результат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33400" y="5576664"/>
            <a:ext cx="6143625" cy="2481486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33400" y="8043863"/>
            <a:ext cx="61436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533400" y="5576664"/>
            <a:ext cx="61436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" y="5576664"/>
            <a:ext cx="47625" cy="248148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6662738" y="5576664"/>
            <a:ext cx="14288" cy="2481486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1525" y="6437486"/>
            <a:ext cx="627078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данных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771525" y="6880399"/>
            <a:ext cx="6270784" cy="355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3"/>
              </a:lnSpc>
              <a:buNone/>
            </a:pPr>
            <a:r>
              <a:rPr lang="en-US" sz="1950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отвечает за факты и качество основы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905625" y="2942853"/>
            <a:ext cx="4476750" cy="3981822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8705850" y="4281264"/>
            <a:ext cx="876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ЦЕНТР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73932" y="4709889"/>
            <a:ext cx="414013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3636"/>
              </a:lnSpc>
              <a:buNone/>
            </a:pPr>
            <a:r>
              <a:rPr lang="en-US" sz="30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Вариант применения ИИ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6905625" y="7058025"/>
            <a:ext cx="4476750" cy="10001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6099" y="7205663"/>
            <a:ext cx="45158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КОНТРОЛЬНЫЙ ВОПРОС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86099" y="7577138"/>
            <a:ext cx="45158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7222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имеет право остановить?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610975" y="2942853"/>
            <a:ext cx="6143625" cy="1603474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610975" y="4532040"/>
            <a:ext cx="61436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10975" y="2942853"/>
            <a:ext cx="61436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10975" y="2942853"/>
            <a:ext cx="14288" cy="160347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2" name="Shape 30"/>
          <p:cNvSpPr/>
          <p:nvPr/>
        </p:nvSpPr>
        <p:spPr>
          <a:xfrm>
            <a:off x="17706975" y="2942853"/>
            <a:ext cx="47625" cy="160347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11815763" y="3364632"/>
            <a:ext cx="627078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процесса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1815763" y="3807544"/>
            <a:ext cx="6270784" cy="355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3"/>
              </a:lnSpc>
              <a:buNone/>
            </a:pPr>
            <a:r>
              <a:rPr lang="en-US" sz="1950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отвечает за место изменения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1610975" y="4698727"/>
            <a:ext cx="6143625" cy="1603474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610975" y="6287914"/>
            <a:ext cx="61436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7" name="Shape 35"/>
          <p:cNvSpPr/>
          <p:nvPr/>
        </p:nvSpPr>
        <p:spPr>
          <a:xfrm>
            <a:off x="11610975" y="4698727"/>
            <a:ext cx="61436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8" name="Shape 36"/>
          <p:cNvSpPr/>
          <p:nvPr/>
        </p:nvSpPr>
        <p:spPr>
          <a:xfrm>
            <a:off x="11610975" y="4698727"/>
            <a:ext cx="14288" cy="160347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9" name="Shape 37"/>
          <p:cNvSpPr/>
          <p:nvPr/>
        </p:nvSpPr>
        <p:spPr>
          <a:xfrm>
            <a:off x="17706975" y="4698727"/>
            <a:ext cx="47625" cy="160347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Text 38"/>
          <p:cNvSpPr/>
          <p:nvPr/>
        </p:nvSpPr>
        <p:spPr>
          <a:xfrm>
            <a:off x="11815763" y="5120506"/>
            <a:ext cx="627078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риска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11815763" y="5563419"/>
            <a:ext cx="6270784" cy="355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3"/>
              </a:lnSpc>
              <a:buNone/>
            </a:pPr>
            <a:r>
              <a:rPr lang="en-US" sz="1950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отвечает за допустимость и ограничения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1610975" y="6454601"/>
            <a:ext cx="6143625" cy="1603549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610975" y="8043863"/>
            <a:ext cx="61436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4" name="Shape 42"/>
          <p:cNvSpPr/>
          <p:nvPr/>
        </p:nvSpPr>
        <p:spPr>
          <a:xfrm>
            <a:off x="11610975" y="6454601"/>
            <a:ext cx="61436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5" name="Shape 43"/>
          <p:cNvSpPr/>
          <p:nvPr/>
        </p:nvSpPr>
        <p:spPr>
          <a:xfrm>
            <a:off x="11610975" y="6454601"/>
            <a:ext cx="14288" cy="160354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6" name="Shape 44"/>
          <p:cNvSpPr/>
          <p:nvPr/>
        </p:nvSpPr>
        <p:spPr>
          <a:xfrm>
            <a:off x="17706975" y="6454601"/>
            <a:ext cx="47625" cy="1603549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7" name="Text 45"/>
          <p:cNvSpPr/>
          <p:nvPr/>
        </p:nvSpPr>
        <p:spPr>
          <a:xfrm>
            <a:off x="11815763" y="6876455"/>
            <a:ext cx="627078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решения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11815763" y="7319367"/>
            <a:ext cx="6270784" cy="355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3"/>
              </a:lnSpc>
              <a:buNone/>
            </a:pPr>
            <a:r>
              <a:rPr lang="en-US" sz="1950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принимает Go / Hold / Stop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533400" y="8267700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33400" y="8727281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1" name="Text 49"/>
          <p:cNvSpPr/>
          <p:nvPr/>
        </p:nvSpPr>
        <p:spPr>
          <a:xfrm>
            <a:off x="800100" y="8658225"/>
            <a:ext cx="3184585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владельцы и данные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4215780" y="8727281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3" name="Text 51"/>
          <p:cNvSpPr/>
          <p:nvPr/>
        </p:nvSpPr>
        <p:spPr>
          <a:xfrm>
            <a:off x="4482480" y="8658225"/>
            <a:ext cx="3678341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управленческая связь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533400" y="9132094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5" name="Text 53"/>
          <p:cNvSpPr/>
          <p:nvPr/>
        </p:nvSpPr>
        <p:spPr>
          <a:xfrm>
            <a:off x="800100" y="9063038"/>
            <a:ext cx="4314584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— отсутствие владельца как Stop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1058525" y="8267700"/>
            <a:ext cx="6696075" cy="957263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263313" y="8415338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1263313" y="8767763"/>
            <a:ext cx="69151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матрица должностей и не оргструктура.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533400" y="95440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33400" y="9691688"/>
            <a:ext cx="972050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03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Ответственность должна быть назначена до Спринта, а не после проблемы.</a:t>
            </a:r>
            <a:endParaRPr lang="en-US" sz="1875" dirty="0"/>
          </a:p>
        </p:txBody>
      </p:sp>
      <p:sp>
        <p:nvSpPr>
          <p:cNvPr id="61" name="Text 59"/>
          <p:cNvSpPr/>
          <p:nvPr/>
        </p:nvSpPr>
        <p:spPr>
          <a:xfrm>
            <a:off x="11024592" y="9705975"/>
            <a:ext cx="74030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AI_Переход_Визуализация_06_Владелец_Эффекта_V1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ПЕРЕХОД / ВИЗУАЛИЗАЦИЯ 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36943" y="381000"/>
            <a:ext cx="93694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КОММЕРЧЕСКИЙ СЛОЙ · PRODUCT LADDER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85838"/>
            <a:ext cx="1894332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61"/>
              </a:lnSpc>
              <a:buNone/>
            </a:pPr>
            <a:r>
              <a:rPr lang="en-US" sz="4500" b="1" spc="-45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переход продается через четыре платных продукта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33400" y="1724918"/>
            <a:ext cx="1697355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Новый клиент начинает с Диагностики; следующий этап возможен только после вердикта и документального следа.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533400" y="2299022"/>
            <a:ext cx="17221200" cy="628650"/>
          </a:xfrm>
          <a:prstGeom prst="rect">
            <a:avLst/>
          </a:prstGeom>
          <a:ln w="14288">
            <a:solidFill>
              <a:srgbClr val="0B1F33">
                <a:alpha val="55000"/>
              </a:srgbClr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57238" y="2465710"/>
            <a:ext cx="19362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 ПРОДУКТА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6102" y="2446660"/>
            <a:ext cx="69250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Первый разговор · квалификация · рамка запроса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533400" y="3491880"/>
            <a:ext cx="4176712" cy="322800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2" name="Shape 10"/>
          <p:cNvSpPr/>
          <p:nvPr/>
        </p:nvSpPr>
        <p:spPr>
          <a:xfrm>
            <a:off x="533400" y="6662738"/>
            <a:ext cx="4176712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3701430"/>
            <a:ext cx="409146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ПРОДУКТ 1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62000" y="4125292"/>
            <a:ext cx="4091464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27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62000" y="4633913"/>
            <a:ext cx="3831098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готовности и вердикт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4881563" y="3238426"/>
            <a:ext cx="4176712" cy="3481462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4881563" y="6662738"/>
            <a:ext cx="4176712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5110163" y="3447976"/>
            <a:ext cx="409146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ПРОДУКТ 2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5110163" y="3871838"/>
            <a:ext cx="4091464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27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 решений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5110163" y="4380458"/>
            <a:ext cx="409146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Активный набор до 5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229725" y="2948806"/>
            <a:ext cx="4176712" cy="377108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9229725" y="6662738"/>
            <a:ext cx="4176712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9458325" y="3158356"/>
            <a:ext cx="409146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ПРОДУКТ 3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458325" y="3582219"/>
            <a:ext cx="4091464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27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 реализации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9458325" y="4090839"/>
            <a:ext cx="3831098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выбранных вариантов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3577888" y="2622872"/>
            <a:ext cx="4176712" cy="409701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Shape 25"/>
          <p:cNvSpPr/>
          <p:nvPr/>
        </p:nvSpPr>
        <p:spPr>
          <a:xfrm>
            <a:off x="13577888" y="6662738"/>
            <a:ext cx="4176712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13806488" y="2832422"/>
            <a:ext cx="409146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ПРОДУКТ 4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3806488" y="3256285"/>
            <a:ext cx="3831098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27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Сопровождение контроля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3806488" y="4159225"/>
            <a:ext cx="3831098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Факты, риски, корректировки, решение дальше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533400" y="6891338"/>
            <a:ext cx="17221200" cy="604838"/>
          </a:xfrm>
          <a:prstGeom prst="rect">
            <a:avLst/>
          </a:prstGeom>
          <a:ln w="14288">
            <a:solidFill>
              <a:srgbClr val="B46A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238" y="7046119"/>
            <a:ext cx="14082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ВЕРДИКТЫ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304157" y="7108031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2570857" y="7038975"/>
            <a:ext cx="375047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3136404" y="7108031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6" name="Text 34"/>
          <p:cNvSpPr/>
          <p:nvPr/>
        </p:nvSpPr>
        <p:spPr>
          <a:xfrm>
            <a:off x="3403104" y="7038975"/>
            <a:ext cx="1925985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при условиях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5519589" y="7108031"/>
            <a:ext cx="171450" cy="1714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8" name="Text 36"/>
          <p:cNvSpPr/>
          <p:nvPr/>
        </p:nvSpPr>
        <p:spPr>
          <a:xfrm>
            <a:off x="5786289" y="7038975"/>
            <a:ext cx="58080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6557590" y="7108031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0" name="Text 38"/>
          <p:cNvSpPr/>
          <p:nvPr/>
        </p:nvSpPr>
        <p:spPr>
          <a:xfrm>
            <a:off x="6824290" y="7038975"/>
            <a:ext cx="56867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7583463" y="7108031"/>
            <a:ext cx="171450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2" name="Text 40"/>
          <p:cNvSpPr/>
          <p:nvPr/>
        </p:nvSpPr>
        <p:spPr>
          <a:xfrm>
            <a:off x="7850163" y="7038975"/>
            <a:ext cx="710357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Fit</a:t>
            </a:r>
            <a:endParaRPr lang="en-US" sz="1875" dirty="0"/>
          </a:p>
        </p:txBody>
      </p:sp>
      <p:sp>
        <p:nvSpPr>
          <p:cNvPr id="43" name="Text 41"/>
          <p:cNvSpPr/>
          <p:nvPr/>
        </p:nvSpPr>
        <p:spPr>
          <a:xfrm>
            <a:off x="533400" y="7667625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33400" y="8039100"/>
            <a:ext cx="111585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Сплошная стрелка — обязательный переход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533400" y="8405813"/>
            <a:ext cx="111585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Пунктир — условный переход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533400" y="8772525"/>
            <a:ext cx="111585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блокировка — Stop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1058525" y="7667625"/>
            <a:ext cx="6696075" cy="12668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263313" y="7815263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263313" y="8167687"/>
            <a:ext cx="647509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Первый разговор, презентация, сайт и квалификация не являются продуктами технологии.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533400" y="9234488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33400" y="9382125"/>
            <a:ext cx="875586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03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— первый платный вход, а не бесплатное приложение к продаже.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9415239" y="9705975"/>
            <a:ext cx="91732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AI_Переход_Визуализация_07_Клиентский_Путь_4_Продуктов_V1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ПЕРЕХОД / ВИЗУАЛИЗАЦИЯ 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710142" y="381000"/>
            <a:ext cx="88489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GATE MAP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85838"/>
            <a:ext cx="1894332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61"/>
              </a:lnSpc>
              <a:buNone/>
            </a:pPr>
            <a:r>
              <a:rPr lang="en-US" sz="4500" b="1" spc="-45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 решений отбирает, а не разгоняет ИИ-идеи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33400" y="1724918"/>
            <a:ext cx="1697355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выходе — до 5 вариантов применения ИИ с владельцами, данными, рисками, условиями запуска и остановки.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533400" y="2337122"/>
            <a:ext cx="5158085" cy="5559103"/>
          </a:xfrm>
          <a:prstGeom prst="rect">
            <a:avLst/>
          </a:prstGeom>
          <a:solidFill>
            <a:srgbClr val="FFFFFF">
              <a:alpha val="34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7238" y="2522860"/>
            <a:ext cx="51814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ВХОД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7238" y="3406304"/>
            <a:ext cx="4710410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57238" y="2970535"/>
            <a:ext cx="485172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Результаты Диагностики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757238" y="3984947"/>
            <a:ext cx="4710410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57238" y="3549179"/>
            <a:ext cx="485172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Список вариантов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757238" y="4563591"/>
            <a:ext cx="4710410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57238" y="4127822"/>
            <a:ext cx="485172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Ограничения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757238" y="4706466"/>
            <a:ext cx="518145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Стоп-факторы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5920085" y="2337122"/>
            <a:ext cx="6447755" cy="5559103"/>
          </a:xfrm>
          <a:prstGeom prst="rect">
            <a:avLst/>
          </a:prstGeom>
          <a:solidFill>
            <a:srgbClr val="B46A3C">
              <a:alpha val="6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3923" y="2522860"/>
            <a:ext cx="66000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РАБОТА СЕССИИ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43923" y="3379515"/>
            <a:ext cx="6000080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143923" y="2970535"/>
            <a:ext cx="6180083" cy="351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4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Уточнить задачу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6143923" y="3912319"/>
            <a:ext cx="6000080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43923" y="3503340"/>
            <a:ext cx="6180083" cy="351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4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Назначить владельца эффекта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6143923" y="4445124"/>
            <a:ext cx="6000080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143923" y="4036144"/>
            <a:ext cx="6180083" cy="351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4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Проверить данные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6143923" y="4977929"/>
            <a:ext cx="6000080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143923" y="4568949"/>
            <a:ext cx="6180083" cy="351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4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Оценить риск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6143923" y="5510733"/>
            <a:ext cx="6000080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143923" y="5101754"/>
            <a:ext cx="6180083" cy="351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4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Определить экономическую логику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6143923" y="6043538"/>
            <a:ext cx="6000080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143923" y="5634558"/>
            <a:ext cx="6180083" cy="351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4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Задать условия запуска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6143923" y="6167363"/>
            <a:ext cx="6600088" cy="351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4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Задать условия остановки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2596440" y="2337122"/>
            <a:ext cx="5158160" cy="5559103"/>
          </a:xfrm>
          <a:prstGeom prst="rect">
            <a:avLst/>
          </a:prstGeom>
          <a:solidFill>
            <a:srgbClr val="0F766E">
              <a:alpha val="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20278" y="2522860"/>
            <a:ext cx="51815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820278" y="3406304"/>
            <a:ext cx="471048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2820278" y="2970535"/>
            <a:ext cx="485179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Активный набор до 5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12820278" y="3984947"/>
            <a:ext cx="471048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820278" y="3549179"/>
            <a:ext cx="485179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Отсеченные варианты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12820278" y="4563591"/>
            <a:ext cx="471048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2820278" y="4127822"/>
            <a:ext cx="485179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Протокол решений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12820278" y="4706466"/>
            <a:ext cx="518153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Условия перехода в Спринт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533400" y="8105775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33400" y="8565356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" y="8496300"/>
            <a:ext cx="3211334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решения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4241750" y="8565356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5" name="Text 43"/>
          <p:cNvSpPr/>
          <p:nvPr/>
        </p:nvSpPr>
        <p:spPr>
          <a:xfrm>
            <a:off x="4508450" y="8496300"/>
            <a:ext cx="3427631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допущенные варианты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533400" y="8970169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7" name="Text 45"/>
          <p:cNvSpPr/>
          <p:nvPr/>
        </p:nvSpPr>
        <p:spPr>
          <a:xfrm>
            <a:off x="800100" y="8901113"/>
            <a:ext cx="3287368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— отсеченные варианты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4315569" y="8970169"/>
            <a:ext cx="171450" cy="1714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9" name="Text 47"/>
          <p:cNvSpPr/>
          <p:nvPr/>
        </p:nvSpPr>
        <p:spPr>
          <a:xfrm>
            <a:off x="4582269" y="8901113"/>
            <a:ext cx="1422574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Slate — Hold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1058525" y="8105775"/>
            <a:ext cx="6696075" cy="12668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63313" y="8253412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1263313" y="8605838"/>
            <a:ext cx="647509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мозговой штурм, не генератор промптов и не стратегическая сессия о будущем ИИ.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533400" y="95440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33400" y="9691688"/>
            <a:ext cx="712920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03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 сильна не количеством идей, а качеством допуска.</a:t>
            </a:r>
            <a:endParaRPr lang="en-US" sz="1875" dirty="0"/>
          </a:p>
        </p:txBody>
      </p:sp>
      <p:sp>
        <p:nvSpPr>
          <p:cNvPr id="55" name="Text 53"/>
          <p:cNvSpPr/>
          <p:nvPr/>
        </p:nvSpPr>
        <p:spPr>
          <a:xfrm>
            <a:off x="11317188" y="9705975"/>
            <a:ext cx="70811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AI_Переход_Визуализация_08_Сессия_Решений_V1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ПЕРЕХОД / ВИЗУАЛИЗАЦИЯ 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36943" y="381000"/>
            <a:ext cx="93694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SPRINT FLOW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66788"/>
            <a:ext cx="17737836" cy="114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811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 проверяет выбранный вариант, не превращаясь в техническое внедрение под ключ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533400" y="2191941"/>
            <a:ext cx="169735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ограниченном контуре фиксируются действия, факты, отклонения, риски и управленческие решения.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33400" y="2729136"/>
            <a:ext cx="17221200" cy="614363"/>
          </a:xfrm>
          <a:prstGeom prst="rect">
            <a:avLst/>
          </a:prstGeom>
          <a:solidFill>
            <a:srgbClr val="FFFFFF">
              <a:alpha val="34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7238" y="2888679"/>
            <a:ext cx="15842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 СТАРТА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06997" y="2876773"/>
            <a:ext cx="385997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Вариант из активного набора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125617" y="2876773"/>
            <a:ext cx="25031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эффекта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610749" y="2876773"/>
            <a:ext cx="102259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766697" y="2876773"/>
            <a:ext cx="64636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546407" y="2876773"/>
            <a:ext cx="248791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Условия остановки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33400" y="3514948"/>
            <a:ext cx="5613350" cy="3319239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33400" y="6819900"/>
            <a:ext cx="561335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533400" y="3514948"/>
            <a:ext cx="5613350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" y="3514948"/>
            <a:ext cx="14288" cy="331923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9" name="Shape 17"/>
          <p:cNvSpPr/>
          <p:nvPr/>
        </p:nvSpPr>
        <p:spPr>
          <a:xfrm>
            <a:off x="6132463" y="3514948"/>
            <a:ext cx="14288" cy="331923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6288" y="3762598"/>
            <a:ext cx="564033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48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30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776288" y="4524598"/>
            <a:ext cx="5281403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86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Запуск ограниченного контура, первые действия, уточнение фактов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337250" y="3514948"/>
            <a:ext cx="5613425" cy="3319239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337250" y="6819900"/>
            <a:ext cx="56134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4" name="Shape 22"/>
          <p:cNvSpPr/>
          <p:nvPr/>
        </p:nvSpPr>
        <p:spPr>
          <a:xfrm>
            <a:off x="6337250" y="3514948"/>
            <a:ext cx="5613425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37250" y="3514948"/>
            <a:ext cx="14288" cy="331923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6" name="Shape 24"/>
          <p:cNvSpPr/>
          <p:nvPr/>
        </p:nvSpPr>
        <p:spPr>
          <a:xfrm>
            <a:off x="11936388" y="3514948"/>
            <a:ext cx="14288" cy="331923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Text 25"/>
          <p:cNvSpPr/>
          <p:nvPr/>
        </p:nvSpPr>
        <p:spPr>
          <a:xfrm>
            <a:off x="6580138" y="3762598"/>
            <a:ext cx="564041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48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60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6580138" y="4524598"/>
            <a:ext cx="528147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86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отклонений, зависимостей и принятия людьми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2141175" y="3514948"/>
            <a:ext cx="5613350" cy="3319239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2141175" y="6819900"/>
            <a:ext cx="561335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1" name="Shape 29"/>
          <p:cNvSpPr/>
          <p:nvPr/>
        </p:nvSpPr>
        <p:spPr>
          <a:xfrm>
            <a:off x="12141175" y="3514948"/>
            <a:ext cx="5613350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41175" y="3514948"/>
            <a:ext cx="14288" cy="331923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3" name="Shape 31"/>
          <p:cNvSpPr/>
          <p:nvPr/>
        </p:nvSpPr>
        <p:spPr>
          <a:xfrm>
            <a:off x="17740238" y="3514948"/>
            <a:ext cx="14288" cy="331923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4" name="Text 32"/>
          <p:cNvSpPr/>
          <p:nvPr/>
        </p:nvSpPr>
        <p:spPr>
          <a:xfrm>
            <a:off x="12384063" y="3762598"/>
            <a:ext cx="564033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48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90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12384063" y="4524598"/>
            <a:ext cx="5281403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86"/>
              </a:lnSpc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Итоговый вердикт: продолжить, изменить, остановить, масштабировать или вернуть назад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533400" y="7005638"/>
            <a:ext cx="17221200" cy="638175"/>
          </a:xfrm>
          <a:prstGeom prst="rect">
            <a:avLst/>
          </a:prstGeom>
          <a:solidFill>
            <a:srgbClr val="0F766E">
              <a:alpha val="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7238" y="7177088"/>
            <a:ext cx="14082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КОНТРОЛЬ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266057" y="7153275"/>
            <a:ext cx="49259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Реестр решений и следующий шаг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533400" y="7815263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33400" y="8255794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1" name="Text 39"/>
          <p:cNvSpPr/>
          <p:nvPr/>
        </p:nvSpPr>
        <p:spPr>
          <a:xfrm>
            <a:off x="800100" y="8186738"/>
            <a:ext cx="2926363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этапы 30-60-90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3926979" y="8255794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3" name="Text 41"/>
          <p:cNvSpPr/>
          <p:nvPr/>
        </p:nvSpPr>
        <p:spPr>
          <a:xfrm>
            <a:off x="4193679" y="8186738"/>
            <a:ext cx="3582687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подтвержденные факты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533400" y="8641556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5" name="Text 43"/>
          <p:cNvSpPr/>
          <p:nvPr/>
        </p:nvSpPr>
        <p:spPr>
          <a:xfrm>
            <a:off x="800100" y="8572500"/>
            <a:ext cx="281691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— отклонение / Stop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3820716" y="8641556"/>
            <a:ext cx="171450" cy="1714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7" name="Text 45"/>
          <p:cNvSpPr/>
          <p:nvPr/>
        </p:nvSpPr>
        <p:spPr>
          <a:xfrm>
            <a:off x="4087416" y="8572500"/>
            <a:ext cx="3382563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Slate — возврат на уточнение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1058525" y="7815263"/>
            <a:ext cx="6696075" cy="12668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263313" y="7962900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1263313" y="8315325"/>
            <a:ext cx="647509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IT-внедрение ИИ-системы под ключ и не разработка продукта.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533400" y="9234488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33400" y="9382125"/>
            <a:ext cx="105641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03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 нужен, чтобы проверить управляемое решение, а не доказать модность инструмента.</a:t>
            </a:r>
            <a:endParaRPr lang="en-US" sz="1875" dirty="0"/>
          </a:p>
        </p:txBody>
      </p:sp>
      <p:sp>
        <p:nvSpPr>
          <p:cNvPr id="53" name="Text 51"/>
          <p:cNvSpPr/>
          <p:nvPr/>
        </p:nvSpPr>
        <p:spPr>
          <a:xfrm>
            <a:off x="11170890" y="9705975"/>
            <a:ext cx="72420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AI_Переход_Визуализация_09_Спринт_30_60_90_V1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ПЕРЕХОД / ВИЗУАЛИЗАЦИЯ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52384" y="381000"/>
            <a:ext cx="90224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BEFORE / AFTER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85838"/>
            <a:ext cx="1894332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61"/>
              </a:lnSpc>
              <a:buNone/>
            </a:pPr>
            <a:r>
              <a:rPr lang="en-US" sz="4500" b="1" spc="-45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До AI перехода — пилоты. После — управляемый допуск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33400" y="1724918"/>
            <a:ext cx="15893415" cy="76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Технология переводит ИИ-активность из режима энтузиазма в режим мандата, владельцев, данных, экономики, риска и контроля.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533400" y="2701677"/>
            <a:ext cx="6858000" cy="5194548"/>
          </a:xfrm>
          <a:prstGeom prst="rect">
            <a:avLst/>
          </a:prstGeom>
          <a:solidFill>
            <a:srgbClr val="B91C1C">
              <a:alpha val="5000"/>
            </a:srgbClr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6288" y="2906464"/>
            <a:ext cx="70094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6288" y="3792289"/>
            <a:ext cx="63722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76288" y="3354139"/>
            <a:ext cx="65633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Пилот без владельца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776288" y="4354264"/>
            <a:ext cx="63722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6288" y="3916114"/>
            <a:ext cx="65633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Инструмент без решения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776288" y="4916239"/>
            <a:ext cx="63722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6288" y="4478089"/>
            <a:ext cx="65633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 без ответственности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776288" y="5478214"/>
            <a:ext cx="63722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6288" y="5040064"/>
            <a:ext cx="65633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Эффект без проверки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776288" y="6040189"/>
            <a:ext cx="63722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76288" y="5602039"/>
            <a:ext cx="65633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Команда без принятия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776288" y="6164014"/>
            <a:ext cx="70094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Нет права остановки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8023845" y="4179763"/>
            <a:ext cx="24643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ФИЛЬТР ДОПУСКА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0" y="4627438"/>
            <a:ext cx="3048000" cy="1143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7764780" y="4856038"/>
            <a:ext cx="2758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7805"/>
              </a:lnSpc>
              <a:buNone/>
            </a:pPr>
            <a:r>
              <a:rPr lang="en-US" sz="22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и допуск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029254" y="5922838"/>
            <a:ext cx="30561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10896600" y="2701677"/>
            <a:ext cx="6858000" cy="5194548"/>
          </a:xfrm>
          <a:prstGeom prst="rect">
            <a:avLst/>
          </a:prstGeom>
          <a:solidFill>
            <a:srgbClr val="0F766E">
              <a:alpha val="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39488" y="2906464"/>
            <a:ext cx="70094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ПОСЛЕ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139488" y="3773239"/>
            <a:ext cx="63722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139488" y="3354139"/>
            <a:ext cx="65633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1139488" y="4297114"/>
            <a:ext cx="63722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139488" y="3878014"/>
            <a:ext cx="65633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эффекта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11139488" y="4820989"/>
            <a:ext cx="63722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139488" y="4401889"/>
            <a:ext cx="65633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данных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11139488" y="5344864"/>
            <a:ext cx="63722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1139488" y="4925764"/>
            <a:ext cx="65633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Экономическая логика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11139488" y="5868739"/>
            <a:ext cx="63722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1139488" y="5449639"/>
            <a:ext cx="65633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Риск-контур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11139488" y="6392614"/>
            <a:ext cx="6372225" cy="9525"/>
          </a:xfrm>
          <a:prstGeom prst="rect">
            <a:avLst/>
          </a:prstGeom>
          <a:solidFill>
            <a:srgbClr val="0B1F33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1139488" y="5973514"/>
            <a:ext cx="65633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Активный набор до 5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1139488" y="6497389"/>
            <a:ext cx="70094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Контроль внедрения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533400" y="8105775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33400" y="8565356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2" name="Text 40"/>
          <p:cNvSpPr/>
          <p:nvPr/>
        </p:nvSpPr>
        <p:spPr>
          <a:xfrm>
            <a:off x="800100" y="8496300"/>
            <a:ext cx="330990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— разрыв до технологии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4337447" y="8565356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4" name="Text 42"/>
          <p:cNvSpPr/>
          <p:nvPr/>
        </p:nvSpPr>
        <p:spPr>
          <a:xfrm>
            <a:off x="4604147" y="8496300"/>
            <a:ext cx="2076004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переход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533400" y="8970169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" y="8901113"/>
            <a:ext cx="5296119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управляемый контур после технологии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1058525" y="8105775"/>
            <a:ext cx="6696075" cy="12668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263313" y="8253412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263313" y="8605838"/>
            <a:ext cx="647509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обещание автоматического успеха после внедрения ИИ.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533400" y="95440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33400" y="9691688"/>
            <a:ext cx="954819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03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переход меняет порядок управления, а не просто добавляет инструмент.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10439400" y="9705975"/>
            <a:ext cx="80467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AI_Переход_Визуализация_10_До_После_AI_Перехода_V1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ПЕРЕХОД / ВИЗУАЛИЗАЦИЯ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56540" y="381000"/>
            <a:ext cx="78078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КЕЙСОВЫЙ СЛОЙ · CASE FLOW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66788"/>
            <a:ext cx="17737836" cy="114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811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Кейс AI перехода показывает управленческую ситуацию, а не подтвержденное внедрение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533400" y="2191941"/>
            <a:ext cx="169735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Боль клиента проходит через Диагностику, активный набор, Спринт, контроль и решение дальше.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33400" y="2729136"/>
            <a:ext cx="17221200" cy="590550"/>
          </a:xfrm>
          <a:prstGeom prst="rect">
            <a:avLst/>
          </a:prstGeom>
          <a:ln w="14288">
            <a:solidFill>
              <a:srgbClr val="0B1F33">
                <a:alpha val="55000"/>
              </a:srgbClr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57238" y="2876773"/>
            <a:ext cx="1760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МАРКИРОВКА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47938" y="2857723"/>
            <a:ext cx="52605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Обобщенный управленческий пример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533400" y="3491136"/>
            <a:ext cx="3337545" cy="4443189"/>
          </a:xfrm>
          <a:prstGeom prst="rect">
            <a:avLst/>
          </a:prstGeom>
          <a:solidFill>
            <a:srgbClr val="B91C1C">
              <a:alpha val="5000"/>
            </a:srgbClr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188" y="3676873"/>
            <a:ext cx="32207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8188" y="4067398"/>
            <a:ext cx="32207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10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Боль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38188" y="4510311"/>
            <a:ext cx="301580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ИИ-пилот обещает скорость, но не имеет владельца эффекта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4004295" y="3491136"/>
            <a:ext cx="3337545" cy="4443189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004295" y="7920038"/>
            <a:ext cx="333754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4295" y="3491136"/>
            <a:ext cx="3337545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4295" y="3491136"/>
            <a:ext cx="14288" cy="444318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327553" y="3491136"/>
            <a:ext cx="14288" cy="444318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4209083" y="3719736"/>
            <a:ext cx="32207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09083" y="4110261"/>
            <a:ext cx="32207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10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Диагностика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4209083" y="4553173"/>
            <a:ext cx="3015809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Проверяет мандат, данные, владельцев, экономику, риски и условия остановки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7475190" y="3491136"/>
            <a:ext cx="3337545" cy="4443189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475190" y="7920038"/>
            <a:ext cx="333754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475190" y="3491136"/>
            <a:ext cx="3337545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7475190" y="3491136"/>
            <a:ext cx="14288" cy="444318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Shape 25"/>
          <p:cNvSpPr/>
          <p:nvPr/>
        </p:nvSpPr>
        <p:spPr>
          <a:xfrm>
            <a:off x="10798448" y="3491136"/>
            <a:ext cx="14288" cy="444318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7679978" y="3719736"/>
            <a:ext cx="32207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679978" y="4110261"/>
            <a:ext cx="32207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10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Активный набор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7679978" y="4553173"/>
            <a:ext cx="301580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Допускается до 5 вариантов, остальные уходят в Hold или Stop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946085" y="3491136"/>
            <a:ext cx="3337545" cy="4443189"/>
          </a:xfrm>
          <a:prstGeom prst="rect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46085" y="7920038"/>
            <a:ext cx="333754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46085" y="3491136"/>
            <a:ext cx="3337545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46085" y="3491136"/>
            <a:ext cx="14288" cy="444318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5" name="Shape 33"/>
          <p:cNvSpPr/>
          <p:nvPr/>
        </p:nvSpPr>
        <p:spPr>
          <a:xfrm>
            <a:off x="14269343" y="3491136"/>
            <a:ext cx="14288" cy="444318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6" name="Text 34"/>
          <p:cNvSpPr/>
          <p:nvPr/>
        </p:nvSpPr>
        <p:spPr>
          <a:xfrm>
            <a:off x="11150873" y="3719736"/>
            <a:ext cx="32207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150873" y="4110261"/>
            <a:ext cx="32207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10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Спринт и контроль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1150873" y="4553173"/>
            <a:ext cx="301580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875" dirty="0">
                <a:solidFill>
                  <a:srgbClr val="1F32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выбранного варианта на ограниченном контуре: факты, отклонения, принятие людьми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14416980" y="3491136"/>
            <a:ext cx="3337545" cy="444318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0" name="Text 38"/>
          <p:cNvSpPr/>
          <p:nvPr/>
        </p:nvSpPr>
        <p:spPr>
          <a:xfrm>
            <a:off x="14607480" y="3662586"/>
            <a:ext cx="325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4607480" y="4053111"/>
            <a:ext cx="325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10"/>
              </a:lnSpc>
              <a:buNone/>
            </a:pPr>
            <a:r>
              <a:rPr lang="en-US" sz="22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Вердикт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4607480" y="4496023"/>
            <a:ext cx="304524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875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Продолжить / изменить / остановить / масштабировать</a:t>
            </a:r>
            <a:endParaRPr lang="en-US" sz="1875" dirty="0"/>
          </a:p>
        </p:txBody>
      </p:sp>
      <p:sp>
        <p:nvSpPr>
          <p:cNvPr id="43" name="Text 41"/>
          <p:cNvSpPr/>
          <p:nvPr/>
        </p:nvSpPr>
        <p:spPr>
          <a:xfrm>
            <a:off x="533400" y="8124825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33400" y="8565356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5" name="Text 43"/>
          <p:cNvSpPr/>
          <p:nvPr/>
        </p:nvSpPr>
        <p:spPr>
          <a:xfrm>
            <a:off x="800100" y="8496300"/>
            <a:ext cx="2061939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— боль и Stop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3071589" y="8565356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7" name="Text 45"/>
          <p:cNvSpPr/>
          <p:nvPr/>
        </p:nvSpPr>
        <p:spPr>
          <a:xfrm>
            <a:off x="3338289" y="8496300"/>
            <a:ext cx="3024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работы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533400" y="8951119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" y="8882063"/>
            <a:ext cx="5604698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подтвержденный управленческий контур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6527304" y="8951119"/>
            <a:ext cx="171450" cy="1714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1" name="Text 49"/>
          <p:cNvSpPr/>
          <p:nvPr/>
        </p:nvSpPr>
        <p:spPr>
          <a:xfrm>
            <a:off x="6794004" y="8882063"/>
            <a:ext cx="1422574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Slate — Hold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1058525" y="8124825"/>
            <a:ext cx="6696075" cy="12668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263313" y="8272463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1263313" y="8624888"/>
            <a:ext cx="647509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реальный подтвержденный клиентский кейс, если такой статус отдельно не зафиксирован.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533400" y="95440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33400" y="9691688"/>
            <a:ext cx="912361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03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Кейсы нужны, чтобы узнать ситуацию, а не обещать чужой результат.</a:t>
            </a:r>
            <a:endParaRPr lang="en-US" sz="1875" dirty="0"/>
          </a:p>
        </p:txBody>
      </p:sp>
      <p:sp>
        <p:nvSpPr>
          <p:cNvPr id="57" name="Text 55"/>
          <p:cNvSpPr/>
          <p:nvPr/>
        </p:nvSpPr>
        <p:spPr>
          <a:xfrm>
            <a:off x="11317188" y="9705975"/>
            <a:ext cx="70811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AI_Переход_Визуализация_11_Кейсовая_Схема_V1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7429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81000"/>
            <a:ext cx="48582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ПЕРЕХОД / ВИЗУАЛИЗАЦИЯ 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66792" y="381000"/>
            <a:ext cx="13186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КОММЕРЧЕСКИЙ СЛОЙ · ANTI-POSITIONING MATRIX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966788"/>
            <a:ext cx="17737836" cy="1179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818"/>
              </a:lnSpc>
              <a:buNone/>
            </a:pPr>
            <a:r>
              <a:rPr lang="en-US" sz="4200" b="1" spc="-42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переход — не про инструменты. AI переход — про управляемый допуск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33400" y="2222450"/>
            <a:ext cx="169735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Технология помогает решить, где ИИ можно запускать, где запускать при условиях, а где нужно остановиться.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33400" y="2797746"/>
            <a:ext cx="112947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33400" y="3226371"/>
            <a:ext cx="57150" cy="4857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302571"/>
            <a:ext cx="103473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Обучение ChatGPT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533400" y="3807396"/>
            <a:ext cx="57150" cy="4857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883596"/>
            <a:ext cx="103473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Промпты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533400" y="4388421"/>
            <a:ext cx="57150" cy="4857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4464621"/>
            <a:ext cx="103473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Автоматизация ради автоматизации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533400" y="4969446"/>
            <a:ext cx="57150" cy="4857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5045646"/>
            <a:ext cx="103473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Техническое внедрение ИИ-инструмента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533400" y="5550471"/>
            <a:ext cx="57150" cy="4857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626671"/>
            <a:ext cx="103473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 / дашборды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533400" y="6131496"/>
            <a:ext cx="57150" cy="4857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6207696"/>
            <a:ext cx="103473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Модная AI-стратегия без управленческого контура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533400" y="6712521"/>
            <a:ext cx="57150" cy="4857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6788721"/>
            <a:ext cx="103473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AI-шоу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1087100" y="2797746"/>
            <a:ext cx="6667500" cy="513657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4" name="Text 22"/>
          <p:cNvSpPr/>
          <p:nvPr/>
        </p:nvSpPr>
        <p:spPr>
          <a:xfrm>
            <a:off x="11372850" y="3026346"/>
            <a:ext cx="6705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372850" y="3435921"/>
            <a:ext cx="6705600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36"/>
              </a:lnSpc>
              <a:buNone/>
            </a:pPr>
            <a:r>
              <a:rPr lang="en-US" sz="27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Управляемый допуск к ИИ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11372850" y="4139803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11620500" y="4039791"/>
            <a:ext cx="10010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14535150" y="4139803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14782800" y="4039791"/>
            <a:ext cx="6682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11372850" y="4773216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11620500" y="4673203"/>
            <a:ext cx="105898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4535150" y="4611291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14782800" y="4506516"/>
            <a:ext cx="232387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Условия запуска и остановки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11372850" y="5406628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11620500" y="5306616"/>
            <a:ext cx="24392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эффекта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14535150" y="5406628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14782800" y="5306616"/>
            <a:ext cx="269833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Активный набор до 5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11372850" y="5873353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Text 37"/>
          <p:cNvSpPr/>
          <p:nvPr/>
        </p:nvSpPr>
        <p:spPr>
          <a:xfrm>
            <a:off x="11620500" y="5773341"/>
            <a:ext cx="144861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Экономика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14535150" y="5873353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14782800" y="5773341"/>
            <a:ext cx="124881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Контроль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533400" y="8124825"/>
            <a:ext cx="11158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33400" y="8565356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4" name="Text 42"/>
          <p:cNvSpPr/>
          <p:nvPr/>
        </p:nvSpPr>
        <p:spPr>
          <a:xfrm>
            <a:off x="800100" y="8496300"/>
            <a:ext cx="3667534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— неправильные категории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4646563" y="8565356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6" name="Text 44"/>
          <p:cNvSpPr/>
          <p:nvPr/>
        </p:nvSpPr>
        <p:spPr>
          <a:xfrm>
            <a:off x="4913263" y="8496300"/>
            <a:ext cx="304432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граница отличия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533400" y="8951119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8" name="Text 46"/>
          <p:cNvSpPr/>
          <p:nvPr/>
        </p:nvSpPr>
        <p:spPr>
          <a:xfrm>
            <a:off x="800100" y="8882063"/>
            <a:ext cx="3897857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что такое AI переход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4870177" y="8951119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0" name="Text 48"/>
          <p:cNvSpPr/>
          <p:nvPr/>
        </p:nvSpPr>
        <p:spPr>
          <a:xfrm>
            <a:off x="5136877" y="8882063"/>
            <a:ext cx="457357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элементы управляемого допуска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11058525" y="8124825"/>
            <a:ext cx="6696075" cy="12668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63313" y="8272463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1263313" y="8624888"/>
            <a:ext cx="647509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ChatGPT, не промпты, не автоматизация, не внедрение инструмента, не AI-шоу.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533400" y="9544050"/>
            <a:ext cx="17221200" cy="14288"/>
          </a:xfrm>
          <a:prstGeom prst="rect">
            <a:avLst/>
          </a:prstGeom>
          <a:solidFill>
            <a:srgbClr val="0B1F33">
              <a:alpha val="4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533400" y="9691688"/>
            <a:ext cx="65775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03"/>
              </a:lnSpc>
              <a:buNone/>
            </a:pPr>
            <a:r>
              <a:rPr lang="en-US" sz="1875" i="1" dirty="0">
                <a:solidFill>
                  <a:srgbClr val="47556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переход продает право запускать ИИ управляемо.</a:t>
            </a:r>
            <a:endParaRPr lang="en-US" sz="1875" dirty="0"/>
          </a:p>
        </p:txBody>
      </p:sp>
      <p:sp>
        <p:nvSpPr>
          <p:cNvPr id="56" name="Text 54"/>
          <p:cNvSpPr/>
          <p:nvPr/>
        </p:nvSpPr>
        <p:spPr>
          <a:xfrm>
            <a:off x="10439400" y="9705975"/>
            <a:ext cx="80467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AI_Переход_Визуализация_12_Антипозиционирование_V1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2026-07-31T08:39:51Z</dcterms:created>
  <dcterms:modified xsi:type="dcterms:W3CDTF">2026-07-31T08:39:51Z</dcterms:modified>
</cp:coreProperties>
</file>