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e669813b934108" /><Relationship Type="http://schemas.openxmlformats.org/officeDocument/2006/relationships/extended-properties" Target="/docProps/app.xml" Id="R1db074ffa0604fc8" /><Relationship Type="http://schemas.openxmlformats.org/officeDocument/2006/relationships/officeDocument" Target="/ppt/presentation.xml" Id="R18e1608212924b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f3e27e8ab4407a"/>
  </p:sldMasterIdLst>
  <p:notesMasterIdLst>
    <p:notesMasterId xmlns:r="http://schemas.openxmlformats.org/officeDocument/2006/relationships" r:id="R3b8c5503b70e46c0"/>
  </p:notesMasterIdLst>
  <p:sldIdLst>
    <p:sldId xmlns:r="http://schemas.openxmlformats.org/officeDocument/2006/relationships" id="256" r:id="R9ad288a5908d4183"/>
    <p:sldId xmlns:r="http://schemas.openxmlformats.org/officeDocument/2006/relationships" id="257" r:id="R6b72741fa4f84835"/>
    <p:sldId xmlns:r="http://schemas.openxmlformats.org/officeDocument/2006/relationships" id="258" r:id="Rf36a8b74095f4c57"/>
    <p:sldId xmlns:r="http://schemas.openxmlformats.org/officeDocument/2006/relationships" id="259" r:id="R0b5e369526a94c23"/>
    <p:sldId xmlns:r="http://schemas.openxmlformats.org/officeDocument/2006/relationships" id="260" r:id="R99165ec7eed84366"/>
    <p:sldId xmlns:r="http://schemas.openxmlformats.org/officeDocument/2006/relationships" id="261" r:id="Rcba59af0d2f54aa4"/>
    <p:sldId xmlns:r="http://schemas.openxmlformats.org/officeDocument/2006/relationships" id="262" r:id="R3847cfe3a1df415e"/>
    <p:sldId xmlns:r="http://schemas.openxmlformats.org/officeDocument/2006/relationships" id="263" r:id="Rdc0c7ee1c3d948ae"/>
    <p:sldId xmlns:r="http://schemas.openxmlformats.org/officeDocument/2006/relationships" id="264" r:id="R6827102751f74ce5"/>
    <p:sldId xmlns:r="http://schemas.openxmlformats.org/officeDocument/2006/relationships" id="265" r:id="R4b097b1ad15e4c1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4ced56d2b274676" /><Relationship Type="http://schemas.openxmlformats.org/officeDocument/2006/relationships/slideMaster" Target="/ppt/slideMasters/slideMaster1.xml" Id="R6cf3e27e8ab4407a" /><Relationship Type="http://schemas.openxmlformats.org/officeDocument/2006/relationships/notesMaster" Target="/ppt/notesMasters/notesMaster1.xml" Id="R3b8c5503b70e46c0" /><Relationship Type="http://schemas.openxmlformats.org/officeDocument/2006/relationships/presProps" Target="/ppt/presProps.xml" Id="R1bb6ca32281f493f" /><Relationship Type="http://schemas.openxmlformats.org/officeDocument/2006/relationships/tableStyles" Target="/ppt/tableStyles.xml" Id="R295f93a9e6734e0d" /><Relationship Type="http://schemas.openxmlformats.org/officeDocument/2006/relationships/slide" Target="/ppt/slides/slide1.xml" Id="R9ad288a5908d4183" /><Relationship Type="http://schemas.openxmlformats.org/officeDocument/2006/relationships/slide" Target="/ppt/slides/slide2.xml" Id="R6b72741fa4f84835" /><Relationship Type="http://schemas.openxmlformats.org/officeDocument/2006/relationships/slide" Target="/ppt/slides/slide3.xml" Id="Rf36a8b74095f4c57" /><Relationship Type="http://schemas.openxmlformats.org/officeDocument/2006/relationships/slide" Target="/ppt/slides/slide4.xml" Id="R0b5e369526a94c23" /><Relationship Type="http://schemas.openxmlformats.org/officeDocument/2006/relationships/slide" Target="/ppt/slides/slide5.xml" Id="R99165ec7eed84366" /><Relationship Type="http://schemas.openxmlformats.org/officeDocument/2006/relationships/slide" Target="/ppt/slides/slide6.xml" Id="Rcba59af0d2f54aa4" /><Relationship Type="http://schemas.openxmlformats.org/officeDocument/2006/relationships/slide" Target="/ppt/slides/slide7.xml" Id="R3847cfe3a1df415e" /><Relationship Type="http://schemas.openxmlformats.org/officeDocument/2006/relationships/slide" Target="/ppt/slides/slide8.xml" Id="Rdc0c7ee1c3d948ae" /><Relationship Type="http://schemas.openxmlformats.org/officeDocument/2006/relationships/slide" Target="/ppt/slides/slide9.xml" Id="R6827102751f74ce5" /><Relationship Type="http://schemas.openxmlformats.org/officeDocument/2006/relationships/slide" Target="/ppt/slides/slide10.xml" Id="R4b097b1ad15e4c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6fc0ce72cc43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4e074308294d5b" /><Relationship Type="http://schemas.openxmlformats.org/officeDocument/2006/relationships/notesMaster" Target="/ppt/notesMasters/notesMaster1.xml" Id="Rea987a41317441a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132206d9c74311" /><Relationship Type="http://schemas.openxmlformats.org/officeDocument/2006/relationships/notesMaster" Target="/ppt/notesMasters/notesMaster1.xml" Id="R40d1f2fa8e1647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287ee83e19a4c34" /><Relationship Type="http://schemas.openxmlformats.org/officeDocument/2006/relationships/notesMaster" Target="/ppt/notesMasters/notesMaster1.xml" Id="R0145ba52acf24f9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c22aa7ec56a4a4a" /><Relationship Type="http://schemas.openxmlformats.org/officeDocument/2006/relationships/notesMaster" Target="/ppt/notesMasters/notesMaster1.xml" Id="R76c2994055d94a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b2ea5113f034242" /><Relationship Type="http://schemas.openxmlformats.org/officeDocument/2006/relationships/notesMaster" Target="/ppt/notesMasters/notesMaster1.xml" Id="R6c88bc610df2438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9c76ba76a8540e3" /><Relationship Type="http://schemas.openxmlformats.org/officeDocument/2006/relationships/notesMaster" Target="/ppt/notesMasters/notesMaster1.xml" Id="R60a12eb43d024af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f613aa2332c48c9" /><Relationship Type="http://schemas.openxmlformats.org/officeDocument/2006/relationships/notesMaster" Target="/ppt/notesMasters/notesMaster1.xml" Id="R10ad14b354d248c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542056b1a454a6b" /><Relationship Type="http://schemas.openxmlformats.org/officeDocument/2006/relationships/notesMaster" Target="/ppt/notesMasters/notesMaster1.xml" Id="R25d3971d144b420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2246003bdd14755" /><Relationship Type="http://schemas.openxmlformats.org/officeDocument/2006/relationships/notesMaster" Target="/ppt/notesMasters/notesMaster1.xml" Id="Rd1b19ee7170941f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ad1d3f3b5e14e93" /><Relationship Type="http://schemas.openxmlformats.org/officeDocument/2006/relationships/notesMaster" Target="/ppt/notesMasters/notesMaster1.xml" Id="Rbd9037b927ba44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Открыть не продуктовой линейкой, а сутью: УМ дает расчетный управленческий ответ до действия.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Внутренняя документация проекта УМ и задание 12A на техническую презентацию.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ставит проблему: решение может быть управленчески понятным, но расчетно непроверенным.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Внутренняя документация проекта УМ и задание 12A на техническую презентацию.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Показать многоконтурность: УМ смотрит на деньги, прибыль, ресурсы и ответственность, а не только на оборот.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Внутренняя документация проекта УМ и задание 12A на техническую презентацию.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центральная технологическая цепочка: ее нельзя превращать в Excel или в общую консультацию.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Внутренняя документация проекта УМ и задание 12A на техническую презентацию.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Диагностика продается как вход в технологию и фильтр серьезности запроса.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Внутренняя документация проекта УМ и задание 12A на техническую презентацию.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Статусов три. Недостаток данных не является четвертым статусом; это возврат на сбор вводных.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Внутренняя документация проекта УМ и задание 12A на техническую презентацию.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Показываем четыре продукта как путь, а не витрину несвязанных услуг.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Внутренняя документация проекта УМ и задание 12A на техническую презентацию.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Решаторы не продаются как главный продукт. Это часть технологического контура.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Внутренняя документация проекта УМ и задание 12A на техническую презентацию.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защищает позиционирование: УМ не конкурирует напрямую с Excel, BI или обучением; у нее другой предмет.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Внутренняя документация проекта УМ и задание 12A на техническую презентацию.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Закрыть на платной Диагностике как первом управляемом шаге.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Внутренняя документация проекта УМ и задание 12A на техническую презентацию.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26586019f8411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cd8bcb37c04bb4" /><Relationship Type="http://schemas.openxmlformats.org/officeDocument/2006/relationships/slideLayout" Target="/ppt/slideLayouts/slideLayout1.xml" Id="R8c05777a3afa4a7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05777a3afa4a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fba8c0ad604bfa" /><Relationship Type="http://schemas.openxmlformats.org/officeDocument/2006/relationships/notesSlide" Target="/ppt/notesSlides/notesSlide1.xml" Id="Ra4acc2a86b2543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204f62fd944825" /><Relationship Type="http://schemas.openxmlformats.org/officeDocument/2006/relationships/notesSlide" Target="/ppt/notesSlides/notesSlide2.xml" Id="Racf3e70f54fb46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152766e4aa4f5f" /><Relationship Type="http://schemas.openxmlformats.org/officeDocument/2006/relationships/notesSlide" Target="/ppt/notesSlides/notesSlide3.xml" Id="Rf7caec64f92a419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3b15bd68db46f3" /><Relationship Type="http://schemas.openxmlformats.org/officeDocument/2006/relationships/notesSlide" Target="/ppt/notesSlides/notesSlide4.xml" Id="R732bb04d6915464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efdcfd9eaa4588" /><Relationship Type="http://schemas.openxmlformats.org/officeDocument/2006/relationships/notesSlide" Target="/ppt/notesSlides/notesSlide5.xml" Id="R09922729424b45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8a744941b54b3d" /><Relationship Type="http://schemas.openxmlformats.org/officeDocument/2006/relationships/notesSlide" Target="/ppt/notesSlides/notesSlide6.xml" Id="R84871736d317436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7a7e0849514f06" /><Relationship Type="http://schemas.openxmlformats.org/officeDocument/2006/relationships/notesSlide" Target="/ppt/notesSlides/notesSlide7.xml" Id="R51d8a3689eff48d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4da614b8ab4a03" /><Relationship Type="http://schemas.openxmlformats.org/officeDocument/2006/relationships/notesSlide" Target="/ppt/notesSlides/notesSlide8.xml" Id="R897d9f1cb286473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4509acb6dc439c" /><Relationship Type="http://schemas.openxmlformats.org/officeDocument/2006/relationships/notesSlide" Target="/ppt/notesSlides/notesSlide9.xml" Id="R98411c4ed0814da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655e7654bd433b" /><Relationship Type="http://schemas.openxmlformats.org/officeDocument/2006/relationships/notesSlide" Target="/ppt/notesSlides/notesSlide10.xml" Id="R53b56285ebe64de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53A8F8-AF28-49F7-96C1-0A46592AC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4CADB0-A4B8-43B9-A92E-C8C4515D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3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3F8D5A-A342-4CCC-ACB2-D8695F41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5556C"/>
                </a:solidFill>
              </a:defRPr>
            </a:pPr>
            <a:r>
              <a:rPr sz="1500" b="1">
                <a:solidFill>
                  <a:srgbClr val="45556C"/>
                </a:solidFill>
              </a:rPr>
              <a:t>УМ / Управленческая математика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1EBFA6-F86B-4B20-B378-D567589CC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47800"/>
            <a:ext cx="666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20618"/>
                </a:solidFill>
              </a:defRPr>
            </a:pPr>
            <a:r>
              <a:rPr sz="4200" b="1">
                <a:solidFill>
                  <a:srgbClr val="020618"/>
                </a:solidFill>
              </a:rPr>
              <a:t>Управленческая</a:t>
            </a:r>
          </a:p>
          <a:p xmlns:a="http://schemas.openxmlformats.org/drawingml/2006/main">
            <a:pPr algn="l">
              <a:defRPr sz="4200" b="1">
                <a:solidFill>
                  <a:srgbClr val="020618"/>
                </a:solidFill>
              </a:defRPr>
            </a:pPr>
            <a:r>
              <a:rPr sz="4200" b="1">
                <a:solidFill>
                  <a:srgbClr val="020618"/>
                </a:solidFill>
              </a:rPr>
              <a:t>Точность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73070E-0411-4737-9C8C-CF153652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590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Технология, которая переводит управленческое “хотим” в расчетное “можно / можно при условиях / нельзя в текущей модели”.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4E8F34-F10F-499B-BC53-799B3F945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143000"/>
            <a:ext cx="34290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4A7829-6C71-4100-B988-EAAED7BB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63830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F172B"/>
                </a:solidFill>
              </a:defRPr>
            </a:pPr>
            <a:r>
              <a:rPr sz="2100" b="1">
                <a:solidFill>
                  <a:srgbClr val="0F172B"/>
                </a:solidFill>
              </a:rPr>
              <a:t>хотим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E941C0-3D2A-420A-A3B7-1FD17C081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0859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CA3500"/>
                </a:solidFill>
              </a:defRPr>
            </a:pPr>
            <a:r>
              <a:rPr sz="1950" b="1">
                <a:solidFill>
                  <a:srgbClr val="CA3500"/>
                </a:solidFill>
              </a:rPr>
              <a:t>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7C755E-62B6-4867-9609-175524218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5745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F172B"/>
                </a:solidFill>
              </a:defRPr>
            </a:pPr>
            <a:r>
              <a:rPr sz="2100" b="1">
                <a:solidFill>
                  <a:srgbClr val="0F172B"/>
                </a:solidFill>
              </a:rPr>
              <a:t>расчет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D6C4BC-03E4-4799-BA57-164DEFC39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90512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CA3500"/>
                </a:solidFill>
              </a:defRPr>
            </a:pPr>
            <a:r>
              <a:rPr sz="1950" b="1">
                <a:solidFill>
                  <a:srgbClr val="CA3500"/>
                </a:solidFill>
              </a:rPr>
              <a:t>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4581FB-D529-4317-8921-38958D3C2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7660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F172B"/>
                </a:solidFill>
              </a:defRPr>
            </a:pPr>
            <a:r>
              <a:rPr sz="2100" b="1">
                <a:solidFill>
                  <a:srgbClr val="0F172B"/>
                </a:solidFill>
              </a:rPr>
              <a:t>статус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39C406-E67C-4822-B4D6-673F72DB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7242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CA3500"/>
                </a:solidFill>
              </a:defRPr>
            </a:pPr>
            <a:r>
              <a:rPr sz="1950" b="1">
                <a:solidFill>
                  <a:srgbClr val="CA3500"/>
                </a:solidFill>
              </a:rPr>
              <a:t>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362BBD-52F5-43AB-9FB3-B0D30233F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95750"/>
            <a:ext cx="2714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786F"/>
                </a:solidFill>
              </a:defRPr>
            </a:pPr>
            <a:r>
              <a:rPr sz="1950" b="1">
                <a:solidFill>
                  <a:srgbClr val="00786F"/>
                </a:solidFill>
              </a:rPr>
              <a:t>ответ и контроль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7494DC-A79A-49B6-81CA-9E4F57812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198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48E"/>
                </a:solidFill>
              </a:defRPr>
            </a:pPr>
            <a:r>
              <a:rPr sz="1350" b="0">
                <a:solidFill>
                  <a:srgbClr val="62748E"/>
                </a:solidFill>
              </a:rPr>
              <a:t>Короткая техническая презентация технологии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FCF819-132D-460C-86C8-4FE74AC7F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Управленческая Точность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0615A9-479A-4685-A0A4-14DF131C7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0A1B9"/>
                </a:solidFill>
              </a:defRPr>
            </a:pPr>
            <a:r>
              <a:rPr sz="900" b="1">
                <a:solidFill>
                  <a:srgbClr val="90A1B9"/>
                </a:solidFill>
              </a:rPr>
              <a:t>1/10</a:t>
            </a:r>
          </a:p>
        </p:txBody>
      </p:sp>
    </p:spTree>
    <p:extLst>
      <p:ext uri="{BB962C8B-B14F-4D97-AF65-F5344CB8AC3E}">
        <p14:creationId xmlns:p14="http://schemas.microsoft.com/office/powerpoint/2010/main" val="8502602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AE3DE3-2111-4E57-B6FE-4DF4C36C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A3500"/>
                </a:solidFill>
              </a:defRPr>
            </a:pPr>
            <a:r>
              <a:rPr sz="1200" b="1">
                <a:solidFill>
                  <a:srgbClr val="CA3500"/>
                </a:solidFill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A38E60-7F3F-4EAE-81DC-7A9601F2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38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УМ / Управленческая математика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BC61B9-E5D2-48F9-A15E-77298E40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Дорогое решение часто стартует раньше расчета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AAF09F-57B3-44F9-A106-5CB4ABD3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3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0E8242-B153-40E9-89F7-33232762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14158"/>
                </a:solidFill>
              </a:defRPr>
            </a:pPr>
            <a:r>
              <a:rPr sz="1875" b="0">
                <a:solidFill>
                  <a:srgbClr val="314158"/>
                </a:solidFill>
              </a:rPr>
              <a:t>В управленческой практике “да” нередко звучит быстрее, чем проверены последствия.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F3F858-3094-4386-AF16-A9C748FD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32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3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964097-1ED6-451E-8E04-62BBFD87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491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14158"/>
                </a:solidFill>
              </a:defRPr>
            </a:pPr>
            <a:r>
              <a:rPr sz="1575" b="0">
                <a:solidFill>
                  <a:srgbClr val="314158"/>
                </a:solidFill>
              </a:rPr>
              <a:t>Скидка дается до проверки чистого результата.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8304C3-EF54-426A-B76B-1C14DF1E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33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164B35-B1FB-48CC-8704-1B89BAC3D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48050"/>
            <a:ext cx="491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14158"/>
                </a:solidFill>
              </a:defRPr>
            </a:pPr>
            <a:r>
              <a:rPr sz="1575" b="0">
                <a:solidFill>
                  <a:srgbClr val="314158"/>
                </a:solidFill>
              </a:rPr>
              <a:t>Отсрочка согласуется до расчета денег.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25AE34-0FB6-4BDF-A6AB-560B8B68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24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75BDA6-1F28-4F47-A01C-DA145C47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38600"/>
            <a:ext cx="491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14158"/>
                </a:solidFill>
              </a:defRPr>
            </a:pPr>
            <a:r>
              <a:rPr sz="1575" b="0">
                <a:solidFill>
                  <a:srgbClr val="314158"/>
                </a:solidFill>
              </a:rPr>
              <a:t>Запуск проекта начинается до проверки ресурсов.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B89F0A-B2C0-4ECA-8386-0F444784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FF1801-6AF2-4665-83B0-4FD86406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29150"/>
            <a:ext cx="491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14158"/>
                </a:solidFill>
              </a:defRPr>
            </a:pPr>
            <a:r>
              <a:rPr sz="1575" b="0">
                <a:solidFill>
                  <a:srgbClr val="314158"/>
                </a:solidFill>
              </a:rPr>
              <a:t>Рост кажется выгодным до сценарного разворота.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7A48D1-E128-41FD-9409-2F4D57927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0005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0F172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21B34F-CDF1-40E1-BBEB-948F8317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66950"/>
            <a:ext cx="3276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Цена “да”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8206B7-0BB6-454B-8270-C6229891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28950"/>
            <a:ext cx="28765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F1F5F9"/>
                </a:solidFill>
              </a:defRPr>
            </a:pPr>
            <a:r>
              <a:rPr sz="1725" b="0">
                <a:solidFill>
                  <a:srgbClr val="F1F5F9"/>
                </a:solidFill>
              </a:rPr>
              <a:t>Это не цена покупки. Это сумма последствий, которые компания принимает вместе с решением.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3725FA-7567-4C14-8D00-EFA7343BE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Управленческая Точность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29DF9C-B3E5-4CA2-A300-56A35B46C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0A1B9"/>
                </a:solidFill>
              </a:defRPr>
            </a:pPr>
            <a:r>
              <a:rPr sz="900" b="1">
                <a:solidFill>
                  <a:srgbClr val="90A1B9"/>
                </a:solidFill>
              </a:rPr>
              <a:t>2/10</a:t>
            </a:r>
          </a:p>
        </p:txBody>
      </p:sp>
    </p:spTree>
    <p:extLst>
      <p:ext uri="{BB962C8B-B14F-4D97-AF65-F5344CB8AC3E}">
        <p14:creationId xmlns:p14="http://schemas.microsoft.com/office/powerpoint/2010/main" val="10346168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0669DC-E578-4032-9BD3-4F109B1F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A3500"/>
                </a:solidFill>
              </a:defRPr>
            </a:pPr>
            <a:r>
              <a:rPr sz="1200" b="1">
                <a:solidFill>
                  <a:srgbClr val="CA3500"/>
                </a:solidFill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945B1B-B6FB-461D-A605-5D2535E9E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38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УМ / Управленческая математика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64B747-4307-4F91-9FA0-7D218570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Неточность проявляется не в одном месте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CC4F0F-F161-4B1F-8CF1-F70F938E8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3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AB2D3E-AD9C-4F56-9B33-E8127998C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4762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3239E2-D115-42C5-8A96-BC27CE5C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66925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A3500"/>
                </a:solidFill>
              </a:defRPr>
            </a:pPr>
            <a:r>
              <a:rPr sz="1875" b="1">
                <a:solidFill>
                  <a:srgbClr val="CA3500"/>
                </a:solidFill>
              </a:rPr>
              <a:t>Деньги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BF0272-77CE-4AB0-B255-47AD826DE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кассовый разрыв, отсрочка, НДС при ОСНО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13425F-0F80-4497-ACF3-487A39C1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857375"/>
            <a:ext cx="4762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20A0C3-2B1E-4C51-882F-8D6E2B734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066925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20618"/>
                </a:solidFill>
              </a:defRPr>
            </a:pPr>
            <a:r>
              <a:rPr sz="1875" b="1">
                <a:solidFill>
                  <a:srgbClr val="020618"/>
                </a:solidFill>
              </a:rPr>
              <a:t>Прибыль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E0DA88-0183-41A3-A690-8CF72556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4574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маржа, рентабельность, чистый результат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64464F-EA8F-4520-A41E-E82B1D1DE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762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A0B42A-FA7E-40C8-A79A-EEE0BFBD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20618"/>
                </a:solidFill>
              </a:defRPr>
            </a:pPr>
            <a:r>
              <a:rPr sz="1875" b="1">
                <a:solidFill>
                  <a:srgbClr val="020618"/>
                </a:solidFill>
              </a:rPr>
              <a:t>Ресурсы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827036-AABD-46EB-9DB9-DBF4F8A07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2907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люди, склад, производство, операционная нагрузка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723718-EC5D-4A82-855E-180DB4CC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429000"/>
            <a:ext cx="4762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992D9D-DF76-43C4-87EE-2FE24E06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638550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20618"/>
                </a:solidFill>
              </a:defRPr>
            </a:pPr>
            <a:r>
              <a:rPr sz="1875" b="1">
                <a:solidFill>
                  <a:srgbClr val="020618"/>
                </a:solidFill>
              </a:rPr>
              <a:t>Ответственность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A25AF4-6E2D-46A8-B9CA-DCC4A2900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02907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кто контролирует, когда пересматривать решение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AD55A9-E3C5-4D69-9793-601743B5F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172B"/>
                </a:solidFill>
              </a:defRPr>
            </a:pPr>
            <a:r>
              <a:rPr sz="1950" b="1">
                <a:solidFill>
                  <a:srgbClr val="0F172B"/>
                </a:solidFill>
              </a:rPr>
              <a:t>УМ нужна не для красивого расчета, а для точного управленческого ответа: что произойдет, если компания скажет “да”.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060363-8A31-4948-80CC-4577463E3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Управленческая Точность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E50B78-46E8-4756-9535-30FE4BD5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0A1B9"/>
                </a:solidFill>
              </a:defRPr>
            </a:pPr>
            <a:r>
              <a:rPr sz="900" b="1">
                <a:solidFill>
                  <a:srgbClr val="90A1B9"/>
                </a:solidFill>
              </a:rPr>
              <a:t>3/10</a:t>
            </a:r>
          </a:p>
        </p:txBody>
      </p:sp>
    </p:spTree>
    <p:extLst>
      <p:ext uri="{BB962C8B-B14F-4D97-AF65-F5344CB8AC3E}">
        <p14:creationId xmlns:p14="http://schemas.microsoft.com/office/powerpoint/2010/main" val="6637125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B6D82F-5659-49CC-B129-41C5E7BC9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A3500"/>
                </a:solidFill>
              </a:defRPr>
            </a:pPr>
            <a:r>
              <a:rPr sz="1200" b="1">
                <a:solidFill>
                  <a:srgbClr val="CA3500"/>
                </a:solidFill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A6D1CC-1071-4454-804D-4D23FB77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38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УМ / Управленческая математика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EC1468-9E92-4661-894E-A201DAB3E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Механизм УМ собирает запрос в управленческий ответ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318A78-ED56-47C8-84F4-F8D90113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3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D2F3A8-98AE-47D0-992E-DCC4EC96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190625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5E8448-02FC-4462-814D-78FCFA245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962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B"/>
                </a:solidFill>
              </a:defRPr>
            </a:pPr>
            <a:r>
              <a:rPr sz="1125" b="1">
                <a:solidFill>
                  <a:srgbClr val="0F172B"/>
                </a:solidFill>
              </a:rPr>
              <a:t>сырой</a:t>
            </a:r>
          </a:p>
          <a:p xmlns:a="http://schemas.openxmlformats.org/drawingml/2006/main">
            <a:pPr algn="l">
              <a:defRPr sz="1125" b="1">
                <a:solidFill>
                  <a:srgbClr val="0F172B"/>
                </a:solidFill>
              </a:defRPr>
            </a:pPr>
            <a:r>
              <a:rPr sz="1125" b="1">
                <a:solidFill>
                  <a:srgbClr val="0F172B"/>
                </a:solidFill>
              </a:rPr>
              <a:t>запрос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93A253-62E2-43F9-B25F-4F19A6B74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2352675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A3500"/>
                </a:solidFill>
              </a:defRPr>
            </a:pPr>
            <a:r>
              <a:rPr sz="1650" b="1">
                <a:solidFill>
                  <a:srgbClr val="CA3500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C3170E-FF5F-490A-9BAD-22B1F23C5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095500"/>
            <a:ext cx="1190625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67BC34-7F60-4D97-B95C-FFFFCE3E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2266950"/>
            <a:ext cx="962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B"/>
                </a:solidFill>
              </a:defRPr>
            </a:pPr>
            <a:r>
              <a:rPr sz="1125" b="1">
                <a:solidFill>
                  <a:srgbClr val="0F172B"/>
                </a:solidFill>
              </a:rPr>
              <a:t>числовой</a:t>
            </a:r>
          </a:p>
          <a:p xmlns:a="http://schemas.openxmlformats.org/drawingml/2006/main">
            <a:pPr algn="l">
              <a:defRPr sz="1125" b="1">
                <a:solidFill>
                  <a:srgbClr val="0F172B"/>
                </a:solidFill>
              </a:defRPr>
            </a:pPr>
            <a:r>
              <a:rPr sz="1125" b="1">
                <a:solidFill>
                  <a:srgbClr val="0F172B"/>
                </a:solidFill>
              </a:rPr>
              <a:t>якорь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299EFC-98B1-4336-9FA5-56B32F1E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352675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A3500"/>
                </a:solidFill>
              </a:defRPr>
            </a:pPr>
            <a:r>
              <a:rPr sz="1650" b="1">
                <a:solidFill>
                  <a:srgbClr val="CA3500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554309-6E0C-45B6-BE90-8B9CC545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095500"/>
            <a:ext cx="1190625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5E0F32-6EBC-44C1-AD02-0C9AA419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266950"/>
            <a:ext cx="962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B"/>
                </a:solidFill>
              </a:defRPr>
            </a:pPr>
            <a:r>
              <a:rPr sz="1125" b="1">
                <a:solidFill>
                  <a:srgbClr val="0F172B"/>
                </a:solidFill>
              </a:rPr>
              <a:t>данные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F780D6-9E3F-4FFF-8323-DA584572F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352675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A3500"/>
                </a:solidFill>
              </a:defRPr>
            </a:pPr>
            <a:r>
              <a:rPr sz="1650" b="1">
                <a:solidFill>
                  <a:srgbClr val="CA3500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2A7830-6434-4A49-B2B8-FC623DBE8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095500"/>
            <a:ext cx="1190625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D14F19-BA82-47BF-B552-AEC4C5D8D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266950"/>
            <a:ext cx="962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B"/>
                </a:solidFill>
              </a:defRPr>
            </a:pPr>
            <a:r>
              <a:rPr sz="1125" b="1">
                <a:solidFill>
                  <a:srgbClr val="0F172B"/>
                </a:solidFill>
              </a:rPr>
              <a:t>формула /</a:t>
            </a:r>
          </a:p>
          <a:p xmlns:a="http://schemas.openxmlformats.org/drawingml/2006/main">
            <a:pPr algn="l">
              <a:defRPr sz="1125" b="1">
                <a:solidFill>
                  <a:srgbClr val="0F172B"/>
                </a:solidFill>
              </a:defRPr>
            </a:pPr>
            <a:r>
              <a:rPr sz="1125" b="1">
                <a:solidFill>
                  <a:srgbClr val="0F172B"/>
                </a:solidFill>
              </a:rPr>
              <a:t>решатор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5069D1-1D02-4A05-A673-9F9FA168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352675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A3500"/>
                </a:solidFill>
              </a:defRPr>
            </a:pPr>
            <a:r>
              <a:rPr sz="1650" b="1">
                <a:solidFill>
                  <a:srgbClr val="CA3500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9664BE-8448-4DD9-BA2F-3E7E91F4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095500"/>
            <a:ext cx="1190625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BC36DC-DAAC-40B9-B6CE-C70DADCB1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266950"/>
            <a:ext cx="962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B"/>
                </a:solidFill>
              </a:defRPr>
            </a:pPr>
            <a:r>
              <a:rPr sz="1125" b="1">
                <a:solidFill>
                  <a:srgbClr val="0F172B"/>
                </a:solidFill>
              </a:rPr>
              <a:t>сценарии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6D641F-8636-44C0-9757-26335216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352675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A3500"/>
                </a:solidFill>
              </a:defRPr>
            </a:pPr>
            <a:r>
              <a:rPr sz="1650" b="1">
                <a:solidFill>
                  <a:srgbClr val="CA3500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3B4CCF-D2F9-42EE-9EA9-F8340FFC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095500"/>
            <a:ext cx="1190625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5B15D2-D032-4163-9731-BF889D871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266950"/>
            <a:ext cx="962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B"/>
                </a:solidFill>
              </a:defRPr>
            </a:pPr>
            <a:r>
              <a:rPr sz="1125" b="1">
                <a:solidFill>
                  <a:srgbClr val="0F172B"/>
                </a:solidFill>
              </a:rPr>
              <a:t>условия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D2459C-AE83-4F06-88CC-3A54CE882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52675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A3500"/>
                </a:solidFill>
              </a:defRPr>
            </a:pPr>
            <a:r>
              <a:rPr sz="1650" b="1">
                <a:solidFill>
                  <a:srgbClr val="CA3500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51A631-405A-4A99-B7B3-F630F6A4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95500"/>
            <a:ext cx="1190625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F1C84F-933F-413E-AC29-FE9B7781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962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B"/>
                </a:solidFill>
              </a:defRPr>
            </a:pPr>
            <a:r>
              <a:rPr sz="1125" b="1">
                <a:solidFill>
                  <a:srgbClr val="0F172B"/>
                </a:solidFill>
              </a:rPr>
              <a:t>статус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373ECF-6A50-47C5-B3DE-B8415AEC4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352675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A3500"/>
                </a:solidFill>
              </a:defRPr>
            </a:pPr>
            <a:r>
              <a:rPr sz="1650" b="1">
                <a:solidFill>
                  <a:srgbClr val="CA3500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6462FE-7D10-468A-A419-FA98C57D2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095500"/>
            <a:ext cx="1190625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C29D2E-8A8F-4663-A0AF-BFB33A8E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266950"/>
            <a:ext cx="962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B"/>
                </a:solidFill>
              </a:defRPr>
            </a:pPr>
            <a:r>
              <a:rPr sz="1125" b="1">
                <a:solidFill>
                  <a:srgbClr val="0F172B"/>
                </a:solidFill>
              </a:rPr>
              <a:t>ответ +</a:t>
            </a:r>
          </a:p>
          <a:p xmlns:a="http://schemas.openxmlformats.org/drawingml/2006/main">
            <a:pPr algn="l">
              <a:defRPr sz="1125" b="1">
                <a:solidFill>
                  <a:srgbClr val="0F172B"/>
                </a:solidFill>
              </a:defRPr>
            </a:pPr>
            <a:r>
              <a:rPr sz="1125" b="1">
                <a:solidFill>
                  <a:srgbClr val="0F172B"/>
                </a:solidFill>
              </a:rPr>
              <a:t>контроль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5D1D86-8C0E-4A0C-BECA-B4B707F7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0191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D2EC22-3388-41FF-8C73-4E61C613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57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20618"/>
                </a:solidFill>
              </a:defRPr>
            </a:pPr>
            <a:r>
              <a:rPr sz="2100" b="1">
                <a:solidFill>
                  <a:srgbClr val="020618"/>
                </a:solidFill>
              </a:rPr>
              <a:t>Главное правило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CAB35B-8671-462F-BB32-ACA6322C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695700"/>
            <a:ext cx="657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14158"/>
                </a:solidFill>
              </a:defRPr>
            </a:pPr>
            <a:r>
              <a:rPr sz="1725" b="0">
                <a:solidFill>
                  <a:srgbClr val="314158"/>
                </a:solidFill>
              </a:rPr>
              <a:t>Если нет числового якоря, формулы, сценариев, условий и контрольной точки, управленческий ответ не считается подготовленным.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39AACA-6E9A-4D35-9514-34562131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Управленческая Точность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D5143C-6A48-49ED-822D-4107FC46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0A1B9"/>
                </a:solidFill>
              </a:defRPr>
            </a:pPr>
            <a:r>
              <a:rPr sz="900" b="1">
                <a:solidFill>
                  <a:srgbClr val="90A1B9"/>
                </a:solidFill>
              </a:rPr>
              <a:t>4/10</a:t>
            </a:r>
          </a:p>
        </p:txBody>
      </p:sp>
    </p:spTree>
    <p:extLst>
      <p:ext uri="{BB962C8B-B14F-4D97-AF65-F5344CB8AC3E}">
        <p14:creationId xmlns:p14="http://schemas.microsoft.com/office/powerpoint/2010/main" val="8830892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463822-DA8E-4D08-B2F8-D3B6EF94F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A3500"/>
                </a:solidFill>
              </a:defRPr>
            </a:pPr>
            <a:r>
              <a:rPr sz="1200" b="1">
                <a:solidFill>
                  <a:srgbClr val="CA3500"/>
                </a:solidFill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C5735E-67D1-4577-84F0-596C95D5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38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УМ / Управленческая математика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9F3D3E-DACB-47C3-B5DA-A13291524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Платная Диагностика отделяет разговор от работы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EDCAFA-1A52-48CF-BA2B-21520787F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3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42266C-479B-4073-BBF3-06531FE2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57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14158"/>
                </a:solidFill>
              </a:defRPr>
            </a:pPr>
            <a:r>
              <a:rPr sz="1875" b="0">
                <a:solidFill>
                  <a:srgbClr val="314158"/>
                </a:solidFill>
              </a:rPr>
              <a:t>Первый продукт УМ — не бесплатный “посмотрим”, а платная проверка качества решения и исходных данных.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A01A13-3AA2-4D19-8783-C87ABCC8B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3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780742-2AC2-4DAA-A513-47CEE46E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05125"/>
            <a:ext cx="567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14158"/>
                </a:solidFill>
              </a:defRPr>
            </a:pPr>
            <a:r>
              <a:rPr sz="1575" b="0">
                <a:solidFill>
                  <a:srgbClr val="314158"/>
                </a:solidFill>
              </a:rPr>
              <a:t>что именно хочет запустить клиент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CF2B7E-FA26-4C31-A6FE-1FD442E34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E07F8D-1B46-470F-9802-CAD3A3431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95675"/>
            <a:ext cx="567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14158"/>
                </a:solidFill>
              </a:defRPr>
            </a:pPr>
            <a:r>
              <a:rPr sz="1575" b="0">
                <a:solidFill>
                  <a:srgbClr val="314158"/>
                </a:solidFill>
              </a:rPr>
              <a:t>какая цена управленческого “да”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7466CF-E222-457B-AFD0-AFAFF53F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85F11E-6916-47AA-AE8F-5AD745C4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86225"/>
            <a:ext cx="567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14158"/>
                </a:solidFill>
              </a:defRPr>
            </a:pPr>
            <a:r>
              <a:rPr sz="1575" b="0">
                <a:solidFill>
                  <a:srgbClr val="314158"/>
                </a:solidFill>
              </a:rPr>
              <a:t>каких данных не хватает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54D038-97B0-4582-83FD-0C5B4E7C9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D41309-E795-494A-828C-643CBC2ED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76775"/>
            <a:ext cx="567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14158"/>
                </a:solidFill>
              </a:defRPr>
            </a:pPr>
            <a:r>
              <a:rPr sz="1575" b="0">
                <a:solidFill>
                  <a:srgbClr val="314158"/>
                </a:solidFill>
              </a:rPr>
              <a:t>какой расчетный маршрут нужен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14383A-5B91-4683-A58A-46BB83803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FA6CB5-A54D-4BCC-96F3-9E56FB246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67325"/>
            <a:ext cx="567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14158"/>
                </a:solidFill>
              </a:defRPr>
            </a:pPr>
            <a:r>
              <a:rPr sz="1575" b="0">
                <a:solidFill>
                  <a:srgbClr val="314158"/>
                </a:solidFill>
              </a:rPr>
              <a:t>можно ли дать предварительный вердикт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72A6AF-634B-45B9-81C5-1A429DF60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190750"/>
            <a:ext cx="29527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AC7413-B027-43E2-BC13-CCE603F8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5717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786F"/>
                </a:solidFill>
              </a:defRPr>
            </a:pPr>
            <a:r>
              <a:rPr sz="2250" b="1">
                <a:solidFill>
                  <a:srgbClr val="00786F"/>
                </a:solidFill>
              </a:rPr>
              <a:t>Результат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F62292-F86F-4096-9A52-E6252C8A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19450"/>
            <a:ext cx="2286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172B"/>
                </a:solidFill>
              </a:defRPr>
            </a:pPr>
            <a:r>
              <a:rPr sz="1800" b="1">
                <a:solidFill>
                  <a:srgbClr val="0F172B"/>
                </a:solidFill>
              </a:rPr>
              <a:t>карта разрывов</a:t>
            </a:r>
          </a:p>
          <a:p xmlns:a="http://schemas.openxmlformats.org/drawingml/2006/main">
            <a:pPr algn="ctr">
              <a:defRPr sz="1800" b="1">
                <a:solidFill>
                  <a:srgbClr val="0F172B"/>
                </a:solidFill>
              </a:defRPr>
            </a:pPr>
            <a:r>
              <a:rPr sz="1800" b="1">
                <a:solidFill>
                  <a:srgbClr val="0F172B"/>
                </a:solidFill>
              </a:rPr>
              <a:t>расчетный маршрут</a:t>
            </a:r>
          </a:p>
          <a:p xmlns:a="http://schemas.openxmlformats.org/drawingml/2006/main">
            <a:pPr algn="ctr">
              <a:defRPr sz="1800" b="1">
                <a:solidFill>
                  <a:srgbClr val="0F172B"/>
                </a:solidFill>
              </a:defRPr>
            </a:pPr>
            <a:r>
              <a:rPr sz="1800" b="1">
                <a:solidFill>
                  <a:srgbClr val="0F172B"/>
                </a:solidFill>
              </a:rPr>
              <a:t>рекомендация следующего шага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4E94E3-BBDC-47F1-A04F-FBDEE03C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Управленческая Точность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B986DC-AAE1-42AD-B7DD-87517DD28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0A1B9"/>
                </a:solidFill>
              </a:defRPr>
            </a:pPr>
            <a:r>
              <a:rPr sz="900" b="1">
                <a:solidFill>
                  <a:srgbClr val="90A1B9"/>
                </a:solidFill>
              </a:rPr>
              <a:t>5/10</a:t>
            </a:r>
          </a:p>
        </p:txBody>
      </p:sp>
    </p:spTree>
    <p:extLst>
      <p:ext uri="{BB962C8B-B14F-4D97-AF65-F5344CB8AC3E}">
        <p14:creationId xmlns:p14="http://schemas.microsoft.com/office/powerpoint/2010/main" val="10429233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021DF9-7704-4246-8053-89A9FCC7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A3500"/>
                </a:solidFill>
              </a:defRPr>
            </a:pPr>
            <a:r>
              <a:rPr sz="1200" b="1">
                <a:solidFill>
                  <a:srgbClr val="CA3500"/>
                </a:solidFill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980638-CDAA-4C8F-9FA1-B06F7067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38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УМ / Управленческая математика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1B9403-F2E2-44B6-AFAB-F9677F797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Контрольная точка дает честный вердикт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8F379B-A911-4D35-A526-395EE6CC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3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F4151C-68B8-4BDB-A680-1E509333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238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EBECF6-4075-48A7-832F-398F8A79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A32DF5-3213-4B47-A79C-EE4490943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43125"/>
            <a:ext cx="278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20618"/>
                </a:solidFill>
              </a:defRPr>
            </a:pPr>
            <a:r>
              <a:rPr sz="1725" b="1">
                <a:solidFill>
                  <a:srgbClr val="020618"/>
                </a:solidFill>
              </a:rPr>
              <a:t>Можно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043C08-1755-4B34-8A8A-7C252D4B0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33675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5556C"/>
                </a:solidFill>
              </a:defRPr>
            </a:pPr>
            <a:r>
              <a:rPr sz="1200" b="0">
                <a:solidFill>
                  <a:srgbClr val="45556C"/>
                </a:solidFill>
              </a:rPr>
              <a:t>Расчет, сценарии, условия и контуры проверки подтверждают запуск.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021ACE-EA7D-4BF9-9A69-A61ABA70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52625"/>
            <a:ext cx="3238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13D81B-4EE7-46AD-966A-59E298A1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52625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3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25F8D7-635E-470C-9A83-30ED3F856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43125"/>
            <a:ext cx="278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20618"/>
                </a:solidFill>
              </a:defRPr>
            </a:pPr>
            <a:r>
              <a:rPr sz="1725" b="1">
                <a:solidFill>
                  <a:srgbClr val="020618"/>
                </a:solidFill>
              </a:rPr>
              <a:t>Можно при условиях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3B9E80-E1F4-44A7-A1C6-DE2CC827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33675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5556C"/>
                </a:solidFill>
              </a:defRPr>
            </a:pPr>
            <a:r>
              <a:rPr sz="1200" b="0">
                <a:solidFill>
                  <a:srgbClr val="45556C"/>
                </a:solidFill>
              </a:rPr>
              <a:t>Запуск допустим только при зафиксированных ограничениях, сроках и ответственных.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0612A1-BB6C-44E5-95A2-17DDEBDF0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952625"/>
            <a:ext cx="3238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C23C0A-56F7-4677-BB26-9D8D2BE2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952625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00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F7E8A5-4091-4BC0-9C3B-0FF2B5AAD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43125"/>
            <a:ext cx="278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20618"/>
                </a:solidFill>
              </a:defRPr>
            </a:pPr>
            <a:r>
              <a:rPr sz="1725" b="1">
                <a:solidFill>
                  <a:srgbClr val="020618"/>
                </a:solidFill>
              </a:rPr>
              <a:t>Нельзя в текущей модели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5B84CE-3AAA-4FD7-8178-E3309350C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33675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5556C"/>
                </a:solidFill>
              </a:defRPr>
            </a:pPr>
            <a:r>
              <a:rPr sz="1200" b="0">
                <a:solidFill>
                  <a:srgbClr val="45556C"/>
                </a:solidFill>
              </a:rPr>
              <a:t>Решение не проходит расчет или создает недопустимую цену управленческого “да”.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50FF79-01CA-46BE-9BFE-8872BF83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B"/>
                </a:solidFill>
              </a:defRPr>
            </a:pPr>
            <a:r>
              <a:rPr sz="1875" b="1">
                <a:solidFill>
                  <a:srgbClr val="0F172B"/>
                </a:solidFill>
              </a:rPr>
              <a:t>Если данных недостаточно, статус не присваивается: сначала собираются недостающие вводные.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9E7FF3-9C3C-4CA6-AA8B-2B88F601F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14158"/>
                </a:solidFill>
              </a:defRPr>
            </a:pPr>
            <a:r>
              <a:rPr sz="1725" b="0">
                <a:solidFill>
                  <a:srgbClr val="314158"/>
                </a:solidFill>
              </a:rPr>
              <a:t>Gate / контрольная точка — место, где решение перестает быть мнением и получает расчетный управленческий ответ.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3471DA-4440-4D16-AA06-5CE3D6EC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Управленческая Точность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44A8B8-C39A-415C-A9A2-87DC1C7F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0A1B9"/>
                </a:solidFill>
              </a:defRPr>
            </a:pPr>
            <a:r>
              <a:rPr sz="900" b="1">
                <a:solidFill>
                  <a:srgbClr val="90A1B9"/>
                </a:solidFill>
              </a:rPr>
              <a:t>6/10</a:t>
            </a:r>
          </a:p>
        </p:txBody>
      </p:sp>
    </p:spTree>
    <p:extLst>
      <p:ext uri="{BB962C8B-B14F-4D97-AF65-F5344CB8AC3E}">
        <p14:creationId xmlns:p14="http://schemas.microsoft.com/office/powerpoint/2010/main" val="18038389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9ECD28-CC24-40CB-A709-F6B559C1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A3500"/>
                </a:solidFill>
              </a:defRPr>
            </a:pPr>
            <a:r>
              <a:rPr sz="1200" b="1">
                <a:solidFill>
                  <a:srgbClr val="CA3500"/>
                </a:solidFill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75D746-23A9-4DC6-A885-C6A23C137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38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УМ / Управленческая математика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022CF8-E8D9-4CC1-8059-81D13BF3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Клиент проходит четыре платных этапа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A1302F-ED9C-4C5B-9230-26F3D873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3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19AD47-3669-49C9-8F10-44C65828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2571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83EFDA-BCE4-4071-8E8D-245BA936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241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A3500"/>
                </a:solidFill>
              </a:defRPr>
            </a:pPr>
            <a:r>
              <a:rPr sz="1350" b="1">
                <a:solidFill>
                  <a:srgbClr val="CA3500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FB10BF-1034-4EEC-B6F5-EE81F8DBE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Диагностика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CF49FA-8555-4B8A-9B6F-03796AE98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найти разрывы и расчетный маршрут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EC17FF-AD6B-4CF6-B8EA-262687E1F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76450"/>
            <a:ext cx="2571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9E44D0-E939-4080-B547-B203E2868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3241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A3500"/>
                </a:solidFill>
              </a:defRPr>
            </a:pPr>
            <a:r>
              <a:rPr sz="1350" b="1">
                <a:solidFill>
                  <a:srgbClr val="CA3500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E9F1CC-697C-41F0-9299-09DBA320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743200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Сессия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2B2826-00AF-4E8A-B81F-4E33F180C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42900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собрать правила проверки и критерии допустимости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3A0D90-D5E6-4E5C-B4F3-E683EFB8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76450"/>
            <a:ext cx="2571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23D48E-F0B1-43F4-99F9-DBA07B442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241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A3500"/>
                </a:solidFill>
              </a:defRPr>
            </a:pPr>
            <a:r>
              <a:rPr sz="1350" b="1">
                <a:solidFill>
                  <a:srgbClr val="CA3500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C04418-F708-46B3-B1E1-FE31417A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43200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Спринт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DF2A57-C64F-4712-9672-3F19432A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проверить контур на реальных решениях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B4EFAF-7DEA-474B-86A6-17F69072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76450"/>
            <a:ext cx="2571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55DC0-4EFD-46EC-8423-2317DF6D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241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A3500"/>
                </a:solidFill>
              </a:defRPr>
            </a:pPr>
            <a:r>
              <a:rPr sz="1350" b="1">
                <a:solidFill>
                  <a:srgbClr val="CA3500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E51594-1F3A-4C7F-B329-F45C1ECE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43200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Сопровождение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1AAC27-62D0-423C-BEEF-DE813561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2900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удерживать точность решений во времени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BD18C6-BCC8-4CFC-BBC4-8440F246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D293D"/>
                </a:solidFill>
              </a:defRPr>
            </a:pPr>
            <a:r>
              <a:rPr sz="1800" b="0">
                <a:solidFill>
                  <a:srgbClr val="1D293D"/>
                </a:solidFill>
              </a:rPr>
              <a:t>Линейка не обещает “готовый ответ за один звонок”: она выстраивает управляемый путь от запроса к устойчивому контуру решений.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5E034D-8468-48A4-8099-841B48FA0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Управленческая Точность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A44A39-7B54-46B3-94CD-B4E4ECFD3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0A1B9"/>
                </a:solidFill>
              </a:defRPr>
            </a:pPr>
            <a:r>
              <a:rPr sz="900" b="1">
                <a:solidFill>
                  <a:srgbClr val="90A1B9"/>
                </a:solidFill>
              </a:rPr>
              <a:t>7/10</a:t>
            </a:r>
          </a:p>
        </p:txBody>
      </p:sp>
    </p:spTree>
    <p:extLst>
      <p:ext uri="{BB962C8B-B14F-4D97-AF65-F5344CB8AC3E}">
        <p14:creationId xmlns:p14="http://schemas.microsoft.com/office/powerpoint/2010/main" val="512050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90D78B-F514-43A2-ACD8-EC38D3DD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A3500"/>
                </a:solidFill>
              </a:defRPr>
            </a:pPr>
            <a:r>
              <a:rPr sz="1200" b="1">
                <a:solidFill>
                  <a:srgbClr val="CA3500"/>
                </a:solidFill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AD7DE8-F137-41A1-A2FA-0B69AC1DC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38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УМ / Управленческая математика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95E399-BA60-4181-ABFB-52BE047D8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Решаторы помогают считать, но не заменяют технологию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1614AC-AE59-4A54-8EA3-6B256506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3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A0CF87-A752-4293-8DA1-D8DFB70C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286250" cy="2619375"/>
          </a:xfrm>
          <a:prstGeom xmlns:a="http://schemas.openxmlformats.org/drawingml/2006/main" prst="roundRect">
            <a:avLst>
              <a:gd name="adj" fmla="val 4364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0F172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440EC9-66D7-4F04-AA95-8442301B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Решатор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A48DEA-F70C-4B5C-8FCF-24ADC369F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48000"/>
            <a:ext cx="314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1F5F9"/>
                </a:solidFill>
              </a:defRPr>
            </a:pPr>
            <a:r>
              <a:rPr sz="1875" b="0">
                <a:solidFill>
                  <a:srgbClr val="F1F5F9"/>
                </a:solidFill>
              </a:rPr>
              <a:t>вводные → формулы → сценарии → статус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6CBF36-B9F2-4D0E-A373-CC9A1027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005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AD5E2"/>
                </a:solidFill>
              </a:defRPr>
            </a:pPr>
            <a:r>
              <a:rPr sz="1350" b="0">
                <a:solidFill>
                  <a:srgbClr val="CAD5E2"/>
                </a:solidFill>
              </a:rPr>
              <a:t>Это рабочий инструмент расчета.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0E6FE6-5785-4052-8226-ADC41AB39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336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Ценность УМ выше инструмента.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4FA97F-7B21-4E21-BC47-C06B89EA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241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20618"/>
                </a:solidFill>
              </a:defRPr>
            </a:pPr>
            <a:r>
              <a:rPr sz="1875" b="1">
                <a:solidFill>
                  <a:srgbClr val="020618"/>
                </a:solidFill>
              </a:rPr>
              <a:t>Технология определяет, что считать, какие данные принимать, какие сценарии проверять, какой статус давать и кто контролирует решение.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DDA78F-62F0-41EE-8D8B-4A093496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719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14158"/>
                </a:solidFill>
              </a:defRPr>
            </a:pPr>
            <a:r>
              <a:rPr sz="1725" b="0">
                <a:solidFill>
                  <a:srgbClr val="314158"/>
                </a:solidFill>
              </a:rPr>
              <a:t>Клиент покупает не таблицу, а способность заранее понимать последствия управленческого “да”.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FC15E1-08E2-4A2F-9AEF-BA27DF47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Управленческая Точность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16345B-3B82-4169-B783-200BF7EE9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0A1B9"/>
                </a:solidFill>
              </a:defRPr>
            </a:pPr>
            <a:r>
              <a:rPr sz="900" b="1">
                <a:solidFill>
                  <a:srgbClr val="90A1B9"/>
                </a:solidFill>
              </a:rPr>
              <a:t>8/10</a:t>
            </a:r>
          </a:p>
        </p:txBody>
      </p:sp>
    </p:spTree>
    <p:extLst>
      <p:ext uri="{BB962C8B-B14F-4D97-AF65-F5344CB8AC3E}">
        <p14:creationId xmlns:p14="http://schemas.microsoft.com/office/powerpoint/2010/main" val="5245752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177FF4-35AC-4623-82A5-99AD58EF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A3500"/>
                </a:solidFill>
              </a:defRPr>
            </a:pPr>
            <a:r>
              <a:rPr sz="1200" b="1">
                <a:solidFill>
                  <a:srgbClr val="CA3500"/>
                </a:solidFill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146A89-97CE-4F1D-AFB8-B3DACBDD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38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УМ / Управленческая математика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86E889-0B92-4C69-998F-80AF3C793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УМ не подменяет соседние инструменты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613A42-756D-42E7-A124-8AA2D21A9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3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021557-B81C-4958-8880-E14E5C943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20618"/>
                </a:solidFill>
              </a:defRPr>
            </a:pPr>
            <a:r>
              <a:rPr sz="1950" b="1">
                <a:solidFill>
                  <a:srgbClr val="020618"/>
                </a:solidFill>
              </a:rPr>
              <a:t>Не Excel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C177CB-3594-4333-9F2C-137D3C3A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905000"/>
            <a:ext cx="57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3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D7E0EB-31AD-4B2F-905E-6D024274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809750"/>
            <a:ext cx="657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14158"/>
                </a:solidFill>
              </a:defRPr>
            </a:pPr>
            <a:r>
              <a:rPr sz="1650" b="0">
                <a:solidFill>
                  <a:srgbClr val="314158"/>
                </a:solidFill>
              </a:rPr>
              <a:t>таблица может считать, но не формулирует управленческий ответ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928DBD-2B22-4CD3-B5E2-0FC8B9FD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20618"/>
                </a:solidFill>
              </a:defRPr>
            </a:pPr>
            <a:r>
              <a:rPr sz="1950" b="1">
                <a:solidFill>
                  <a:srgbClr val="020618"/>
                </a:solidFill>
              </a:rPr>
              <a:t>Не BI / бизнес-аналитика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4370E9-0F7C-4138-9BD2-5B244250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43200"/>
            <a:ext cx="57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3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DBE976-7B0D-4438-8FB9-23724F98B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647950"/>
            <a:ext cx="657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14158"/>
                </a:solidFill>
              </a:defRPr>
            </a:pPr>
            <a:r>
              <a:rPr sz="1650" b="0">
                <a:solidFill>
                  <a:srgbClr val="314158"/>
                </a:solidFill>
              </a:rPr>
              <a:t>аналитика показывает данные; УМ проверяет решение до запуска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ABC715-0BC2-42FB-85C5-C17B3BB8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20618"/>
                </a:solidFill>
              </a:defRPr>
            </a:pPr>
            <a:r>
              <a:rPr sz="1950" b="1">
                <a:solidFill>
                  <a:srgbClr val="020618"/>
                </a:solidFill>
              </a:rPr>
              <a:t>Не финансовая модель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248C63-3D12-48B2-A480-8065BA4F2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581400"/>
            <a:ext cx="57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3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746046-D853-46D7-9F88-3EF129F4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486150"/>
            <a:ext cx="657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14158"/>
                </a:solidFill>
              </a:defRPr>
            </a:pPr>
            <a:r>
              <a:rPr sz="1650" b="0">
                <a:solidFill>
                  <a:srgbClr val="314158"/>
                </a:solidFill>
              </a:rPr>
              <a:t>модель считает экономику; УМ связывает расчет со статусом и контролем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3CD054-EFAD-4E1C-9AE9-40760C31D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20618"/>
                </a:solidFill>
              </a:defRPr>
            </a:pPr>
            <a:r>
              <a:rPr sz="1950" b="1">
                <a:solidFill>
                  <a:srgbClr val="020618"/>
                </a:solidFill>
              </a:rPr>
              <a:t>Не тренинг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1200F0-A20B-4C91-84E1-97A597AD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419600"/>
            <a:ext cx="57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3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5E2FC9-EB5E-43C2-B56E-1FE1D4DF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324350"/>
            <a:ext cx="657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14158"/>
                </a:solidFill>
              </a:defRPr>
            </a:pPr>
            <a:r>
              <a:rPr sz="1650" b="0">
                <a:solidFill>
                  <a:srgbClr val="314158"/>
                </a:solidFill>
              </a:rPr>
              <a:t>УМ работает на реальных решениях, а не только на обучении мышлению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003693-CE3F-489A-A86F-52C9832D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Управленческая Точность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D90C50-3B6F-4D4C-A23B-F89D087D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0A1B9"/>
                </a:solidFill>
              </a:defRPr>
            </a:pPr>
            <a:r>
              <a:rPr sz="900" b="1">
                <a:solidFill>
                  <a:srgbClr val="90A1B9"/>
                </a:solidFill>
              </a:rPr>
              <a:t>9/10</a:t>
            </a:r>
          </a:p>
        </p:txBody>
      </p:sp>
    </p:spTree>
    <p:extLst>
      <p:ext uri="{BB962C8B-B14F-4D97-AF65-F5344CB8AC3E}">
        <p14:creationId xmlns:p14="http://schemas.microsoft.com/office/powerpoint/2010/main" val="5040394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F17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959273-F734-495A-A8E4-B50D5809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858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900"/>
                </a:solidFill>
              </a:defRPr>
            </a:pPr>
            <a:r>
              <a:rPr sz="1650" b="1">
                <a:solidFill>
                  <a:srgbClr val="FF6900"/>
                </a:solidFill>
              </a:rPr>
              <a:t>Следующий шаг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8D7F9E-71B0-4F10-8953-D1C63BED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28750"/>
            <a:ext cx="6191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Купить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Диагностику УМ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4F28AB-7C0F-4C57-8643-CD06A469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19450"/>
            <a:ext cx="590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1F5F9"/>
                </a:solidFill>
              </a:defRPr>
            </a:pPr>
            <a:r>
              <a:rPr sz="1875" b="0">
                <a:solidFill>
                  <a:srgbClr val="F1F5F9"/>
                </a:solidFill>
              </a:rPr>
              <a:t>На выходе клиент получает не “совет”, а управленческую карту: где решение уже точное, где есть разрывы и что нужно проверить перед запуском.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F557B9-6F0D-4A86-9B76-F1DB3F69F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219200"/>
            <a:ext cx="371475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CA1E76-D832-4653-A255-8DBB7AF0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6687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20618"/>
                </a:solidFill>
              </a:defRPr>
            </a:pPr>
            <a:r>
              <a:rPr sz="2175" b="1">
                <a:solidFill>
                  <a:srgbClr val="020618"/>
                </a:solidFill>
              </a:rPr>
              <a:t>Выход Диагностики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437145-318A-4321-9514-B22B02A0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66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3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09F872-5603-4D69-9A66-773C52B5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381250"/>
            <a:ext cx="2724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14158"/>
                </a:solidFill>
              </a:defRPr>
            </a:pPr>
            <a:r>
              <a:rPr sz="1575" b="0">
                <a:solidFill>
                  <a:srgbClr val="314158"/>
                </a:solidFill>
              </a:rPr>
              <a:t>карта разрывов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5D6A14-6840-430F-98B3-180C9D3F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057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98663E-17F7-4DE3-BCFA-582848B62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971800"/>
            <a:ext cx="2724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14158"/>
                </a:solidFill>
              </a:defRPr>
            </a:pPr>
            <a:r>
              <a:rPr sz="1575" b="0">
                <a:solidFill>
                  <a:srgbClr val="314158"/>
                </a:solidFill>
              </a:rPr>
              <a:t>предварительный расчетный маршрут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5C6CBB-3871-47DE-BAC7-AADA4C024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648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E2551C-59F3-4828-8FFE-5B420F977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562350"/>
            <a:ext cx="2724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14158"/>
                </a:solidFill>
              </a:defRPr>
            </a:pPr>
            <a:r>
              <a:rPr sz="1575" b="0">
                <a:solidFill>
                  <a:srgbClr val="314158"/>
                </a:solidFill>
              </a:rPr>
              <a:t>рекомендация следующего шага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3D2BD0-C900-4956-A2E8-352FC0944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238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8F03B3-0AE2-47FF-959F-C281F812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152900"/>
            <a:ext cx="2724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14158"/>
                </a:solidFill>
              </a:defRPr>
            </a:pPr>
            <a:r>
              <a:rPr sz="1575" b="0">
                <a:solidFill>
                  <a:srgbClr val="314158"/>
                </a:solidFill>
              </a:rPr>
              <a:t>условия для gate / контрольной точки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83DBAE-BA0E-4366-88FE-D9C91FEF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10250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Управленческая Точность начинается до запуска решения.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A2FE42-0353-46DA-AB3B-D479575A7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960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0A1B9"/>
                </a:solidFill>
              </a:defRPr>
            </a:pPr>
            <a:r>
              <a:rPr sz="900" b="1">
                <a:solidFill>
                  <a:srgbClr val="90A1B9"/>
                </a:solidFill>
              </a:rPr>
              <a:t>10/10</a:t>
            </a:r>
          </a:p>
        </p:txBody>
      </p:sp>
    </p:spTree>
    <p:extLst>
      <p:ext uri="{BB962C8B-B14F-4D97-AF65-F5344CB8AC3E}">
        <p14:creationId xmlns:p14="http://schemas.microsoft.com/office/powerpoint/2010/main" val="2895250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2026-07-28T07:05:04.6290000Z</dcterms:created>
  <dcterms:modified xsi:type="dcterms:W3CDTF">2026-07-28T07:05:04.6290000Z</dcterms:modified>
</coreProperties>
</file>