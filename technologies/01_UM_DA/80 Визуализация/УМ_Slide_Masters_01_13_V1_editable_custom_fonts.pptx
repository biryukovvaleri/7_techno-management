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30 секунд показать, что УМ переводит управленческое намерение в расчетный управленческий ответ до запуска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каждое управленческое «да» несет цену в деньгах, ресурсах, сроках, налоговом контуре и ответственности. Схема ведет к платной Диагностике.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Фильтр, который не дает выдавать вердикт при неполных вводных. «Данных недостаточно» — пред-статус, не четвертый статус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исполняемый алгоритм технологии в одном маршруте: каждый блок обязан дать проверяемый выход, иначе маршрут возвращается назад.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вердикта плюс отдельное служебное состояние недостатка данных. Пред-статус визуально отделен от статусов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Решатор исполняет расчетную часть, но работает только после постановки запроса, данных и условий.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УМ от неправильной категории Excel / таблица / финансовая модель. Инструмент считает, технология отвечает за точность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УМ покупается и проводится через четыре платных продукта. Первый шаг — платная Диагностика.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Содержание первого платного продукта: что проверяется до расчета и какой выход получает клиент.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Диагностики расчетная логика превращается в правила, практику и устойчивый контур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Контраст между управлением через спор и управлением через расчетный статус и условия. Опыт плюс расчет, а не критика руководителя.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на узнаваемом коммерческом запросе: клиент просит скидку и отсрочку, компания переводит это в требования к объему и условиям.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подмены категорией Excel, BI, финмодель, тренинг или консалтинг без расчетного контура.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55335" y="495300"/>
            <a:ext cx="973155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FLOW / ЯДРО ТЕХНОЛОГИИ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979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УМ переводит «хотим» в расчетный управленческий ответ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634490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Управленческая Точность появляется, когда намерение проходит данные, расчет, условия, статус и контроль.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148980"/>
            <a:ext cx="2773263" cy="29146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5350" y="3415680"/>
            <a:ext cx="25895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95350" y="3868117"/>
            <a:ext cx="2430363" cy="758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Управленческое намерение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3420963" y="44539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97213" y="3148980"/>
            <a:ext cx="2287191" cy="29146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06763" y="3415680"/>
            <a:ext cx="2054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106763" y="3868117"/>
            <a:ext cx="1944291" cy="758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Проверка данных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6146304" y="44539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622554" y="3148980"/>
            <a:ext cx="2287265" cy="29146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2104" y="3415680"/>
            <a:ext cx="20549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32104" y="3868117"/>
            <a:ext cx="2054982" cy="39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Расчет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8871719" y="44539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47969" y="3148980"/>
            <a:ext cx="2287265" cy="29146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7519" y="3415680"/>
            <a:ext cx="20549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557519" y="3868117"/>
            <a:ext cx="2054982" cy="39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11597134" y="44539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2073384" y="3148980"/>
            <a:ext cx="2287265" cy="29146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82934" y="3415680"/>
            <a:ext cx="20549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282934" y="3868117"/>
            <a:ext cx="2054982" cy="398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</a:t>
            </a:r>
            <a:endParaRPr lang="en-US" sz="2325" dirty="0"/>
          </a:p>
        </p:txBody>
      </p:sp>
      <p:sp>
        <p:nvSpPr>
          <p:cNvPr id="27" name="Text 25"/>
          <p:cNvSpPr/>
          <p:nvPr/>
        </p:nvSpPr>
        <p:spPr>
          <a:xfrm>
            <a:off x="14322549" y="44539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4798799" y="3148980"/>
            <a:ext cx="2803401" cy="2914650"/>
          </a:xfrm>
          <a:prstGeom prst="rect">
            <a:avLst/>
          </a:prstGeom>
          <a:solidFill>
            <a:srgbClr val="0B1F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08349" y="3415680"/>
            <a:ext cx="26227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5008349" y="3868117"/>
            <a:ext cx="2460501" cy="758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83"/>
              </a:lnSpc>
              <a:buNone/>
            </a:pPr>
            <a:r>
              <a:rPr lang="en-US" sz="23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Управленческий ответ</a:t>
            </a:r>
            <a:endParaRPr lang="en-US" sz="2325" dirty="0"/>
          </a:p>
        </p:txBody>
      </p:sp>
      <p:sp>
        <p:nvSpPr>
          <p:cNvPr id="31" name="Text 29"/>
          <p:cNvSpPr/>
          <p:nvPr/>
        </p:nvSpPr>
        <p:spPr>
          <a:xfrm>
            <a:off x="3505200" y="631128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2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◀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3752850" y="6435105"/>
            <a:ext cx="11029950" cy="190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7449145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999506" y="7468195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Text 33"/>
          <p:cNvSpPr/>
          <p:nvPr/>
        </p:nvSpPr>
        <p:spPr>
          <a:xfrm>
            <a:off x="2323356" y="7411045"/>
            <a:ext cx="356677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решения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999506" y="7885361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2323356" y="7828211"/>
            <a:ext cx="645193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подтвержденные данные и контроль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999506" y="8302526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2323356" y="8245376"/>
            <a:ext cx="434644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возврат или Stop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439400" y="7411045"/>
            <a:ext cx="7162800" cy="173295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87050" y="7601545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687050" y="7973020"/>
            <a:ext cx="6867525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схема вдохновения, не стратегический лозунг и не рисунок «как хочется». Это маршрут получения расчетного ответа.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9553575"/>
            <a:ext cx="7357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Управленческая Точность начинается до запуска решения.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11155635" y="9586913"/>
            <a:ext cx="70912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Визуализация_01_Ядро_Управленческой_Точности_V1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18115" y="495300"/>
            <a:ext cx="1054249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DECISION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Цена «да» видна до запуска, если решение посчитано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5893415" cy="80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показывает не только желаемый результат, но и цену последствий, которые компания принимает вместе с решением.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946499"/>
            <a:ext cx="5499050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" y="3194149"/>
            <a:ext cx="55041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" y="3627537"/>
            <a:ext cx="550412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в прибыли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394400" y="2946499"/>
            <a:ext cx="5499125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2050" y="3194149"/>
            <a:ext cx="55042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42050" y="3627537"/>
            <a:ext cx="550420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в денежном потоке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103075" y="2946499"/>
            <a:ext cx="5499050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50725" y="3194149"/>
            <a:ext cx="55041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50725" y="3627537"/>
            <a:ext cx="550412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в налоговом контуре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85800" y="5140672"/>
            <a:ext cx="5499050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450" y="5388322"/>
            <a:ext cx="55041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3450" y="5821710"/>
            <a:ext cx="550412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в ресурсах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6394400" y="5140672"/>
            <a:ext cx="5499125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2050" y="5388322"/>
            <a:ext cx="55042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642050" y="5821710"/>
            <a:ext cx="550420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в сроках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103075" y="5140672"/>
            <a:ext cx="5499050" cy="1984623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50725" y="5388322"/>
            <a:ext cx="55041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350725" y="5821710"/>
            <a:ext cx="550412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ответственности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685800" y="7449145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999506" y="7468195"/>
            <a:ext cx="209550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2323356" y="7411045"/>
            <a:ext cx="279552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решение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999506" y="7885361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Text 28"/>
          <p:cNvSpPr/>
          <p:nvPr/>
        </p:nvSpPr>
        <p:spPr>
          <a:xfrm>
            <a:off x="2323356" y="7828211"/>
            <a:ext cx="249888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цена «да»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999506" y="8302526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2323356" y="8245376"/>
            <a:ext cx="813569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скрытая цена, которая делает запуск опасным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439400" y="7411045"/>
            <a:ext cx="7162800" cy="173295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87050" y="7601545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87050" y="7973020"/>
            <a:ext cx="6867525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запугивание клиента и не обещание гарантированной прибыли. Это карта последствий решения.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9553575"/>
            <a:ext cx="54681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Точное решение знает свою цену до запуска.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1841435" y="9586913"/>
            <a:ext cx="633684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Визуализация_02_Цена_Управленческого_Да_V1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50238" y="495300"/>
            <a:ext cx="9407158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DIAGNOSTIC CARD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Если данных недостаточно, вердикт не выдается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69735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«Данных недостаточно» — не статус решения, а пред-статус: возврат на сбор вводных и повторная проверка.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544589"/>
            <a:ext cx="3352800" cy="4580706"/>
          </a:xfrm>
          <a:prstGeom prst="rect">
            <a:avLst/>
          </a:prstGeom>
          <a:solidFill>
            <a:srgbClr val="0B1F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" y="4414391"/>
            <a:ext cx="31432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ВХОД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" y="4866829"/>
            <a:ext cx="314325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Сырой запрос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000500" y="46825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76750" y="2544589"/>
            <a:ext cx="8305800" cy="1045146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4400" y="2907581"/>
            <a:ext cx="4031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241801" y="2890019"/>
            <a:ext cx="3378421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Есть числовой якорь?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4476750" y="3723084"/>
            <a:ext cx="8305800" cy="104522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4400" y="4086151"/>
            <a:ext cx="4031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241801" y="4068514"/>
            <a:ext cx="4860332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Есть режим налогообложения?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4476750" y="4901654"/>
            <a:ext cx="8305800" cy="1045146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4400" y="5264646"/>
            <a:ext cx="4031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241801" y="5247084"/>
            <a:ext cx="3273155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Есть деньги и сроки?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4476750" y="6080150"/>
            <a:ext cx="8305800" cy="1045146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400" y="6443142"/>
            <a:ext cx="40310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241801" y="6425580"/>
            <a:ext cx="437525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Есть формула или решатор?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12744450" y="4682505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220700" y="2544589"/>
            <a:ext cx="4381500" cy="2195066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68350" y="3251374"/>
            <a:ext cx="4274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◀ ВОЗВРАТ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468350" y="3660949"/>
            <a:ext cx="4274820" cy="40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52"/>
              </a:lnSpc>
              <a:buNone/>
            </a:pPr>
            <a:r>
              <a:rPr lang="en-US" sz="24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нет — сбор данных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220700" y="4930155"/>
            <a:ext cx="4381500" cy="219514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68350" y="5637014"/>
            <a:ext cx="4274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ДОПУСК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468350" y="6046589"/>
            <a:ext cx="4274820" cy="40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952"/>
              </a:lnSpc>
              <a:buNone/>
            </a:pPr>
            <a:r>
              <a:rPr lang="en-US" sz="2400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да — расчет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" y="7449145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999506" y="7468195"/>
            <a:ext cx="209550" cy="2095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2323356" y="7411045"/>
            <a:ext cx="363430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служебная проверка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999506" y="7885361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5" name="Text 33"/>
          <p:cNvSpPr/>
          <p:nvPr/>
        </p:nvSpPr>
        <p:spPr>
          <a:xfrm>
            <a:off x="2323356" y="7828211"/>
            <a:ext cx="524374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возврат на сбор данных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999506" y="8302526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7" name="Text 35"/>
          <p:cNvSpPr/>
          <p:nvPr/>
        </p:nvSpPr>
        <p:spPr>
          <a:xfrm>
            <a:off x="2323356" y="8245376"/>
            <a:ext cx="339675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допуск к расчету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39400" y="7411045"/>
            <a:ext cx="7162800" cy="173295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87050" y="7601545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687050" y="7973020"/>
            <a:ext cx="6867525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четвертый статус решения. Нельзя показывать «данных недостаточно» рядом с тремя вердиктами как равный исход.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9553575"/>
            <a:ext cx="79466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Нет данных — нет вердикта. Есть данные — можно считать.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1430000" y="9586913"/>
            <a:ext cx="678942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Визуализация_03_Проверка_Данных_До_Расчета_V1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07921" y="495300"/>
            <a:ext cx="989370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FLOW / PROCESS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Алгоритм УМ ведет решение от сырого запроса к контролю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69735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блок должен дать проверяемый выход; если выход не получен, маршрут возвращается назад.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144217"/>
            <a:ext cx="3078435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6300" y="3353767"/>
            <a:ext cx="29671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6300" y="3744292"/>
            <a:ext cx="29671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Сырой запрос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3726135" y="39252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145235" y="3144217"/>
            <a:ext cx="3078510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5735" y="33537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35735" y="3744292"/>
            <a:ext cx="29672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Домен задачи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7185645" y="39252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7604745" y="3144217"/>
            <a:ext cx="3078435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5245" y="3353767"/>
            <a:ext cx="29671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95245" y="3744292"/>
            <a:ext cx="29671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Числовой якорь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645080" y="39252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064180" y="3144217"/>
            <a:ext cx="3078510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54680" y="33537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54680" y="3744292"/>
            <a:ext cx="29672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4104590" y="39252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523690" y="3144217"/>
            <a:ext cx="3078510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14190" y="33537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14190" y="3744292"/>
            <a:ext cx="29672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Формула / решатор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685800" y="5201617"/>
            <a:ext cx="3078435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6300" y="5411167"/>
            <a:ext cx="29671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6300" y="5801692"/>
            <a:ext cx="29671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Сценарии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3726135" y="59826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145235" y="5201617"/>
            <a:ext cx="3078510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5735" y="54111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335735" y="5801692"/>
            <a:ext cx="29672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7185645" y="59826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7604745" y="5201617"/>
            <a:ext cx="3078435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5245" y="5411167"/>
            <a:ext cx="29671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95245" y="5801692"/>
            <a:ext cx="29671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10645080" y="59826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1064180" y="5201617"/>
            <a:ext cx="3078510" cy="1847850"/>
          </a:xfrm>
          <a:prstGeom prst="rect">
            <a:avLst/>
          </a:prstGeom>
          <a:solidFill>
            <a:srgbClr val="0B1F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54680" y="54111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254680" y="5801692"/>
            <a:ext cx="27784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Управленческий ответ</a:t>
            </a:r>
            <a:endParaRPr lang="en-US" sz="2175" dirty="0"/>
          </a:p>
        </p:txBody>
      </p:sp>
      <p:sp>
        <p:nvSpPr>
          <p:cNvPr id="42" name="Text 40"/>
          <p:cNvSpPr/>
          <p:nvPr/>
        </p:nvSpPr>
        <p:spPr>
          <a:xfrm>
            <a:off x="14104590" y="5982667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4523690" y="5201617"/>
            <a:ext cx="3078510" cy="18478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714190" y="5411167"/>
            <a:ext cx="29672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714190" y="5801692"/>
            <a:ext cx="296726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</a:t>
            </a:r>
            <a:endParaRPr lang="en-US" sz="2175" dirty="0"/>
          </a:p>
        </p:txBody>
      </p:sp>
      <p:sp>
        <p:nvSpPr>
          <p:cNvPr id="46" name="Text 44"/>
          <p:cNvSpPr/>
          <p:nvPr/>
        </p:nvSpPr>
        <p:spPr>
          <a:xfrm>
            <a:off x="4069035" y="7259017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210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◀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4316685" y="7382842"/>
            <a:ext cx="9902205" cy="190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7811467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999506" y="7920038"/>
            <a:ext cx="323850" cy="2857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0" name="Text 48"/>
          <p:cNvSpPr/>
          <p:nvPr/>
        </p:nvSpPr>
        <p:spPr>
          <a:xfrm>
            <a:off x="2437656" y="7773367"/>
            <a:ext cx="566685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Сплошная стрелка — обязательный переход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999506" y="8337203"/>
            <a:ext cx="323850" cy="2857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2" name="Text 50"/>
          <p:cNvSpPr/>
          <p:nvPr/>
        </p:nvSpPr>
        <p:spPr>
          <a:xfrm>
            <a:off x="2437656" y="8190533"/>
            <a:ext cx="366892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Обратная стрелка — возврат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999506" y="8664848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4" name="Text 52"/>
          <p:cNvSpPr/>
          <p:nvPr/>
        </p:nvSpPr>
        <p:spPr>
          <a:xfrm>
            <a:off x="2323356" y="8607698"/>
            <a:ext cx="427555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Stop или разрыв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0439400" y="7773367"/>
            <a:ext cx="7162800" cy="173295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87050" y="7963867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0687050" y="8335342"/>
            <a:ext cx="6867525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список тем для обсуждения. Это последовательность, где каждый шаг обязан произвести выход.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685800" y="9753972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" y="9915897"/>
            <a:ext cx="99828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УМ работает только как исполняемый алгоритм, а не как набор рассуждений.</a:t>
            </a:r>
            <a:endParaRPr lang="en-US" sz="2025" dirty="0"/>
          </a:p>
        </p:txBody>
      </p:sp>
      <p:sp>
        <p:nvSpPr>
          <p:cNvPr id="60" name="Text 58"/>
          <p:cNvSpPr/>
          <p:nvPr/>
        </p:nvSpPr>
        <p:spPr>
          <a:xfrm>
            <a:off x="11292780" y="9949235"/>
            <a:ext cx="694036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Визуализация_04_Алгоритм_УМ_Запрос_Контроль_V1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60432" y="495300"/>
            <a:ext cx="10055944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DIAGNOSTIC PREMIUM · STATUS MAP / GATE MAP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УМ дает три статуса решения — не четыре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69735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Данных недостаточно — это возврат на сбор данных, а не управленческий вердикт.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563639"/>
            <a:ext cx="4533900" cy="4721200"/>
          </a:xfrm>
          <a:prstGeom prst="rect">
            <a:avLst/>
          </a:prstGeom>
          <a:solidFill>
            <a:srgbClr val="475569">
              <a:alpha val="7000"/>
            </a:srgbClr>
          </a:solidFill>
          <a:ln w="19050">
            <a:solidFill>
              <a:srgbClr val="47556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52500" y="3933453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ПРЕД-СТАТУС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381128"/>
            <a:ext cx="4120515" cy="117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76"/>
              </a:lnSpc>
              <a:buNone/>
            </a:pPr>
            <a:r>
              <a:rPr lang="en-US" sz="2400" b="1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Пред-статус: данных недостаточно для вердикта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" y="566737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612"/>
              </a:lnSpc>
              <a:buNone/>
            </a:pPr>
            <a:r>
              <a:rPr lang="en-US" sz="1950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◀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14450" y="5781675"/>
            <a:ext cx="3638550" cy="190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8325" y="2846933"/>
            <a:ext cx="19050" cy="4154612"/>
          </a:xfrm>
          <a:prstGeom prst="rect">
            <a:avLst/>
          </a:prstGeom>
          <a:solidFill>
            <a:srgbClr val="0B1F33">
              <a:alpha val="3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0" y="2563639"/>
            <a:ext cx="11506200" cy="1446684"/>
          </a:xfrm>
          <a:prstGeom prst="rect">
            <a:avLst/>
          </a:prstGeom>
          <a:solidFill>
            <a:srgbClr val="FFFFFF">
              <a:alpha val="45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1750" y="3139306"/>
            <a:ext cx="1561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СТАТУС 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9071" y="3067869"/>
            <a:ext cx="14132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30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Можно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096000" y="4200823"/>
            <a:ext cx="11506200" cy="1446758"/>
          </a:xfrm>
          <a:prstGeom prst="rect">
            <a:avLst/>
          </a:prstGeom>
          <a:solidFill>
            <a:srgbClr val="FFFFFF">
              <a:alpha val="45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1750" y="4776564"/>
            <a:ext cx="1561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СТАТУС 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49071" y="4705127"/>
            <a:ext cx="423945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3000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Можно при условиях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096000" y="5838081"/>
            <a:ext cx="11506200" cy="1446758"/>
          </a:xfrm>
          <a:prstGeom prst="rect">
            <a:avLst/>
          </a:prstGeom>
          <a:solidFill>
            <a:srgbClr val="FFFFFF">
              <a:alpha val="4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1750" y="6413822"/>
            <a:ext cx="1561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СТАТУС 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9071" y="6342385"/>
            <a:ext cx="52927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30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Нельзя в текущей модели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" y="7608689"/>
            <a:ext cx="1180356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999506" y="7627739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2323356" y="7570589"/>
            <a:ext cx="255094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можно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999506" y="8044904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7" name="Text 25"/>
          <p:cNvSpPr/>
          <p:nvPr/>
        </p:nvSpPr>
        <p:spPr>
          <a:xfrm>
            <a:off x="2323356" y="7987754"/>
            <a:ext cx="38629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можно при условиях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999506" y="8462070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2323356" y="8404920"/>
            <a:ext cx="545599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нельзя в текущей модели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999506" y="8879235"/>
            <a:ext cx="209550" cy="2095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2323356" y="8822085"/>
            <a:ext cx="352944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пред-статус данных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439400" y="7570589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87050" y="7761089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687050" y="8132564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универсальная схема 00E с Hold / No Fit. Для УМ применяется адаптированная логика технологии.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9553575"/>
            <a:ext cx="76244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Вердикт возможен только после данных, расчета и условий.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1018490" y="9586913"/>
            <a:ext cx="724208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Визуализация_05_Статусы_Решения_И_Пред_Статус_V1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13018" y="495300"/>
            <a:ext cx="102181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CALCULATOR LOGIC MAP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Решатор считает только то, что правильно поставлено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69735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решатора должны быть определены задача, вводные, налоговый режим, сценарии и критерии допустимости.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640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5350" y="2869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5350" y="3279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Вводные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576763" y="3536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014913" y="2640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4463" y="2869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24463" y="3279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Формулы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8905875" y="3536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44025" y="2640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3575" y="2869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53575" y="3279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Сценарии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13234988" y="3536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673138" y="2640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82688" y="2869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882688" y="3279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Налоговый контур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685800" y="4926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5350" y="5155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5350" y="5565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Денежный контур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4576763" y="5822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5014913" y="4926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4463" y="5155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24463" y="5565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Порог допустимости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8905875" y="5822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344025" y="4926881"/>
            <a:ext cx="3929063" cy="2076450"/>
          </a:xfrm>
          <a:prstGeom prst="rect">
            <a:avLst/>
          </a:prstGeom>
          <a:solidFill>
            <a:srgbClr val="0B1F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3575" y="5155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53575" y="5565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</a:t>
            </a:r>
            <a:endParaRPr lang="en-US" sz="2325" dirty="0"/>
          </a:p>
        </p:txBody>
      </p:sp>
      <p:sp>
        <p:nvSpPr>
          <p:cNvPr id="34" name="Text 32"/>
          <p:cNvSpPr/>
          <p:nvPr/>
        </p:nvSpPr>
        <p:spPr>
          <a:xfrm>
            <a:off x="13234988" y="5822231"/>
            <a:ext cx="476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3673138" y="4926881"/>
            <a:ext cx="3929063" cy="20764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882688" y="5155481"/>
            <a:ext cx="3860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882688" y="5565056"/>
            <a:ext cx="386095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Контрольная точка</a:t>
            </a:r>
            <a:endParaRPr lang="en-US" sz="2325" dirty="0"/>
          </a:p>
        </p:txBody>
      </p:sp>
      <p:sp>
        <p:nvSpPr>
          <p:cNvPr id="38" name="Text 36"/>
          <p:cNvSpPr/>
          <p:nvPr/>
        </p:nvSpPr>
        <p:spPr>
          <a:xfrm>
            <a:off x="685800" y="7423547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999506" y="7442597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2323356" y="7385447"/>
            <a:ext cx="412903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подтвержденные данные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999506" y="7859762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2" name="Text 40"/>
          <p:cNvSpPr/>
          <p:nvPr/>
        </p:nvSpPr>
        <p:spPr>
          <a:xfrm>
            <a:off x="2323356" y="7802612"/>
            <a:ext cx="380537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расчетный маршрут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999506" y="8276927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4" name="Text 42"/>
          <p:cNvSpPr/>
          <p:nvPr/>
        </p:nvSpPr>
        <p:spPr>
          <a:xfrm>
            <a:off x="2323356" y="8219777"/>
            <a:ext cx="55674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разрыв или недопустимый результат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39400" y="7385447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87050" y="7575947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687050" y="7947422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самостоятельный калькулятор «на все случаи жизни» и не продажа Excel вместо технологии.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685800" y="90392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9201150"/>
            <a:ext cx="968512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Решатор — инструмент расчета, технология — контур управленческого ответа.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10469835" y="9234488"/>
            <a:ext cx="784560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Визуализация_06_Логика_Решатора_Внутри_Технологии_V1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01930" y="495300"/>
            <a:ext cx="1119128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ANTI-POSITIONING + DECISION MAP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Клиент покупает не таблицу, а способность принимать точные решения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69735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Решатор помогает считать, но не определяет, какое решение допустимо и кто отвечает за контроль.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201367"/>
            <a:ext cx="5143500" cy="3923928"/>
          </a:xfrm>
          <a:prstGeom prst="rect">
            <a:avLst/>
          </a:prstGeom>
          <a:solidFill>
            <a:srgbClr val="475569">
              <a:alpha val="7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" y="4682728"/>
            <a:ext cx="502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ИНСТРУМЕНТАЛЬНЫЙ СЛОЙ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1550" y="5149453"/>
            <a:ext cx="502920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88"/>
              </a:lnSpc>
              <a:buNone/>
            </a:pPr>
            <a:r>
              <a:rPr lang="en-US" sz="3300" b="1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Таблица считает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791200" y="5001369"/>
            <a:ext cx="762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404"/>
              </a:lnSpc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15100" y="3201367"/>
            <a:ext cx="11087100" cy="392392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838950" y="3615556"/>
            <a:ext cx="11483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ТЕХНОЛОГИЯ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38950" y="4163244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67600" y="4082281"/>
            <a:ext cx="3037656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ставит вопрос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838950" y="4723284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67600" y="4642321"/>
            <a:ext cx="383632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выбирает контуры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838950" y="5283324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67600" y="5202362"/>
            <a:ext cx="326447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задает условия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6838950" y="5843364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67600" y="5762402"/>
            <a:ext cx="398185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присваивает статус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6838950" y="6403404"/>
            <a:ext cx="495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67600" y="6322442"/>
            <a:ext cx="41499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85"/>
              </a:lnSpc>
              <a:buNone/>
            </a:pPr>
            <a:r>
              <a:rPr lang="en-US" sz="25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УМ фиксирует контроль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685800" y="7449145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999506" y="7468195"/>
            <a:ext cx="209550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2323356" y="7411045"/>
            <a:ext cx="310314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технология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999506" y="7885361"/>
            <a:ext cx="228600" cy="228600"/>
          </a:xfrm>
          <a:prstGeom prst="rect">
            <a:avLst/>
          </a:prstGeom>
          <a:solidFill>
            <a:srgbClr val="F3EBDD"/>
          </a:solidFill>
          <a:ln w="9525">
            <a:solidFill>
              <a:srgbClr val="0B1F33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2406" y="7828211"/>
            <a:ext cx="458120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 Paper — рабочая поверхность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999506" y="8302526"/>
            <a:ext cx="209550" cy="2095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2323356" y="8245376"/>
            <a:ext cx="409637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инструментальный слой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0439400" y="7411045"/>
            <a:ext cx="7162800" cy="173295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87050" y="7601545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87050" y="7973020"/>
            <a:ext cx="6867525" cy="101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Excel-продукт, не BI / бизнес-аналитика, не финансовая модель и не набор шаблонов для скачивания.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9553575"/>
            <a:ext cx="102923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Таблица не отвечает за управленческое «да». УМ отвечает за точность ответа.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1018490" y="9586913"/>
            <a:ext cx="724208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Визуализация_07_Решатор_Инструмент_Не_Продукт_V1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40044" y="495300"/>
            <a:ext cx="875837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PRODUCT LADDER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Путь УМ начинается с платной Диагностики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6285845" cy="80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 показывает разрывы; Сессия собирает правила; Спринт проверяет контур; Сопровождение удерживает точность.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972297"/>
            <a:ext cx="3843338" cy="31274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7042547"/>
            <a:ext cx="384333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939210"/>
            <a:ext cx="37247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6367835"/>
            <a:ext cx="3724751" cy="465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31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4491038" y="4870698"/>
            <a:ext cx="59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43488" y="3473946"/>
            <a:ext cx="3843338" cy="362575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3488" y="7042547"/>
            <a:ext cx="384333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5272088" y="5939210"/>
            <a:ext cx="37247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72088" y="6367835"/>
            <a:ext cx="3724751" cy="465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31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8848725" y="4870698"/>
            <a:ext cx="59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01175" y="2933998"/>
            <a:ext cx="3843338" cy="416569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9401175" y="7042547"/>
            <a:ext cx="384333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9629775" y="5939210"/>
            <a:ext cx="37247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29775" y="6367835"/>
            <a:ext cx="3724751" cy="465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31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3206413" y="4870698"/>
            <a:ext cx="59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190"/>
              </a:lnSpc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3758863" y="2394049"/>
            <a:ext cx="3843338" cy="470564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58863" y="7042547"/>
            <a:ext cx="3843338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3987463" y="5939210"/>
            <a:ext cx="37247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87463" y="6367835"/>
            <a:ext cx="3724751" cy="465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31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685800" y="7423547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999506" y="7442597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Text 27"/>
          <p:cNvSpPr/>
          <p:nvPr/>
        </p:nvSpPr>
        <p:spPr>
          <a:xfrm>
            <a:off x="2323356" y="7385447"/>
            <a:ext cx="4796157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 между продуктами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999506" y="7859762"/>
            <a:ext cx="209550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Text 29"/>
          <p:cNvSpPr/>
          <p:nvPr/>
        </p:nvSpPr>
        <p:spPr>
          <a:xfrm>
            <a:off x="2323356" y="7802612"/>
            <a:ext cx="38535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платный продукт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999506" y="8276927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2323356" y="8219777"/>
            <a:ext cx="403531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закрепленный результат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39400" y="7385447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7050" y="7575947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687050" y="7947422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линейка бесплатных касаний, не Game / Lite и не продажа решаторов отдельно от технологии.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85800" y="90392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9201150"/>
            <a:ext cx="996772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Каждый следующий продукт покупается потому, что предыдущий создал проверяемый результат.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0744200" y="9234488"/>
            <a:ext cx="75438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Визуализация_08_Клиентский_Путь_Четыре_Продукта_V1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45141" y="495300"/>
            <a:ext cx="908276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DIAGNOSTIC PREMIUM · DIAGNOSTIC CARD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показывает, можно ли вообще давать вердикт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73926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Первый шаг УМ проверяет запрос, данные, цену «да», контуры риска и расчетный маршрут.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345507"/>
            <a:ext cx="4086225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74107"/>
            <a:ext cx="39919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83682"/>
            <a:ext cx="39919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Запрос клиента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4962525" y="3345507"/>
            <a:ext cx="4086225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1125" y="3574107"/>
            <a:ext cx="39919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91125" y="3983682"/>
            <a:ext cx="39919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Домен задачи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9239250" y="3345507"/>
            <a:ext cx="4086225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7850" y="3574107"/>
            <a:ext cx="39919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67850" y="3983682"/>
            <a:ext cx="39919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Числовой якорь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13515975" y="3345507"/>
            <a:ext cx="4086225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44575" y="3574107"/>
            <a:ext cx="39919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44575" y="3983682"/>
            <a:ext cx="39919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325" dirty="0"/>
          </a:p>
        </p:txBody>
      </p:sp>
      <p:sp>
        <p:nvSpPr>
          <p:cNvPr id="20" name="Shape 18"/>
          <p:cNvSpPr/>
          <p:nvPr/>
        </p:nvSpPr>
        <p:spPr>
          <a:xfrm>
            <a:off x="685800" y="5421957"/>
            <a:ext cx="4229100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50557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6060132"/>
            <a:ext cx="414909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Разрывы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5105400" y="5421957"/>
            <a:ext cx="4229100" cy="1885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0" y="5650557"/>
            <a:ext cx="41490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4000" y="6060132"/>
            <a:ext cx="414909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Расчетный маршрут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9525000" y="5421957"/>
            <a:ext cx="8077200" cy="1885950"/>
          </a:xfrm>
          <a:prstGeom prst="rect">
            <a:avLst/>
          </a:prstGeom>
          <a:solidFill>
            <a:srgbClr val="0F766E">
              <a:alpha val="8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1700" y="5650557"/>
            <a:ext cx="82981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ВЫХОД ДИАГНОСТИКИ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91700" y="6060132"/>
            <a:ext cx="829818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52"/>
              </a:lnSpc>
              <a:buNone/>
            </a:pPr>
            <a:r>
              <a:rPr lang="en-US" sz="23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Рекомендация следующего продукта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685800" y="7775972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999506" y="7795022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2323356" y="7737872"/>
            <a:ext cx="176611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разрыв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999506" y="8212187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Text 31"/>
          <p:cNvSpPr/>
          <p:nvPr/>
        </p:nvSpPr>
        <p:spPr>
          <a:xfrm>
            <a:off x="2323356" y="8155037"/>
            <a:ext cx="342974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расчета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999506" y="8629352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2323356" y="8572202"/>
            <a:ext cx="664257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подтвержденный вход в следующий продукт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39400" y="7737872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87050" y="7928372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687050" y="8299847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бесплатная консультация, не пресейл и не обещание готового решения без данных.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9553575"/>
            <a:ext cx="815264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покупается, чтобы не запускать решение вслепую.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2390090" y="9586913"/>
            <a:ext cx="57333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Визуализация_09_Диагностика_Решения_V1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40044" y="495300"/>
            <a:ext cx="875837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SPRINT FLOW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После Диагностики УМ превращается в управляемый контур решений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6285845" cy="80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Сессия задает правила; Спринт проверяет их на реальных решениях; Сопровождение удерживает дисциплину точности.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584228"/>
            <a:ext cx="5257800" cy="3867894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7433072"/>
            <a:ext cx="52578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584228"/>
            <a:ext cx="5257800" cy="571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455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927128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" y="4393853"/>
            <a:ext cx="5196840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69"/>
              </a:lnSpc>
              <a:buNone/>
            </a:pPr>
            <a:r>
              <a:rPr lang="en-US" sz="28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4985147"/>
            <a:ext cx="519684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1F2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критерии и правила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5905500" y="5356250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404"/>
              </a:lnSpc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15100" y="3584228"/>
            <a:ext cx="5257800" cy="3867894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15100" y="7433072"/>
            <a:ext cx="52578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5100" y="3584228"/>
            <a:ext cx="525780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510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5385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800" y="3927128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1800" y="4393853"/>
            <a:ext cx="5196840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69"/>
              </a:lnSpc>
              <a:buNone/>
            </a:pPr>
            <a:r>
              <a:rPr lang="en-US" sz="28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781800" y="4985147"/>
            <a:ext cx="5196840" cy="402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1F2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30-60-90 на реальных решениях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1734800" y="5356250"/>
            <a:ext cx="647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404"/>
              </a:lnSpc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344400" y="3584228"/>
            <a:ext cx="5257800" cy="3867894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344400" y="7433072"/>
            <a:ext cx="52578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44400" y="3584228"/>
            <a:ext cx="5257800" cy="571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Shape 27"/>
          <p:cNvSpPr/>
          <p:nvPr/>
        </p:nvSpPr>
        <p:spPr>
          <a:xfrm>
            <a:off x="1234440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7583150" y="3584228"/>
            <a:ext cx="19050" cy="386789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Text 29"/>
          <p:cNvSpPr/>
          <p:nvPr/>
        </p:nvSpPr>
        <p:spPr>
          <a:xfrm>
            <a:off x="12611100" y="3927128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611100" y="4393853"/>
            <a:ext cx="5196840" cy="45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769"/>
              </a:lnSpc>
              <a:buNone/>
            </a:pPr>
            <a:r>
              <a:rPr lang="en-US" sz="28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12611100" y="4985147"/>
            <a:ext cx="4866132" cy="76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80"/>
              </a:lnSpc>
              <a:buNone/>
            </a:pPr>
            <a:r>
              <a:rPr lang="en-US" sz="2175" dirty="0">
                <a:solidFill>
                  <a:srgbClr val="1F2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регулярный контроль качества решений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685800" y="7775972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999506" y="7795022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2323356" y="7737872"/>
            <a:ext cx="344284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 в работу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999506" y="8212187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2323356" y="8155037"/>
            <a:ext cx="367113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закрепленный контур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999506" y="8629352"/>
            <a:ext cx="209550" cy="2095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2323356" y="8572202"/>
            <a:ext cx="445924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Slate — регулярный ритм контроля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439400" y="7737872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87050" y="7928372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687050" y="8299847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обучение ради обучения и не разовая стратегическая сессия без операционного следа.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9553575"/>
            <a:ext cx="89676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УМ ценна не только расчетом, но и удержанием точности во времени.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1292780" y="9586913"/>
            <a:ext cx="694036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Визуализация_10_Сессия_Спринт_Сопровождение_V1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34947" y="495300"/>
            <a:ext cx="8433978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BEFORE / AFTER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860804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 УМ — спор о мнениях. После УМ — расчетный ответ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1933129"/>
            <a:ext cx="1739265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не отменяет управленческий опыт, а делает цену решения видимой до действия.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563639"/>
            <a:ext cx="1093515" cy="44767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639839"/>
            <a:ext cx="8649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УМ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9815" y="2620789"/>
            <a:ext cx="31070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управление через спор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85800" y="3163714"/>
            <a:ext cx="8001000" cy="1327845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" y="3639071"/>
            <a:ext cx="314603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хотим быстрее</a:t>
            </a:r>
            <a:endParaRPr lang="en-US" sz="2475" dirty="0"/>
          </a:p>
        </p:txBody>
      </p:sp>
      <p:sp>
        <p:nvSpPr>
          <p:cNvPr id="13" name="Shape 11"/>
          <p:cNvSpPr/>
          <p:nvPr/>
        </p:nvSpPr>
        <p:spPr>
          <a:xfrm>
            <a:off x="685800" y="4643958"/>
            <a:ext cx="8001000" cy="1327919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" y="5119315"/>
            <a:ext cx="397694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спорим о прогнозах</a:t>
            </a:r>
            <a:endParaRPr lang="en-US" sz="2475" dirty="0"/>
          </a:p>
        </p:txBody>
      </p:sp>
      <p:sp>
        <p:nvSpPr>
          <p:cNvPr id="15" name="Shape 13"/>
          <p:cNvSpPr/>
          <p:nvPr/>
        </p:nvSpPr>
        <p:spPr>
          <a:xfrm>
            <a:off x="685800" y="6124277"/>
            <a:ext cx="8001000" cy="1327845"/>
          </a:xfrm>
          <a:prstGeom prst="rect">
            <a:avLst/>
          </a:prstGeom>
          <a:solidFill>
            <a:srgbClr val="475569">
              <a:alpha val="6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6599634"/>
            <a:ext cx="424019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запускаем и смотрим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8648700" y="4817343"/>
            <a:ext cx="990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923"/>
              </a:lnSpc>
              <a:buNone/>
            </a:pPr>
            <a:r>
              <a:rPr lang="en-US" sz="30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601200" y="2563639"/>
            <a:ext cx="1566714" cy="447675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3600" y="2639839"/>
            <a:ext cx="13381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ПОСЛЕ УМ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358414" y="2620789"/>
            <a:ext cx="47478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управление через расчет и условия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601200" y="3163714"/>
            <a:ext cx="8001000" cy="132784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7900" y="3639071"/>
            <a:ext cx="446202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данные проверены</a:t>
            </a:r>
            <a:endParaRPr lang="en-US" sz="2475" dirty="0"/>
          </a:p>
        </p:txBody>
      </p:sp>
      <p:sp>
        <p:nvSpPr>
          <p:cNvPr id="23" name="Shape 21"/>
          <p:cNvSpPr/>
          <p:nvPr/>
        </p:nvSpPr>
        <p:spPr>
          <a:xfrm>
            <a:off x="9601200" y="4643958"/>
            <a:ext cx="8001000" cy="1327919"/>
          </a:xfrm>
          <a:prstGeom prst="rect">
            <a:avLst/>
          </a:prstGeom>
          <a:solidFill>
            <a:srgbClr val="B46A3C">
              <a:alpha val="6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67900" y="5119315"/>
            <a:ext cx="472076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сценарии посчитаны</a:t>
            </a:r>
            <a:endParaRPr lang="en-US" sz="2475" dirty="0"/>
          </a:p>
        </p:txBody>
      </p:sp>
      <p:sp>
        <p:nvSpPr>
          <p:cNvPr id="25" name="Shape 23"/>
          <p:cNvSpPr/>
          <p:nvPr/>
        </p:nvSpPr>
        <p:spPr>
          <a:xfrm>
            <a:off x="9601200" y="6124277"/>
            <a:ext cx="8001000" cy="132784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7900" y="6599634"/>
            <a:ext cx="729299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условия и контроль зафиксированы</a:t>
            </a:r>
            <a:endParaRPr lang="en-US" sz="2475" dirty="0"/>
          </a:p>
        </p:txBody>
      </p:sp>
      <p:sp>
        <p:nvSpPr>
          <p:cNvPr id="27" name="Text 25"/>
          <p:cNvSpPr/>
          <p:nvPr/>
        </p:nvSpPr>
        <p:spPr>
          <a:xfrm>
            <a:off x="685800" y="7775972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999506" y="7795022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2323356" y="7737872"/>
            <a:ext cx="27786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/ До — Red и Slate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999506" y="8212187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2323356" y="8155037"/>
            <a:ext cx="367572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/ После — Teal и Copper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999506" y="8718872"/>
            <a:ext cx="32385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Text 31"/>
          <p:cNvSpPr/>
          <p:nvPr/>
        </p:nvSpPr>
        <p:spPr>
          <a:xfrm>
            <a:off x="2437656" y="8572202"/>
            <a:ext cx="526609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Стрелка — переход от мнения к точности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39400" y="7737872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87050" y="7928372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687050" y="8299847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критика руководителя. УМ усиливает управленческий опыт расчетной дисциплиной.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9553575"/>
            <a:ext cx="867872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Точность не заменяет управленца. Точность усиливает его решение.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3487400" y="9586913"/>
            <a:ext cx="452628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Визуализация_11_До_После_УМ_V1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55335" y="495300"/>
            <a:ext cx="973155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+ КОММЕРЧЕСКИЙ СЛОЙ · CASE FLOW · СЛОЖНОСТЬ СРЕДНЯЯ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Кейс: клиент просит скидку и отсрочку — УМ считает цену «да»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6482060" cy="80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переводится из «дать / не дать» в расчетный ответ: какой объем и какие условия должны компенсировать цену уступок.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565178"/>
            <a:ext cx="5384750" cy="2266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93778"/>
            <a:ext cx="5420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ЗАПРОС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84303"/>
            <a:ext cx="5420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Запрос: скидка + отсрочка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32450" y="4555778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451550" y="3565178"/>
            <a:ext cx="5384825" cy="2266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80150" y="3793778"/>
            <a:ext cx="54203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ДАННЫЕ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0150" y="4184303"/>
            <a:ext cx="50754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Данные: выручка, маржа, налоговый режим, срок оплаты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798275" y="4555778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217375" y="3565178"/>
            <a:ext cx="5384825" cy="2266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5975" y="3793778"/>
            <a:ext cx="54203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РАСЧЕТ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5975" y="4184303"/>
            <a:ext cx="54203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Расчет: цена скидки и денег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85800" y="6022628"/>
            <a:ext cx="5384750" cy="2266950"/>
          </a:xfrm>
          <a:prstGeom prst="rect">
            <a:avLst/>
          </a:prstGeom>
          <a:solidFill>
            <a:srgbClr val="FFFFFF">
              <a:alpha val="4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251228"/>
            <a:ext cx="54203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СЦЕНАРИИ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6641753"/>
            <a:ext cx="507537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Сценарии: базовый / стрессовый / критический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032450" y="7013228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451550" y="6022628"/>
            <a:ext cx="5384825" cy="2266950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0150" y="6251228"/>
            <a:ext cx="54203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УСЛОВИЯ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80150" y="6641753"/>
            <a:ext cx="50754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Условия: рост объема и контроль оплаты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798275" y="7013228"/>
            <a:ext cx="457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922"/>
              </a:lnSpc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2217375" y="6022628"/>
            <a:ext cx="5384825" cy="2266950"/>
          </a:xfrm>
          <a:prstGeom prst="rect">
            <a:avLst/>
          </a:prstGeom>
          <a:solidFill>
            <a:srgbClr val="0B1F33"/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45975" y="6251228"/>
            <a:ext cx="54203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СТАТУС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45975" y="6641753"/>
            <a:ext cx="50754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Статус: можно при условиях или нельзя в текущей модели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85800" y="8594378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999506" y="8613428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Text 30"/>
          <p:cNvSpPr/>
          <p:nvPr/>
        </p:nvSpPr>
        <p:spPr>
          <a:xfrm>
            <a:off x="2323356" y="8556278"/>
            <a:ext cx="413452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коммерческая уступка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999506" y="9030593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4" name="Text 32"/>
          <p:cNvSpPr/>
          <p:nvPr/>
        </p:nvSpPr>
        <p:spPr>
          <a:xfrm>
            <a:off x="2323356" y="8973443"/>
            <a:ext cx="3155938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потеря результата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999506" y="9447758"/>
            <a:ext cx="209550" cy="2095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2323356" y="9390608"/>
            <a:ext cx="8009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условия, при которых решение становится допустимым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439400" y="8556278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87050" y="8746778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687050" y="9118253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абстрактная математическая задача. Это схема управленческого ответа для переговоров с клиентом.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685800" y="10210056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10371981"/>
            <a:ext cx="63702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УМ превращает уступку в точные условия сделки.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1978580" y="10405318"/>
            <a:ext cx="618598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Визуализация_12_Кейс_Скидка_И_Отсрочка_V1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" name="Shape 1"/>
          <p:cNvSpPr/>
          <p:nvPr/>
        </p:nvSpPr>
        <p:spPr>
          <a:xfrm>
            <a:off x="685800" y="923925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95300"/>
            <a:ext cx="7298643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УПРАВЛЕНЧЕСКАЯ ТОЧНОСТЬ / УМ ВИЗУАЛИЗАЦИЯ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07921" y="495300"/>
            <a:ext cx="9893707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8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ANTI-POSITIONING MATRIX · СЛОЖНОСТЬ ПРОСТАЯ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181100"/>
            <a:ext cx="17423892" cy="131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76"/>
              </a:lnSpc>
              <a:buNone/>
            </a:pPr>
            <a:r>
              <a:rPr lang="en-US" sz="4650" b="1" spc="-46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УМ — не таблица. УМ — технология управленческой точности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85800" y="2570857"/>
            <a:ext cx="17602200" cy="420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16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Инструменты могут считать, но только технология связывает запрос, данные, сценарии, условия, статус и контроль.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3201367"/>
            <a:ext cx="4267200" cy="144102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201367"/>
            <a:ext cx="57150" cy="14410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" y="3733279"/>
            <a:ext cx="1383849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Excel</a:t>
            </a:r>
            <a:endParaRPr lang="en-US" sz="2475" dirty="0"/>
          </a:p>
        </p:txBody>
      </p:sp>
      <p:sp>
        <p:nvSpPr>
          <p:cNvPr id="11" name="Shape 9"/>
          <p:cNvSpPr/>
          <p:nvPr/>
        </p:nvSpPr>
        <p:spPr>
          <a:xfrm>
            <a:off x="5143500" y="3201367"/>
            <a:ext cx="4267200" cy="144102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43500" y="3201367"/>
            <a:ext cx="57150" cy="14410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5391150" y="3544714"/>
            <a:ext cx="394392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BI / бизнес-аналитика</a:t>
            </a:r>
            <a:endParaRPr lang="en-US" sz="2475" dirty="0"/>
          </a:p>
        </p:txBody>
      </p:sp>
      <p:sp>
        <p:nvSpPr>
          <p:cNvPr id="14" name="Shape 12"/>
          <p:cNvSpPr/>
          <p:nvPr/>
        </p:nvSpPr>
        <p:spPr>
          <a:xfrm>
            <a:off x="685800" y="4794796"/>
            <a:ext cx="4267200" cy="106389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794796"/>
            <a:ext cx="57150" cy="106389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" y="5138142"/>
            <a:ext cx="3905734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финансовая модель</a:t>
            </a:r>
            <a:endParaRPr lang="en-US" sz="2475" dirty="0"/>
          </a:p>
        </p:txBody>
      </p:sp>
      <p:sp>
        <p:nvSpPr>
          <p:cNvPr id="17" name="Shape 15"/>
          <p:cNvSpPr/>
          <p:nvPr/>
        </p:nvSpPr>
        <p:spPr>
          <a:xfrm>
            <a:off x="5143500" y="4794796"/>
            <a:ext cx="4267200" cy="106389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43500" y="4794796"/>
            <a:ext cx="57150" cy="106389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391150" y="5138142"/>
            <a:ext cx="187170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тренинг</a:t>
            </a:r>
            <a:endParaRPr lang="en-US" sz="2475" dirty="0"/>
          </a:p>
        </p:txBody>
      </p:sp>
      <p:sp>
        <p:nvSpPr>
          <p:cNvPr id="20" name="Shape 18"/>
          <p:cNvSpPr/>
          <p:nvPr/>
        </p:nvSpPr>
        <p:spPr>
          <a:xfrm>
            <a:off x="685800" y="6011094"/>
            <a:ext cx="4267200" cy="144102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6011094"/>
            <a:ext cx="57150" cy="14410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" y="6354440"/>
            <a:ext cx="394392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бесплатная диагностика</a:t>
            </a:r>
            <a:endParaRPr lang="en-US" sz="2475" dirty="0"/>
          </a:p>
        </p:txBody>
      </p:sp>
      <p:sp>
        <p:nvSpPr>
          <p:cNvPr id="23" name="Shape 21"/>
          <p:cNvSpPr/>
          <p:nvPr/>
        </p:nvSpPr>
        <p:spPr>
          <a:xfrm>
            <a:off x="5143500" y="6011094"/>
            <a:ext cx="4267200" cy="1441028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6011094"/>
            <a:ext cx="57150" cy="144102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5391150" y="6543005"/>
            <a:ext cx="327986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93"/>
              </a:lnSpc>
              <a:buNone/>
            </a:pPr>
            <a:r>
              <a:rPr lang="en-US" sz="247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набор шаблонов</a:t>
            </a:r>
            <a:endParaRPr lang="en-US" sz="2475" dirty="0"/>
          </a:p>
        </p:txBody>
      </p:sp>
      <p:sp>
        <p:nvSpPr>
          <p:cNvPr id="26" name="Text 24"/>
          <p:cNvSpPr/>
          <p:nvPr/>
        </p:nvSpPr>
        <p:spPr>
          <a:xfrm>
            <a:off x="9372600" y="5145732"/>
            <a:ext cx="952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6768"/>
              </a:lnSpc>
              <a:buNone/>
            </a:pPr>
            <a:r>
              <a:rPr lang="en-US" sz="28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10287000" y="3201367"/>
            <a:ext cx="7315200" cy="425075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610850" y="4316909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ЧТО ТАКОЕ УМ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10850" y="4802684"/>
            <a:ext cx="6867525" cy="1571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67"/>
              </a:lnSpc>
              <a:buNone/>
            </a:pPr>
            <a:r>
              <a:rPr lang="en-US" sz="33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Что такое УМ: расчетный контур управленческого ответа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685800" y="7775972"/>
            <a:ext cx="1180356" cy="1156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999506" y="7795022"/>
            <a:ext cx="209550" cy="2095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2323356" y="7737872"/>
            <a:ext cx="400346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неправильная категория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999506" y="8212187"/>
            <a:ext cx="209550" cy="2095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2323356" y="8155037"/>
            <a:ext cx="494685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правильное определение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999506" y="8629352"/>
            <a:ext cx="209550" cy="2095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6" name="Text 34"/>
          <p:cNvSpPr/>
          <p:nvPr/>
        </p:nvSpPr>
        <p:spPr>
          <a:xfrm>
            <a:off x="2323356" y="8572202"/>
            <a:ext cx="338128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граница отличия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439400" y="7737872"/>
            <a:ext cx="7162800" cy="140612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87050" y="7928372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6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687050" y="8299847"/>
            <a:ext cx="6867525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448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слайд «мы лучше всех». Это защита от неверного понимания предмета покупки.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685800" y="9391650"/>
            <a:ext cx="16916400" cy="9525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9553575"/>
            <a:ext cx="708622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Клиент покупает управленческую точность, а не файл.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1841435" y="9586913"/>
            <a:ext cx="633684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Визуализация_13_Антипозиционирование_УМ_V1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2026-07-31T08:54:35Z</dcterms:created>
  <dcterms:modified xsi:type="dcterms:W3CDTF">2026-07-31T08:54:35Z</dcterms:modified>
</cp:coreProperties>
</file>