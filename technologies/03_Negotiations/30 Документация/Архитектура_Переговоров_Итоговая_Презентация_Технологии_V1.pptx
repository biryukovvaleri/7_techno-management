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2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2e91f5c63341ce" /><Relationship Type="http://schemas.openxmlformats.org/officeDocument/2006/relationships/extended-properties" Target="/docProps/app.xml" Id="R2af275e1d25d4edb" /><Relationship Type="http://schemas.openxmlformats.org/officeDocument/2006/relationships/officeDocument" Target="/ppt/presentation.xml" Id="Rbc57e3be551242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ed131ed3c44e68"/>
  </p:sldMasterIdLst>
  <p:notesMasterIdLst>
    <p:notesMasterId xmlns:r="http://schemas.openxmlformats.org/officeDocument/2006/relationships" r:id="R33a21c22f2db4f03"/>
  </p:notesMasterIdLst>
  <p:sldIdLst>
    <p:sldId xmlns:r="http://schemas.openxmlformats.org/officeDocument/2006/relationships" id="256" r:id="Rec1bc709ad7c4ff3"/>
    <p:sldId xmlns:r="http://schemas.openxmlformats.org/officeDocument/2006/relationships" id="257" r:id="Re3576a483d384ad2"/>
    <p:sldId xmlns:r="http://schemas.openxmlformats.org/officeDocument/2006/relationships" id="258" r:id="R8a4a47285b0b4cb9"/>
    <p:sldId xmlns:r="http://schemas.openxmlformats.org/officeDocument/2006/relationships" id="259" r:id="Ree2f0b8cd1f04a3c"/>
    <p:sldId xmlns:r="http://schemas.openxmlformats.org/officeDocument/2006/relationships" id="260" r:id="Rcd0567e36a074610"/>
    <p:sldId xmlns:r="http://schemas.openxmlformats.org/officeDocument/2006/relationships" id="261" r:id="Ra46d7238ff2048d3"/>
    <p:sldId xmlns:r="http://schemas.openxmlformats.org/officeDocument/2006/relationships" id="262" r:id="R26b1261df8114ae7"/>
    <p:sldId xmlns:r="http://schemas.openxmlformats.org/officeDocument/2006/relationships" id="263" r:id="R005a99a97fa14ad0"/>
    <p:sldId xmlns:r="http://schemas.openxmlformats.org/officeDocument/2006/relationships" id="264" r:id="Rab8f8bdd466b48d6"/>
    <p:sldId xmlns:r="http://schemas.openxmlformats.org/officeDocument/2006/relationships" id="265" r:id="R6db48c807f904593"/>
    <p:sldId xmlns:r="http://schemas.openxmlformats.org/officeDocument/2006/relationships" id="266" r:id="R7e2dbeb25b224e25"/>
    <p:sldId xmlns:r="http://schemas.openxmlformats.org/officeDocument/2006/relationships" id="267" r:id="R623a1e07dfdd4079"/>
    <p:sldId xmlns:r="http://schemas.openxmlformats.org/officeDocument/2006/relationships" id="268" r:id="Rc18d236468ba41a1"/>
    <p:sldId xmlns:r="http://schemas.openxmlformats.org/officeDocument/2006/relationships" id="269" r:id="Rcfd54e43d13f495a"/>
    <p:sldId xmlns:r="http://schemas.openxmlformats.org/officeDocument/2006/relationships" id="270" r:id="R2b4b00f882194241"/>
    <p:sldId xmlns:r="http://schemas.openxmlformats.org/officeDocument/2006/relationships" id="271" r:id="R4e73e15203d24b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253c9758b74a2f" /><Relationship Type="http://schemas.openxmlformats.org/officeDocument/2006/relationships/slideMaster" Target="/ppt/slideMasters/slideMaster1.xml" Id="R34ed131ed3c44e68" /><Relationship Type="http://schemas.openxmlformats.org/officeDocument/2006/relationships/notesMaster" Target="/ppt/notesMasters/notesMaster1.xml" Id="R33a21c22f2db4f03" /><Relationship Type="http://schemas.openxmlformats.org/officeDocument/2006/relationships/presProps" Target="/ppt/presProps.xml" Id="R48fe8c23abac4728" /><Relationship Type="http://schemas.openxmlformats.org/officeDocument/2006/relationships/tableStyles" Target="/ppt/tableStyles.xml" Id="Rdf4a12f4a1be4c15" /><Relationship Type="http://schemas.openxmlformats.org/officeDocument/2006/relationships/slide" Target="/ppt/slides/slide1.xml" Id="Rec1bc709ad7c4ff3" /><Relationship Type="http://schemas.openxmlformats.org/officeDocument/2006/relationships/slide" Target="/ppt/slides/slide2.xml" Id="Re3576a483d384ad2" /><Relationship Type="http://schemas.openxmlformats.org/officeDocument/2006/relationships/slide" Target="/ppt/slides/slide3.xml" Id="R8a4a47285b0b4cb9" /><Relationship Type="http://schemas.openxmlformats.org/officeDocument/2006/relationships/slide" Target="/ppt/slides/slide4.xml" Id="Ree2f0b8cd1f04a3c" /><Relationship Type="http://schemas.openxmlformats.org/officeDocument/2006/relationships/slide" Target="/ppt/slides/slide5.xml" Id="Rcd0567e36a074610" /><Relationship Type="http://schemas.openxmlformats.org/officeDocument/2006/relationships/slide" Target="/ppt/slides/slide6.xml" Id="Ra46d7238ff2048d3" /><Relationship Type="http://schemas.openxmlformats.org/officeDocument/2006/relationships/slide" Target="/ppt/slides/slide7.xml" Id="R26b1261df8114ae7" /><Relationship Type="http://schemas.openxmlformats.org/officeDocument/2006/relationships/slide" Target="/ppt/slides/slide8.xml" Id="R005a99a97fa14ad0" /><Relationship Type="http://schemas.openxmlformats.org/officeDocument/2006/relationships/slide" Target="/ppt/slides/slide9.xml" Id="Rab8f8bdd466b48d6" /><Relationship Type="http://schemas.openxmlformats.org/officeDocument/2006/relationships/slide" Target="/ppt/slides/slide10.xml" Id="R6db48c807f904593" /><Relationship Type="http://schemas.openxmlformats.org/officeDocument/2006/relationships/slide" Target="/ppt/slides/slide11.xml" Id="R7e2dbeb25b224e25" /><Relationship Type="http://schemas.openxmlformats.org/officeDocument/2006/relationships/slide" Target="/ppt/slides/slide12.xml" Id="R623a1e07dfdd4079" /><Relationship Type="http://schemas.openxmlformats.org/officeDocument/2006/relationships/slide" Target="/ppt/slides/slide13.xml" Id="Rc18d236468ba41a1" /><Relationship Type="http://schemas.openxmlformats.org/officeDocument/2006/relationships/slide" Target="/ppt/slides/slide14.xml" Id="Rcfd54e43d13f495a" /><Relationship Type="http://schemas.openxmlformats.org/officeDocument/2006/relationships/slide" Target="/ppt/slides/slide15.xml" Id="R2b4b00f882194241" /><Relationship Type="http://schemas.openxmlformats.org/officeDocument/2006/relationships/slide" Target="/ppt/slides/slide16.xml" Id="R4e73e15203d24b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c9039b27904d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6a060e576240d1" /><Relationship Type="http://schemas.openxmlformats.org/officeDocument/2006/relationships/notesMaster" Target="/ppt/notesMasters/notesMaster1.xml" Id="R07148ea3433a44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cd7fa5b7ed4f8e" /><Relationship Type="http://schemas.openxmlformats.org/officeDocument/2006/relationships/notesMaster" Target="/ppt/notesMasters/notesMaster1.xml" Id="Rabeb10f6960a4b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cef62a10734613" /><Relationship Type="http://schemas.openxmlformats.org/officeDocument/2006/relationships/notesMaster" Target="/ppt/notesMasters/notesMaster1.xml" Id="Ra3bc0c386afb49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790176c9864a6c" /><Relationship Type="http://schemas.openxmlformats.org/officeDocument/2006/relationships/notesMaster" Target="/ppt/notesMasters/notesMaster1.xml" Id="Rba8c5e6a4a4d4b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700abd8c354d61" /><Relationship Type="http://schemas.openxmlformats.org/officeDocument/2006/relationships/notesMaster" Target="/ppt/notesMasters/notesMaster1.xml" Id="Rf1366f47c65846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c5688db18b4a54" /><Relationship Type="http://schemas.openxmlformats.org/officeDocument/2006/relationships/notesMaster" Target="/ppt/notesMasters/notesMaster1.xml" Id="R983f7bf2e32e48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ae1284efbe45ca" /><Relationship Type="http://schemas.openxmlformats.org/officeDocument/2006/relationships/notesMaster" Target="/ppt/notesMasters/notesMaster1.xml" Id="R01af3e031de74f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057d079c384909" /><Relationship Type="http://schemas.openxmlformats.org/officeDocument/2006/relationships/notesMaster" Target="/ppt/notesMasters/notesMaster1.xml" Id="R99abf3b2eb5640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c4f61c141b432d" /><Relationship Type="http://schemas.openxmlformats.org/officeDocument/2006/relationships/notesMaster" Target="/ppt/notesMasters/notesMaster1.xml" Id="Ra53ae9437f174e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551ce8c7e774022" /><Relationship Type="http://schemas.openxmlformats.org/officeDocument/2006/relationships/notesMaster" Target="/ppt/notesMasters/notesMaster1.xml" Id="Rd560f5b9d80b45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b242cb6a1fa4227" /><Relationship Type="http://schemas.openxmlformats.org/officeDocument/2006/relationships/notesMaster" Target="/ppt/notesMasters/notesMaster1.xml" Id="R2c4705ca4f2c47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508e82e4d2434b" /><Relationship Type="http://schemas.openxmlformats.org/officeDocument/2006/relationships/notesMaster" Target="/ppt/notesMasters/notesMaster1.xml" Id="R3c6ab87a6dee40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19a8824da84e07" /><Relationship Type="http://schemas.openxmlformats.org/officeDocument/2006/relationships/notesMaster" Target="/ppt/notesMasters/notesMaster1.xml" Id="R8c258ee6e0784a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065cf4d7a5423e" /><Relationship Type="http://schemas.openxmlformats.org/officeDocument/2006/relationships/notesMaster" Target="/ppt/notesMasters/notesMaster1.xml" Id="R58df4a1833f745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e444d45c5c4496" /><Relationship Type="http://schemas.openxmlformats.org/officeDocument/2006/relationships/notesMaster" Target="/ppt/notesMasters/notesMaster1.xml" Id="R9c3fef392a8444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1b98cad18c413e" /><Relationship Type="http://schemas.openxmlformats.org/officeDocument/2006/relationships/notesMaster" Target="/ppt/notesMasters/notesMaster1.xml" Id="R5a861d33df444b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18_Финальное_ТЗ, раздел 2; Паспорт технологии; Цикл работы технологии.</a:t>
            </a:r>
          </a:p>
          <a:p xmlns:a="http://schemas.openxmlformats.org/drawingml/2006/main">
            <a:r>
              <a:t>Источники: B1 Одностраничный оффер; B2 Продукты, сроки и цены; Навигатор форм по продуктам.</a:t>
            </a:r>
          </a:p>
          <a:p xmlns:a="http://schemas.openxmlformats.org/drawingml/2006/main">
            <a:r>
              <a:t>Стиль: Brandbook C-Level Insight v3.0; Visual Strategy; Visual Assets Policy; 00D единый стандарт итоговой презентации технологии.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18_Финальное_ТЗ, раздел 2; Паспорт технологии; Цикл работы технологии.</a:t>
            </a:r>
          </a:p>
          <a:p xmlns:a="http://schemas.openxmlformats.org/drawingml/2006/main">
            <a:r>
              <a:t>Источник: B2 Продукты, сроки и цены, формула цены переговорной слабости.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18_Финальное_ТЗ, раздел 2; Паспорт технологии; Цикл работы технологии.</a:t>
            </a:r>
          </a:p>
          <a:p xmlns:a="http://schemas.openxmlformats.org/drawingml/2006/main">
            <a:r>
              <a:t>Источники: Матрица доказательности V1; Каталог 12 кейсов; Навигатор кейсов для Диагностики.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18_Финальное_ТЗ, раздел 2; Паспорт технологии; Цикл работы технологии.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18_Финальное_ТЗ, раздел 2; Паспорт технологии; Цикл работы технологии.</a:t>
            </a:r>
          </a:p>
          <a:p xmlns:a="http://schemas.openxmlformats.org/drawingml/2006/main">
            <a:r>
              <a:t>Источник: Паспорт технологии, раздел два контура применения; Матрица доказательности, пункт 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18_Финальное_ТЗ, раздел 2; Паспорт технологии; Цикл работы технологии.</a:t>
            </a:r>
          </a:p>
          <a:p xmlns:a="http://schemas.openxmlformats.org/drawingml/2006/main">
            <a:r>
              <a:t>Источник: Цикл работы технологии, десять шагов цикла.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18_Финальное_ТЗ, раздел 2; Паспорт технологии; Цикл работы технологии.</a:t>
            </a:r>
          </a:p>
          <a:p xmlns:a="http://schemas.openxmlformats.org/drawingml/2006/main">
            <a:r>
              <a:t>Источник: Модули и формы; Навигатор форм по продуктам.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Матрица доказательности V1; Каталог 12 кейсов; Навигатор кейсов для Диагностики.</a:t>
            </a:r>
          </a:p>
          <a:p xmlns:a="http://schemas.openxmlformats.org/drawingml/2006/main">
            <a:r>
              <a:t>Источник: Матрица доказательности, разрешенные и запрещенные формулировки.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B1 Одностраничный оффер; B2 Продукты, сроки и цены; Навигатор форм по продуктам.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B1 Одностраничный оффер; B2 Продукты, сроки и цены; Навигатор форм по продуктам.</a:t>
            </a:r>
          </a:p>
          <a:p xmlns:a="http://schemas.openxmlformats.org/drawingml/2006/main">
            <a:r>
              <a:t>Источники: Матрица доказательности V1; Каталог 12 кейсов; Навигатор кейсов для Диагностики.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B1 Одностраничный оффер; B2 Продукты, сроки и цены; Навигатор форм по продуктам.</a:t>
            </a:r>
          </a:p>
          <a:p xmlns:a="http://schemas.openxmlformats.org/drawingml/2006/main">
            <a:r>
              <a:t>Источник: комплект Сессии; Навигатор форм по продуктам.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B1 Одностраничный оффер; B2 Продукты, сроки и цены; Навигатор форм по продуктам.</a:t>
            </a:r>
          </a:p>
          <a:p xmlns:a="http://schemas.openxmlformats.org/drawingml/2006/main">
            <a:r>
              <a:t>Источник: B2 Продукты, сроки и цены; комплект Спринта.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B1 Одностраничный оффер; B2 Продукты, сроки и цены; Навигатор форм по продуктам.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Матрица доказательности V1; Каталог 12 кейсов; Навигатор кейсов для Диагностики.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Матрица доказательности V1; Каталог 12 кейсов; Навигатор кейсов для Диагностики.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Источники: B1 Одностраничный оффер; B2 Продукты, сроки и цены; Навигатор форм по продуктам.</a:t>
            </a:r>
          </a:p>
          <a:p xmlns:a="http://schemas.openxmlformats.org/drawingml/2006/main">
            <a:r>
              <a:t>Источники: Матрица доказательности V1; Каталог 12 кейсов; Навигатор кейсов для Диагностики.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8bcd002b04e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2106f21e91e4240" /><Relationship Type="http://schemas.openxmlformats.org/officeDocument/2006/relationships/slideLayout" Target="/ppt/slideLayouts/slideLayout1.xml" Id="R9f1e83c3049640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1e83c3049640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b9add7a7c41d3" /><Relationship Type="http://schemas.openxmlformats.org/officeDocument/2006/relationships/notesSlide" Target="/ppt/notesSlides/notesSlide1.xml" Id="R75ceafb058a0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261ba0e124e83" /><Relationship Type="http://schemas.openxmlformats.org/officeDocument/2006/relationships/notesSlide" Target="/ppt/notesSlides/notesSlide2.xml" Id="R8ae137558cb54e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6ac98cd7f4966" /><Relationship Type="http://schemas.openxmlformats.org/officeDocument/2006/relationships/notesSlide" Target="/ppt/notesSlides/notesSlide3.xml" Id="R550597e5ac9247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5ebafb6554015" /><Relationship Type="http://schemas.openxmlformats.org/officeDocument/2006/relationships/notesSlide" Target="/ppt/notesSlides/notesSlide4.xml" Id="R112cfd78d3c748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c518259c445f4" /><Relationship Type="http://schemas.openxmlformats.org/officeDocument/2006/relationships/notesSlide" Target="/ppt/notesSlides/notesSlide5.xml" Id="R40bce1ce81db45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34b48553141ac" /><Relationship Type="http://schemas.openxmlformats.org/officeDocument/2006/relationships/notesSlide" Target="/ppt/notesSlides/notesSlide6.xml" Id="R99a12d427f2f44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0a60657204abe" /><Relationship Type="http://schemas.openxmlformats.org/officeDocument/2006/relationships/notesSlide" Target="/ppt/notesSlides/notesSlide7.xml" Id="R56ab795698834a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5aa99d40645db" /><Relationship Type="http://schemas.openxmlformats.org/officeDocument/2006/relationships/notesSlide" Target="/ppt/notesSlides/notesSlide8.xml" Id="Ra077cde3d3374d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b918eed0e483d" /><Relationship Type="http://schemas.openxmlformats.org/officeDocument/2006/relationships/notesSlide" Target="/ppt/notesSlides/notesSlide9.xml" Id="R298817d87ddc40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0bff579f64bde" /><Relationship Type="http://schemas.openxmlformats.org/officeDocument/2006/relationships/notesSlide" Target="/ppt/notesSlides/notesSlide10.xml" Id="Re791c396533140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5f191406a43fb" /><Relationship Type="http://schemas.openxmlformats.org/officeDocument/2006/relationships/notesSlide" Target="/ppt/notesSlides/notesSlide11.xml" Id="R74305b442a684d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515ccb8df4d89" /><Relationship Type="http://schemas.openxmlformats.org/officeDocument/2006/relationships/notesSlide" Target="/ppt/notesSlides/notesSlide12.xml" Id="R68709d0598dd484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72e827b9414a78" /><Relationship Type="http://schemas.openxmlformats.org/officeDocument/2006/relationships/notesSlide" Target="/ppt/notesSlides/notesSlide13.xml" Id="R66c1e25edf4344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bb19d1b3f4105" /><Relationship Type="http://schemas.openxmlformats.org/officeDocument/2006/relationships/chart" Target="/ppt/slides/charts/chart1.xml" Id="R9fe3467265f44e4e" /><Relationship Type="http://schemas.openxmlformats.org/officeDocument/2006/relationships/notesSlide" Target="/ppt/notesSlides/notesSlide14.xml" Id="Rc29c61a5786145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aea3dec884425a" /><Relationship Type="http://schemas.openxmlformats.org/officeDocument/2006/relationships/chart" Target="/ppt/slides/charts/chart2.xml" Id="Ra6be655115e74cc6" /><Relationship Type="http://schemas.openxmlformats.org/officeDocument/2006/relationships/notesSlide" Target="/ppt/notesSlides/notesSlide15.xml" Id="Rae465875c43246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1196b3affb4aaa" /><Relationship Type="http://schemas.openxmlformats.org/officeDocument/2006/relationships/notesSlide" Target="/ppt/notesSlides/notesSlide16.xml" Id="Rf0cff30246f54dcc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Заявления</c:v>
          </c:tx>
          <c:spPr>
            <a:solidFill xmlns:a="http://schemas.openxmlformats.org/drawingml/2006/main">
              <a:srgbClr val="0F766E"/>
            </a:solidFill>
          </c:spPr>
          <c:cat>
            <c:strLit>
              <c:ptCount val="3"/>
              <c:pt idx="0">
                <c:v>низкий риск</c:v>
              </c:pt>
              <c:pt idx="1">
                <c:v>средний риск</c:v>
              </c:pt>
              <c:pt idx="2">
                <c:v>высокий риск</c:v>
              </c:pt>
            </c:strLit>
          </c:cat>
          <c:val>
            <c:numLit>
              <c:formatCode>General</c:formatCode>
              <c:ptCount val="3"/>
              <c:pt idx="0">
                <c:v>10</c:v>
              </c:pt>
              <c:pt idx="1">
                <c:v>8</c:v>
              </c:pt>
              <c:pt idx="2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C8B6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75569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Кейсы</c:v>
          </c:tx>
          <c:dPt>
            <c:idx val="0"/>
            <c:spPr>
              <a:solidFill xmlns:a="http://schemas.openxmlformats.org/drawingml/2006/main">
                <a:srgbClr val="0F766E"/>
              </a:solidFill>
            </c:spPr>
          </c:dPt>
          <c:dPt>
            <c:idx val="1"/>
            <c:spPr>
              <a:solidFill xmlns:a="http://schemas.openxmlformats.org/drawingml/2006/main">
                <a:srgbClr val="B46A3C"/>
              </a:solidFill>
            </c:spPr>
          </c:dPt>
          <c:cat>
            <c:strLit>
              <c:ptCount val="2"/>
              <c:pt idx="0">
                <c:v>внешний контур</c:v>
              </c:pt>
              <c:pt idx="1">
                <c:v>внутренний контур</c:v>
              </c:pt>
            </c:strLit>
          </c:cat>
          <c:val>
            <c:numLit>
              <c:formatCode>General</c:formatCode>
              <c:ptCount val="2"/>
              <c:pt idx="0">
                <c:v>6</c:v>
              </c:pt>
              <c:pt idx="1">
                <c:v>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1"/>
          <c:showSerName val="0"/>
          <c:showPercent val="0"/>
          <c:showBubbleSize val="0"/>
          <c:showLeaderLines val="0"/>
        </c:dLbls>
        <c:holeSize val="58"/>
      </c:doughnutChart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BD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C57F5-2878-4302-B9FA-6F50E32F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FE584-383C-4A65-BD6D-F4DF90CE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71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62AA4-D018-42EA-8B66-B3EFCEAB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Архитектура Переговоров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93837-8EB8-4213-BF2B-35FCDAE1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8286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3EBDD"/>
                </a:solidFill>
              </a:defRPr>
            </a:pPr>
            <a:r>
              <a:rPr sz="2025" b="0">
                <a:solidFill>
                  <a:srgbClr val="F3EBDD"/>
                </a:solidFill>
              </a:rPr>
              <a:t>Технология управления переговорной силой компании во внешних и внутренних решениях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2C148-9831-446D-8837-5D37CDC8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4325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E8DDCF"/>
                </a:solidFill>
              </a:defRPr>
            </a:pPr>
            <a:r>
              <a:rPr sz="1725" b="0">
                <a:solidFill>
                  <a:srgbClr val="E8DDCF"/>
                </a:solidFill>
              </a:rPr>
              <a:t>Компания часто проигрывает переговоры до встречи: внутри цели, минимума, полномочий, цены уступок, альтернативы, права на паузу и фиксации результата.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3102C-5DEB-4896-9125-6703712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78105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59B95-CD78-4D95-8C96-21F7B081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6725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9961BE-4A39-4E34-BECE-C1126A28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38700"/>
            <a:ext cx="744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Первый платный вход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99607-A4BD-467D-BF4D-3799EC38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74485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Диагностика: 5-7 рабочих дней, 1-2 реальные ситуации, карта переговорных разрывов и следующий формат.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BCF948-2280-491B-BA4F-2151A7FA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191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3EBDD"/>
                </a:solidFill>
              </a:defRPr>
            </a:pPr>
            <a:r>
              <a:rPr sz="1050" b="0">
                <a:solidFill>
                  <a:srgbClr val="F3EBDD"/>
                </a:solidFill>
              </a:rPr>
              <a:t>C-Level Insight</a:t>
            </a:r>
          </a:p>
        </p:txBody>
      </p:sp>
    </p:spTree>
    <p:extLst>
      <p:ext uri="{BB962C8B-B14F-4D97-AF65-F5344CB8AC3E}">
        <p14:creationId xmlns:p14="http://schemas.microsoft.com/office/powerpoint/2010/main" val="17510280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95CB88-D50B-4C97-A40E-D154CA4C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1868-690C-4CBA-A1ED-AC0DFE38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B780D-EB42-48EE-AB3F-F36066AE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Сложные переговоры ломаются до того, как начинается внешний раунд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36206-5422-4A9A-8C0F-3AC763C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69A39-F7F7-4666-9A0B-87AF3DDD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A5FFA-EE3E-4357-BFFC-B85A1015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Цель, минимум и красные линии не согласованы внутри команды.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2A6EF-1C9B-436E-A348-AAAE86F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D8A15-7537-4FFA-8E83-3F4CAF13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0325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Уступки обсуждаются отдельно от цены, кассы, риска и встречного шага.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88678-ECA5-4742-A00D-EADE2D11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7A9C8-D25E-4A41-8E21-D4CA355A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Формальный переговорщик виден, а система влияния и власти остается скрытой.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A2187-DA2D-491D-B5DF-045000A6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15A25-F4CF-478C-87DC-7C986FD5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95725"/>
            <a:ext cx="701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Команда не знает, кто имеет право взять паузу или остановить плохое соглашение.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01AC1-087B-4230-88D1-320251F5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7EA15-FBC5-4936-83E9-56F70420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60669-D867-4044-B62D-985A1ADE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26695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Цена слабости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16957-217D-46C4-862C-985BF267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21145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Потеря маржи + лишние уступки + денежный разрыв + обязательства + риск исполнения + внутренний конфликт + плохое соглашение.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C1892-6C72-42D0-A957-EB6865AA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B5534B-5FF0-4A28-B3CD-B8B965557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8095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CF744-6870-41D6-A87F-FBD09B4D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CAB3E-FF21-4E70-A7F9-1737D39B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CD27D-8DD1-4AAC-99D3-3188D88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Обычные решения закрывают навык, но не собирают систему решения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44FD6-710D-4DFD-B5C5-C775EEA5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00100" y="2000250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43188"/>
                <a:gridCol w="3964781"/>
                <a:gridCol w="3964781"/>
              </a:tblGrid>
              <a:tr h="7858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Что обычно покупают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Почему этого недостаточно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Что добавляет технология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Тренинг переговоров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Участник может знать приемы, но команда остается без мандата.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Собирает цель, минимум, альтернативу, роли и разбор результата.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Шаблоны подготовки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Формы без маршрута быстро становятся архивом.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Связывает формы 17-23 с реальными продуктами и решениями.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Юридическая или финансовая проверка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Проверяет свой слой, но не управляет всей переговорной позицией.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Возвращает риск, деньги и полномочия в единый контур решения.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25E50-6435-48B8-8E47-681DBAC7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Отстройка без обесценивания рынка: технология не заменяет обучение, финансы или право, а связывает их с управленческим решением.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76C7B-9F53-4025-8FAF-E852F927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86FF25-BD40-406B-903E-FE59BCC6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2122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043432-DBDA-4D14-AA10-D3EC8125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A1F00-CD5C-4AA6-84DF-FF7A49D4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897698-BCD0-4812-8482-390FC410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Ядро технологии: сделать переговорную силу видимой и управляемой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A6CBC-70F4-494B-B21F-E43B287E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7D539-1546-4913-8241-D69BD49D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9715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Архитектура Переговоров управляет не разговором как событием, а всей системой решения: от ситуации и цены ошибки до альтернатив, зоны соглашения, уступок, рисков, фиксации и следующего цикла.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039E3-3649-4717-84A0-10EF8BD1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4857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BF658-B8F5-44C2-A68E-C61AACDB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30FBE-18F4-4563-B17A-E9FE9383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Объект управления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56CDE-E20F-4D7B-BAEE-A81103FC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ситуация, цель, минимум, власть, влияние, альтернатива, зона соглашения, уступки, риски и разбор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7E762-CA8B-4C62-9DDD-D1B924E0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857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56293-76DF-46A4-A004-950D030E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4BCAD-53FD-49BD-B493-C792E16E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Управленческий выход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40700F-94EE-49AE-B4B1-F6A3FD2D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1900"/>
            <a:ext cx="4495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решение: идти дальше, уточнить данные, согласовать внутри, изменить пакет, усилить альтернативу или выйти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FADED9-9486-41F5-8F75-2D020336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8E3172-E22A-4157-B9D2-41FFEFB6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9307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7C83B-4BB5-46F9-84A3-B1CE5585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39CA4-918E-4A6A-8280-ABB0B0E8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CE1A8-BD88-49C2-AC96-7C11B243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У технологии два контура: внешний и внутренний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E000-6A49-43CC-BC3F-F2AD95C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985AC-501B-43CB-AAC7-7929E067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5C8FA-080A-405A-8BA4-6960FD61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56C1E-8027-420D-95AA-F7859507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Внешний контур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62A78-B109-42DF-AC17-FC5BFD43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4400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Клиенты, поставщики, партнеры, инвесторы, подрядчики, сети. Здесь важны ценность предложения, условия, риск отказа, карта другой стороны и границы уступок.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D3C07-0E17-425A-AF57-4EA96D0F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BF4D6-3ED9-4437-9037-A9BAF558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E16882-46CD-4CF9-B1FC-E568CE4C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Внутренний контур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FB2387-B458-410F-987C-C74DE8DB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28900"/>
            <a:ext cx="44005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Собственник, финансы, продажи, закупки, операции, юристы, проектные команды. Здесь важны полномочия, бюджет, ответственность, интересы функций и право на паузу.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1C9FB-98C2-4AAA-8EE4-932C0E45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1F33"/>
                </a:solidFill>
              </a:defRPr>
            </a:pPr>
            <a:r>
              <a:rPr sz="2100" b="1">
                <a:solidFill>
                  <a:srgbClr val="0B1F33"/>
                </a:solidFill>
              </a:rPr>
              <a:t>Ключевой принцип: сильная внешняя позиция невозможна без внутренней позиции.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57C4B-71B8-4CED-84F8-9B903673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4B0B3-C3A1-49E5-A72C-52D3852A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6760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6B3EB6-1F74-43B0-9099-9C5C4EB9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A38EB2-B714-4A5D-90FD-7DC03B6E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F2D67-E496-4D90-A5C4-4960EE23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Десять шагов превращают переговоры в повторяемый цикл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39DEA-6587-48EF-A4AE-DB63E9AD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E91BD-F016-4120-90D7-0BAB693D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8F88DF-8611-4309-813C-23E6811D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76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4D59E-BC74-4116-87A1-D5083728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47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BEE42-A480-4A52-9D86-87B00CAB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ситуация и цена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B24F6-0186-402F-8DCD-AC3C46EE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BF96E-359B-46A4-B7F3-49069B7F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448D3E-6429-47B5-B0B6-7CED9B9D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441A3-02C8-452A-ACE7-F5EAC987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цель и минимум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06AF4-10D0-4E62-9B9E-352F9F84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37DD1-FFAA-4AF2-B098-6DCC67EA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76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FB97D-886A-49EE-A679-D15AB16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47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6F4AF-4D1A-4E39-9EC9-4913C287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сторона решения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74FBB9-3221-4D13-B899-CCA08186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2D6C9-9CC4-4E02-9BB4-D6F8E407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76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C71DF6-8DEA-4402-9024-382A3E67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C2C529-CC2F-4524-9315-638BA6F4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влияние и власть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578A5-C815-4F70-A1EF-6A8FF2F69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3FC9BA-3CE2-44CA-99B3-B969EE83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AD5064-B92A-4552-AC27-671FE384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479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8A29C2-BA3A-49AA-9EC7-D4360AE5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BATNA / альтернатива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8BF6E9-EC9B-415E-9007-37C775D39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38575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7216D-A444-454C-AEBA-764351032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385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52763E-1F77-428B-9DE1-EBAE32EC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100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AA5CFC-BFCE-4325-9941-865D049F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148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ZOPA / соглашение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CBE682-D549-4FE4-B465-6A5A48F1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38575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E33A6-2999-40E6-8241-F6B4D06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385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472190-1633-420D-B7BA-FDCD61A4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0100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96AD9-629E-4075-A0FA-19699DA5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уступки и роли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744A69-659E-414A-B1D9-CBC42CC9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38575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6805C1-2E8D-42B9-91C6-C403E405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8385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6EA750-71FC-4764-B04C-334F2AA8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100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9AA8FC-8FE9-402B-8104-2CD878AE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3148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риски решения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5FBC48-54DB-4693-8BD7-B14C5A69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38575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52087A-0E87-465A-B894-22768BA6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385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A3E150-F7FC-4352-8409-AD98DDC8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100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82C4B-3B7A-4E40-99D9-B2E2CA34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148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следующий шаг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85E066-1176-4C26-96ED-208A4393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16954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555EFC-92FA-4099-A9DE-540BC8CA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38575"/>
            <a:ext cx="57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8327354-ADBC-4ABC-8A01-F81D1361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3"/>
                </a:solidFill>
              </a:defRPr>
            </a:pPr>
            <a:r>
              <a:rPr sz="1650" b="1">
                <a:solidFill>
                  <a:srgbClr val="0B1F33"/>
                </a:solidFill>
              </a:rPr>
              <a:t>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0E2952-FD90-4390-88D3-8FD0A947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14825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фиксация и разбор</a:t>
            </a:r>
          </a:p>
        </p:txBody>
      </p:sp>
      <p:cxnSp>
        <p:nvCxnSpPr>
          <p:cNvPr id="10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2895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03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1490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04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80085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05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686800" y="25336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06" name=""/>
          <p:cNvCxnSpPr>
            <a:stCxn xmlns:a="http://schemas.openxmlformats.org/drawingml/2006/main" id="21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9725025" y="299085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07" name=""/>
          <p:cNvCxnSpPr>
            <a:stCxn xmlns:a="http://schemas.openxmlformats.org/drawingml/2006/main" id="25" idx="1"/>
            <a:endCxn xmlns:a="http://schemas.openxmlformats.org/drawingml/2006/main" id="29" idx="3"/>
          </p:cNvCxnSpPr>
          <p:nvPr/>
        </p:nvCxnSpPr>
        <p:spPr>
          <a:xfrm xmlns:a="http://schemas.openxmlformats.org/drawingml/2006/main" flipH="1">
            <a:off x="8686800" y="42957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08" name=""/>
          <p:cNvCxnSpPr>
            <a:stCxn xmlns:a="http://schemas.openxmlformats.org/drawingml/2006/main" id="29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6800850" y="42957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09" name=""/>
          <p:cNvCxnSpPr>
            <a:stCxn xmlns:a="http://schemas.openxmlformats.org/drawingml/2006/main" id="33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4914900" y="42957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10" name=""/>
          <p:cNvCxnSpPr>
            <a:stCxn xmlns:a="http://schemas.openxmlformats.org/drawingml/2006/main" id="37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3028950" y="429577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75569"/>
            </a:solidFill>
            <a:prstDash val="solid"/>
          </a:ln>
        </p:spPr>
      </p:cxnSp>
      <p:cxnSp>
        <p:nvCxnSpPr>
          <p:cNvPr id="111" name=""/>
          <p:cNvCxnSpPr>
            <a:stCxn xmlns:a="http://schemas.openxmlformats.org/drawingml/2006/main" id="41" idx="0"/>
            <a:endCxn xmlns:a="http://schemas.openxmlformats.org/drawingml/2006/main" id="5" idx="1"/>
          </p:cNvCxnSpPr>
          <p:nvPr/>
        </p:nvCxnSpPr>
        <p:spPr>
          <a:xfrm xmlns:a="http://schemas.openxmlformats.org/drawingml/2006/main" flipH="1" flipV="1">
            <a:off x="1104900" y="2533650"/>
            <a:ext cx="1076325" cy="130492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B46A3C"/>
            </a:solidFill>
            <a:prstDash val="dash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E57295-FFCA-47E5-A883-AD93D758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47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Повтор цикла важнее разовой победы: опыт фиксируется, слабые места становятся видимыми, следующий раунд начинается с фактов.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B0A766-CFBA-481F-9446-3B33603A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877325-D0D2-4046-851E-C83E89CF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103480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2C875-8733-4324-BC7C-80CC01EB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14A8D-5824-4325-8896-A398DA48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33EAE-B3EA-4564-9B54-AA8E187C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Формы 17-23 являются рабочим ядром, а не отдельным продуктом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C9DBA-6062-4C91-A1F2-0A9B72E1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81050" y="1905000"/>
          <a:ext xmlns:a="http://schemas.openxmlformats.org/drawingml/2006/main" cx="106299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230831"/>
                <a:gridCol w="4699535"/>
                <a:gridCol w="4699535"/>
              </a:tblGrid>
              <a:tr h="48220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Форма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Что закрывает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Выход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готовность, ставка, данные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карта входа и цена ошибки</a:t>
                      </a:r>
                    </a:p>
                  </a:txBody>
                  <a:tcPr marL="91440" marR="91440" marT="45720" marB="45720"/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цель, минимум, BATNA / лучшая альтернатива, ZOPA / зона соглашения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рамка результата и граница выхода</a:t>
                      </a:r>
                    </a:p>
                  </a:txBody>
                  <a:tcPr marL="91440" marR="91440" marT="45720" marB="45720"/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профиль стороны и карта влияния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кто влияет, кто решает, где сопротивление</a:t>
                      </a:r>
                    </a:p>
                  </a:txBody>
                  <a:tcPr marL="91440" marR="91440" marT="45720" marB="45720"/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сценарии и роли команды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план раунда, роли, право на паузу</a:t>
                      </a:r>
                    </a:p>
                  </a:txBody>
                  <a:tcPr marL="91440" marR="91440" marT="45720" marB="45720"/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21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уступки и встречные шаги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пакет обмена и цена уступок</a:t>
                      </a:r>
                    </a:p>
                  </a:txBody>
                  <a:tcPr marL="91440" marR="91440" marT="45720" marB="45720"/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когнитивные риски решения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проверка давления, якоря, инерции</a:t>
                      </a:r>
                    </a:p>
                  </a:txBody>
                  <a:tcPr marL="91440" marR="91440" marT="45720" marB="45720"/>
                </a:tc>
              </a:tr>
              <a:tr h="482203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результат, показатели, следующий цикл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факты, ответственные, улучшения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9EBB4-FF07-491C-9F6C-2088E2D8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46D23C-ED3E-41B7-B1C7-9D794189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60591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DCF37E-4A60-4D15-8BA1-01F99D57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E8C91-4621-4D07-885B-6887C894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0E752-1F7D-407F-9AC6-F39CE51D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Клиент получает не папку документов, а управленческий вывод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EC276-F581-4E55-A496-9268C22A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9A86A-9B6B-41B4-B17B-5B1AEA5E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3CCEE-315B-4B4B-9951-B5E58514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1E715-F43D-4BF3-9A5F-97832411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Ясность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82E5C-C16E-4294-A3D4-B972E158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924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цель, минимум, красные линии, недостающие данные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8A249-9880-49DE-A26B-1AF220C0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268BC4-DBAA-4814-BF8C-BF5CD7BF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3FCCC-08A2-4FD0-A929-C0B33689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622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Сила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08723-881F-4BEB-80D4-64D73C1B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24150"/>
            <a:ext cx="1924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альтернатива, зона соглашения, карта влияния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2A562-561B-4272-ACBA-091FE67E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41BF9-5122-4C37-854A-C128CBB2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4A095-0FFC-44B6-BCC0-9C32DC0B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Защита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CAA66-B599-460F-B36C-77125328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24150"/>
            <a:ext cx="1924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цена уступок, встречные шаги, право на паузу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39606-CF95-4C3F-A4BF-A135B045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286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DEADF-42C8-4584-A71F-520A3AC1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FD7205-4F71-45A3-A234-A6E4E698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6220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Решение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3346DE-D2F1-436B-9EFC-5E952D5E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19240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продолжать, уточнить, согласовать внутри, изменить пакет или выйти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EA83D-991E-4E28-B663-0BDE1987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672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</a:defRPr>
            </a:pPr>
            <a:r>
              <a:rPr sz="1725" b="1">
                <a:solidFill>
                  <a:srgbClr val="0B1F33"/>
                </a:solidFill>
              </a:rPr>
              <a:t>Главный эффект формулируется аккуратно: технология повышает управляемость позиции и качество подготовки, но не гарантирует волю другой стороны.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EF155-0EC4-4637-99F7-0E08C483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C1DAEB-BBE6-421A-8BF1-7C8B704B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063314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E5D13-BA4B-4524-8330-3B5C48FC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3685DE-24CC-47FD-8593-7F31C425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7F7C9-71C4-44FB-9CE5-3D50C977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Продуктовая лестница ведет от платной Диагностики к удержанию системы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ED5CC-EB41-455C-ACB4-B5084E3F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781050" y="2143125"/>
          <a:ext xmlns:a="http://schemas.openxmlformats.org/drawingml/2006/main" cx="106299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07653"/>
                <a:gridCol w="2199290"/>
                <a:gridCol w="4398579"/>
                <a:gridCol w="1924378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Продукт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Срок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Роль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Цена от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Диагностика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5-7 рабочих дней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платный вход, карта разрывов, следующий формат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350 000 руб.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Сессия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1 день + подготовка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переговорный дизайн и единая позиция команды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900 000 руб.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Спринт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4-6 недель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практика технологии на реальных переговорах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1 800 000 руб.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Сопровождение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от 3 месяцев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регулярный разбор и удержание переговорной силы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900 000 руб. / мес.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118366-E054-4029-BD49-CDE835AA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Диагностика не бесплатный разбор. Это платный фильтр, который отделяет реальную ситуацию от желания получить консультацию без обязательств.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C7678-421E-4E96-9422-D0992F71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7B7A5-6801-423E-8870-7FBF147E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761091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16809F-597E-4245-B68E-6B821153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1749F-5E10-4639-B2A9-4335FA22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6BD42-EDF2-44F2-AFA9-24D399D8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Диагностика показывает разрывы до сделки или следующего раунда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5128B-0CE2-4F0E-AB52-9C8A4A66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BC505-4DA3-44BB-97D8-8583C8A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6F6E4-1565-4584-863E-0C12EB97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E3762-F82F-43BB-8A90-7EF538E3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Что проверяем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4B4A8-7E83-439A-B538-6C656FCF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2781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1-2 реальные ситуации, данные, цель и минимум, альтернативу, зону соглашения, влияние, уступки, риски и право на паузу.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FC00E9-A7A1-4BA9-BB9D-2EFDD326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9062A-C67A-4236-AAF1-DC0F8573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40C82F-55FB-48B2-B28F-0530A3EE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266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Что отсекаем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BC56F-5AB9-45B7-9F94-CB923FE2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628900"/>
            <a:ext cx="2781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Запрос на бесплатный разбор, гарантию победы, вход в сеть, манипуляции или подтверждение уже принятого решения.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47C5F-0B72-44D3-B9A4-6FDE7E24D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98625-7C58-46AF-8DDA-BFA09755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48077-1B59-440F-95D8-E5203EEC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Что выдаем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B81D6-9B49-4C39-84FE-0A21360C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28900"/>
            <a:ext cx="2781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Карту переговорных разрывов, список недостающих данных, управленческий вывод и рекомендацию следующего формата.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275B8-C446-4451-A692-3DB90E76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Жесткий коммитмент: за 5-7 рабочих дней показать, где компания теряет переговорную силу, и собрать карту решения.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35D9F-782E-4C48-82AF-AEC0BA99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AA384-9366-43E5-84D5-EE60E306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95779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ABDD10-C1BA-40F0-B04C-8317DBCE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016A9A-F025-45AD-BF2F-F9EC4341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F22C4-D5BC-40B5-A80E-EE067B8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Сессия собирает переговорный дизайн и единую позицию команды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D21A9-E187-4CE4-8D02-41637DD7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095375" y="2095500"/>
          <a:ext xmlns:a="http://schemas.openxmlformats.org/drawingml/2006/main" cx="1000125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56221"/>
                <a:gridCol w="6745029"/>
              </a:tblGrid>
              <a:tr h="5556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Решение на Сессии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Что должно быть согласовано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Единая цель и минимум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какой результат нужен и где начинается плохое соглашение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Карта влияния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кто влияет, кто решает, кто блокирует, где нужен отдельный разговор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Пакет условий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что предлагаем, что уступаем, что берем взамен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Роли и пауза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кто говорит, кто считает, кто фиксирует, кто имеет право остановить</a:t>
                      </a:r>
                    </a:p>
                  </a:txBody>
                  <a:tcPr marL="91440" marR="91440" marT="45720" marB="45720"/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Паспорт Спринта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что переводим в 30/60/90 или закрываем после Сессии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E44A0D-4A96-422C-86F0-8E696E9B3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5C271-E8B6-45FF-A708-B32F6C6D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35481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357402-ED37-4C45-B881-6C0687A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67C85-18C8-41D9-A3BB-3288B698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418E6-DECE-4DBE-9A44-60DE73D1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Спринт переводит технологию из разового решения в практику команды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16D40-39D1-42AD-BD41-1FECA4F8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D4217-6EC7-46AE-A709-B6389924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04F87-C7F3-4787-B6B0-684CEE8B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A7917-5887-4046-9FCA-55C3C833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5527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D25C4-9C79-470E-932F-FA06D72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914650"/>
            <a:ext cx="2114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зафиксировать контур, ситуации, владельцев и короткий набор показателей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C6176-A16F-4CFB-9E2B-F7C182C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C2F46-A970-4C42-9ED8-86621096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61FF0-726D-4353-A802-7AEF94F2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238D7-2596-49FF-8B09-D43235C1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14650"/>
            <a:ext cx="2114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провести реальные переговорные циклы, разбирать уступки, риски и фиксацию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C6049-B5FB-4753-BCBC-41716391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476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40FA5-216A-44E8-BC6E-FDDBC66A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B8BA1D-4DF4-4C51-A95E-BB95C1E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23D533-D2EC-473F-B26D-92F5E91D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14650"/>
            <a:ext cx="21145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закрепить маршрут, убрать откат к импровизации, принять итоговый вывод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C1E11-1F0D-404D-89A7-77464A0A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7675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C8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E41CF-E8DF-497C-B055-215A8BB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75569"/>
                </a:solidFill>
              </a:defRPr>
            </a:pPr>
            <a:r>
              <a:rPr sz="1575" b="0">
                <a:solidFill>
                  <a:srgbClr val="475569"/>
                </a:solidFill>
              </a:rPr>
              <a:t>Срок зависит от контура: в релизной коммерческой версии базовый Спринт идет 4-6 недель, расширенный - 6-8 недель.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2398C-A570-4566-9B39-D0B17A2E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2E4C-1F20-4D77-AC51-24D11E13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8687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799497-925C-4CB8-B6F7-E15E2C99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2D2B2-EC30-4349-AAD9-56B80951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673DE-B9F5-4B07-AB33-C71D0BC9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Сопровождение удерживает переговорную силу во времени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C3B3F-A7EB-432B-997F-6FC1D644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89C5A-7BB0-49EA-BD4B-F3EE0F8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97871E-28F5-4A18-9613-D0FFFA5B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047875"/>
            <a:ext cx="758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Регулярный разбор сложных внешних и внутренних ситуаций.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3A78B-78EC-4470-8582-07722D06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7C7DE-7A8D-4B5C-B496-A9B877A3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667000"/>
            <a:ext cx="758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Контроль отката к импровизации, бесплатным уступкам и решениям под давлением.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C9FDF-6EC2-4978-BBDC-88DEF9B6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777F7-9535-4D61-8E38-12576233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286125"/>
            <a:ext cx="758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Обновление показателей, карты рисков, альтернатив и следующего цикла.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9D541-45B0-49A4-98D8-410BFDE0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7192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417752-254F-4D17-8569-81A8E1EF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905250"/>
            <a:ext cx="758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Решение: продолжать, масштабировать, изменить контур или завершить.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9317B-0E3D-402A-B37F-8EB71812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6AEA32-D3B6-4B13-BCDD-68FA3E7E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57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78072-80BF-4E82-A59E-A10E4D38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527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F33"/>
                </a:solidFill>
              </a:defRPr>
            </a:pPr>
            <a:r>
              <a:rPr sz="1575" b="1">
                <a:solidFill>
                  <a:srgbClr val="0B1F33"/>
                </a:solidFill>
              </a:rPr>
              <a:t>Граница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3BA59-2F2C-4F47-B177-974A4631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2019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Сопровождение не является бесконечными созвонами по запросу. Оно держит качество переговорных решений на согласованном контуре.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3EB747-FFCF-4245-879A-9DD2AA79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24F51-9A7B-4357-BB0F-2160A5C0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7072129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A8B5C-D4B3-4AAE-A9DE-AD322814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48C42-1941-4BCD-BF50-14D0EF21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94211-6D3E-491F-85F3-001E7090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Доказательность защищает технологию от недоказуемых обещаний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C47FB-B4A1-4F7F-8D1E-ED3EF4C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1000125" y="2190750"/>
          <a:ext xmlns:a="http://schemas.openxmlformats.org/drawingml/2006/main" cx="4762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e3467265f44e4e"/>
          </a:graphicData>
        </a:graphic>
      </p:graphicFrame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0" y="2114550"/>
          <a:ext xmlns:a="http://schemas.openxmlformats.org/drawingml/2006/main" cx="47625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89881"/>
                <a:gridCol w="2872619"/>
              </a:tblGrid>
              <a:tr h="6286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Нельзя обещать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Безопасная рамка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победу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управляемость позиции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рост маржи без данных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цену уступок после расчета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вход в сеть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подготовку и защиту от входа любой ценой</a:t>
                      </a:r>
                    </a:p>
                  </a:txBody>
                  <a:tcPr marL="91440" marR="91440" marT="45720" marB="45720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юридическую безопасность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передачу риска в профильную проверку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25E68-8D6B-48E5-A487-7A83A84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4D528-FFEF-4BED-97EA-ED27BF9A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351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FEA1F5-3DAE-4940-98C4-793090FA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CF8D0-40A4-4A20-AEDE-E517647D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A1777-F760-44B5-BFDB-E5ABB462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12 модельных кейсов показывают, где начинается платная Диагностика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9C93E-00A8-4D0C-8EAB-0F8A1410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952500" y="2095500"/>
          <a:ext xmlns:a="http://schemas.openxmlformats.org/drawingml/2006/main" cx="342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be655115e74cc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F29213-8AC4-4E0C-B03F-180549D3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5742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2A686-1F92-42F2-8F95-4DD64EDC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9075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Внешний контур: сеть, клиент, поставщик, подрядчик, партнер, канал.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FAB2A-401C-4945-AB8B-28AECD10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8132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50FF1-64E7-4DDE-B3EF-58DFB9D0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1465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Внутренний контур: штаб, бюджет, сроки, полномочия, рост, юридический риск.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4E5C2-8993-4690-B719-60DA0ED1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0522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A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3B63D-178C-4EE5-A3F9-E814A5B4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38550"/>
            <a:ext cx="548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Каждый кейс ведет к боли, переговорному разрыву, формам 17-23 и возможному следующему продукту.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8E2B7-B811-4C21-9193-6BA37497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72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1C1C"/>
                </a:solidFill>
              </a:defRPr>
            </a:pPr>
            <a:r>
              <a:rPr sz="1500" b="1">
                <a:solidFill>
                  <a:srgbClr val="B91C1C"/>
                </a:solidFill>
              </a:rPr>
              <a:t>Маркировка обязательна: кейсы являются модельными учебными примерами, а не обещанием результата клиента.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A7BE4-8A8E-441C-B787-BCA05BFD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4B747-776C-4081-B6F5-16C0E356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102888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4FBC1-D21F-41E1-97BA-C896DEDB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7A4B54-4DE2-45E7-BB98-F28046EC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46A3C"/>
                </a:solidFill>
              </a:defRPr>
            </a:pPr>
            <a:r>
              <a:rPr sz="975" b="1">
                <a:solidFill>
                  <a:srgbClr val="B46A3C"/>
                </a:solidFill>
              </a:rPr>
              <a:t>АРХИТЕКТУРА ПЕРЕГОВОРОВ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018B1-B965-4E9A-9E9A-16BA604D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F33"/>
                </a:solidFill>
              </a:defRPr>
            </a:pPr>
            <a:r>
              <a:rPr sz="2850" b="1">
                <a:solidFill>
                  <a:srgbClr val="0B1F33"/>
                </a:solidFill>
              </a:rPr>
              <a:t>Первый шаг - платная Диагностика, если есть реальная цена ошибки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884D1-7724-4602-9F44-97338144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C8B6"/>
            </a:solidFill>
            <a:prstDash val="solid"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14400" y="2000250"/>
          <a:ext xmlns:a="http://schemas.openxmlformats.org/drawingml/2006/main" cx="10363200" cy="3000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181600"/>
                <a:gridCol w="5181600"/>
              </a:tblGrid>
              <a:tr h="6000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Подходит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Не подходит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есть сложная внешняя или внутренняя ситуация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нужна бесплатная стратегическая консультация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важны маржа, касса, срок, риск, ответственность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нужна гарантия победы или входа в сеть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команда готова открыть данные и участников решения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нужно манипулятивное давление на другую сторону</a:t>
                      </a:r>
                    </a:p>
                  </a:txBody>
                  <a:tcPr marL="91440" marR="91440" marT="45720" marB="45720"/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нужно понять следующий управленческий шаг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11827"/>
                          </a:solidFill>
                        </a:rPr>
                        <a:t>ожидается юридическое заключение или финансовый аудит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43BB28-252B-4A47-B954-C3830CD7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29250"/>
            <a:ext cx="966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</a:defRPr>
            </a:pPr>
            <a:r>
              <a:rPr sz="1875" b="1">
                <a:solidFill>
                  <a:srgbClr val="0B1F33"/>
                </a:solidFill>
              </a:rPr>
              <a:t>Начать стоит с Диагностики: 5-7 рабочих дней, 1-2 реальные ситуации, карта переговорных разрывов и решение о следующем формате.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420E4-70FE-4A22-83E0-2DD1472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C-Level Insight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9B58F-EAF1-40E0-8FF0-82383BD4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0231309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2026-07-29T11:25:08.7240000Z</dcterms:created>
  <dcterms:modified xsi:type="dcterms:W3CDTF">2026-07-29T11:25:08.7240000Z</dcterms:modified>
</coreProperties>
</file>