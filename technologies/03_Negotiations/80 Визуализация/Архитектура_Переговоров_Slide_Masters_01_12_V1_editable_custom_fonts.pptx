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технологии: вся цепочка от сторон и интересов до соглашения и разбора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Поле сторон, интересов, ограничений и власти, включая внутренний контур.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Платная Диагностика как первый продукт: что проверяем и какой вердикт.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Подготовка до контакта: мандат, роли, данные, право на паузу.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BATNA и ZOPA — разные элементы переговорной силы; сигналы паузы и выхода.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Уступка имеет цену, границу и встречное действие.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от платной Диагностики к Сессии, Спринту и Сопровождению.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Сессия: сборка единой позиции и сценария следующего раунда.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Перевод технологии в регулярную практику команды на ограниченном контуре.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Разница между импровизацией и управляемой архитектурой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переводится в Диагностику, поле, сценарий и решение о следующем продукте.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технологии от неправильной категории: не тренинг, не скрипты, не манипуляции.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12535" y="419100"/>
            <a:ext cx="9354361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КОНСУЛЬТАНТСКИЙ СЛОЙ · ARCHITECTURE MAP · СЛОЖНОСТЬ СРЕДНЯЯ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765935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Переговоры становятся управляемыми, когда видна вся архитектура решения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229254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Стороны, интересы, цели, альтернатива, зона соглашения, уступки, сценарии и фиксация результата собираются в один контур.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571500" y="2849240"/>
            <a:ext cx="238575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49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МАРШРУТ РЕШЕНИЯ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892772" y="2975446"/>
            <a:ext cx="14823728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3235003"/>
            <a:ext cx="4200525" cy="2335337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7238" y="3430265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6852" y="3401690"/>
            <a:ext cx="11653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Стороны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757238" y="3792215"/>
            <a:ext cx="394392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участвует, кто влияет, кто принимает или блокирует решение.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86325" y="3235003"/>
            <a:ext cx="4200525" cy="2335337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2063" y="3430265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1677" y="3401690"/>
            <a:ext cx="13623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Интересы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5072063" y="3792215"/>
            <a:ext cx="394392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каждой стороне нужно на самом деле: деньги, срок, риск, контроль, статус, отношения.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01150" y="3235003"/>
            <a:ext cx="4200525" cy="2335337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6888" y="3430265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56502" y="3401690"/>
            <a:ext cx="7221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Цели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386888" y="3792215"/>
            <a:ext cx="394392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Идеал, минимум, недопустимое условие и критерий хорошего результата.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515975" y="3235003"/>
            <a:ext cx="4200525" cy="2335337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515975" y="5556052"/>
            <a:ext cx="42005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3515975" y="3235003"/>
            <a:ext cx="42005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3515975" y="3235003"/>
            <a:ext cx="47625" cy="2335337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17702213" y="3235003"/>
            <a:ext cx="14288" cy="233533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13735050" y="3430265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04665" y="3401690"/>
            <a:ext cx="352888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BATNA / лучшая альтернатива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3735050" y="4125590"/>
            <a:ext cx="3909584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делаем, если соглашение становится плохим или невозможным.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71500" y="5684639"/>
            <a:ext cx="4200525" cy="2335411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" y="8005763"/>
            <a:ext cx="42005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" y="5684639"/>
            <a:ext cx="420052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" y="5684639"/>
            <a:ext cx="47625" cy="233541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7738" y="5684639"/>
            <a:ext cx="14288" cy="233541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790575" y="587990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60190" y="5851327"/>
            <a:ext cx="33216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ZOPA / зона соглашения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790575" y="6241852"/>
            <a:ext cx="3909584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находится приемлемый диапазон условий, а где начинается плохое соглашение.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886325" y="5684639"/>
            <a:ext cx="4200525" cy="2335411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2063" y="587990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41677" y="5851327"/>
            <a:ext cx="106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Уступки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5072063" y="6241852"/>
            <a:ext cx="394392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можно менять, сколько это стоит и какой встречный шаг нужен.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201150" y="5684639"/>
            <a:ext cx="4200525" cy="2335411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86888" y="587990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756502" y="5851327"/>
            <a:ext cx="135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Сценарии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386888" y="6241852"/>
            <a:ext cx="394392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Следующий раунд: идти, менять пакет, усиливать альтернативу, брать паузу или выходить.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3515975" y="5684639"/>
            <a:ext cx="4200525" cy="2335411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01713" y="587990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A8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4071327" y="5851327"/>
            <a:ext cx="16749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Соглашение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13701713" y="6241852"/>
            <a:ext cx="3943922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фиксируется, кто отвечает, какие условия и риски остаются.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702371" y="8372475"/>
            <a:ext cx="146372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2" name="Text 50"/>
          <p:cNvSpPr/>
          <p:nvPr/>
        </p:nvSpPr>
        <p:spPr>
          <a:xfrm>
            <a:off x="1943993" y="8172450"/>
            <a:ext cx="37805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архитектурный контур решения</a:t>
            </a:r>
            <a:endParaRPr lang="en-US" sz="1725" dirty="0"/>
          </a:p>
        </p:txBody>
      </p:sp>
      <p:sp>
        <p:nvSpPr>
          <p:cNvPr id="53" name="Shape 51"/>
          <p:cNvSpPr/>
          <p:nvPr/>
        </p:nvSpPr>
        <p:spPr>
          <a:xfrm>
            <a:off x="6132761" y="8372475"/>
            <a:ext cx="161032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4" name="Text 52"/>
          <p:cNvSpPr/>
          <p:nvPr/>
        </p:nvSpPr>
        <p:spPr>
          <a:xfrm>
            <a:off x="6389043" y="8172450"/>
            <a:ext cx="339199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движения по цепочке</a:t>
            </a:r>
            <a:endParaRPr lang="en-US" sz="1725" dirty="0"/>
          </a:p>
        </p:txBody>
      </p:sp>
      <p:sp>
        <p:nvSpPr>
          <p:cNvPr id="55" name="Shape 53"/>
          <p:cNvSpPr/>
          <p:nvPr/>
        </p:nvSpPr>
        <p:spPr>
          <a:xfrm>
            <a:off x="1702371" y="9001125"/>
            <a:ext cx="134838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6" name="Text 54"/>
          <p:cNvSpPr/>
          <p:nvPr/>
        </p:nvSpPr>
        <p:spPr>
          <a:xfrm>
            <a:off x="1932459" y="8801100"/>
            <a:ext cx="353616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усиление позиции и управляемость</a:t>
            </a:r>
            <a:endParaRPr lang="en-US" sz="1725" dirty="0"/>
          </a:p>
        </p:txBody>
      </p:sp>
      <p:sp>
        <p:nvSpPr>
          <p:cNvPr id="57" name="Shape 55"/>
          <p:cNvSpPr/>
          <p:nvPr/>
        </p:nvSpPr>
        <p:spPr>
          <a:xfrm>
            <a:off x="6132761" y="9001125"/>
            <a:ext cx="11936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8" name="Text 56"/>
          <p:cNvSpPr/>
          <p:nvPr/>
        </p:nvSpPr>
        <p:spPr>
          <a:xfrm>
            <a:off x="6347371" y="8801100"/>
            <a:ext cx="39190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плохое соглашение, остановка, запрет</a:t>
            </a:r>
            <a:endParaRPr lang="en-US" sz="1725" dirty="0"/>
          </a:p>
        </p:txBody>
      </p:sp>
      <p:sp>
        <p:nvSpPr>
          <p:cNvPr id="59" name="Shape 57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тренинг, не набор приемов давления, не обещание победы, не схема манипуляции другой стороной.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71500" y="9648825"/>
            <a:ext cx="109678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Архитектура Переговоров превращает переговоры из разговора в систему управляемого решения.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1511707" y="9672638"/>
            <a:ext cx="6825273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Визуализация_01_Ядро_Архитектуры_Переговоров_V1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47995" y="419100"/>
            <a:ext cx="7665355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NEGOTIATION FIELD MAP · СЛОЖНОСТЬ СЛОЖНАЯ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Переговорное поле шире, чем стол переговоров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6285845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формируется между явными участниками, скрытыми влияющими ролями, интересами, ограничениями и правом сказать нет.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609701"/>
            <a:ext cx="8515350" cy="1727225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6288" y="2776389"/>
            <a:ext cx="8916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Внешняя сторона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6288" y="3176439"/>
            <a:ext cx="89163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клиент, сеть, поставщик, подрядчик, партнер или канал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201150" y="2609701"/>
            <a:ext cx="8515350" cy="1727225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05938" y="2776389"/>
            <a:ext cx="8916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Внутренний контур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405938" y="3176439"/>
            <a:ext cx="834894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собственник, финансы, продажи, операции, закупки, юристы, проектная команда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571500" y="4451226"/>
            <a:ext cx="5638800" cy="1727299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6288" y="4617913"/>
            <a:ext cx="57521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Интересы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6288" y="5017963"/>
            <a:ext cx="53861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участники защищают помимо заявленной позиции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6324600" y="4451226"/>
            <a:ext cx="5638800" cy="1727299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9388" y="4617913"/>
            <a:ext cx="57521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Ограничения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29388" y="5017963"/>
            <a:ext cx="53861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деньги, срок, маржа, риск, ресурс, ответственность, данные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2077700" y="4451226"/>
            <a:ext cx="5638800" cy="1727299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077700" y="6164238"/>
            <a:ext cx="56388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77700" y="4451226"/>
            <a:ext cx="56388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77700" y="4451226"/>
            <a:ext cx="47625" cy="1727299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17702213" y="4451226"/>
            <a:ext cx="14288" cy="172729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12315825" y="4617913"/>
            <a:ext cx="57154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Власть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315825" y="5017963"/>
            <a:ext cx="535176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имеет право согласовать цену, уступку, паузу, отказ или новый пакет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571500" y="6292825"/>
            <a:ext cx="8515350" cy="1727225"/>
          </a:xfrm>
          <a:prstGeom prst="rect">
            <a:avLst/>
          </a:prstGeom>
          <a:solidFill>
            <a:srgbClr val="FFFFFF">
              <a:alpha val="28000"/>
            </a:srgbClr>
          </a:solidFill>
          <a:ln w="14288">
            <a:solidFill>
              <a:srgbClr val="475569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76288" y="6459513"/>
            <a:ext cx="8916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Слепая зона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76288" y="6859563"/>
            <a:ext cx="89163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команда не знает и поэтому заменяет догадкой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201150" y="6292825"/>
            <a:ext cx="8515350" cy="1727225"/>
          </a:xfrm>
          <a:prstGeom prst="rect">
            <a:avLst/>
          </a:prstGeom>
          <a:solidFill>
            <a:srgbClr val="B91C1C">
              <a:alpha val="7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05938" y="6459513"/>
            <a:ext cx="8916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Точка давления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405938" y="6859563"/>
            <a:ext cx="834894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решение может быть принято под страхом потери, якорем или срочностью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702371" y="8448675"/>
            <a:ext cx="281508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2079129" y="8172450"/>
            <a:ext cx="358467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Полная линия — подтвержденное влияние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6132761" y="8448675"/>
            <a:ext cx="323850" cy="1905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7" name="Text 35"/>
          <p:cNvSpPr/>
          <p:nvPr/>
        </p:nvSpPr>
        <p:spPr>
          <a:xfrm>
            <a:off x="6551861" y="8315325"/>
            <a:ext cx="37897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 — непроверенное влияние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1702371" y="8986838"/>
            <a:ext cx="196676" cy="200025"/>
          </a:xfrm>
          <a:prstGeom prst="rect">
            <a:avLst/>
          </a:prstGeom>
          <a:solidFill>
            <a:srgbClr val="B91C1C">
              <a:alpha val="15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94297" y="8801100"/>
            <a:ext cx="31097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зона — риск плохого решения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6132761" y="9001125"/>
            <a:ext cx="123825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6351836" y="8801100"/>
            <a:ext cx="338585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Бирюзовый маркер — владелец данных или решения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оргструктура, не психологический портрет участников, не карта политических игр.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71500" y="9648825"/>
            <a:ext cx="81025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Сильная позиция начинается с карты поля, а не с красивого аргумента.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2963897" y="9672638"/>
            <a:ext cx="5227863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Визуализация_02_Переговорное_Поле_V1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094440" y="419100"/>
            <a:ext cx="948426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+ КОНСУЛЬТАНТСКИЙ СЛОЙ · DIAGNOSTIC CARD · СЛОЖНОСТЬ СРЕДНЯЯ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показывает переговорные разрывы до дорогого решения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 5-7 рабочих дней проверяется 1-2 реальные ситуации и собирается карта следующего шага.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262560"/>
            <a:ext cx="3337545" cy="4995490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7243763"/>
            <a:ext cx="333754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2262560"/>
            <a:ext cx="3337545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2262560"/>
            <a:ext cx="14288" cy="4995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Shape 10"/>
          <p:cNvSpPr/>
          <p:nvPr/>
        </p:nvSpPr>
        <p:spPr>
          <a:xfrm>
            <a:off x="3894758" y="2262560"/>
            <a:ext cx="14288" cy="4995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757238" y="2462585"/>
            <a:ext cx="32626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проверяем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757238" y="2872160"/>
            <a:ext cx="3055052" cy="1245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ситуация, цена ошибки, цель, минимум, BATNA / лучшая альтернатива, ZOPA / зона соглашения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23345" y="2262560"/>
            <a:ext cx="3337545" cy="4995490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45" y="7243763"/>
            <a:ext cx="333754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45" y="2262560"/>
            <a:ext cx="3337545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4023345" y="2262560"/>
            <a:ext cx="14288" cy="4995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346603" y="2262560"/>
            <a:ext cx="14288" cy="4995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4209083" y="2462585"/>
            <a:ext cx="32626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уточняем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4209083" y="2872160"/>
            <a:ext cx="3055052" cy="1245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по деньгам, срокам, марже, полномочиям, рискам, обязательствам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75190" y="2262560"/>
            <a:ext cx="3337545" cy="4995490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75190" y="7243763"/>
            <a:ext cx="333754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475190" y="2262560"/>
            <a:ext cx="3337545" cy="476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75190" y="2262560"/>
            <a:ext cx="14288" cy="4995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98448" y="2262560"/>
            <a:ext cx="14288" cy="4995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7660928" y="2462585"/>
            <a:ext cx="32626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вскрываем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7660928" y="2872160"/>
            <a:ext cx="3055052" cy="943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разрывы между внешней позицией и внутренним мандатом команды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27035" y="2262560"/>
            <a:ext cx="3337545" cy="4995490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927035" y="7243763"/>
            <a:ext cx="3337545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27035" y="2262560"/>
            <a:ext cx="3337545" cy="476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27035" y="2262560"/>
            <a:ext cx="14288" cy="4995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3" name="Shape 31"/>
          <p:cNvSpPr/>
          <p:nvPr/>
        </p:nvSpPr>
        <p:spPr>
          <a:xfrm>
            <a:off x="14250293" y="2262560"/>
            <a:ext cx="14288" cy="4995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11112773" y="2462585"/>
            <a:ext cx="32626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считаем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11112773" y="2872160"/>
            <a:ext cx="3055052" cy="943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цену уступок, цену паузы, цену плохого соглашения как рамку для решения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378880" y="2262560"/>
            <a:ext cx="3337545" cy="4995490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564618" y="2429247"/>
            <a:ext cx="32626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выдаем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14564618" y="2838822"/>
            <a:ext cx="3055052" cy="1245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карту переговорных разрывов, список недостающих данных и управленческий вывод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71500" y="7391400"/>
            <a:ext cx="17145000" cy="628650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6288" y="7562850"/>
            <a:ext cx="11190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ВЕРДИКТ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2066776" y="7539037"/>
            <a:ext cx="110441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продолжать, продолжать при условиях, уточнить данные, взять паузу, отказать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702371" y="8372475"/>
            <a:ext cx="12442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1922041" y="8172450"/>
            <a:ext cx="28819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Бирюзовый — готовность и подтвержденные данные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6132761" y="8372475"/>
            <a:ext cx="138857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6" name="Text 44"/>
          <p:cNvSpPr/>
          <p:nvPr/>
        </p:nvSpPr>
        <p:spPr>
          <a:xfrm>
            <a:off x="6366867" y="8172450"/>
            <a:ext cx="33010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Медный — условный переход и следующий шаг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1702371" y="9001125"/>
            <a:ext cx="167506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8" name="Text 46"/>
          <p:cNvSpPr/>
          <p:nvPr/>
        </p:nvSpPr>
        <p:spPr>
          <a:xfrm>
            <a:off x="1965127" y="8801100"/>
            <a:ext cx="337957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— остановка, риск или запрет</a:t>
            </a:r>
            <a:endParaRPr lang="en-US" sz="1725" dirty="0"/>
          </a:p>
        </p:txBody>
      </p:sp>
      <p:sp>
        <p:nvSpPr>
          <p:cNvPr id="49" name="Shape 47"/>
          <p:cNvSpPr/>
          <p:nvPr/>
        </p:nvSpPr>
        <p:spPr>
          <a:xfrm>
            <a:off x="6132761" y="9001125"/>
            <a:ext cx="134987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0" name="Text 48"/>
          <p:cNvSpPr/>
          <p:nvPr/>
        </p:nvSpPr>
        <p:spPr>
          <a:xfrm>
            <a:off x="6362998" y="8801100"/>
            <a:ext cx="279016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Графит — не подходит для следующего продукта</a:t>
            </a:r>
            <a:endParaRPr lang="en-US" sz="1725" dirty="0"/>
          </a:p>
        </p:txBody>
      </p:sp>
      <p:sp>
        <p:nvSpPr>
          <p:cNvPr id="51" name="Shape 49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бесплатный разбор, не стратегическая консультация, не гарантия результата сделки.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71500" y="9648825"/>
            <a:ext cx="106255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продает не мнение консультанта, а управляемую карту переговорного решения.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171759" y="9672638"/>
            <a:ext cx="6099215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Визуализация_03_Диагностика_Переговоров_V1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30630" y="419100"/>
            <a:ext cx="922445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+ ВНУТРЕННИЙ СЛОЙ · PREPARATION MAP · СЛОЖНОСТЬ СРЕДНЯЯ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Штаб переговоров собирает позицию до контакта с другой стороной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Внешний раунд нельзя начинать, пока внутри не согласованы цель, минимум, экономика, роли, уступки и право остановки.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262560"/>
            <a:ext cx="5638800" cy="2821558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6288" y="2448297"/>
            <a:ext cx="57521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Руководитель решения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6288" y="2867397"/>
            <a:ext cx="53861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подтверждает рамку, мандат, паузу и недопустимые условия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324600" y="2262560"/>
            <a:ext cx="5638800" cy="2821558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9388" y="2448297"/>
            <a:ext cx="57521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Коммерция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29388" y="2867397"/>
            <a:ext cx="53861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 сделки, ценность предложения, клиентский сценарий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2077700" y="2262560"/>
            <a:ext cx="5638800" cy="2821558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82488" y="2448297"/>
            <a:ext cx="57521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Финансы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282488" y="2867397"/>
            <a:ext cx="53861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маржа, касса, отсрочка, цена уступок, риск плохих условий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571500" y="5198418"/>
            <a:ext cx="5638800" cy="282163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6288" y="5384155"/>
            <a:ext cx="57521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Операции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76288" y="5803255"/>
            <a:ext cx="53861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сроки, поставка, исполнение, возвраты, сервисные обязательства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324600" y="5198418"/>
            <a:ext cx="5638800" cy="282163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9388" y="5384155"/>
            <a:ext cx="57521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Юридический контур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529388" y="5803255"/>
            <a:ext cx="53861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ответственность, ограничения, риск договора, условия фиксации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077700" y="5198418"/>
            <a:ext cx="5638800" cy="2821632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077700" y="8005763"/>
            <a:ext cx="56388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77700" y="5198418"/>
            <a:ext cx="56388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77700" y="5198418"/>
            <a:ext cx="47625" cy="28216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17702213" y="5198418"/>
            <a:ext cx="14288" cy="282163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12315825" y="5384155"/>
            <a:ext cx="57154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Фиксатор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315825" y="5803255"/>
            <a:ext cx="535176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протоколирует решение, спорные точки, ответственных и следующий шаг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702371" y="8372475"/>
            <a:ext cx="155302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1952923" y="8172450"/>
            <a:ext cx="37087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Штаб — внутренний переговорный контур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6132761" y="8372475"/>
            <a:ext cx="122783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4" name="Text 32"/>
          <p:cNvSpPr/>
          <p:nvPr/>
        </p:nvSpPr>
        <p:spPr>
          <a:xfrm>
            <a:off x="6350794" y="8172450"/>
            <a:ext cx="377376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 — что команда имеет право обещать и менять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1702371" y="9001125"/>
            <a:ext cx="111323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1908944" y="8801100"/>
            <a:ext cx="357969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Пауза — кто и при каких условиях останавливает движение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6132761" y="9001125"/>
            <a:ext cx="132755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6360765" y="8801100"/>
            <a:ext cx="311016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Выход — единая позиция для следующего раунда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совещание ради согласования мнений, не регламент отдела продаж, не юридический комитет.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" y="9648825"/>
            <a:ext cx="94728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Компания проигрывает внешне, когда внутри нет единой позиции и права на паузу.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095908" y="9672638"/>
            <a:ext cx="5082652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Визуализация_04_Штаб_Переговоров_V1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448800" y="419100"/>
            <a:ext cx="909447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КОНСУЛЬТАНТСКИЙ СЛОЙ · BATNA/ZOPA MAP · СЛОЖНОСТЬ СРЕДНЯЯ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BATNA и ZOPA отвечают на разные вопросы переговорной силы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6285845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BATNA / лучшая альтернатива показывает, чем заменить плохое соглашение; ZOPA / зона соглашения показывает допустимый диапазон условий.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609701"/>
            <a:ext cx="8515350" cy="212891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6288" y="2776389"/>
            <a:ext cx="8916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BATNA / лучшая альтернатива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6288" y="3195489"/>
            <a:ext cx="89163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компания делает, если текущие условия неприемлемы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71500" y="4852913"/>
            <a:ext cx="8515350" cy="2128912"/>
          </a:xfrm>
          <a:prstGeom prst="rect">
            <a:avLst/>
          </a:prstGeom>
          <a:solidFill>
            <a:srgbClr val="0F766E">
              <a:alpha val="8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6288" y="5019601"/>
            <a:ext cx="8916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Усиление альтернативы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76288" y="5438701"/>
            <a:ext cx="89163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действия до раунда уменьшают зависимость от одного исхода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01150" y="2609701"/>
            <a:ext cx="8515350" cy="2128912"/>
          </a:xfrm>
          <a:prstGeom prst="rect">
            <a:avLst/>
          </a:prstGeom>
          <a:solidFill>
            <a:srgbClr val="0F766E">
              <a:alpha val="14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5938" y="2776389"/>
            <a:ext cx="8916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ZOPA / зона соглашения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405938" y="3195489"/>
            <a:ext cx="89163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условия остаются приемлемыми для компании и другой стороны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201150" y="4852913"/>
            <a:ext cx="8515350" cy="2128912"/>
          </a:xfrm>
          <a:prstGeom prst="rect">
            <a:avLst/>
          </a:prstGeom>
          <a:solidFill>
            <a:srgbClr val="B91C1C">
              <a:alpha val="8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5938" y="5019601"/>
            <a:ext cx="89163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Граница плохого соглашения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405938" y="5438701"/>
            <a:ext cx="834894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условие, после которого сделка разрушает минимум, маржу, кассу, срок или риск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71500" y="7096125"/>
            <a:ext cx="8515350" cy="923925"/>
          </a:xfrm>
          <a:prstGeom prst="rect">
            <a:avLst/>
          </a:prstGeom>
          <a:ln w="14288">
            <a:solidFill>
              <a:srgbClr val="B46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288" y="7243763"/>
            <a:ext cx="1813999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Сигнал паузы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596828" y="7253288"/>
            <a:ext cx="647379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момент, когда нельзя отвечать сразу и нужно вернуть решение в штаб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201150" y="7096125"/>
            <a:ext cx="8515350" cy="9239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5938" y="7243763"/>
            <a:ext cx="1996864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Сигнал выхода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392719" y="7253288"/>
            <a:ext cx="589858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момент, когда отказ лучше плохого соглашения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702371" y="8358188"/>
            <a:ext cx="197718" cy="200025"/>
          </a:xfrm>
          <a:prstGeom prst="rect">
            <a:avLst/>
          </a:prstGeom>
          <a:solidFill>
            <a:srgbClr val="0F766E">
              <a:alpha val="35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5339" y="8172450"/>
            <a:ext cx="30176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Зеленая зона — допустимый диапазон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6132761" y="8372475"/>
            <a:ext cx="133871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Text 28"/>
          <p:cNvSpPr/>
          <p:nvPr/>
        </p:nvSpPr>
        <p:spPr>
          <a:xfrm>
            <a:off x="6361881" y="8172450"/>
            <a:ext cx="3582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Медная зона — условный обмен и встречный шаг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702371" y="8986838"/>
            <a:ext cx="200025" cy="200025"/>
          </a:xfrm>
          <a:prstGeom prst="rect">
            <a:avLst/>
          </a:prstGeom>
          <a:solidFill>
            <a:srgbClr val="B91C1C">
              <a:alpha val="20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97646" y="8943975"/>
            <a:ext cx="37832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зона — плохое соглашение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6132761" y="9077325"/>
            <a:ext cx="269751" cy="1905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4" name="Text 32"/>
          <p:cNvSpPr/>
          <p:nvPr/>
        </p:nvSpPr>
        <p:spPr>
          <a:xfrm>
            <a:off x="6497762" y="8801100"/>
            <a:ext cx="324528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 — неподтвержденная альтернатива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одна таблица целей, не расчет желания другой стороны, не способ навязать диапазон.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71500" y="9648825"/>
            <a:ext cx="104892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Без BATNA компания зависит от сделки; без ZOPA она не видит границу плохого соглашения.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887971" y="9672638"/>
            <a:ext cx="4211382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Визуализация_05_BATNA_ZOPA_V1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448800" y="419100"/>
            <a:ext cx="909447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+ КЛИЕНТСКИЙ СЛОЙ · CONCESSION MAP · СЛОЖНОСТЬ СРЕДНЯЯ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Уступка не отдается бесплатно: у нее есть цена и встречный шаг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Скидка, отсрочка, объем, срок, штрафы, возвраты и дополнительные обязательства должны быть собраны в пакет условий.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262560"/>
            <a:ext cx="5389959" cy="2821558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7238" y="2429247"/>
            <a:ext cx="55203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просит другая сторона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757238" y="2838822"/>
            <a:ext cx="5169039" cy="641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скидка, отсрочка, объем, срок, эксклюзивность, доплата, возвраты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56709" y="3461370"/>
            <a:ext cx="373261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449020" y="2262560"/>
            <a:ext cx="5389959" cy="2821558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4758" y="2429247"/>
            <a:ext cx="55203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 уступки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634758" y="2838822"/>
            <a:ext cx="5169039" cy="943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маржа, касса, риск исполнения, склад, ресурс, ответственность, будущие обязательства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34230" y="3461370"/>
            <a:ext cx="373261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326541" y="2262560"/>
            <a:ext cx="5389959" cy="2821558"/>
          </a:xfrm>
          <a:prstGeom prst="rect">
            <a:avLst/>
          </a:prstGeom>
          <a:solidFill>
            <a:srgbClr val="B46A3C">
              <a:alpha val="8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12278" y="2429247"/>
            <a:ext cx="55203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Встречный шаг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512278" y="2838822"/>
            <a:ext cx="5169039" cy="943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объем, срок оплаты, график закупок, данные, гарантия, ограничение риска, совместное действие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71500" y="5198418"/>
            <a:ext cx="5638800" cy="2821632"/>
          </a:xfrm>
          <a:prstGeom prst="rect">
            <a:avLst/>
          </a:prstGeom>
          <a:solidFill>
            <a:srgbClr val="0F766E">
              <a:alpha val="10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238" y="5365105"/>
            <a:ext cx="57940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нельзя отдавать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757238" y="5774680"/>
            <a:ext cx="5425345" cy="641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минимум сделки, критичная маржа, право на данные, контроль клиента, право на паузу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24600" y="5198418"/>
            <a:ext cx="5638800" cy="2821632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338" y="5365105"/>
            <a:ext cx="57940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Пакет условий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6510338" y="5774680"/>
            <a:ext cx="5425345" cy="641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безопасный пакет, расширенный пакет, условный пакет, отказ от плохой сделки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77700" y="5198418"/>
            <a:ext cx="5638800" cy="282163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63438" y="5365105"/>
            <a:ext cx="57940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Фиксация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2263438" y="5774680"/>
            <a:ext cx="5425345" cy="641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94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какая уступка дана, за что, кем подтверждена и как проверяется исполнение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702371" y="8372475"/>
            <a:ext cx="162595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1960215" y="8172450"/>
            <a:ext cx="371490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— уступка без встречного шага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6132761" y="8372475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2" name="Text 30"/>
          <p:cNvSpPr/>
          <p:nvPr/>
        </p:nvSpPr>
        <p:spPr>
          <a:xfrm>
            <a:off x="6399461" y="8315325"/>
            <a:ext cx="30401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Медный — обмен ценностью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1702371" y="9001125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1969071" y="8943975"/>
            <a:ext cx="3817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Бирюзовый — защищенная граница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6132761" y="9001125"/>
            <a:ext cx="169143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6" name="Text 34"/>
          <p:cNvSpPr/>
          <p:nvPr/>
        </p:nvSpPr>
        <p:spPr>
          <a:xfrm>
            <a:off x="6397154" y="8801100"/>
            <a:ext cx="322635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Графит — условие, требующее расчета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прайс-лист уступок, не техника торга, не разрешение снижать цену ради сделки.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71500" y="9648825"/>
            <a:ext cx="83675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Сильная уступка защищает ценность; слабая уступка просто отдает ее.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491939" y="9672638"/>
            <a:ext cx="4647017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Визуализация_06_Карта_Уступок_V1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338545" y="419100"/>
            <a:ext cx="70157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СЛОЙ · PRODUCT LADDER · СЛОЖНОСТЬ ПРОСТАЯ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Путь клиента начинается с платной Диагностики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6285845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 отсекает нецелевой запрос, Сессия собирает позицию, Спринт переводит технологию в практику, Сопровождение удерживает систему.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609701"/>
            <a:ext cx="17145000" cy="579090"/>
          </a:xfrm>
          <a:prstGeom prst="rect">
            <a:avLst/>
          </a:prstGeom>
          <a:ln w="14288">
            <a:solidFill>
              <a:srgbClr val="475569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6288" y="2766864"/>
            <a:ext cx="180262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ПРОДУКТА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2624584" y="2738289"/>
            <a:ext cx="819455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первичный разговор, квалификация, выбор реальной ситуации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71500" y="3322141"/>
            <a:ext cx="3920579" cy="393590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512641"/>
            <a:ext cx="38935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A8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3903166"/>
            <a:ext cx="389353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62000" y="4441329"/>
            <a:ext cx="364576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1875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5-7 рабочих дней; карта разрывов; вердикт; цена от 350 000 руб.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4587329" y="5078164"/>
            <a:ext cx="373261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4979640" y="3322141"/>
            <a:ext cx="3920579" cy="393590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5170140" y="3512641"/>
            <a:ext cx="38935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A8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0140" y="3903166"/>
            <a:ext cx="389353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170140" y="4441329"/>
            <a:ext cx="364576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1875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день + подготовка; переговорный дизайн; единая позиция; цена от 900 000 руб.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8995470" y="5078164"/>
            <a:ext cx="373261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87780" y="3322141"/>
            <a:ext cx="3920579" cy="393590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9578280" y="3512641"/>
            <a:ext cx="38935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A8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78280" y="3903166"/>
            <a:ext cx="389353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578280" y="4441329"/>
            <a:ext cx="364576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1875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4-6 недель; практика на реальных переговорах; цена от 1 800 000 руб.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3403610" y="5078164"/>
            <a:ext cx="373261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3795921" y="3322141"/>
            <a:ext cx="3920579" cy="393590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13986421" y="3512641"/>
            <a:ext cx="38935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A8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986421" y="3903166"/>
            <a:ext cx="389353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3986421" y="4441329"/>
            <a:ext cx="3645767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1875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 3 месяцев; регулярный разбор и удержание переговорной силы; цена от 900 000 руб. / мес.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571500" y="7391400"/>
            <a:ext cx="17145000" cy="628650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6288" y="7562850"/>
            <a:ext cx="12680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ВЕРДИКТЫ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2215753" y="7539037"/>
            <a:ext cx="110667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продолжать; продолжать при условиях; уточнить данные; взять паузу; отказать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702371" y="8448675"/>
            <a:ext cx="255910" cy="1905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5" name="Text 33"/>
          <p:cNvSpPr/>
          <p:nvPr/>
        </p:nvSpPr>
        <p:spPr>
          <a:xfrm>
            <a:off x="2053530" y="8172450"/>
            <a:ext cx="33315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 — до продукта, еще не платная работа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6132761" y="8322469"/>
            <a:ext cx="26357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6415385" y="8172450"/>
            <a:ext cx="32751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Сплошная стрелка — основной продуктовый переход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1702371" y="8951119"/>
            <a:ext cx="2857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⇢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2007171" y="8801100"/>
            <a:ext cx="348220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Пунктирная стрелка — условный переход после уточнения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6132761" y="9001125"/>
            <a:ext cx="14987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1" name="Text 39"/>
          <p:cNvSpPr/>
          <p:nvPr/>
        </p:nvSpPr>
        <p:spPr>
          <a:xfrm>
            <a:off x="6377880" y="8801100"/>
            <a:ext cx="35178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блокировка — отказ или остановка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бесплатная воронка, не продажа презентации, не набор разрозненных услуг.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71500" y="9648825"/>
            <a:ext cx="106710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Платный вход защищает технологию от халявного разбора и калибрует следующий формат.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1643717" y="9672638"/>
            <a:ext cx="6680061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Визуализация_07_Клиентский_Путь_4_Продуктов_V1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448800" y="419100"/>
            <a:ext cx="909447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+ КОММЕРЧЕСКИЙ СЛОЙ · SESSION FLOW · СЛОЖНОСТЬ СРЕДНЯЯ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 собирает единую позицию и сценарий следующего раунда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Команда выходит не с общим мнением, а с целью, минимумом, картой влияния, пакетом условий, ролями и правом на паузу.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262560"/>
            <a:ext cx="17145000" cy="58861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424485"/>
            <a:ext cx="6721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D9A8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ВХОД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586508" y="2395910"/>
            <a:ext cx="757261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результаты Диагностики, данные, участники, цена ошибки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71500" y="2965475"/>
            <a:ext cx="3352800" cy="404790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188" y="3132162"/>
            <a:ext cx="332136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8188" y="3479825"/>
            <a:ext cx="33213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 и минимум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38188" y="3875112"/>
            <a:ext cx="3110008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какой результат нужен и где начинается плохое соглашение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19550" y="2965475"/>
            <a:ext cx="3352800" cy="404790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6238" y="3132162"/>
            <a:ext cx="332136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186238" y="3479825"/>
            <a:ext cx="33213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Карта влияния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186238" y="3875112"/>
            <a:ext cx="3110008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влияет, кто решает, кто блокирует, где нужен отдельный контакт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67600" y="2965475"/>
            <a:ext cx="3352800" cy="404790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4288" y="3132162"/>
            <a:ext cx="332136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634288" y="3479825"/>
            <a:ext cx="33213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Пакет условий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634288" y="3875112"/>
            <a:ext cx="3110008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предлагаем, что уступаем, что берем взамен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15650" y="2965475"/>
            <a:ext cx="3352800" cy="404790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82338" y="3132162"/>
            <a:ext cx="332136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082338" y="3479825"/>
            <a:ext cx="33213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Ролевая карта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082338" y="3875112"/>
            <a:ext cx="3110008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говорит, кто считает, кто фиксирует, кто охраняет границы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363700" y="2965475"/>
            <a:ext cx="3352800" cy="4047902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363700" y="6965752"/>
            <a:ext cx="3352800" cy="476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4363700" y="2965475"/>
            <a:ext cx="33528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0" name="Shape 28"/>
          <p:cNvSpPr/>
          <p:nvPr/>
        </p:nvSpPr>
        <p:spPr>
          <a:xfrm>
            <a:off x="14363700" y="2965475"/>
            <a:ext cx="14288" cy="404790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1" name="Shape 29"/>
          <p:cNvSpPr/>
          <p:nvPr/>
        </p:nvSpPr>
        <p:spPr>
          <a:xfrm>
            <a:off x="17702213" y="2965475"/>
            <a:ext cx="14288" cy="404790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14530388" y="3132162"/>
            <a:ext cx="332136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4530388" y="3479825"/>
            <a:ext cx="33213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Сценарий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4530388" y="3875112"/>
            <a:ext cx="3110008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идти, менять пакет, уточнять данные, брать паузу, усиливать альтернативу или выходить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71500" y="7127677"/>
            <a:ext cx="17145000" cy="617190"/>
          </a:xfrm>
          <a:prstGeom prst="rect">
            <a:avLst/>
          </a:prstGeom>
          <a:solidFill>
            <a:srgbClr val="0F766E">
              <a:alpha val="9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288" y="7303889"/>
            <a:ext cx="8210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749772" y="7275314"/>
            <a:ext cx="986317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единая позиция команды и паспорт Спринта 30-60-90 при необходимости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571500" y="7925842"/>
            <a:ext cx="107372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702371" y="7954417"/>
            <a:ext cx="17145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0" name="Text 38"/>
          <p:cNvSpPr/>
          <p:nvPr/>
        </p:nvSpPr>
        <p:spPr>
          <a:xfrm>
            <a:off x="1969071" y="7897267"/>
            <a:ext cx="33208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решения команды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6132761" y="7954417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2" name="Text 40"/>
          <p:cNvSpPr/>
          <p:nvPr/>
        </p:nvSpPr>
        <p:spPr>
          <a:xfrm>
            <a:off x="6399461" y="7897267"/>
            <a:ext cx="27644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сборки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1702371" y="8440192"/>
            <a:ext cx="170111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1967731" y="8240167"/>
            <a:ext cx="326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подтвержденный мандат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6132761" y="8440192"/>
            <a:ext cx="164902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6392912" y="8240167"/>
            <a:ext cx="330806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недопустимое условие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10677525" y="7897267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863263" y="8025854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0863263" y="8335417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фасилитация ради разговора, не тренинг, не мотивационная встреча команды.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71500" y="921067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71500" y="9334500"/>
            <a:ext cx="1046807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 нужна, когда переговорная позиция должна быть собрана командой, а не одним участником.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115675" y="9358313"/>
            <a:ext cx="7260908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Визуализация_08_Сессия_Переговорная_Архитектура_V1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338545" y="419100"/>
            <a:ext cx="70157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SPRINT FLOW · СЛОЖНОСТЬ СРЕДНЯЯ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765935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30-60-90 переводит переговорную архитектуру в практику команды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229254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Команда проверяет сценарии, роли, аргументы, уступки и фиксацию результата на реальных внешних и внутренних ситуациях.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849240"/>
            <a:ext cx="5389959" cy="3504977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6306592"/>
            <a:ext cx="5389959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2849240"/>
            <a:ext cx="5389959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2849240"/>
            <a:ext cx="14288" cy="350497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7172" y="2849240"/>
            <a:ext cx="14288" cy="350497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776288" y="3015928"/>
            <a:ext cx="547842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77"/>
              </a:lnSpc>
              <a:buNone/>
            </a:pPr>
            <a:r>
              <a:rPr lang="en-US" sz="57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776288" y="3796978"/>
            <a:ext cx="512979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зафиксировать контур, ситуации, владельцев, данные, короткий набор показателей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6056709" y="4389760"/>
            <a:ext cx="373261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449020" y="2849240"/>
            <a:ext cx="5389959" cy="3504977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49020" y="6306592"/>
            <a:ext cx="5389959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9020" y="2849240"/>
            <a:ext cx="5389959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9020" y="2849240"/>
            <a:ext cx="14288" cy="350497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24692" y="2849240"/>
            <a:ext cx="14288" cy="350497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6653808" y="3015928"/>
            <a:ext cx="547842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77"/>
              </a:lnSpc>
              <a:buNone/>
            </a:pPr>
            <a:r>
              <a:rPr lang="en-US" sz="57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6653808" y="3796978"/>
            <a:ext cx="512979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провести реальные циклы, разобрать уступки, риски, роли, паузы и фиксацию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934230" y="4389760"/>
            <a:ext cx="373261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12326541" y="2849240"/>
            <a:ext cx="5389959" cy="3504977"/>
          </a:xfrm>
          <a:prstGeom prst="rect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2326541" y="6306592"/>
            <a:ext cx="5389959" cy="476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26541" y="2849240"/>
            <a:ext cx="5389959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Shape 25"/>
          <p:cNvSpPr/>
          <p:nvPr/>
        </p:nvSpPr>
        <p:spPr>
          <a:xfrm>
            <a:off x="12326541" y="2849240"/>
            <a:ext cx="14288" cy="350497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Shape 26"/>
          <p:cNvSpPr/>
          <p:nvPr/>
        </p:nvSpPr>
        <p:spPr>
          <a:xfrm>
            <a:off x="17702213" y="2849240"/>
            <a:ext cx="14288" cy="3504977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12531328" y="3015928"/>
            <a:ext cx="547842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77"/>
              </a:lnSpc>
              <a:buNone/>
            </a:pPr>
            <a:r>
              <a:rPr lang="en-US" sz="57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90</a:t>
            </a:r>
            <a:endParaRPr lang="en-US" sz="5700" dirty="0"/>
          </a:p>
        </p:txBody>
      </p:sp>
      <p:sp>
        <p:nvSpPr>
          <p:cNvPr id="30" name="Text 28"/>
          <p:cNvSpPr/>
          <p:nvPr/>
        </p:nvSpPr>
        <p:spPr>
          <a:xfrm>
            <a:off x="12531328" y="3796978"/>
            <a:ext cx="512979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538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закрепить маршрут, убрать откат к импровизации, принять итоговый управленческий вывод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571500" y="6468517"/>
            <a:ext cx="5638800" cy="1265783"/>
          </a:xfrm>
          <a:prstGeom prst="rect">
            <a:avLst/>
          </a:prstGeom>
          <a:solidFill>
            <a:srgbClr val="0F766E">
              <a:alpha val="9000"/>
            </a:srgbClr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238" y="6616154"/>
            <a:ext cx="579405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Владельцы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757238" y="6992392"/>
            <a:ext cx="542534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решения, владелец данных, владелец фиксации, владелец паузы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324600" y="6468517"/>
            <a:ext cx="5638800" cy="1265783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338" y="6616154"/>
            <a:ext cx="579405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Показатели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6510338" y="6992392"/>
            <a:ext cx="542534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цена, маржа, срок, уступки, встречные шаги, спорные точки, выполнение обязательств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077700" y="6468517"/>
            <a:ext cx="5638800" cy="1265783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263438" y="6616154"/>
            <a:ext cx="579405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263438" y="6992392"/>
            <a:ext cx="542534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продолжить, масштабировать, перейти в Сопровождение или завершить контур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71500" y="7915275"/>
            <a:ext cx="1073721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702371" y="7886700"/>
            <a:ext cx="60312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30-60-90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2324546" y="7886700"/>
            <a:ext cx="3432613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логика зрелости контура, а не жесткое обещание одинакового срока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6132761" y="8229600"/>
            <a:ext cx="171004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6399014" y="8029575"/>
            <a:ext cx="30241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Бирюзовый — закрепленная практика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1702371" y="9001125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6" name="Text 44"/>
          <p:cNvSpPr/>
          <p:nvPr/>
        </p:nvSpPr>
        <p:spPr>
          <a:xfrm>
            <a:off x="1969071" y="8943975"/>
            <a:ext cx="37680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Медный — переход между циклами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6132761" y="9001125"/>
            <a:ext cx="124569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8" name="Text 46"/>
          <p:cNvSpPr/>
          <p:nvPr/>
        </p:nvSpPr>
        <p:spPr>
          <a:xfrm>
            <a:off x="6352580" y="8801100"/>
            <a:ext cx="40447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— откат к импровизации или плохой сделке</a:t>
            </a:r>
            <a:endParaRPr lang="en-US" sz="1725" dirty="0"/>
          </a:p>
        </p:txBody>
      </p:sp>
      <p:sp>
        <p:nvSpPr>
          <p:cNvPr id="49" name="Shape 47"/>
          <p:cNvSpPr/>
          <p:nvPr/>
        </p:nvSpPr>
        <p:spPr>
          <a:xfrm>
            <a:off x="10677525" y="788670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63263" y="801528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0863263" y="832485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проект ради отчетности, не обучение по календарю, не гарантия результата за 90 дней.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71500" y="9648825"/>
            <a:ext cx="109024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нужен, чтобы переговорная архитектура стала поведением команды, а не документом.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3227918" y="9672638"/>
            <a:ext cx="4937440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Визуализация_09_Спринт_30_60_90_V1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803085" y="419100"/>
            <a:ext cx="870475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BEFORE / AFTER · СЛОЖНОСТЬ ПРОСТАЯ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765935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До технологии компания спорит и уступает; после технологии видит поле решения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229254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 хаоса позиций, давления и срочности переговоры переходят в карту целей, альтернатив, условий, рисков и фиксации.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3211190"/>
            <a:ext cx="8458200" cy="1428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2849240"/>
            <a:ext cx="87119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ЛЕВАЯ ЗОНА · ДО АРХИТЕКТУРЫ ПЕРЕГОВОРОВ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571500" y="3320728"/>
            <a:ext cx="8458200" cy="1038895"/>
          </a:xfrm>
          <a:prstGeom prst="rect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3320728"/>
            <a:ext cx="47625" cy="103889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90575" y="3513013"/>
            <a:ext cx="88744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До: разная цель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0575" y="3870201"/>
            <a:ext cx="887444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участники по-разному понимают успех, минимум и красные линии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1500" y="4454872"/>
            <a:ext cx="8458200" cy="1038895"/>
          </a:xfrm>
          <a:prstGeom prst="rect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4454872"/>
            <a:ext cx="47625" cy="103889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790575" y="4647158"/>
            <a:ext cx="88744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До: уступки бесплатно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0575" y="5004346"/>
            <a:ext cx="887444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скидка, отсрочка или срок отдаются без цены и встречного шага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1500" y="5589017"/>
            <a:ext cx="8458200" cy="1038895"/>
          </a:xfrm>
          <a:prstGeom prst="rect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5589017"/>
            <a:ext cx="47625" cy="103889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790575" y="5781303"/>
            <a:ext cx="88744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До: слабая альтернатива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0575" y="6138490"/>
            <a:ext cx="887444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компания боится потерять сделку и зависает в одном исходе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1500" y="6723162"/>
            <a:ext cx="8458200" cy="1038895"/>
          </a:xfrm>
          <a:prstGeom prst="rect">
            <a:avLst/>
          </a:prstGeom>
          <a:solidFill>
            <a:srgbClr val="FFFFFF">
              <a:alpha val="3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" y="6723162"/>
            <a:ext cx="47625" cy="103889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790575" y="6915448"/>
            <a:ext cx="88744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До: нет паузы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90575" y="7272635"/>
            <a:ext cx="887444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принимается под давлением или срочностью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58300" y="3211190"/>
            <a:ext cx="8458200" cy="1428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9258300" y="2849240"/>
            <a:ext cx="87119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ПРАВАЯ ЗОНА · ПОСЛЕ ПРИМЕНЕНИЯ ТЕХНОЛОГИИ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9258300" y="3320728"/>
            <a:ext cx="8458200" cy="1038895"/>
          </a:xfrm>
          <a:prstGeom prst="rect">
            <a:avLst/>
          </a:prstGeom>
          <a:solidFill>
            <a:srgbClr val="0F766E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258300" y="3320728"/>
            <a:ext cx="47625" cy="10388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9477375" y="3513013"/>
            <a:ext cx="88744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После: единая позиция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477375" y="3870201"/>
            <a:ext cx="887444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цель, минимум, границы и мандат согласованы внутри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58300" y="4454872"/>
            <a:ext cx="8458200" cy="1038895"/>
          </a:xfrm>
          <a:prstGeom prst="rect">
            <a:avLst/>
          </a:prstGeom>
          <a:solidFill>
            <a:srgbClr val="0F766E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258300" y="4454872"/>
            <a:ext cx="47625" cy="10388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9477375" y="4647158"/>
            <a:ext cx="88744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После: пакет условий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477375" y="5004346"/>
            <a:ext cx="887444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уступки связаны с ценой, обменом и фиксацией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258300" y="5589017"/>
            <a:ext cx="8458200" cy="1038895"/>
          </a:xfrm>
          <a:prstGeom prst="rect">
            <a:avLst/>
          </a:prstGeom>
          <a:solidFill>
            <a:srgbClr val="0F766E">
              <a:alpha val="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258300" y="5589017"/>
            <a:ext cx="47625" cy="10388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8" name="Text 36"/>
          <p:cNvSpPr/>
          <p:nvPr/>
        </p:nvSpPr>
        <p:spPr>
          <a:xfrm>
            <a:off x="9477375" y="5781303"/>
            <a:ext cx="88744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После: альтернатива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9477375" y="6138490"/>
            <a:ext cx="887444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есть сценарий выхода или усиления позиции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258300" y="6723162"/>
            <a:ext cx="8458200" cy="1038895"/>
          </a:xfrm>
          <a:prstGeom prst="rect">
            <a:avLst/>
          </a:prstGeom>
          <a:solidFill>
            <a:srgbClr val="0F766E">
              <a:alpha val="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258300" y="6723162"/>
            <a:ext cx="47625" cy="10388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Text 40"/>
          <p:cNvSpPr/>
          <p:nvPr/>
        </p:nvSpPr>
        <p:spPr>
          <a:xfrm>
            <a:off x="9477375" y="6915448"/>
            <a:ext cx="88744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После: разбор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9477375" y="7272635"/>
            <a:ext cx="887444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результат превращается в данные для следующего цикла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71500" y="7943031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702371" y="8100194"/>
            <a:ext cx="178817" cy="200025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76438" y="7914456"/>
            <a:ext cx="31737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Левая зона — до Архитектуры Переговоров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6132761" y="8100194"/>
            <a:ext cx="171524" cy="200025"/>
          </a:xfrm>
          <a:prstGeom prst="rect">
            <a:avLst/>
          </a:prstGeom>
          <a:ln w="14288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9535" y="7914456"/>
            <a:ext cx="3592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Правая зона — после применения технологии</a:t>
            </a:r>
            <a:endParaRPr lang="en-US" sz="1725" dirty="0"/>
          </a:p>
        </p:txBody>
      </p:sp>
      <p:sp>
        <p:nvSpPr>
          <p:cNvPr id="49" name="Shape 47"/>
          <p:cNvSpPr/>
          <p:nvPr/>
        </p:nvSpPr>
        <p:spPr>
          <a:xfrm>
            <a:off x="1702371" y="8743131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0" name="Text 48"/>
          <p:cNvSpPr/>
          <p:nvPr/>
        </p:nvSpPr>
        <p:spPr>
          <a:xfrm>
            <a:off x="1969071" y="8685981"/>
            <a:ext cx="275045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— разрыв и риск</a:t>
            </a:r>
            <a:endParaRPr lang="en-US" sz="1725" dirty="0"/>
          </a:p>
        </p:txBody>
      </p:sp>
      <p:sp>
        <p:nvSpPr>
          <p:cNvPr id="51" name="Shape 49"/>
          <p:cNvSpPr/>
          <p:nvPr/>
        </p:nvSpPr>
        <p:spPr>
          <a:xfrm>
            <a:off x="6132761" y="8743131"/>
            <a:ext cx="157683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2" name="Text 50"/>
          <p:cNvSpPr/>
          <p:nvPr/>
        </p:nvSpPr>
        <p:spPr>
          <a:xfrm>
            <a:off x="6385694" y="8543106"/>
            <a:ext cx="332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Бирюзовый — управляемость и фиксация</a:t>
            </a:r>
            <a:endParaRPr lang="en-US" sz="1725" dirty="0"/>
          </a:p>
        </p:txBody>
      </p:sp>
      <p:sp>
        <p:nvSpPr>
          <p:cNvPr id="53" name="Shape 51"/>
          <p:cNvSpPr/>
          <p:nvPr/>
        </p:nvSpPr>
        <p:spPr>
          <a:xfrm>
            <a:off x="10677525" y="7914456"/>
            <a:ext cx="7038975" cy="1458144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63263" y="8043044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0863263" y="8352606"/>
            <a:ext cx="6867525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обещание идеального результата, не картинка волшебного улучшения, не замена реальной работы команды.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71500" y="9648825"/>
            <a:ext cx="105972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Технология не управляет волей другой стороны; она управляет качеством позиции компании.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4151992" y="9672638"/>
            <a:ext cx="3920959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Визуализация_10_До_После_V1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29900" y="419100"/>
            <a:ext cx="779526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КЕЙСОВЫЙ + КОММЕРЧЕСКИЙ СЛОЙ · CASE FLOW · СЛОЖНОСТЬ СРЕДНЯЯ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 ведет не к бесплатному совету, а к платной Диагностике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 клиента переводится в переговорный разрыв, набор форм 17-23, проверку данных и решение о следующем продукте.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262560"/>
            <a:ext cx="4214813" cy="2821558"/>
          </a:xfrm>
          <a:prstGeom prst="rect">
            <a:avLst/>
          </a:prstGeom>
          <a:solidFill>
            <a:srgbClr val="B91C1C">
              <a:alpha val="6000"/>
            </a:srgbClr>
          </a:solidFill>
          <a:ln w="14288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7238" y="2467347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04007" y="2429247"/>
            <a:ext cx="65863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7238" y="2824535"/>
            <a:ext cx="3958638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маржа, скидка, сеть, подрядчик, поставщик, бюджет, срок, полномочия, юридический риск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81563" y="2262560"/>
            <a:ext cx="4214813" cy="2821558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7300" y="2467347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414070" y="2429247"/>
            <a:ext cx="299967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Переговорный разрыв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067300" y="2824535"/>
            <a:ext cx="3958638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именно не собрано: цель, минимум, альтернатива, влияние, уступки, данные, пауза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91625" y="2262560"/>
            <a:ext cx="4214813" cy="2821558"/>
          </a:xfrm>
          <a:prstGeom prst="rect">
            <a:avLst/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7363" y="2467347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9A8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724132" y="2429247"/>
            <a:ext cx="17161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377363" y="2824535"/>
            <a:ext cx="395863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E7DE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проверяется за 5-7 рабочих дней в 1-2 реальных ситуациях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501688" y="2262560"/>
            <a:ext cx="4214813" cy="2821558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87425" y="2467347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4034195" y="2429247"/>
            <a:ext cx="179468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Формы 17-23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687425" y="2824535"/>
            <a:ext cx="395863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инструменты включаются по разрыву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1500" y="5198418"/>
            <a:ext cx="5651450" cy="282163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238" y="5403205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04007" y="5365105"/>
            <a:ext cx="190109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Поле решения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57238" y="5760393"/>
            <a:ext cx="543837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внешний контур, внутренний контур, влияющие роли и ограничения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18200" y="5198418"/>
            <a:ext cx="5651525" cy="2821632"/>
          </a:xfrm>
          <a:prstGeom prst="rect">
            <a:avLst/>
          </a:prstGeom>
          <a:solidFill>
            <a:srgbClr val="FFFFFF">
              <a:alpha val="42000"/>
            </a:srgbClr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3938" y="5403205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850707" y="5365105"/>
            <a:ext cx="126325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Сценарий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503938" y="5760393"/>
            <a:ext cx="5438451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идти, менять пакет, уточнять, брать паузу, усиливать альтернативу, выходить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064975" y="5198418"/>
            <a:ext cx="5651450" cy="2821632"/>
          </a:xfrm>
          <a:prstGeom prst="rect">
            <a:avLst/>
          </a:prstGeom>
          <a:solidFill>
            <a:srgbClr val="B46A3C">
              <a:alpha val="8000"/>
            </a:srgbClr>
          </a:solidFill>
          <a:ln w="14288">
            <a:solidFill>
              <a:srgbClr val="B46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50713" y="5403205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2597482" y="5365105"/>
            <a:ext cx="27353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Следующий продукт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2250713" y="5760393"/>
            <a:ext cx="543837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Сессия, Спринт, Сопровождение или отказ от движения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702371" y="8501063"/>
            <a:ext cx="120774" cy="200025"/>
          </a:xfrm>
          <a:prstGeom prst="rect">
            <a:avLst/>
          </a:prstGeom>
          <a:ln w="14288">
            <a:solidFill>
              <a:srgbClr val="0B1F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18395" y="8172450"/>
            <a:ext cx="3474998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Внешний контур — клиент, сеть, поставщик, подрядчик, партнер, канал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6132761" y="8515350"/>
            <a:ext cx="79325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0" name="Text 38"/>
          <p:cNvSpPr/>
          <p:nvPr/>
        </p:nvSpPr>
        <p:spPr>
          <a:xfrm>
            <a:off x="6307336" y="8172450"/>
            <a:ext cx="3774686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Внутренний контур — собственник, финансы, продажи, операции, юристы, команда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1702371" y="9144000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2" name="Text 40"/>
          <p:cNvSpPr/>
          <p:nvPr/>
        </p:nvSpPr>
        <p:spPr>
          <a:xfrm>
            <a:off x="1969071" y="9086850"/>
            <a:ext cx="32854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— причина остановки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6132761" y="9144000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4" name="Text 42"/>
          <p:cNvSpPr/>
          <p:nvPr/>
        </p:nvSpPr>
        <p:spPr>
          <a:xfrm>
            <a:off x="6399461" y="9086850"/>
            <a:ext cx="33080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Медный — следующий продукт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история успеха, не обещание такого же результата, не бесплатный консалтинг по ситуации.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71500" y="9648825"/>
            <a:ext cx="98743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 показывает место входа в Диагностику, а не гарантированный исход переговоров.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359929" y="9672638"/>
            <a:ext cx="4792228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Визуализация_11_Кейсовая_Схема_V1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81050"/>
            <a:ext cx="17145000" cy="1428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19100"/>
            <a:ext cx="55866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АРХИТЕКТУРА ПЕРЕГОВОРОВ · ВИЗУАЛИЗАЦИЯ 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740080" y="419100"/>
            <a:ext cx="9874061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ANTI-POSITIONING MATRIX · СЛОЖНОСТЬ ПРОСТАЯ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1004887"/>
            <a:ext cx="1885950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Архитектура Переговоров — не тренинг и не манипуляция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71500" y="1705868"/>
            <a:ext cx="173926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система подготовки, согласования, проверки и разбора переговорных решений во внешнем и внутреннем контуре.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71500" y="2262560"/>
            <a:ext cx="47625" cy="8960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2392933"/>
            <a:ext cx="98848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тренинг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90575" y="2731071"/>
            <a:ext cx="988486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 работает с реальными решениями, мандатом, данными и риском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1500" y="3234779"/>
            <a:ext cx="47625" cy="89609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90575" y="3365153"/>
            <a:ext cx="98848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скрипты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0575" y="3703290"/>
            <a:ext cx="988486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готовая фраза не заменяет цель, минимум, альтернативу и карту влияния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1500" y="4207073"/>
            <a:ext cx="47625" cy="89609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790575" y="4337447"/>
            <a:ext cx="98848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манипуляции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0575" y="4675584"/>
            <a:ext cx="988486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работа идет с прозрачной позицией, условиями, интересами и границами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1500" y="5179368"/>
            <a:ext cx="47625" cy="89609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790575" y="5309741"/>
            <a:ext cx="98848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мотивационная встреча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0575" y="5647879"/>
            <a:ext cx="988486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выходом является управленческий вывод, а не эмоциональный подъем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1500" y="6151662"/>
            <a:ext cx="47625" cy="89609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790575" y="6282035"/>
            <a:ext cx="98848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юридическое заключение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90575" y="6620173"/>
            <a:ext cx="988486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юридический риск выявляется и передается в профильный контур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1500" y="7123956"/>
            <a:ext cx="47625" cy="89609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790575" y="7254329"/>
            <a:ext cx="988486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финансовый аудит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90575" y="7592467"/>
            <a:ext cx="988486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цена уступок считается на данных клиента, но не заменяет финансовую модель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214967" y="4929336"/>
            <a:ext cx="373261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0664428" y="2262560"/>
            <a:ext cx="7052072" cy="57574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10950178" y="4157811"/>
            <a:ext cx="71286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138" kern="0" dirty="0">
                <a:solidFill>
                  <a:srgbClr val="D9A8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ЧТО ЭТО ТАКОЕ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0950178" y="4595961"/>
            <a:ext cx="6674989" cy="1395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46"/>
              </a:lnSpc>
              <a:buNone/>
            </a:pPr>
            <a:r>
              <a:rPr lang="en-US" sz="28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технология управления переговорной силой компании во внешних и внутренних решениях</a:t>
            </a:r>
            <a:endParaRPr lang="en-US" sz="2850" dirty="0"/>
          </a:p>
        </p:txBody>
      </p:sp>
      <p:sp>
        <p:nvSpPr>
          <p:cNvPr id="30" name="Shape 28"/>
          <p:cNvSpPr/>
          <p:nvPr/>
        </p:nvSpPr>
        <p:spPr>
          <a:xfrm>
            <a:off x="10950178" y="6105674"/>
            <a:ext cx="1143000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8201025"/>
            <a:ext cx="1073721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702371" y="8372475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1969071" y="8315325"/>
            <a:ext cx="38633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Красный — неправильная категория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6132761" y="8372475"/>
            <a:ext cx="130820" cy="1714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6358830" y="8172450"/>
            <a:ext cx="267756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правильное определение технологии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1702371" y="9001125"/>
            <a:ext cx="109314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7" name="Text 35"/>
          <p:cNvSpPr/>
          <p:nvPr/>
        </p:nvSpPr>
        <p:spPr>
          <a:xfrm>
            <a:off x="1906935" y="8801100"/>
            <a:ext cx="33482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переход от ошибки восприятия к точной категории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6132761" y="9001125"/>
            <a:ext cx="171376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6399386" y="8801100"/>
            <a:ext cx="296890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Бирюзовый — управляемый результат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10677525" y="8172450"/>
            <a:ext cx="7038975" cy="1161008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63263" y="8301038"/>
            <a:ext cx="73342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0863263" y="8610600"/>
            <a:ext cx="686752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обещание победы, не обучение хитрым приемам, не давление на другую сторону.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71500" y="95250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71500" y="9648825"/>
            <a:ext cx="99961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Технология защищает компанию от слабой позиции, а не учит побеждать любой ценой.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567791" y="9672638"/>
            <a:ext cx="5663580" cy="3095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5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Визуализация_12_Антипозиционирование_V1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2026-07-31T08:48:02Z</dcterms:created>
  <dcterms:modified xsi:type="dcterms:W3CDTF">2026-07-31T08:48:02Z</dcterms:modified>
</cp:coreProperties>
</file>